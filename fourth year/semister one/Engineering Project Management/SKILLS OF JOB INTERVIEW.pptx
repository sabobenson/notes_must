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0" r:id="rId3"/>
    <p:sldId id="258" r:id="rId4"/>
    <p:sldId id="259" r:id="rId5"/>
    <p:sldId id="260" r:id="rId6"/>
    <p:sldId id="261" r:id="rId7"/>
    <p:sldId id="262" r:id="rId8"/>
    <p:sldId id="263" r:id="rId9"/>
    <p:sldId id="278" r:id="rId10"/>
    <p:sldId id="264" r:id="rId11"/>
    <p:sldId id="279" r:id="rId12"/>
    <p:sldId id="265" r:id="rId13"/>
    <p:sldId id="280" r:id="rId14"/>
    <p:sldId id="266" r:id="rId15"/>
    <p:sldId id="281" r:id="rId16"/>
    <p:sldId id="282" r:id="rId17"/>
    <p:sldId id="268" r:id="rId18"/>
    <p:sldId id="283" r:id="rId19"/>
    <p:sldId id="269" r:id="rId20"/>
    <p:sldId id="284" r:id="rId21"/>
    <p:sldId id="270" r:id="rId22"/>
    <p:sldId id="271" r:id="rId23"/>
    <p:sldId id="285" r:id="rId24"/>
    <p:sldId id="272" r:id="rId25"/>
    <p:sldId id="286" r:id="rId26"/>
    <p:sldId id="273" r:id="rId27"/>
    <p:sldId id="287" r:id="rId28"/>
    <p:sldId id="274" r:id="rId29"/>
    <p:sldId id="288" r:id="rId30"/>
    <p:sldId id="275" r:id="rId31"/>
    <p:sldId id="276" r:id="rId32"/>
    <p:sldId id="289" r:id="rId33"/>
    <p:sldId id="27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showGuides="1">
      <p:cViewPr varScale="1">
        <p:scale>
          <a:sx n="61" d="100"/>
          <a:sy n="61" d="100"/>
        </p:scale>
        <p:origin x="6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EB66D3-F795-41B7-B0F6-00AB10B42C4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1102769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EB66D3-F795-41B7-B0F6-00AB10B42C4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579975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EB66D3-F795-41B7-B0F6-00AB10B42C4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4131769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FEB66D3-F795-41B7-B0F6-00AB10B42C41}"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3142261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FEB66D3-F795-41B7-B0F6-00AB10B42C41}"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4151874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FEB66D3-F795-41B7-B0F6-00AB10B42C41}"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51511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EB66D3-F795-41B7-B0F6-00AB10B42C41}"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2489843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EB66D3-F795-41B7-B0F6-00AB10B42C41}"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812773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EB66D3-F795-41B7-B0F6-00AB10B42C41}"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218537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EB66D3-F795-41B7-B0F6-00AB10B42C4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3215862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EB66D3-F795-41B7-B0F6-00AB10B42C41}"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84FC39-70BB-44EB-938B-A6145E0301A9}" type="slidenum">
              <a:rPr lang="en-US" smtClean="0"/>
              <a:t>‹#›</a:t>
            </a:fld>
            <a:endParaRPr lang="en-US"/>
          </a:p>
        </p:txBody>
      </p:sp>
    </p:spTree>
    <p:extLst>
      <p:ext uri="{BB962C8B-B14F-4D97-AF65-F5344CB8AC3E}">
        <p14:creationId xmlns:p14="http://schemas.microsoft.com/office/powerpoint/2010/main" val="193741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EB66D3-F795-41B7-B0F6-00AB10B42C41}" type="datetimeFigureOut">
              <a:rPr lang="en-US" smtClean="0"/>
              <a:t>1/15/2025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84FC39-70BB-44EB-938B-A6145E0301A9}" type="slidenum">
              <a:rPr lang="en-US" smtClean="0"/>
              <a:t>‹#›</a:t>
            </a:fld>
            <a:endParaRPr lang="en-US"/>
          </a:p>
        </p:txBody>
      </p:sp>
    </p:spTree>
    <p:extLst>
      <p:ext uri="{BB962C8B-B14F-4D97-AF65-F5344CB8AC3E}">
        <p14:creationId xmlns:p14="http://schemas.microsoft.com/office/powerpoint/2010/main" val="92280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SKILLS FOR JOB INTERVIEW</a:t>
            </a:r>
            <a:endParaRPr lang="en-US" dirty="0"/>
          </a:p>
        </p:txBody>
      </p:sp>
      <p:sp>
        <p:nvSpPr>
          <p:cNvPr id="3" name="Content Placeholder 2"/>
          <p:cNvSpPr>
            <a:spLocks noGrp="1"/>
          </p:cNvSpPr>
          <p:nvPr>
            <p:ph idx="1"/>
          </p:nvPr>
        </p:nvSpPr>
        <p:spPr>
          <a:xfrm>
            <a:off x="838200" y="1825625"/>
            <a:ext cx="10515600" cy="4714660"/>
          </a:xfrm>
        </p:spPr>
        <p:txBody>
          <a:bodyPr>
            <a:normAutofit/>
          </a:bodyPr>
          <a:lstStyle/>
          <a:p>
            <a:pPr algn="just"/>
            <a:r>
              <a:rPr lang="en-GB" sz="2400" b="1" dirty="0">
                <a:latin typeface="Times New Roman" panose="02020603050405020304" pitchFamily="18" charset="0"/>
                <a:cs typeface="Times New Roman" panose="02020603050405020304" pitchFamily="18" charset="0"/>
              </a:rPr>
              <a:t>Introduction </a:t>
            </a:r>
            <a:endParaRPr lang="en-US" sz="24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Job interview refers to a practice in which a person/persons (interviewers) ask questions to another person (interviewee) to see if one is suitable for a job position to be filled in</a:t>
            </a:r>
            <a:r>
              <a:rPr lang="en-GB"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Job interviews are a source of concern for students and graduates who haven't had much experience with them. With a bit of luck, what is written here will help to make them less so</a:t>
            </a:r>
            <a:r>
              <a:rPr lang="en-GB"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218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 SKILLS FOR JOB INTERVIEW</a:t>
            </a:r>
            <a:endParaRPr lang="en-US" dirty="0"/>
          </a:p>
        </p:txBody>
      </p:sp>
      <p:sp>
        <p:nvSpPr>
          <p:cNvPr id="3" name="Content Placeholder 2"/>
          <p:cNvSpPr>
            <a:spLocks noGrp="1"/>
          </p:cNvSpPr>
          <p:nvPr>
            <p:ph idx="1"/>
          </p:nvPr>
        </p:nvSpPr>
        <p:spPr>
          <a:xfrm>
            <a:off x="838200" y="1825625"/>
            <a:ext cx="10515600" cy="4714660"/>
          </a:xfrm>
        </p:spPr>
        <p:txBody>
          <a:bodyPr>
            <a:normAutofit/>
          </a:bodyPr>
          <a:lstStyle/>
          <a:p>
            <a:pPr algn="just"/>
            <a:r>
              <a:rPr lang="en-GB" sz="2400" dirty="0" smtClean="0">
                <a:latin typeface="Times New Roman" panose="02020603050405020304" pitchFamily="18" charset="0"/>
                <a:cs typeface="Times New Roman" panose="02020603050405020304" pitchFamily="18" charset="0"/>
              </a:rPr>
              <a:t>Perhaps the most important key to a successful interview is </a:t>
            </a:r>
            <a:r>
              <a:rPr lang="en-GB" sz="2400" i="1" dirty="0" smtClean="0">
                <a:latin typeface="Times New Roman" panose="02020603050405020304" pitchFamily="18" charset="0"/>
                <a:cs typeface="Times New Roman" panose="02020603050405020304" pitchFamily="18" charset="0"/>
              </a:rPr>
              <a:t>to be well-prepared for it and to have some knowledge of what to expect</a:t>
            </a:r>
            <a:r>
              <a:rPr lang="en-GB" sz="2400" dirty="0" smtClean="0">
                <a:latin typeface="Times New Roman" panose="02020603050405020304" pitchFamily="18" charset="0"/>
                <a:cs typeface="Times New Roman" panose="02020603050405020304" pitchFamily="18" charset="0"/>
              </a:rPr>
              <a:t>. </a:t>
            </a:r>
          </a:p>
          <a:p>
            <a:pPr marL="0" indent="0" algn="just">
              <a:buNone/>
            </a:pPr>
            <a:endParaRPr lang="en-GB" sz="2400" dirty="0" smtClean="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Equipped with this information you should be able to approach your interview with confidence and hopefully, even pleasurable anticipation.</a:t>
            </a:r>
          </a:p>
          <a:p>
            <a:pPr marL="0" indent="0" algn="just">
              <a:buNone/>
            </a:pPr>
            <a:endParaRPr lang="en-GB" sz="2400" dirty="0" smtClean="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T</a:t>
            </a:r>
            <a:r>
              <a:rPr lang="en-GB" sz="2400" dirty="0" smtClean="0">
                <a:latin typeface="Times New Roman" panose="02020603050405020304" pitchFamily="18" charset="0"/>
                <a:cs typeface="Times New Roman" panose="02020603050405020304" pitchFamily="18" charset="0"/>
              </a:rPr>
              <a:t>he employers want you and you want the job. </a:t>
            </a:r>
          </a:p>
          <a:p>
            <a:pPr algn="just"/>
            <a:endParaRPr lang="en-GB" sz="2400" dirty="0" smtClean="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If you cannot sell yourself, regardless of your</a:t>
            </a:r>
            <a:r>
              <a:rPr lang="en-GB" sz="2400" dirty="0" smtClean="0">
                <a:latin typeface="Times New Roman" panose="02020603050405020304" pitchFamily="18" charset="0"/>
                <a:cs typeface="Times New Roman" panose="02020603050405020304" pitchFamily="18" charset="0"/>
              </a:rPr>
              <a:t> impressive background, Curriculum vitae and your application letter, you may fail to be employed.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218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Autofit/>
          </a:bodyPr>
          <a:lstStyle/>
          <a:p>
            <a:pPr algn="just"/>
            <a:r>
              <a:rPr lang="en-GB" sz="2400" b="1" dirty="0">
                <a:latin typeface="Times New Roman" panose="02020603050405020304" pitchFamily="18" charset="0"/>
                <a:cs typeface="Times New Roman" panose="02020603050405020304" pitchFamily="18" charset="0"/>
              </a:rPr>
              <a:t>Pre- Interview Preparation </a:t>
            </a:r>
            <a:endParaRPr lang="en-US" sz="24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The interview itself is merely an exercise in two-way communication between the recruiter and the interviewee and each attempt to "sell" the other. </a:t>
            </a:r>
            <a:endParaRPr lang="en-GB" sz="2400" dirty="0" smtClean="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The </a:t>
            </a:r>
            <a:r>
              <a:rPr lang="en-GB" sz="2400" dirty="0">
                <a:latin typeface="Times New Roman" panose="02020603050405020304" pitchFamily="18" charset="0"/>
                <a:cs typeface="Times New Roman" panose="02020603050405020304" pitchFamily="18" charset="0"/>
              </a:rPr>
              <a:t>recruiter "sells" the job and his/her company while the interviewee "sells" himself or herself as the person best suited to fill it. </a:t>
            </a:r>
            <a:endParaRPr lang="en-US" sz="2400" dirty="0">
              <a:latin typeface="Times New Roman" panose="02020603050405020304" pitchFamily="18" charset="0"/>
              <a:cs typeface="Times New Roman" panose="02020603050405020304" pitchFamily="18" charset="0"/>
            </a:endParaRPr>
          </a:p>
          <a:p>
            <a:pPr marL="0" indent="0" algn="just">
              <a:buNone/>
            </a:pPr>
            <a:r>
              <a:rPr lang="en-GB" sz="2400" b="1" dirty="0">
                <a:latin typeface="Times New Roman" panose="02020603050405020304" pitchFamily="18" charset="0"/>
                <a:cs typeface="Times New Roman" panose="02020603050405020304" pitchFamily="18" charset="0"/>
              </a:rPr>
              <a:t>(a)Researching the Employer/ Organization </a:t>
            </a:r>
            <a:endParaRPr lang="en-US" sz="2400" dirty="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Know the </a:t>
            </a:r>
            <a:r>
              <a:rPr lang="en-GB" sz="2400" dirty="0" smtClean="0">
                <a:latin typeface="Times New Roman" panose="02020603050405020304" pitchFamily="18" charset="0"/>
                <a:cs typeface="Times New Roman" panose="02020603050405020304" pitchFamily="18" charset="0"/>
              </a:rPr>
              <a:t>employer/organization. Information are found in </a:t>
            </a:r>
            <a:r>
              <a:rPr lang="en-GB" sz="2400" dirty="0">
                <a:latin typeface="Times New Roman" panose="02020603050405020304" pitchFamily="18" charset="0"/>
                <a:cs typeface="Times New Roman" panose="02020603050405020304" pitchFamily="18" charset="0"/>
              </a:rPr>
              <a:t>newspapers, trade publications and employer’s annual reports, the internet, speaking to the current employees or speaking to people who referred you to the </a:t>
            </a:r>
            <a:r>
              <a:rPr lang="en-GB" sz="2400" dirty="0" smtClean="0">
                <a:latin typeface="Times New Roman" panose="02020603050405020304" pitchFamily="18" charset="0"/>
                <a:cs typeface="Times New Roman" panose="02020603050405020304" pitchFamily="18" charset="0"/>
              </a:rPr>
              <a:t>employer.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7670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885141"/>
          </a:xfrm>
        </p:spPr>
        <p:txBody>
          <a:bodyPr/>
          <a:lstStyle/>
          <a:p>
            <a:r>
              <a:rPr lang="en-GB" dirty="0"/>
              <a:t>As a bare minimum you should know </a:t>
            </a:r>
            <a:endParaRPr lang="en-GB" dirty="0"/>
          </a:p>
          <a:p>
            <a:pPr lvl="1"/>
            <a:r>
              <a:rPr lang="en-GB" dirty="0"/>
              <a:t>P</a:t>
            </a:r>
            <a:r>
              <a:rPr lang="en-GB" dirty="0" smtClean="0"/>
              <a:t>roducts </a:t>
            </a:r>
            <a:r>
              <a:rPr lang="en-GB" dirty="0"/>
              <a:t>the employer produces or </a:t>
            </a:r>
            <a:endParaRPr lang="en-GB" dirty="0"/>
          </a:p>
          <a:p>
            <a:pPr lvl="1"/>
            <a:r>
              <a:rPr lang="en-GB" dirty="0" smtClean="0"/>
              <a:t> </a:t>
            </a:r>
            <a:r>
              <a:rPr lang="en-GB" dirty="0"/>
              <a:t>S</a:t>
            </a:r>
            <a:r>
              <a:rPr lang="en-GB" dirty="0" smtClean="0"/>
              <a:t>ervices </a:t>
            </a:r>
            <a:r>
              <a:rPr lang="en-GB" dirty="0"/>
              <a:t>it provides, history, mission, </a:t>
            </a:r>
            <a:r>
              <a:rPr lang="en-GB" dirty="0" smtClean="0"/>
              <a:t>and</a:t>
            </a:r>
          </a:p>
          <a:p>
            <a:pPr lvl="1"/>
            <a:r>
              <a:rPr lang="en-GB" dirty="0" smtClean="0"/>
              <a:t> </a:t>
            </a:r>
            <a:r>
              <a:rPr lang="en-GB" dirty="0"/>
              <a:t>W</a:t>
            </a:r>
            <a:r>
              <a:rPr lang="en-GB" dirty="0" smtClean="0"/>
              <a:t>here </a:t>
            </a:r>
            <a:r>
              <a:rPr lang="en-GB" dirty="0"/>
              <a:t>it is located. </a:t>
            </a:r>
            <a:endParaRPr lang="en-US" dirty="0"/>
          </a:p>
          <a:p>
            <a:pPr marL="0" indent="0">
              <a:buNone/>
            </a:pPr>
            <a:r>
              <a:rPr lang="en-GB" b="1" dirty="0"/>
              <a:t>(b)Identifying Essential Items/Tools to Take </a:t>
            </a:r>
            <a:endParaRPr lang="en-US" dirty="0"/>
          </a:p>
          <a:p>
            <a:r>
              <a:rPr lang="en-GB" dirty="0"/>
              <a:t>Depending on the nature of the interview, the interviewee needs to prepare tools to accomplish the exercise. The </a:t>
            </a:r>
            <a:r>
              <a:rPr lang="en-GB" dirty="0" smtClean="0"/>
              <a:t>tools include</a:t>
            </a:r>
            <a:endParaRPr lang="en-US" dirty="0"/>
          </a:p>
          <a:p>
            <a:pPr marL="0" lvl="0" indent="0">
              <a:buNone/>
            </a:pPr>
            <a:r>
              <a:rPr lang="en-GB" dirty="0" smtClean="0"/>
              <a:t>   </a:t>
            </a:r>
            <a:r>
              <a:rPr lang="en-GB" dirty="0" err="1" smtClean="0"/>
              <a:t>i</a:t>
            </a:r>
            <a:r>
              <a:rPr lang="en-GB" dirty="0" smtClean="0"/>
              <a:t>. Writing </a:t>
            </a:r>
            <a:r>
              <a:rPr lang="en-GB" dirty="0" smtClean="0"/>
              <a:t>materials</a:t>
            </a:r>
            <a:r>
              <a:rPr lang="en-GB" dirty="0"/>
              <a:t> </a:t>
            </a:r>
            <a:r>
              <a:rPr lang="en-GB" dirty="0" smtClean="0"/>
              <a:t>-</a:t>
            </a:r>
            <a:r>
              <a:rPr lang="en-GB" dirty="0" smtClean="0"/>
              <a:t> </a:t>
            </a:r>
            <a:r>
              <a:rPr lang="en-GB" dirty="0"/>
              <a:t>pen and writing pad for taking notes. </a:t>
            </a:r>
            <a:endParaRPr lang="en-US" dirty="0"/>
          </a:p>
          <a:p>
            <a:endParaRPr lang="en-US" dirty="0"/>
          </a:p>
        </p:txBody>
      </p:sp>
    </p:spTree>
    <p:extLst>
      <p:ext uri="{BB962C8B-B14F-4D97-AF65-F5344CB8AC3E}">
        <p14:creationId xmlns:p14="http://schemas.microsoft.com/office/powerpoint/2010/main" val="1749954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rmAutofit lnSpcReduction="10000"/>
          </a:bodyPr>
          <a:lstStyle/>
          <a:p>
            <a:pPr marL="0" lvl="0" indent="0" algn="just">
              <a:buNone/>
            </a:pPr>
            <a:r>
              <a:rPr lang="en-GB" sz="2400" dirty="0" smtClean="0"/>
              <a:t> </a:t>
            </a:r>
            <a:r>
              <a:rPr lang="en-GB" sz="2400" dirty="0" smtClean="0">
                <a:latin typeface="Times New Roman" panose="02020603050405020304" pitchFamily="18" charset="0"/>
                <a:cs typeface="Times New Roman" panose="02020603050405020304" pitchFamily="18" charset="0"/>
              </a:rPr>
              <a:t>ii. A </a:t>
            </a:r>
            <a:r>
              <a:rPr lang="en-GB" sz="2400" dirty="0">
                <a:latin typeface="Times New Roman" panose="02020603050405020304" pitchFamily="18" charset="0"/>
                <a:cs typeface="Times New Roman" panose="02020603050405020304" pitchFamily="18" charset="0"/>
              </a:rPr>
              <a:t>portfolio containing original documents that demonstrate interviewee’s </a:t>
            </a:r>
            <a:endParaRPr lang="en-GB" sz="2400" dirty="0" smtClean="0">
              <a:latin typeface="Times New Roman" panose="02020603050405020304" pitchFamily="18" charset="0"/>
              <a:cs typeface="Times New Roman" panose="02020603050405020304" pitchFamily="18" charset="0"/>
            </a:endParaRPr>
          </a:p>
          <a:p>
            <a:pPr lvl="1" algn="just"/>
            <a:r>
              <a:rPr lang="en-GB" dirty="0">
                <a:latin typeface="Times New Roman" panose="02020603050405020304" pitchFamily="18" charset="0"/>
                <a:cs typeface="Times New Roman" panose="02020603050405020304" pitchFamily="18" charset="0"/>
              </a:rPr>
              <a:t>K</a:t>
            </a:r>
            <a:r>
              <a:rPr lang="en-GB" dirty="0" smtClean="0">
                <a:latin typeface="Times New Roman" panose="02020603050405020304" pitchFamily="18" charset="0"/>
                <a:cs typeface="Times New Roman" panose="02020603050405020304" pitchFamily="18" charset="0"/>
              </a:rPr>
              <a:t>nowledge </a:t>
            </a:r>
            <a:r>
              <a:rPr lang="en-GB" dirty="0">
                <a:latin typeface="Times New Roman" panose="02020603050405020304" pitchFamily="18" charset="0"/>
                <a:cs typeface="Times New Roman" panose="02020603050405020304" pitchFamily="18" charset="0"/>
              </a:rPr>
              <a:t>and qualifications for the job </a:t>
            </a:r>
            <a:r>
              <a:rPr lang="en-GB" dirty="0" smtClean="0">
                <a:latin typeface="Times New Roman" panose="02020603050405020304" pitchFamily="18" charset="0"/>
                <a:cs typeface="Times New Roman" panose="02020603050405020304" pitchFamily="18" charset="0"/>
              </a:rPr>
              <a:t> </a:t>
            </a:r>
          </a:p>
          <a:p>
            <a:pPr lvl="1" algn="just"/>
            <a:r>
              <a:rPr lang="en-GB" dirty="0">
                <a:latin typeface="Times New Roman" panose="02020603050405020304" pitchFamily="18" charset="0"/>
                <a:cs typeface="Times New Roman" panose="02020603050405020304" pitchFamily="18" charset="0"/>
              </a:rPr>
              <a:t>A</a:t>
            </a:r>
            <a:r>
              <a:rPr lang="en-GB" dirty="0" smtClean="0">
                <a:latin typeface="Times New Roman" panose="02020603050405020304" pitchFamily="18" charset="0"/>
                <a:cs typeface="Times New Roman" panose="02020603050405020304" pitchFamily="18" charset="0"/>
              </a:rPr>
              <a:t>ny </a:t>
            </a:r>
            <a:r>
              <a:rPr lang="en-GB" dirty="0">
                <a:latin typeface="Times New Roman" panose="02020603050405020304" pitchFamily="18" charset="0"/>
                <a:cs typeface="Times New Roman" panose="02020603050405020304" pitchFamily="18" charset="0"/>
              </a:rPr>
              <a:t>other projects one has involved. </a:t>
            </a:r>
            <a:endParaRPr lang="en-US" dirty="0" smtClean="0">
              <a:latin typeface="Times New Roman" panose="02020603050405020304" pitchFamily="18" charset="0"/>
              <a:cs typeface="Times New Roman" panose="02020603050405020304" pitchFamily="18" charset="0"/>
            </a:endParaRPr>
          </a:p>
          <a:p>
            <a:pPr marL="0" lvl="0" indent="0" algn="just">
              <a:buNone/>
            </a:pPr>
            <a:r>
              <a:rPr lang="en-US" sz="2400" dirty="0" smtClean="0">
                <a:latin typeface="Times New Roman" panose="02020603050405020304" pitchFamily="18" charset="0"/>
                <a:cs typeface="Times New Roman" panose="02020603050405020304" pitchFamily="18" charset="0"/>
              </a:rPr>
              <a:t>iii. </a:t>
            </a:r>
            <a:r>
              <a:rPr lang="en-GB" sz="2400" dirty="0" smtClean="0">
                <a:latin typeface="Times New Roman" panose="02020603050405020304" pitchFamily="18" charset="0"/>
                <a:cs typeface="Times New Roman" panose="02020603050405020304" pitchFamily="18" charset="0"/>
              </a:rPr>
              <a:t>Copies </a:t>
            </a:r>
            <a:r>
              <a:rPr lang="en-GB" sz="2400" dirty="0">
                <a:latin typeface="Times New Roman" panose="02020603050405020304" pitchFamily="18" charset="0"/>
                <a:cs typeface="Times New Roman" panose="02020603050405020304" pitchFamily="18" charset="0"/>
              </a:rPr>
              <a:t>of interviewee’s CV and a list of references arranged in a </a:t>
            </a:r>
            <a:r>
              <a:rPr lang="en-GB" sz="2400" dirty="0" smtClean="0">
                <a:latin typeface="Times New Roman" panose="02020603050405020304" pitchFamily="18" charset="0"/>
                <a:cs typeface="Times New Roman" panose="02020603050405020304" pitchFamily="18" charset="0"/>
              </a:rPr>
              <a:t>professionally </a:t>
            </a:r>
          </a:p>
          <a:p>
            <a:pPr marL="0" lvl="0" indent="0" algn="just">
              <a:buNone/>
            </a:pPr>
            <a:r>
              <a:rPr lang="en-GB" sz="2400">
                <a:latin typeface="Times New Roman" panose="02020603050405020304" pitchFamily="18" charset="0"/>
                <a:cs typeface="Times New Roman" panose="02020603050405020304" pitchFamily="18" charset="0"/>
              </a:rPr>
              <a:t> </a:t>
            </a:r>
            <a:r>
              <a:rPr lang="en-GB" sz="2400" smtClean="0">
                <a:latin typeface="Times New Roman" panose="02020603050405020304" pitchFamily="18" charset="0"/>
                <a:cs typeface="Times New Roman" panose="02020603050405020304" pitchFamily="18" charset="0"/>
              </a:rPr>
              <a:t>    </a:t>
            </a:r>
            <a:r>
              <a:rPr lang="en-GB" sz="240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recommended order</a:t>
            </a:r>
            <a:r>
              <a:rPr lang="en-GB" sz="2400">
                <a:latin typeface="Times New Roman" panose="02020603050405020304" pitchFamily="18" charset="0"/>
                <a:cs typeface="Times New Roman" panose="02020603050405020304" pitchFamily="18" charset="0"/>
              </a:rPr>
              <a:t>. </a:t>
            </a:r>
            <a:endParaRPr lang="en-GB" sz="2400" smtClean="0">
              <a:latin typeface="Times New Roman" panose="02020603050405020304" pitchFamily="18" charset="0"/>
              <a:cs typeface="Times New Roman" panose="02020603050405020304" pitchFamily="18" charset="0"/>
            </a:endParaRPr>
          </a:p>
          <a:p>
            <a:pPr marL="0" lvl="0" indent="0" algn="just">
              <a:buNone/>
            </a:pPr>
            <a:endParaRPr lang="en-GB" sz="2400" dirty="0" smtClean="0">
              <a:latin typeface="Times New Roman" panose="02020603050405020304" pitchFamily="18" charset="0"/>
              <a:cs typeface="Times New Roman" panose="02020603050405020304" pitchFamily="18" charset="0"/>
            </a:endParaRPr>
          </a:p>
          <a:p>
            <a:pPr marL="0" indent="0" algn="just">
              <a:buNone/>
            </a:pPr>
            <a:r>
              <a:rPr lang="en-GB" sz="2400" dirty="0" smtClean="0">
                <a:latin typeface="Times New Roman" panose="02020603050405020304" pitchFamily="18" charset="0"/>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(c)Job Description</a:t>
            </a:r>
            <a:endParaRPr lang="en-US" sz="2400" dirty="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The interviewee should read </a:t>
            </a:r>
            <a:r>
              <a:rPr lang="en-GB" sz="2400" dirty="0">
                <a:latin typeface="Times New Roman" panose="02020603050405020304" pitchFamily="18" charset="0"/>
                <a:cs typeface="Times New Roman" panose="02020603050405020304" pitchFamily="18" charset="0"/>
              </a:rPr>
              <a:t>the job description carefully and understand the content</a:t>
            </a:r>
            <a:r>
              <a:rPr lang="en-GB" sz="2400"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a:t>
            </a:r>
          </a:p>
          <a:p>
            <a:pPr lvl="1" algn="just"/>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equired </a:t>
            </a:r>
            <a:r>
              <a:rPr lang="en-US" dirty="0">
                <a:latin typeface="Times New Roman" panose="02020603050405020304" pitchFamily="18" charset="0"/>
                <a:cs typeface="Times New Roman" panose="02020603050405020304" pitchFamily="18" charset="0"/>
              </a:rPr>
              <a:t>qualifications, </a:t>
            </a:r>
            <a:endParaRPr lang="en-US" dirty="0" smtClean="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S</a:t>
            </a:r>
            <a:r>
              <a:rPr lang="en-US" dirty="0" smtClean="0">
                <a:latin typeface="Times New Roman" panose="02020603050405020304" pitchFamily="18" charset="0"/>
                <a:cs typeface="Times New Roman" panose="02020603050405020304" pitchFamily="18" charset="0"/>
              </a:rPr>
              <a:t>kills</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lvl="1" algn="just"/>
            <a:r>
              <a:rPr lang="en-GB" dirty="0">
                <a:latin typeface="Times New Roman" panose="02020603050405020304" pitchFamily="18" charset="0"/>
                <a:cs typeface="Times New Roman" panose="02020603050405020304" pitchFamily="18" charset="0"/>
              </a:rPr>
              <a:t>R</a:t>
            </a:r>
            <a:r>
              <a:rPr lang="en-GB" dirty="0" smtClean="0">
                <a:latin typeface="Times New Roman" panose="02020603050405020304" pitchFamily="18" charset="0"/>
                <a:cs typeface="Times New Roman" panose="02020603050405020304" pitchFamily="18" charset="0"/>
              </a:rPr>
              <a:t>esponsibilities </a:t>
            </a:r>
            <a:r>
              <a:rPr lang="en-GB" dirty="0">
                <a:latin typeface="Times New Roman" panose="02020603050405020304" pitchFamily="18" charset="0"/>
                <a:cs typeface="Times New Roman" panose="02020603050405020304" pitchFamily="18" charset="0"/>
              </a:rPr>
              <a:t>and duties of the prospective </a:t>
            </a:r>
            <a:r>
              <a:rPr lang="en-GB" dirty="0" smtClean="0">
                <a:latin typeface="Times New Roman" panose="02020603050405020304" pitchFamily="18" charset="0"/>
                <a:cs typeface="Times New Roman" panose="02020603050405020304" pitchFamily="18" charset="0"/>
              </a:rPr>
              <a:t>employee</a:t>
            </a:r>
            <a:endParaRPr lang="en-US" dirty="0">
              <a:latin typeface="Times New Roman" panose="02020603050405020304" pitchFamily="18" charset="0"/>
              <a:cs typeface="Times New Roman" panose="02020603050405020304" pitchFamily="18" charset="0"/>
            </a:endParaRPr>
          </a:p>
          <a:p>
            <a:pPr marL="0" lvl="0" indent="0" algn="just">
              <a:buNone/>
            </a:pP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33645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 </a:t>
            </a:r>
            <a:r>
              <a:rPr lang="en-US" sz="2400" dirty="0" smtClean="0">
                <a:latin typeface="Times New Roman" panose="02020603050405020304" pitchFamily="18" charset="0"/>
                <a:cs typeface="Times New Roman" panose="02020603050405020304" pitchFamily="18" charset="0"/>
              </a:rPr>
              <a:t>(d) </a:t>
            </a:r>
            <a:r>
              <a:rPr lang="en-US" sz="2400" b="1" dirty="0" smtClean="0">
                <a:latin typeface="Times New Roman" panose="02020603050405020304" pitchFamily="18" charset="0"/>
                <a:cs typeface="Times New Roman" panose="02020603050405020304" pitchFamily="18" charset="0"/>
              </a:rPr>
              <a:t>Prepare Questions </a:t>
            </a:r>
            <a:r>
              <a:rPr lang="en-US" sz="2400" b="1" dirty="0">
                <a:latin typeface="Times New Roman" panose="02020603050405020304" pitchFamily="18" charset="0"/>
                <a:cs typeface="Times New Roman" panose="02020603050405020304" pitchFamily="18" charset="0"/>
              </a:rPr>
              <a:t>for the Interviewer</a:t>
            </a:r>
          </a:p>
          <a:p>
            <a:pPr algn="just"/>
            <a:r>
              <a:rPr lang="en-US" sz="2400" dirty="0" smtClean="0">
                <a:latin typeface="Times New Roman" panose="02020603050405020304" pitchFamily="18" charset="0"/>
                <a:cs typeface="Times New Roman" panose="02020603050405020304" pitchFamily="18" charset="0"/>
              </a:rPr>
              <a:t>Prepare </a:t>
            </a:r>
            <a:r>
              <a:rPr lang="en-US" sz="2400" dirty="0">
                <a:latin typeface="Times New Roman" panose="02020603050405020304" pitchFamily="18" charset="0"/>
                <a:cs typeface="Times New Roman" panose="02020603050405020304" pitchFamily="18" charset="0"/>
              </a:rPr>
              <a:t>thoughtful questions to ask the </a:t>
            </a:r>
            <a:r>
              <a:rPr lang="en-US" sz="2400" dirty="0" smtClean="0">
                <a:latin typeface="Times New Roman" panose="02020603050405020304" pitchFamily="18" charset="0"/>
                <a:cs typeface="Times New Roman" panose="02020603050405020304" pitchFamily="18" charset="0"/>
              </a:rPr>
              <a:t>interviewer</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to show interest on the post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Example questions</a:t>
            </a:r>
            <a:r>
              <a:rPr lang="en-US" sz="2400" dirty="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Can </a:t>
            </a:r>
            <a:r>
              <a:rPr lang="en-US" sz="2400" dirty="0">
                <a:latin typeface="Times New Roman" panose="02020603050405020304" pitchFamily="18" charset="0"/>
                <a:cs typeface="Times New Roman" panose="02020603050405020304" pitchFamily="18" charset="0"/>
              </a:rPr>
              <a:t>you tell me more about the day-to-day responsibilities for this position</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What </a:t>
            </a:r>
            <a:r>
              <a:rPr lang="en-US" sz="2400" dirty="0">
                <a:latin typeface="Times New Roman" panose="02020603050405020304" pitchFamily="18" charset="0"/>
                <a:cs typeface="Times New Roman" panose="02020603050405020304" pitchFamily="18" charset="0"/>
              </a:rPr>
              <a:t>are the opportunities for professional development</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How </a:t>
            </a:r>
            <a:r>
              <a:rPr lang="en-US" sz="2400" dirty="0">
                <a:latin typeface="Times New Roman" panose="02020603050405020304" pitchFamily="18" charset="0"/>
                <a:cs typeface="Times New Roman" panose="02020603050405020304" pitchFamily="18" charset="0"/>
              </a:rPr>
              <a:t>would you describe the company culture</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How long does it take to get the feedback of this interview?</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0322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marL="0" indent="0" algn="just">
              <a:buNone/>
            </a:pPr>
            <a:r>
              <a:rPr lang="en-US" sz="2400" dirty="0" smtClean="0">
                <a:latin typeface="Times New Roman" panose="02020603050405020304" pitchFamily="18" charset="0"/>
                <a:cs typeface="Times New Roman" panose="02020603050405020304" pitchFamily="18" charset="0"/>
              </a:rPr>
              <a:t>(e) </a:t>
            </a:r>
            <a:r>
              <a:rPr lang="en-US" sz="2400" b="1" dirty="0" smtClean="0">
                <a:latin typeface="Times New Roman" panose="02020603050405020304" pitchFamily="18" charset="0"/>
                <a:cs typeface="Times New Roman" panose="02020603050405020304" pitchFamily="18" charset="0"/>
              </a:rPr>
              <a:t>Knowing the Location of an Interview</a:t>
            </a:r>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Know </a:t>
            </a:r>
            <a:r>
              <a:rPr lang="en-US" sz="2400" dirty="0">
                <a:latin typeface="Times New Roman" panose="02020603050405020304" pitchFamily="18" charset="0"/>
                <a:cs typeface="Times New Roman" panose="02020603050405020304" pitchFamily="18" charset="0"/>
              </a:rPr>
              <a:t>the interview location (if in-person), </a:t>
            </a:r>
            <a:endParaRPr lang="en-US" sz="2400" dirty="0" smtClean="0">
              <a:latin typeface="Times New Roman" panose="02020603050405020304" pitchFamily="18" charset="0"/>
              <a:cs typeface="Times New Roman" panose="02020603050405020304" pitchFamily="18" charset="0"/>
            </a:endParaRPr>
          </a:p>
          <a:p>
            <a:pPr lvl="1" algn="just"/>
            <a:r>
              <a:rPr lang="en-US" sz="2000" dirty="0" smtClean="0">
                <a:latin typeface="Times New Roman" panose="02020603050405020304" pitchFamily="18" charset="0"/>
                <a:cs typeface="Times New Roman" panose="02020603050405020304" pitchFamily="18" charset="0"/>
              </a:rPr>
              <a:t>how </a:t>
            </a:r>
            <a:r>
              <a:rPr lang="en-US" sz="2000" dirty="0">
                <a:latin typeface="Times New Roman" panose="02020603050405020304" pitchFamily="18" charset="0"/>
                <a:cs typeface="Times New Roman" panose="02020603050405020304" pitchFamily="18" charset="0"/>
              </a:rPr>
              <a:t>to get there, and </a:t>
            </a:r>
            <a:endParaRPr lang="en-US" sz="2000" dirty="0" smtClean="0">
              <a:latin typeface="Times New Roman" panose="02020603050405020304" pitchFamily="18" charset="0"/>
              <a:cs typeface="Times New Roman" panose="02020603050405020304" pitchFamily="18" charset="0"/>
            </a:endParaRPr>
          </a:p>
          <a:p>
            <a:pPr lvl="1" algn="just"/>
            <a:r>
              <a:rPr lang="en-US" sz="2000" dirty="0" smtClean="0">
                <a:latin typeface="Times New Roman" panose="02020603050405020304" pitchFamily="18" charset="0"/>
                <a:cs typeface="Times New Roman" panose="02020603050405020304" pitchFamily="18" charset="0"/>
              </a:rPr>
              <a:t>allow </a:t>
            </a:r>
            <a:r>
              <a:rPr lang="en-US" sz="2000" dirty="0">
                <a:latin typeface="Times New Roman" panose="02020603050405020304" pitchFamily="18" charset="0"/>
                <a:cs typeface="Times New Roman" panose="02020603050405020304" pitchFamily="18" charset="0"/>
              </a:rPr>
              <a:t>extra time to avoid </a:t>
            </a:r>
            <a:r>
              <a:rPr lang="en-US" sz="2000" dirty="0" smtClean="0">
                <a:latin typeface="Times New Roman" panose="02020603050405020304" pitchFamily="18" charset="0"/>
                <a:cs typeface="Times New Roman" panose="02020603050405020304" pitchFamily="18" charset="0"/>
              </a:rPr>
              <a:t>being </a:t>
            </a:r>
            <a:r>
              <a:rPr lang="en-US" sz="2000" dirty="0">
                <a:latin typeface="Times New Roman" panose="02020603050405020304" pitchFamily="18" charset="0"/>
                <a:cs typeface="Times New Roman" panose="02020603050405020304" pitchFamily="18" charset="0"/>
              </a:rPr>
              <a:t>late.</a:t>
            </a:r>
          </a:p>
          <a:p>
            <a:pPr algn="just"/>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it's a virtual interview, make sure your technology is working (e.g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Zoom, </a:t>
            </a:r>
            <a:r>
              <a:rPr lang="en-US" sz="2400" dirty="0" smtClean="0">
                <a:latin typeface="Times New Roman" panose="02020603050405020304" pitchFamily="18" charset="0"/>
                <a:cs typeface="Times New Roman" panose="02020603050405020304" pitchFamily="18" charset="0"/>
              </a:rPr>
              <a:t>Skype etc.). </a:t>
            </a:r>
            <a:r>
              <a:rPr lang="en-US" sz="2400" dirty="0">
                <a:latin typeface="Times New Roman" panose="02020603050405020304" pitchFamily="18" charset="0"/>
                <a:cs typeface="Times New Roman" panose="02020603050405020304" pitchFamily="18" charset="0"/>
              </a:rPr>
              <a:t>Test your </a:t>
            </a:r>
            <a:r>
              <a:rPr lang="en-US" sz="2400" dirty="0" smtClean="0">
                <a:latin typeface="Times New Roman" panose="02020603050405020304" pitchFamily="18" charset="0"/>
                <a:cs typeface="Times New Roman" panose="02020603050405020304" pitchFamily="18" charset="0"/>
              </a:rPr>
              <a:t>camera</a:t>
            </a:r>
            <a:r>
              <a:rPr lang="en-US" sz="2400" dirty="0">
                <a:latin typeface="Times New Roman" panose="02020603050405020304" pitchFamily="18" charset="0"/>
                <a:cs typeface="Times New Roman" panose="02020603050405020304" pitchFamily="18" charset="0"/>
              </a:rPr>
              <a:t>, microphone, and internet connection ahead of time.</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0205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buFont typeface="Wingdings" panose="05000000000000000000" pitchFamily="2" charset="2"/>
              <a:buChar char="q"/>
            </a:pPr>
            <a:r>
              <a:rPr lang="en-GB" b="1" dirty="0">
                <a:latin typeface="Times New Roman" panose="02020603050405020304" pitchFamily="18" charset="0"/>
                <a:cs typeface="Times New Roman" panose="02020603050405020304" pitchFamily="18" charset="0"/>
              </a:rPr>
              <a:t>Punctuality and Appropriateness on interview day </a:t>
            </a:r>
            <a:endParaRPr lang="en-US" dirty="0">
              <a:latin typeface="Times New Roman" panose="02020603050405020304" pitchFamily="18" charset="0"/>
              <a:cs typeface="Times New Roman" panose="02020603050405020304" pitchFamily="18" charset="0"/>
            </a:endParaRPr>
          </a:p>
          <a:p>
            <a:pPr algn="just"/>
            <a:r>
              <a:rPr lang="en-GB" sz="2600" dirty="0" smtClean="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J</a:t>
            </a:r>
            <a:r>
              <a:rPr lang="en-GB" sz="2600" dirty="0" smtClean="0">
                <a:latin typeface="Times New Roman" panose="02020603050405020304" pitchFamily="18" charset="0"/>
                <a:cs typeface="Times New Roman" panose="02020603050405020304" pitchFamily="18" charset="0"/>
              </a:rPr>
              <a:t>ob </a:t>
            </a:r>
            <a:r>
              <a:rPr lang="en-GB" sz="2600" dirty="0">
                <a:latin typeface="Times New Roman" panose="02020603050405020304" pitchFamily="18" charset="0"/>
                <a:cs typeface="Times New Roman" panose="02020603050405020304" pitchFamily="18" charset="0"/>
              </a:rPr>
              <a:t>interview </a:t>
            </a:r>
            <a:r>
              <a:rPr lang="en-GB" sz="2600" dirty="0" smtClean="0">
                <a:latin typeface="Times New Roman" panose="02020603050405020304" pitchFamily="18" charset="0"/>
                <a:cs typeface="Times New Roman" panose="02020603050405020304" pitchFamily="18" charset="0"/>
              </a:rPr>
              <a:t> requires </a:t>
            </a:r>
            <a:r>
              <a:rPr lang="en-GB" sz="2600" i="1" dirty="0">
                <a:latin typeface="Times New Roman" panose="02020603050405020304" pitchFamily="18" charset="0"/>
                <a:cs typeface="Times New Roman" panose="02020603050405020304" pitchFamily="18" charset="0"/>
              </a:rPr>
              <a:t>you to </a:t>
            </a:r>
            <a:r>
              <a:rPr lang="en-GB" sz="2600" b="1" i="1" dirty="0">
                <a:latin typeface="Times New Roman" panose="02020603050405020304" pitchFamily="18" charset="0"/>
                <a:cs typeface="Times New Roman" panose="02020603050405020304" pitchFamily="18" charset="0"/>
              </a:rPr>
              <a:t>"sell" yourself</a:t>
            </a:r>
            <a:r>
              <a:rPr lang="en-GB"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algn="just"/>
            <a:r>
              <a:rPr lang="en-GB" sz="2600" b="1" i="1" dirty="0">
                <a:latin typeface="Times New Roman" panose="02020603050405020304" pitchFamily="18" charset="0"/>
                <a:cs typeface="Times New Roman" panose="02020603050405020304" pitchFamily="18" charset="0"/>
              </a:rPr>
              <a:t>Your first impression means a lot</a:t>
            </a:r>
            <a:r>
              <a:rPr lang="en-GB" sz="2600" dirty="0">
                <a:latin typeface="Times New Roman" panose="02020603050405020304" pitchFamily="18" charset="0"/>
                <a:cs typeface="Times New Roman" panose="02020603050405020304" pitchFamily="18" charset="0"/>
              </a:rPr>
              <a:t>, your appearance; manner and attitude are of first importance. </a:t>
            </a:r>
            <a:endParaRPr lang="en-GB" sz="2600" dirty="0" smtClean="0">
              <a:latin typeface="Times New Roman" panose="02020603050405020304" pitchFamily="18" charset="0"/>
              <a:cs typeface="Times New Roman" panose="02020603050405020304" pitchFamily="18" charset="0"/>
            </a:endParaRPr>
          </a:p>
          <a:p>
            <a:pPr algn="just"/>
            <a:r>
              <a:rPr lang="en-GB" sz="2600" b="1" i="1" dirty="0" smtClean="0">
                <a:latin typeface="Times New Roman" panose="02020603050405020304" pitchFamily="18" charset="0"/>
                <a:cs typeface="Times New Roman" panose="02020603050405020304" pitchFamily="18" charset="0"/>
              </a:rPr>
              <a:t>Punctuality</a:t>
            </a:r>
            <a:r>
              <a:rPr lang="en-GB" sz="2600" dirty="0" smtClean="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and </a:t>
            </a:r>
            <a:r>
              <a:rPr lang="en-GB" sz="2600" b="1" i="1" dirty="0">
                <a:latin typeface="Times New Roman" panose="02020603050405020304" pitchFamily="18" charset="0"/>
                <a:cs typeface="Times New Roman" panose="02020603050405020304" pitchFamily="18" charset="0"/>
              </a:rPr>
              <a:t>appropriateness</a:t>
            </a:r>
            <a:r>
              <a:rPr lang="en-GB" sz="2600" dirty="0">
                <a:latin typeface="Times New Roman" panose="02020603050405020304" pitchFamily="18" charset="0"/>
                <a:cs typeface="Times New Roman" panose="02020603050405020304" pitchFamily="18" charset="0"/>
              </a:rPr>
              <a:t> should </a:t>
            </a:r>
            <a:r>
              <a:rPr lang="en-GB" sz="2600" dirty="0" smtClean="0">
                <a:latin typeface="Times New Roman" panose="02020603050405020304" pitchFamily="18" charset="0"/>
                <a:cs typeface="Times New Roman" panose="02020603050405020304" pitchFamily="18" charset="0"/>
              </a:rPr>
              <a:t>be centred on the following </a:t>
            </a:r>
            <a:r>
              <a:rPr lang="en-GB" sz="2600" dirty="0" smtClean="0">
                <a:latin typeface="Times New Roman" panose="02020603050405020304" pitchFamily="18" charset="0"/>
                <a:cs typeface="Times New Roman" panose="02020603050405020304" pitchFamily="18" charset="0"/>
              </a:rPr>
              <a:t>aspects</a:t>
            </a:r>
            <a:r>
              <a:rPr lang="en-GB" sz="2600"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pPr marL="571500" lvl="0" indent="-571500" algn="just">
              <a:buAutoNum type="romanLcParenBoth"/>
            </a:pPr>
            <a:r>
              <a:rPr lang="en-GB" sz="2600" i="1" dirty="0" smtClean="0">
                <a:latin typeface="Times New Roman" panose="02020603050405020304" pitchFamily="18" charset="0"/>
                <a:cs typeface="Times New Roman" panose="02020603050405020304" pitchFamily="18" charset="0"/>
              </a:rPr>
              <a:t>Timing</a:t>
            </a:r>
            <a:r>
              <a:rPr lang="en-GB" sz="2600" b="1" i="1" dirty="0" smtClean="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 you must be on time for your </a:t>
            </a:r>
            <a:r>
              <a:rPr lang="en-GB" sz="2600" dirty="0" smtClean="0">
                <a:latin typeface="Times New Roman" panose="02020603050405020304" pitchFamily="18" charset="0"/>
                <a:cs typeface="Times New Roman" panose="02020603050405020304" pitchFamily="18" charset="0"/>
              </a:rPr>
              <a:t>interview - arrive </a:t>
            </a:r>
            <a:r>
              <a:rPr lang="en-GB" sz="2600" dirty="0">
                <a:latin typeface="Times New Roman" panose="02020603050405020304" pitchFamily="18" charset="0"/>
                <a:cs typeface="Times New Roman" panose="02020603050405020304" pitchFamily="18" charset="0"/>
              </a:rPr>
              <a:t>at </a:t>
            </a:r>
            <a:r>
              <a:rPr lang="en-GB" sz="2600" dirty="0" smtClean="0">
                <a:latin typeface="Times New Roman" panose="02020603050405020304" pitchFamily="18" charset="0"/>
                <a:cs typeface="Times New Roman" panose="02020603050405020304" pitchFamily="18" charset="0"/>
              </a:rPr>
              <a:t>the </a:t>
            </a:r>
          </a:p>
          <a:p>
            <a:pPr marL="0" lvl="0" indent="0" algn="just">
              <a:buNone/>
            </a:pPr>
            <a:r>
              <a:rPr lang="en-GB" sz="2600" dirty="0" smtClean="0">
                <a:latin typeface="Times New Roman" panose="02020603050405020304" pitchFamily="18" charset="0"/>
                <a:cs typeface="Times New Roman" panose="02020603050405020304" pitchFamily="18" charset="0"/>
              </a:rPr>
              <a:t>       interviewing place 30 minutes  </a:t>
            </a:r>
            <a:r>
              <a:rPr lang="en-GB" sz="2600" dirty="0">
                <a:latin typeface="Times New Roman" panose="02020603050405020304" pitchFamily="18" charset="0"/>
                <a:cs typeface="Times New Roman" panose="02020603050405020304" pitchFamily="18" charset="0"/>
              </a:rPr>
              <a:t>before </a:t>
            </a:r>
            <a:r>
              <a:rPr lang="en-GB" sz="2600" dirty="0" smtClean="0">
                <a:latin typeface="Times New Roman" panose="02020603050405020304" pitchFamily="18" charset="0"/>
                <a:cs typeface="Times New Roman" panose="02020603050405020304" pitchFamily="18" charset="0"/>
              </a:rPr>
              <a:t>the </a:t>
            </a:r>
          </a:p>
          <a:p>
            <a:pPr marL="0" lvl="0" indent="0" algn="just">
              <a:buNone/>
            </a:pPr>
            <a:r>
              <a:rPr lang="en-GB" sz="2600" dirty="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endParaRPr lang="en-GB" sz="2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2277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marL="0" indent="0" algn="just">
              <a:buNone/>
            </a:pPr>
            <a:r>
              <a:rPr lang="en-GB" sz="2600" smtClean="0">
                <a:latin typeface="Times New Roman" panose="02020603050405020304" pitchFamily="18" charset="0"/>
                <a:cs typeface="Times New Roman" panose="02020603050405020304" pitchFamily="18" charset="0"/>
              </a:rPr>
              <a:t>(</a:t>
            </a:r>
            <a:r>
              <a:rPr lang="en-GB" sz="2600" dirty="0" smtClean="0">
                <a:latin typeface="Times New Roman" panose="02020603050405020304" pitchFamily="18" charset="0"/>
                <a:cs typeface="Times New Roman" panose="02020603050405020304" pitchFamily="18" charset="0"/>
              </a:rPr>
              <a:t>ii) </a:t>
            </a:r>
            <a:r>
              <a:rPr lang="en-GB" sz="2600" i="1" dirty="0" smtClean="0">
                <a:latin typeface="Times New Roman" panose="02020603050405020304" pitchFamily="18" charset="0"/>
                <a:cs typeface="Times New Roman" panose="02020603050405020304" pitchFamily="18" charset="0"/>
              </a:rPr>
              <a:t>Dress </a:t>
            </a:r>
            <a:r>
              <a:rPr lang="en-GB" sz="2600" i="1" dirty="0">
                <a:latin typeface="Times New Roman" panose="02020603050405020304" pitchFamily="18" charset="0"/>
                <a:cs typeface="Times New Roman" panose="02020603050405020304" pitchFamily="18" charset="0"/>
              </a:rPr>
              <a:t>in an appropriate manner</a:t>
            </a:r>
            <a:r>
              <a:rPr lang="en-GB" sz="2600" dirty="0">
                <a:latin typeface="Times New Roman" panose="02020603050405020304" pitchFamily="18" charset="0"/>
                <a:cs typeface="Times New Roman" panose="02020603050405020304" pitchFamily="18" charset="0"/>
              </a:rPr>
              <a:t>- Even if the nature of the job </a:t>
            </a:r>
            <a:r>
              <a:rPr lang="en-GB" sz="2600" dirty="0" smtClean="0">
                <a:latin typeface="Times New Roman" panose="02020603050405020304" pitchFamily="18" charset="0"/>
                <a:cs typeface="Times New Roman" panose="02020603050405020304" pitchFamily="18" charset="0"/>
              </a:rPr>
              <a:t>applied </a:t>
            </a:r>
          </a:p>
          <a:p>
            <a:pPr marL="0" indent="0" algn="just">
              <a:buNone/>
            </a:pPr>
            <a:r>
              <a:rPr lang="en-GB" sz="2600" dirty="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discourages </a:t>
            </a:r>
            <a:r>
              <a:rPr lang="en-GB" sz="2600" dirty="0">
                <a:latin typeface="Times New Roman" panose="02020603050405020304" pitchFamily="18" charset="0"/>
                <a:cs typeface="Times New Roman" panose="02020603050405020304" pitchFamily="18" charset="0"/>
              </a:rPr>
              <a:t>neatness </a:t>
            </a:r>
            <a:r>
              <a:rPr lang="en-GB" sz="2600" dirty="0" smtClean="0">
                <a:latin typeface="Times New Roman" panose="02020603050405020304" pitchFamily="18" charset="0"/>
                <a:cs typeface="Times New Roman" panose="02020603050405020304" pitchFamily="18" charset="0"/>
              </a:rPr>
              <a:t>don’t </a:t>
            </a:r>
          </a:p>
          <a:p>
            <a:pPr lvl="1" algn="just"/>
            <a:r>
              <a:rPr lang="en-GB" sz="2200" dirty="0">
                <a:latin typeface="Times New Roman" panose="02020603050405020304" pitchFamily="18" charset="0"/>
                <a:cs typeface="Times New Roman" panose="02020603050405020304" pitchFamily="18" charset="0"/>
              </a:rPr>
              <a:t> </a:t>
            </a:r>
            <a:r>
              <a:rPr lang="en-GB" sz="2200" i="1" dirty="0">
                <a:latin typeface="Times New Roman" panose="02020603050405020304" pitchFamily="18" charset="0"/>
                <a:cs typeface="Times New Roman" panose="02020603050405020304" pitchFamily="18" charset="0"/>
              </a:rPr>
              <a:t>A</a:t>
            </a:r>
            <a:r>
              <a:rPr lang="en-GB" sz="2200" i="1" dirty="0" smtClean="0">
                <a:latin typeface="Times New Roman" panose="02020603050405020304" pitchFamily="18" charset="0"/>
                <a:cs typeface="Times New Roman" panose="02020603050405020304" pitchFamily="18" charset="0"/>
              </a:rPr>
              <a:t>void </a:t>
            </a:r>
            <a:r>
              <a:rPr lang="en-GB" sz="2200" i="1" dirty="0">
                <a:latin typeface="Times New Roman" panose="02020603050405020304" pitchFamily="18" charset="0"/>
                <a:cs typeface="Times New Roman" panose="02020603050405020304" pitchFamily="18" charset="0"/>
              </a:rPr>
              <a:t>bright coloured clothes</a:t>
            </a:r>
            <a:r>
              <a:rPr lang="en-GB" sz="2200" dirty="0">
                <a:latin typeface="Times New Roman" panose="02020603050405020304" pitchFamily="18" charset="0"/>
                <a:cs typeface="Times New Roman" panose="02020603050405020304" pitchFamily="18" charset="0"/>
              </a:rPr>
              <a:t> </a:t>
            </a:r>
            <a:r>
              <a:rPr lang="en-GB" sz="2200" dirty="0" smtClean="0">
                <a:latin typeface="Times New Roman" panose="02020603050405020304" pitchFamily="18" charset="0"/>
                <a:cs typeface="Times New Roman" panose="02020603050405020304" pitchFamily="18" charset="0"/>
              </a:rPr>
              <a:t>- </a:t>
            </a:r>
            <a:r>
              <a:rPr lang="en-GB" sz="2200" dirty="0" smtClean="0">
                <a:latin typeface="Times New Roman" panose="02020603050405020304" pitchFamily="18" charset="0"/>
                <a:cs typeface="Times New Roman" panose="02020603050405020304" pitchFamily="18" charset="0"/>
              </a:rPr>
              <a:t>stick </a:t>
            </a:r>
            <a:r>
              <a:rPr lang="en-GB" sz="2200" dirty="0" smtClean="0">
                <a:latin typeface="Times New Roman" panose="02020603050405020304" pitchFamily="18" charset="0"/>
                <a:cs typeface="Times New Roman" panose="02020603050405020304" pitchFamily="18" charset="0"/>
              </a:rPr>
              <a:t>to </a:t>
            </a:r>
            <a:r>
              <a:rPr lang="en-GB" sz="2200" dirty="0">
                <a:latin typeface="Times New Roman" panose="02020603050405020304" pitchFamily="18" charset="0"/>
                <a:cs typeface="Times New Roman" panose="02020603050405020304" pitchFamily="18" charset="0"/>
              </a:rPr>
              <a:t>neutral colours like blue, grey, </a:t>
            </a:r>
            <a:r>
              <a:rPr lang="en-GB" sz="2200" dirty="0" smtClean="0">
                <a:latin typeface="Times New Roman" panose="02020603050405020304" pitchFamily="18" charset="0"/>
                <a:cs typeface="Times New Roman" panose="02020603050405020304" pitchFamily="18" charset="0"/>
              </a:rPr>
              <a:t> </a:t>
            </a:r>
            <a:r>
              <a:rPr lang="en-GB" sz="2200" dirty="0" smtClean="0">
                <a:latin typeface="Times New Roman" panose="02020603050405020304" pitchFamily="18" charset="0"/>
                <a:cs typeface="Times New Roman" panose="02020603050405020304" pitchFamily="18" charset="0"/>
              </a:rPr>
              <a:t>black</a:t>
            </a:r>
            <a:r>
              <a:rPr lang="en-GB" sz="2200" dirty="0">
                <a:latin typeface="Times New Roman" panose="02020603050405020304" pitchFamily="18" charset="0"/>
                <a:cs typeface="Times New Roman" panose="02020603050405020304" pitchFamily="18" charset="0"/>
              </a:rPr>
              <a:t>, brown and so on. </a:t>
            </a:r>
            <a:endParaRPr lang="en-GB" sz="2200" dirty="0" smtClean="0">
              <a:latin typeface="Times New Roman" panose="02020603050405020304" pitchFamily="18" charset="0"/>
              <a:cs typeface="Times New Roman" panose="02020603050405020304" pitchFamily="18" charset="0"/>
            </a:endParaRPr>
          </a:p>
          <a:p>
            <a:pPr lvl="1" algn="just"/>
            <a:r>
              <a:rPr lang="en-GB" sz="2200" dirty="0" smtClean="0">
                <a:latin typeface="Times New Roman" panose="02020603050405020304" pitchFamily="18" charset="0"/>
                <a:cs typeface="Times New Roman" panose="02020603050405020304" pitchFamily="18" charset="0"/>
              </a:rPr>
              <a:t>For </a:t>
            </a:r>
            <a:r>
              <a:rPr lang="en-GB" sz="2200" dirty="0">
                <a:latin typeface="Times New Roman" panose="02020603050405020304" pitchFamily="18" charset="0"/>
                <a:cs typeface="Times New Roman" panose="02020603050405020304" pitchFamily="18" charset="0"/>
              </a:rPr>
              <a:t>men where possible </a:t>
            </a:r>
            <a:r>
              <a:rPr lang="en-GB" sz="2200" dirty="0" smtClean="0">
                <a:latin typeface="Times New Roman" panose="02020603050405020304" pitchFamily="18" charset="0"/>
                <a:cs typeface="Times New Roman" panose="02020603050405020304" pitchFamily="18" charset="0"/>
              </a:rPr>
              <a:t>wear suits</a:t>
            </a:r>
            <a:r>
              <a:rPr lang="en-GB" sz="2200" dirty="0">
                <a:latin typeface="Times New Roman" panose="02020603050405020304" pitchFamily="18" charset="0"/>
                <a:cs typeface="Times New Roman" panose="02020603050405020304" pitchFamily="18" charset="0"/>
              </a:rPr>
              <a:t>; for women skirted suit. </a:t>
            </a:r>
            <a:endParaRPr lang="en-GB" sz="2200" dirty="0" smtClean="0">
              <a:latin typeface="Times New Roman" panose="02020603050405020304" pitchFamily="18" charset="0"/>
              <a:cs typeface="Times New Roman" panose="02020603050405020304" pitchFamily="18" charset="0"/>
            </a:endParaRPr>
          </a:p>
          <a:p>
            <a:pPr lvl="1" algn="just"/>
            <a:r>
              <a:rPr lang="en-GB" sz="2200" i="1" dirty="0" smtClean="0">
                <a:latin typeface="Times New Roman" panose="02020603050405020304" pitchFamily="18" charset="0"/>
                <a:cs typeface="Times New Roman" panose="02020603050405020304" pitchFamily="18" charset="0"/>
              </a:rPr>
              <a:t>Always </a:t>
            </a:r>
            <a:r>
              <a:rPr lang="en-GB" sz="2200" i="1" dirty="0" smtClean="0">
                <a:latin typeface="Times New Roman" panose="02020603050405020304" pitchFamily="18" charset="0"/>
                <a:cs typeface="Times New Roman" panose="02020603050405020304" pitchFamily="18" charset="0"/>
              </a:rPr>
              <a:t>put </a:t>
            </a:r>
            <a:r>
              <a:rPr lang="en-GB" sz="2600" i="1" dirty="0" smtClean="0">
                <a:latin typeface="Times New Roman" panose="02020603050405020304" pitchFamily="18" charset="0"/>
                <a:cs typeface="Times New Roman" panose="02020603050405020304" pitchFamily="18" charset="0"/>
              </a:rPr>
              <a:t>your </a:t>
            </a:r>
            <a:r>
              <a:rPr lang="en-GB" sz="2600" i="1" dirty="0">
                <a:latin typeface="Times New Roman" panose="02020603050405020304" pitchFamily="18" charset="0"/>
                <a:cs typeface="Times New Roman" panose="02020603050405020304" pitchFamily="18" charset="0"/>
              </a:rPr>
              <a:t>employer in your mind</a:t>
            </a:r>
            <a:r>
              <a:rPr lang="en-GB" sz="2600" dirty="0">
                <a:latin typeface="Times New Roman" panose="02020603050405020304" pitchFamily="18" charset="0"/>
                <a:cs typeface="Times New Roman" panose="02020603050405020304" pitchFamily="18" charset="0"/>
              </a:rPr>
              <a:t>. </a:t>
            </a:r>
            <a:endParaRPr lang="en-GB" sz="2400" dirty="0" smtClean="0">
              <a:latin typeface="Times New Roman" panose="02020603050405020304" pitchFamily="18" charset="0"/>
              <a:cs typeface="Times New Roman" panose="02020603050405020304" pitchFamily="18" charset="0"/>
            </a:endParaRPr>
          </a:p>
          <a:p>
            <a:pPr marL="514350" lvl="0" indent="-514350" algn="just">
              <a:buAutoNum type="romanLcPeriod"/>
            </a:pP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52277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rmAutofit/>
          </a:bodyPr>
          <a:lstStyle/>
          <a:p>
            <a:pPr marL="0" lvl="0" indent="0" algn="just">
              <a:buNone/>
            </a:pPr>
            <a:r>
              <a:rPr lang="en-US" dirty="0" smtClean="0"/>
              <a:t>(iii</a:t>
            </a:r>
            <a:r>
              <a:rPr lang="en-US" sz="2400" dirty="0" smtClean="0">
                <a:latin typeface="Times New Roman" panose="02020603050405020304" pitchFamily="18" charset="0"/>
                <a:cs typeface="Times New Roman" panose="02020603050405020304" pitchFamily="18" charset="0"/>
              </a:rPr>
              <a:t>) </a:t>
            </a:r>
            <a:r>
              <a:rPr lang="en-GB" sz="2400" i="1" dirty="0">
                <a:latin typeface="Times New Roman" panose="02020603050405020304" pitchFamily="18" charset="0"/>
                <a:cs typeface="Times New Roman" panose="02020603050405020304" pitchFamily="18" charset="0"/>
              </a:rPr>
              <a:t>Be </a:t>
            </a:r>
            <a:r>
              <a:rPr lang="en-GB" sz="2400" dirty="0">
                <a:latin typeface="Times New Roman" panose="02020603050405020304" pitchFamily="18" charset="0"/>
                <a:cs typeface="Times New Roman" panose="02020603050405020304" pitchFamily="18" charset="0"/>
              </a:rPr>
              <a:t>smart </a:t>
            </a:r>
            <a:r>
              <a:rPr lang="en-GB" sz="2400" dirty="0" err="1">
                <a:latin typeface="Times New Roman" panose="02020603050405020304" pitchFamily="18" charset="0"/>
                <a:cs typeface="Times New Roman" panose="02020603050405020304" pitchFamily="18" charset="0"/>
              </a:rPr>
              <a:t>ie</a:t>
            </a:r>
            <a:r>
              <a:rPr lang="en-GB" sz="2400" dirty="0">
                <a:latin typeface="Times New Roman" panose="02020603050405020304" pitchFamily="18" charset="0"/>
                <a:cs typeface="Times New Roman" panose="02020603050405020304" pitchFamily="18" charset="0"/>
              </a:rPr>
              <a:t> your hair, nails and shoes </a:t>
            </a:r>
            <a:endParaRPr lang="en-GB" sz="2400" dirty="0" smtClean="0">
              <a:latin typeface="Times New Roman" panose="02020603050405020304" pitchFamily="18" charset="0"/>
              <a:cs typeface="Times New Roman" panose="02020603050405020304" pitchFamily="18" charset="0"/>
            </a:endParaRPr>
          </a:p>
          <a:p>
            <a:pPr marL="0" lvl="0" indent="0" algn="just">
              <a:buNone/>
            </a:pPr>
            <a:endParaRPr lang="en-US" sz="2400" dirty="0">
              <a:latin typeface="Times New Roman" panose="02020603050405020304" pitchFamily="18" charset="0"/>
              <a:cs typeface="Times New Roman" panose="02020603050405020304" pitchFamily="18" charset="0"/>
            </a:endParaRPr>
          </a:p>
          <a:p>
            <a:pPr marL="0" lvl="0" indent="0" algn="just">
              <a:buNone/>
            </a:pPr>
            <a:r>
              <a:rPr lang="en-US" sz="2400" dirty="0" smtClean="0">
                <a:latin typeface="Times New Roman" panose="02020603050405020304" pitchFamily="18" charset="0"/>
                <a:cs typeface="Times New Roman" panose="02020603050405020304" pitchFamily="18" charset="0"/>
              </a:rPr>
              <a:t>(iv) </a:t>
            </a:r>
            <a:r>
              <a:rPr lang="en-GB" sz="2400" dirty="0">
                <a:latin typeface="Times New Roman" panose="02020603050405020304" pitchFamily="18" charset="0"/>
                <a:cs typeface="Times New Roman" panose="02020603050405020304" pitchFamily="18" charset="0"/>
              </a:rPr>
              <a:t>Make sure you </a:t>
            </a:r>
            <a:r>
              <a:rPr lang="en-GB" sz="2400" i="1" dirty="0">
                <a:latin typeface="Times New Roman" panose="02020603050405020304" pitchFamily="18" charset="0"/>
                <a:cs typeface="Times New Roman" panose="02020603050405020304" pitchFamily="18" charset="0"/>
              </a:rPr>
              <a:t>turn off your mobile phone</a:t>
            </a:r>
            <a:r>
              <a:rPr lang="en-GB" sz="2400" dirty="0">
                <a:latin typeface="Times New Roman" panose="02020603050405020304" pitchFamily="18" charset="0"/>
                <a:cs typeface="Times New Roman" panose="02020603050405020304" pitchFamily="18" charset="0"/>
              </a:rPr>
              <a:t> immediately before entering </a:t>
            </a:r>
            <a:r>
              <a:rPr lang="en-GB" sz="2400" dirty="0" smtClean="0">
                <a:latin typeface="Times New Roman" panose="02020603050405020304" pitchFamily="18" charset="0"/>
                <a:cs typeface="Times New Roman" panose="02020603050405020304" pitchFamily="18" charset="0"/>
              </a:rPr>
              <a:t>the </a:t>
            </a:r>
          </a:p>
          <a:p>
            <a:pPr marL="0" lv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interview </a:t>
            </a:r>
            <a:r>
              <a:rPr lang="en-GB" sz="2400" dirty="0" smtClean="0">
                <a:latin typeface="Times New Roman" panose="02020603050405020304" pitchFamily="18" charset="0"/>
                <a:cs typeface="Times New Roman" panose="02020603050405020304" pitchFamily="18" charset="0"/>
              </a:rPr>
              <a:t>enclosure. </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(v)</a:t>
            </a:r>
            <a:r>
              <a:rPr lang="en-GB" sz="2400" dirty="0" smtClean="0">
                <a:latin typeface="Times New Roman" panose="02020603050405020304" pitchFamily="18" charset="0"/>
                <a:cs typeface="Times New Roman" panose="02020603050405020304" pitchFamily="18" charset="0"/>
              </a:rPr>
              <a:t> Demonstrate </a:t>
            </a:r>
            <a:r>
              <a:rPr lang="en-GB" sz="2400" i="1" dirty="0">
                <a:latin typeface="Times New Roman" panose="02020603050405020304" pitchFamily="18" charset="0"/>
                <a:cs typeface="Times New Roman" panose="02020603050405020304" pitchFamily="18" charset="0"/>
              </a:rPr>
              <a:t>self-confidence</a:t>
            </a:r>
            <a:r>
              <a:rPr lang="en-GB" sz="2400" dirty="0">
                <a:latin typeface="Times New Roman" panose="02020603050405020304" pitchFamily="18" charset="0"/>
                <a:cs typeface="Times New Roman" panose="02020603050405020304" pitchFamily="18" charset="0"/>
              </a:rPr>
              <a:t>, </a:t>
            </a:r>
            <a:r>
              <a:rPr lang="en-GB" sz="2400" i="1" dirty="0">
                <a:latin typeface="Times New Roman" panose="02020603050405020304" pitchFamily="18" charset="0"/>
                <a:cs typeface="Times New Roman" panose="02020603050405020304" pitchFamily="18" charset="0"/>
              </a:rPr>
              <a:t>assurance</a:t>
            </a:r>
            <a:r>
              <a:rPr lang="en-GB" sz="2400" dirty="0">
                <a:latin typeface="Times New Roman" panose="02020603050405020304" pitchFamily="18" charset="0"/>
                <a:cs typeface="Times New Roman" panose="02020603050405020304" pitchFamily="18" charset="0"/>
              </a:rPr>
              <a:t> and </a:t>
            </a:r>
            <a:r>
              <a:rPr lang="en-GB" sz="2400" i="1" dirty="0">
                <a:latin typeface="Times New Roman" panose="02020603050405020304" pitchFamily="18" charset="0"/>
                <a:cs typeface="Times New Roman" panose="02020603050405020304" pitchFamily="18" charset="0"/>
              </a:rPr>
              <a:t>determination</a:t>
            </a:r>
            <a:r>
              <a:rPr lang="en-GB" sz="2400" dirty="0">
                <a:latin typeface="Times New Roman" panose="02020603050405020304" pitchFamily="18" charset="0"/>
                <a:cs typeface="Times New Roman" panose="02020603050405020304" pitchFamily="18" charset="0"/>
              </a:rPr>
              <a:t> throughout </a:t>
            </a:r>
            <a:r>
              <a:rPr lang="en-GB" sz="2400" dirty="0" smtClean="0">
                <a:latin typeface="Times New Roman" panose="02020603050405020304" pitchFamily="18" charset="0"/>
                <a:cs typeface="Times New Roman" panose="02020603050405020304" pitchFamily="18" charset="0"/>
              </a:rPr>
              <a:t>your </a:t>
            </a:r>
          </a:p>
          <a:p>
            <a:pPr mar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presence </a:t>
            </a:r>
            <a:r>
              <a:rPr lang="en-GB" sz="2400" dirty="0" smtClean="0">
                <a:latin typeface="Times New Roman" panose="02020603050405020304" pitchFamily="18" charset="0"/>
                <a:cs typeface="Times New Roman" panose="02020603050405020304" pitchFamily="18" charset="0"/>
              </a:rPr>
              <a:t>in </a:t>
            </a:r>
            <a:r>
              <a:rPr lang="en-GB" sz="2400" dirty="0" smtClean="0">
                <a:latin typeface="Times New Roman" panose="02020603050405020304" pitchFamily="18" charset="0"/>
                <a:cs typeface="Times New Roman" panose="02020603050405020304" pitchFamily="18" charset="0"/>
              </a:rPr>
              <a:t>the </a:t>
            </a:r>
            <a:r>
              <a:rPr lang="en-GB" sz="2400" dirty="0">
                <a:latin typeface="Times New Roman" panose="02020603050405020304" pitchFamily="18" charset="0"/>
                <a:cs typeface="Times New Roman" panose="02020603050405020304" pitchFamily="18" charset="0"/>
              </a:rPr>
              <a:t>interview premise. </a:t>
            </a:r>
            <a:endParaRPr lang="en-GB"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8062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rmAutofit/>
          </a:bodyPr>
          <a:lstStyle/>
          <a:p>
            <a:pPr marL="0" lvl="0" indent="0" algn="just">
              <a:buNone/>
            </a:pPr>
            <a:r>
              <a:rPr lang="en-GB" sz="2400" dirty="0" smtClean="0">
                <a:latin typeface="Times New Roman" panose="02020603050405020304" pitchFamily="18" charset="0"/>
                <a:cs typeface="Times New Roman" panose="02020603050405020304" pitchFamily="18" charset="0"/>
              </a:rPr>
              <a:t>(</a:t>
            </a:r>
            <a:r>
              <a:rPr lang="en-GB" sz="2400" dirty="0" smtClean="0">
                <a:latin typeface="Times New Roman" panose="02020603050405020304" pitchFamily="18" charset="0"/>
                <a:cs typeface="Times New Roman" panose="02020603050405020304" pitchFamily="18" charset="0"/>
              </a:rPr>
              <a:t>vi) </a:t>
            </a:r>
            <a:r>
              <a:rPr lang="en-GB" sz="2400" i="1" dirty="0">
                <a:latin typeface="Times New Roman" panose="02020603050405020304" pitchFamily="18" charset="0"/>
                <a:cs typeface="Times New Roman" panose="02020603050405020304" pitchFamily="18" charset="0"/>
              </a:rPr>
              <a:t>Knock the door</a:t>
            </a:r>
            <a:r>
              <a:rPr lang="en-GB" sz="2400" dirty="0">
                <a:latin typeface="Times New Roman" panose="02020603050405020304" pitchFamily="18" charset="0"/>
                <a:cs typeface="Times New Roman" panose="02020603050405020304" pitchFamily="18" charset="0"/>
              </a:rPr>
              <a:t> (three times) even if you have been invited to enter (even if it </a:t>
            </a:r>
            <a:r>
              <a:rPr lang="en-GB" sz="2400" dirty="0" smtClean="0">
                <a:latin typeface="Times New Roman" panose="02020603050405020304" pitchFamily="18" charset="0"/>
                <a:cs typeface="Times New Roman" panose="02020603050405020304" pitchFamily="18" charset="0"/>
              </a:rPr>
              <a:t>is </a:t>
            </a:r>
          </a:p>
          <a:p>
            <a:pPr marL="0" lv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open</a:t>
            </a:r>
            <a:r>
              <a:rPr lang="en-GB"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to </a:t>
            </a:r>
            <a:r>
              <a:rPr lang="en-GB" sz="2400" dirty="0">
                <a:latin typeface="Times New Roman" panose="02020603050405020304" pitchFamily="18" charset="0"/>
                <a:cs typeface="Times New Roman" panose="02020603050405020304" pitchFamily="18" charset="0"/>
              </a:rPr>
              <a:t>seek for </a:t>
            </a:r>
            <a:r>
              <a:rPr lang="en-GB" sz="2400" dirty="0" smtClean="0">
                <a:latin typeface="Times New Roman" panose="02020603050405020304" pitchFamily="18" charset="0"/>
                <a:cs typeface="Times New Roman" panose="02020603050405020304" pitchFamily="18" charset="0"/>
              </a:rPr>
              <a:t>permission. </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lvl="0" indent="0" algn="just">
              <a:buNone/>
            </a:pPr>
            <a:r>
              <a:rPr lang="en-US" sz="2400" dirty="0" smtClean="0">
                <a:latin typeface="Times New Roman" panose="02020603050405020304" pitchFamily="18" charset="0"/>
                <a:cs typeface="Times New Roman" panose="02020603050405020304" pitchFamily="18" charset="0"/>
              </a:rPr>
              <a:t>(vii) </a:t>
            </a:r>
            <a:r>
              <a:rPr lang="en-GB" sz="2400" dirty="0">
                <a:latin typeface="Times New Roman" panose="02020603050405020304" pitchFamily="18" charset="0"/>
                <a:cs typeface="Times New Roman" panose="02020603050405020304" pitchFamily="18" charset="0"/>
              </a:rPr>
              <a:t>Look around quickly and </a:t>
            </a:r>
            <a:r>
              <a:rPr lang="en-GB" sz="2400" i="1" dirty="0">
                <a:latin typeface="Times New Roman" panose="02020603050405020304" pitchFamily="18" charset="0"/>
                <a:cs typeface="Times New Roman" panose="02020603050405020304" pitchFamily="18" charset="0"/>
              </a:rPr>
              <a:t>get the right greeting address</a:t>
            </a:r>
            <a:r>
              <a:rPr lang="en-GB" sz="2400" dirty="0">
                <a:latin typeface="Times New Roman" panose="02020603050405020304" pitchFamily="18" charset="0"/>
                <a:cs typeface="Times New Roman" panose="02020603050405020304" pitchFamily="18" charset="0"/>
              </a:rPr>
              <a:t> which caters for </a:t>
            </a:r>
            <a:r>
              <a:rPr lang="en-GB" sz="2400" dirty="0" smtClean="0">
                <a:latin typeface="Times New Roman" panose="02020603050405020304" pitchFamily="18" charset="0"/>
                <a:cs typeface="Times New Roman" panose="02020603050405020304" pitchFamily="18" charset="0"/>
              </a:rPr>
              <a:t>the </a:t>
            </a:r>
          </a:p>
          <a:p>
            <a:pPr marL="0" lv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interviewers</a:t>
            </a:r>
            <a:r>
              <a:rPr lang="en-GB" sz="2400" dirty="0" smtClean="0">
                <a:latin typeface="Times New Roman" panose="02020603050405020304" pitchFamily="18" charset="0"/>
                <a:cs typeface="Times New Roman" panose="02020603050405020304" pitchFamily="18" charset="0"/>
              </a:rPr>
              <a:t>.</a:t>
            </a:r>
          </a:p>
          <a:p>
            <a:pPr marL="0" lvl="0" indent="0" algn="just">
              <a:buNone/>
            </a:pPr>
            <a:r>
              <a:rPr lang="en-GB" sz="2400" dirty="0" smtClean="0">
                <a:latin typeface="Times New Roman" panose="02020603050405020304" pitchFamily="18" charset="0"/>
                <a:cs typeface="Times New Roman" panose="02020603050405020304" pitchFamily="18" charset="0"/>
              </a:rPr>
              <a:t>(viii) </a:t>
            </a:r>
            <a:r>
              <a:rPr lang="en-GB" sz="2400" dirty="0">
                <a:latin typeface="Times New Roman" panose="02020603050405020304" pitchFamily="18" charset="0"/>
                <a:cs typeface="Times New Roman" panose="02020603050405020304" pitchFamily="18" charset="0"/>
              </a:rPr>
              <a:t>If there is unoccupied chair, </a:t>
            </a:r>
            <a:r>
              <a:rPr lang="en-GB" sz="2400" i="1" dirty="0">
                <a:latin typeface="Times New Roman" panose="02020603050405020304" pitchFamily="18" charset="0"/>
                <a:cs typeface="Times New Roman" panose="02020603050405020304" pitchFamily="18" charset="0"/>
              </a:rPr>
              <a:t>do not sit on or shift it</a:t>
            </a:r>
            <a:r>
              <a:rPr lang="en-GB" sz="2400" dirty="0">
                <a:latin typeface="Times New Roman" panose="02020603050405020304" pitchFamily="18" charset="0"/>
                <a:cs typeface="Times New Roman" panose="02020603050405020304" pitchFamily="18" charset="0"/>
              </a:rPr>
              <a:t> unless you have </a:t>
            </a:r>
            <a:r>
              <a:rPr lang="en-GB" sz="2400" dirty="0" smtClean="0">
                <a:latin typeface="Times New Roman" panose="02020603050405020304" pitchFamily="18" charset="0"/>
                <a:cs typeface="Times New Roman" panose="02020603050405020304" pitchFamily="18" charset="0"/>
              </a:rPr>
              <a:t>been </a:t>
            </a:r>
          </a:p>
          <a:p>
            <a:pPr marL="0" lv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invited to do </a:t>
            </a:r>
            <a:r>
              <a:rPr lang="en-GB" sz="2400" dirty="0" smtClean="0">
                <a:latin typeface="Times New Roman" panose="02020603050405020304" pitchFamily="18" charset="0"/>
                <a:cs typeface="Times New Roman" panose="02020603050405020304" pitchFamily="18" charset="0"/>
              </a:rPr>
              <a:t>so.</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8062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776653"/>
          </a:xfrm>
        </p:spPr>
        <p:txBody>
          <a:bodyPr>
            <a:normAutofit/>
          </a:bodyPr>
          <a:lstStyle/>
          <a:p>
            <a:pPr algn="just">
              <a:buFont typeface="Wingdings" panose="05000000000000000000" pitchFamily="2" charset="2"/>
              <a:buChar char="q"/>
            </a:pPr>
            <a:r>
              <a:rPr lang="en-GB" sz="2600" b="1" dirty="0">
                <a:latin typeface="Times New Roman" panose="02020603050405020304" pitchFamily="18" charset="0"/>
                <a:cs typeface="Times New Roman" panose="02020603050405020304" pitchFamily="18" charset="0"/>
              </a:rPr>
              <a:t>Approaches and Techniques during the Interview Session </a:t>
            </a:r>
            <a:endParaRPr lang="en-US" sz="2600" dirty="0">
              <a:latin typeface="Times New Roman" panose="02020603050405020304" pitchFamily="18" charset="0"/>
              <a:cs typeface="Times New Roman" panose="02020603050405020304" pitchFamily="18" charset="0"/>
            </a:endParaRPr>
          </a:p>
          <a:p>
            <a:pPr algn="just"/>
            <a:r>
              <a:rPr lang="en-GB" sz="2600" dirty="0">
                <a:latin typeface="Times New Roman" panose="02020603050405020304" pitchFamily="18" charset="0"/>
                <a:cs typeface="Times New Roman" panose="02020603050405020304" pitchFamily="18" charset="0"/>
              </a:rPr>
              <a:t>Approach your interview with </a:t>
            </a:r>
            <a:r>
              <a:rPr lang="en-GB" sz="2600" i="1" dirty="0">
                <a:latin typeface="Times New Roman" panose="02020603050405020304" pitchFamily="18" charset="0"/>
                <a:cs typeface="Times New Roman" panose="02020603050405020304" pitchFamily="18" charset="0"/>
              </a:rPr>
              <a:t>a reasonable degree of confidence</a:t>
            </a:r>
            <a:r>
              <a:rPr lang="en-GB" sz="2600" dirty="0">
                <a:latin typeface="Times New Roman" panose="02020603050405020304" pitchFamily="18" charset="0"/>
                <a:cs typeface="Times New Roman" panose="02020603050405020304" pitchFamily="18" charset="0"/>
              </a:rPr>
              <a:t> and </a:t>
            </a:r>
            <a:r>
              <a:rPr lang="en-GB" sz="2600" i="1" dirty="0">
                <a:latin typeface="Times New Roman" panose="02020603050405020304" pitchFamily="18" charset="0"/>
                <a:cs typeface="Times New Roman" panose="02020603050405020304" pitchFamily="18" charset="0"/>
              </a:rPr>
              <a:t>self-assurance</a:t>
            </a:r>
            <a:r>
              <a:rPr lang="en-GB"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algn="just"/>
            <a:r>
              <a:rPr lang="en-GB" sz="2600" dirty="0">
                <a:latin typeface="Times New Roman" panose="02020603050405020304" pitchFamily="18" charset="0"/>
                <a:cs typeface="Times New Roman" panose="02020603050405020304" pitchFamily="18" charset="0"/>
              </a:rPr>
              <a:t>Convince yourself that you can do the job as well as the next person and probably better if you put your mind to it. </a:t>
            </a:r>
            <a:endParaRPr lang="en-GB" sz="2600" dirty="0" smtClean="0">
              <a:latin typeface="Times New Roman" panose="02020603050405020304" pitchFamily="18" charset="0"/>
              <a:cs typeface="Times New Roman" panose="02020603050405020304" pitchFamily="18" charset="0"/>
            </a:endParaRPr>
          </a:p>
          <a:p>
            <a:pPr marL="0" indent="0" algn="just">
              <a:buNone/>
            </a:pPr>
            <a:endParaRPr lang="en-GB" sz="2600" dirty="0" smtClean="0">
              <a:latin typeface="Times New Roman" panose="02020603050405020304" pitchFamily="18" charset="0"/>
              <a:cs typeface="Times New Roman" panose="02020603050405020304" pitchFamily="18" charset="0"/>
            </a:endParaRPr>
          </a:p>
          <a:p>
            <a:pPr algn="just"/>
            <a:r>
              <a:rPr lang="en-GB" sz="2600" dirty="0" smtClean="0">
                <a:latin typeface="Times New Roman" panose="02020603050405020304" pitchFamily="18" charset="0"/>
                <a:cs typeface="Times New Roman" panose="02020603050405020304" pitchFamily="18" charset="0"/>
              </a:rPr>
              <a:t>Show your </a:t>
            </a:r>
            <a:r>
              <a:rPr lang="en-GB" sz="2600" dirty="0" smtClean="0">
                <a:latin typeface="Times New Roman" panose="02020603050405020304" pitchFamily="18" charset="0"/>
                <a:cs typeface="Times New Roman" panose="02020603050405020304" pitchFamily="18" charset="0"/>
              </a:rPr>
              <a:t>real </a:t>
            </a:r>
            <a:r>
              <a:rPr lang="en-GB" sz="2600" dirty="0">
                <a:latin typeface="Times New Roman" panose="02020603050405020304" pitchFamily="18" charset="0"/>
                <a:cs typeface="Times New Roman" panose="02020603050405020304" pitchFamily="18" charset="0"/>
              </a:rPr>
              <a:t>interest and </a:t>
            </a:r>
            <a:r>
              <a:rPr lang="en-GB" sz="2600" dirty="0" smtClean="0">
                <a:latin typeface="Times New Roman" panose="02020603050405020304" pitchFamily="18" charset="0"/>
                <a:cs typeface="Times New Roman" panose="02020603050405020304" pitchFamily="18" charset="0"/>
              </a:rPr>
              <a:t>enthusiasm - personality</a:t>
            </a:r>
            <a:r>
              <a:rPr lang="en-GB" sz="2600" dirty="0">
                <a:latin typeface="Times New Roman" panose="02020603050405020304" pitchFamily="18" charset="0"/>
                <a:cs typeface="Times New Roman" panose="02020603050405020304" pitchFamily="18" charset="0"/>
              </a:rPr>
              <a:t>, speaking </a:t>
            </a:r>
            <a:r>
              <a:rPr lang="en-GB" sz="2600" dirty="0" smtClean="0">
                <a:latin typeface="Times New Roman" panose="02020603050405020304" pitchFamily="18" charset="0"/>
                <a:cs typeface="Times New Roman" panose="02020603050405020304" pitchFamily="18" charset="0"/>
              </a:rPr>
              <a:t>power</a:t>
            </a:r>
            <a:r>
              <a:rPr lang="en-GB" sz="2600" dirty="0">
                <a:latin typeface="Times New Roman" panose="02020603050405020304" pitchFamily="18" charset="0"/>
                <a:cs typeface="Times New Roman" panose="02020603050405020304" pitchFamily="18" charset="0"/>
              </a:rPr>
              <a:t>, knowledge, tact, intellect, mental fitness and good manners</a:t>
            </a:r>
            <a:r>
              <a:rPr lang="en-GB" sz="2600" dirty="0" smtClean="0">
                <a:latin typeface="Times New Roman" panose="02020603050405020304" pitchFamily="18" charset="0"/>
                <a:cs typeface="Times New Roman" panose="02020603050405020304" pitchFamily="18" charset="0"/>
              </a:rPr>
              <a:t>.</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GB" sz="2600" dirty="0">
                <a:latin typeface="Times New Roman" panose="02020603050405020304" pitchFamily="18" charset="0"/>
                <a:cs typeface="Times New Roman" panose="02020603050405020304" pitchFamily="18" charset="0"/>
              </a:rPr>
              <a:t>To exhibit such characteristics, the interviewee needs to behave in the following ways: </a:t>
            </a:r>
            <a:endParaRPr lang="en-GB" sz="2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856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776653"/>
          </a:xfrm>
        </p:spPr>
        <p:txBody>
          <a:bodyPr>
            <a:normAutofit/>
          </a:bodyPr>
          <a:lstStyle/>
          <a:p>
            <a:pPr marL="514350" indent="-514350" algn="just">
              <a:buAutoNum type="alphaLcParenR"/>
            </a:pPr>
            <a:r>
              <a:rPr lang="en-GB" sz="2400" dirty="0" smtClean="0">
                <a:latin typeface="Times New Roman" panose="02020603050405020304" pitchFamily="18" charset="0"/>
                <a:cs typeface="Times New Roman" panose="02020603050405020304" pitchFamily="18" charset="0"/>
              </a:rPr>
              <a:t>Avoid </a:t>
            </a:r>
            <a:r>
              <a:rPr lang="en-GB" sz="2400" dirty="0">
                <a:latin typeface="Times New Roman" panose="02020603050405020304" pitchFamily="18" charset="0"/>
                <a:cs typeface="Times New Roman" panose="02020603050405020304" pitchFamily="18" charset="0"/>
              </a:rPr>
              <a:t>movement of body parts </a:t>
            </a:r>
            <a:r>
              <a:rPr lang="en-GB" sz="2400" dirty="0" err="1">
                <a:latin typeface="Times New Roman" panose="02020603050405020304" pitchFamily="18" charset="0"/>
                <a:cs typeface="Times New Roman" panose="02020603050405020304" pitchFamily="18" charset="0"/>
              </a:rPr>
              <a:t>ie</a:t>
            </a:r>
            <a:r>
              <a:rPr lang="en-GB" sz="2400" dirty="0">
                <a:latin typeface="Times New Roman" panose="02020603050405020304" pitchFamily="18" charset="0"/>
                <a:cs typeface="Times New Roman" panose="02020603050405020304" pitchFamily="18" charset="0"/>
              </a:rPr>
              <a:t> hands and legs like touching your nose or </a:t>
            </a:r>
            <a:r>
              <a:rPr lang="en-GB" sz="2400" dirty="0" smtClean="0">
                <a:latin typeface="Times New Roman" panose="02020603050405020304" pitchFamily="18" charset="0"/>
                <a:cs typeface="Times New Roman" panose="02020603050405020304" pitchFamily="18" charset="0"/>
              </a:rPr>
              <a:t>teeth, chewing </a:t>
            </a:r>
            <a:r>
              <a:rPr lang="en-GB" sz="2400" dirty="0">
                <a:latin typeface="Times New Roman" panose="02020603050405020304" pitchFamily="18" charset="0"/>
                <a:cs typeface="Times New Roman" panose="02020603050405020304" pitchFamily="18" charset="0"/>
              </a:rPr>
              <a:t>gum, cheeks, smoking, licking lips etc. </a:t>
            </a:r>
            <a:endParaRPr lang="en-GB" sz="2400" dirty="0" smtClean="0">
              <a:latin typeface="Times New Roman" panose="02020603050405020304" pitchFamily="18" charset="0"/>
              <a:cs typeface="Times New Roman" panose="02020603050405020304" pitchFamily="18" charset="0"/>
            </a:endParaRPr>
          </a:p>
          <a:p>
            <a:pPr marL="0" indent="0" algn="just">
              <a:buNone/>
            </a:pPr>
            <a:endParaRPr lang="en-GB" sz="2400" dirty="0" smtClean="0">
              <a:latin typeface="Times New Roman" panose="02020603050405020304" pitchFamily="18" charset="0"/>
              <a:cs typeface="Times New Roman" panose="02020603050405020304" pitchFamily="18" charset="0"/>
            </a:endParaRPr>
          </a:p>
          <a:p>
            <a:pPr marL="0" indent="0" algn="just">
              <a:buNone/>
            </a:pPr>
            <a:r>
              <a:rPr lang="en-GB" sz="2400" dirty="0" smtClean="0"/>
              <a:t>b</a:t>
            </a:r>
            <a:r>
              <a:rPr lang="en-GB" sz="2400" dirty="0" smtClean="0"/>
              <a:t>) Maintain </a:t>
            </a:r>
            <a:r>
              <a:rPr lang="en-GB" sz="2400" dirty="0" smtClean="0"/>
              <a:t>eye </a:t>
            </a:r>
            <a:r>
              <a:rPr lang="en-GB" sz="2400" dirty="0"/>
              <a:t>contact </a:t>
            </a:r>
            <a:r>
              <a:rPr lang="en-GB" sz="2400" dirty="0" smtClean="0"/>
              <a:t>otherwise</a:t>
            </a:r>
            <a:r>
              <a:rPr lang="en-GB" sz="2400" dirty="0"/>
              <a:t> </a:t>
            </a:r>
            <a:r>
              <a:rPr lang="en-GB" sz="2400" dirty="0" smtClean="0"/>
              <a:t>– to show your confidence and attention</a:t>
            </a:r>
            <a:r>
              <a:rPr lang="en-GB" sz="2400" dirty="0" smtClean="0"/>
              <a:t>.</a:t>
            </a:r>
          </a:p>
          <a:p>
            <a:pPr marL="0" indent="0" algn="just">
              <a:buNone/>
            </a:pPr>
            <a:endParaRPr lang="en-GB" sz="2400" dirty="0" smtClean="0"/>
          </a:p>
          <a:p>
            <a:pPr marL="0" lvl="0" indent="0" algn="just">
              <a:buNone/>
            </a:pPr>
            <a:r>
              <a:rPr lang="en-GB" sz="2400" dirty="0" smtClean="0">
                <a:solidFill>
                  <a:prstClr val="black"/>
                </a:solidFill>
                <a:latin typeface="Times New Roman" panose="02020603050405020304" pitchFamily="18" charset="0"/>
                <a:cs typeface="Times New Roman" panose="02020603050405020304" pitchFamily="18" charset="0"/>
              </a:rPr>
              <a:t>c) Observe </a:t>
            </a:r>
            <a:r>
              <a:rPr lang="en-GB" sz="2400" dirty="0">
                <a:solidFill>
                  <a:prstClr val="black"/>
                </a:solidFill>
                <a:latin typeface="Times New Roman" panose="02020603050405020304" pitchFamily="18" charset="0"/>
                <a:cs typeface="Times New Roman" panose="02020603050405020304" pitchFamily="18" charset="0"/>
              </a:rPr>
              <a:t>your posture- stand upright and don’t cross your legs (at the knees). </a:t>
            </a:r>
            <a:endParaRPr lang="en-GB" sz="2400" dirty="0" smtClean="0">
              <a:solidFill>
                <a:prstClr val="black"/>
              </a:solidFill>
              <a:latin typeface="Times New Roman" panose="02020603050405020304" pitchFamily="18" charset="0"/>
              <a:cs typeface="Times New Roman" panose="02020603050405020304" pitchFamily="18" charset="0"/>
            </a:endParaRPr>
          </a:p>
          <a:p>
            <a:pPr marL="0" lvl="0" indent="0" algn="just">
              <a:buNone/>
            </a:pPr>
            <a:r>
              <a:rPr lang="en-GB" sz="2400" dirty="0" smtClean="0">
                <a:solidFill>
                  <a:prstClr val="black"/>
                </a:solidFill>
                <a:latin typeface="Times New Roman" panose="02020603050405020304" pitchFamily="18" charset="0"/>
                <a:cs typeface="Times New Roman" panose="02020603050405020304" pitchFamily="18" charset="0"/>
              </a:rPr>
              <a:t> </a:t>
            </a:r>
            <a:endParaRPr lang="en-US" sz="2400" dirty="0">
              <a:solidFill>
                <a:prstClr val="black"/>
              </a:solidFill>
              <a:latin typeface="Times New Roman" panose="02020603050405020304" pitchFamily="18" charset="0"/>
              <a:cs typeface="Times New Roman" panose="02020603050405020304" pitchFamily="18" charset="0"/>
            </a:endParaRPr>
          </a:p>
          <a:p>
            <a:pPr marL="0" lvl="0" indent="0" algn="just">
              <a:buNone/>
            </a:pPr>
            <a:r>
              <a:rPr lang="en-US" sz="2400" dirty="0">
                <a:solidFill>
                  <a:prstClr val="black"/>
                </a:solidFill>
                <a:latin typeface="Times New Roman" panose="02020603050405020304" pitchFamily="18" charset="0"/>
                <a:cs typeface="Times New Roman" panose="02020603050405020304" pitchFamily="18" charset="0"/>
              </a:rPr>
              <a:t>d) </a:t>
            </a:r>
            <a:r>
              <a:rPr lang="en-GB" sz="2400" dirty="0">
                <a:solidFill>
                  <a:prstClr val="black"/>
                </a:solidFill>
                <a:latin typeface="Times New Roman" panose="02020603050405020304" pitchFamily="18" charset="0"/>
                <a:cs typeface="Times New Roman" panose="02020603050405020304" pitchFamily="18" charset="0"/>
              </a:rPr>
              <a:t>Avoid irritating manners such as grunts, clearing throat or gap fillers like “</a:t>
            </a:r>
            <a:r>
              <a:rPr lang="en-GB" sz="2400" dirty="0" err="1">
                <a:solidFill>
                  <a:prstClr val="black"/>
                </a:solidFill>
                <a:latin typeface="Times New Roman" panose="02020603050405020304" pitchFamily="18" charset="0"/>
                <a:cs typeface="Times New Roman" panose="02020603050405020304" pitchFamily="18" charset="0"/>
              </a:rPr>
              <a:t>eeh</a:t>
            </a:r>
            <a:r>
              <a:rPr lang="en-GB" sz="2400" dirty="0">
                <a:solidFill>
                  <a:prstClr val="black"/>
                </a:solidFill>
                <a:latin typeface="Times New Roman" panose="02020603050405020304" pitchFamily="18" charset="0"/>
                <a:cs typeface="Times New Roman" panose="02020603050405020304" pitchFamily="18" charset="0"/>
              </a:rPr>
              <a:t>.., </a:t>
            </a:r>
          </a:p>
          <a:p>
            <a:pPr marL="0" lvl="0" indent="0" algn="just">
              <a:buNone/>
            </a:pPr>
            <a:r>
              <a:rPr lang="en-GB" sz="2400" dirty="0">
                <a:solidFill>
                  <a:prstClr val="black"/>
                </a:solidFill>
                <a:latin typeface="Times New Roman" panose="02020603050405020304" pitchFamily="18" charset="0"/>
                <a:cs typeface="Times New Roman" panose="02020603050405020304" pitchFamily="18" charset="0"/>
              </a:rPr>
              <a:t>     you know…, Ok…</a:t>
            </a:r>
            <a:r>
              <a:rPr lang="en-US" sz="2400" dirty="0">
                <a:solidFill>
                  <a:prstClr val="black"/>
                </a:solidFill>
                <a:latin typeface="Times New Roman" panose="02020603050405020304" pitchFamily="18" charset="0"/>
                <a:cs typeface="Times New Roman" panose="02020603050405020304" pitchFamily="18" charset="0"/>
              </a:rPr>
              <a:t> </a:t>
            </a:r>
          </a:p>
          <a:p>
            <a:pPr marL="0" indent="0" algn="just">
              <a:buNone/>
            </a:pPr>
            <a:endParaRPr lang="en-US" dirty="0"/>
          </a:p>
        </p:txBody>
      </p:sp>
    </p:spTree>
    <p:extLst>
      <p:ext uri="{BB962C8B-B14F-4D97-AF65-F5344CB8AC3E}">
        <p14:creationId xmlns:p14="http://schemas.microsoft.com/office/powerpoint/2010/main" val="4150856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838646"/>
          </a:xfrm>
        </p:spPr>
        <p:txBody>
          <a:bodyPr>
            <a:normAutofit/>
          </a:bodyPr>
          <a:lstStyle/>
          <a:p>
            <a:pPr marL="0" lvl="0" indent="0" algn="just">
              <a:buNone/>
            </a:pPr>
            <a:r>
              <a:rPr lang="en-US" dirty="0" smtClean="0"/>
              <a:t> </a:t>
            </a:r>
            <a:r>
              <a:rPr lang="en-US" sz="2600" dirty="0" smtClean="0">
                <a:latin typeface="Times New Roman" panose="02020603050405020304" pitchFamily="18" charset="0"/>
                <a:cs typeface="Times New Roman" panose="02020603050405020304" pitchFamily="18" charset="0"/>
              </a:rPr>
              <a:t>e</a:t>
            </a:r>
            <a:r>
              <a:rPr lang="en-US" sz="2600" dirty="0" smtClean="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Show enthusiasm and laugh or smile only when appropriate. Jokes </a:t>
            </a:r>
            <a:r>
              <a:rPr lang="en-GB" sz="2600" dirty="0" smtClean="0">
                <a:latin typeface="Times New Roman" panose="02020603050405020304" pitchFamily="18" charset="0"/>
                <a:cs typeface="Times New Roman" panose="02020603050405020304" pitchFamily="18" charset="0"/>
              </a:rPr>
              <a:t>should </a:t>
            </a:r>
          </a:p>
          <a:p>
            <a:pPr marL="0" lvl="0" indent="0" algn="just">
              <a:buNone/>
            </a:pPr>
            <a:r>
              <a:rPr lang="en-GB" sz="2600" dirty="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only </a:t>
            </a:r>
            <a:r>
              <a:rPr lang="en-GB" sz="2600" dirty="0" smtClean="0">
                <a:latin typeface="Times New Roman" panose="02020603050405020304" pitchFamily="18" charset="0"/>
                <a:cs typeface="Times New Roman" panose="02020603050405020304" pitchFamily="18" charset="0"/>
              </a:rPr>
              <a:t>be </a:t>
            </a:r>
            <a:r>
              <a:rPr lang="en-GB" sz="2600" dirty="0" smtClean="0">
                <a:latin typeface="Times New Roman" panose="02020603050405020304" pitchFamily="18" charset="0"/>
                <a:cs typeface="Times New Roman" panose="02020603050405020304" pitchFamily="18" charset="0"/>
              </a:rPr>
              <a:t>initiated </a:t>
            </a:r>
            <a:r>
              <a:rPr lang="en-GB" sz="2600" dirty="0">
                <a:latin typeface="Times New Roman" panose="02020603050405020304" pitchFamily="18" charset="0"/>
                <a:cs typeface="Times New Roman" panose="02020603050405020304" pitchFamily="18" charset="0"/>
              </a:rPr>
              <a:t>by the interviewers</a:t>
            </a:r>
            <a:r>
              <a:rPr lang="en-GB" sz="2600" dirty="0" smtClean="0">
                <a:latin typeface="Times New Roman" panose="02020603050405020304" pitchFamily="18" charset="0"/>
                <a:cs typeface="Times New Roman" panose="02020603050405020304" pitchFamily="18" charset="0"/>
              </a:rPr>
              <a:t>.</a:t>
            </a:r>
          </a:p>
          <a:p>
            <a:pPr marL="0" lvl="0" indent="0" algn="just">
              <a:buNone/>
            </a:pPr>
            <a:endParaRPr lang="en-US" sz="2600" dirty="0">
              <a:latin typeface="Times New Roman" panose="02020603050405020304" pitchFamily="18" charset="0"/>
              <a:cs typeface="Times New Roman" panose="02020603050405020304" pitchFamily="18" charset="0"/>
            </a:endParaRPr>
          </a:p>
          <a:p>
            <a:pPr marL="0" lvl="0" indent="0" algn="just">
              <a:buNone/>
            </a:pPr>
            <a:r>
              <a:rPr lang="en-US" sz="2600" dirty="0" smtClean="0">
                <a:latin typeface="Times New Roman" panose="02020603050405020304" pitchFamily="18" charset="0"/>
                <a:cs typeface="Times New Roman" panose="02020603050405020304" pitchFamily="18" charset="0"/>
              </a:rPr>
              <a:t>f) </a:t>
            </a:r>
            <a:r>
              <a:rPr lang="en-GB" sz="2600" dirty="0">
                <a:latin typeface="Times New Roman" panose="02020603050405020304" pitchFamily="18" charset="0"/>
                <a:cs typeface="Times New Roman" panose="02020603050405020304" pitchFamily="18" charset="0"/>
              </a:rPr>
              <a:t>Maintain good sound </a:t>
            </a:r>
            <a:r>
              <a:rPr lang="en-GB" sz="2600" dirty="0" err="1">
                <a:latin typeface="Times New Roman" panose="02020603050405020304" pitchFamily="18" charset="0"/>
                <a:cs typeface="Times New Roman" panose="02020603050405020304" pitchFamily="18" charset="0"/>
              </a:rPr>
              <a:t>ie</a:t>
            </a:r>
            <a:r>
              <a:rPr lang="en-GB" sz="2600" dirty="0">
                <a:latin typeface="Times New Roman" panose="02020603050405020304" pitchFamily="18" charset="0"/>
                <a:cs typeface="Times New Roman" panose="02020603050405020304" pitchFamily="18" charset="0"/>
              </a:rPr>
              <a:t> your tone and pitch should be standard for </a:t>
            </a:r>
            <a:r>
              <a:rPr lang="en-GB" sz="2600" dirty="0" smtClean="0">
                <a:latin typeface="Times New Roman" panose="02020603050405020304" pitchFamily="18" charset="0"/>
                <a:cs typeface="Times New Roman" panose="02020603050405020304" pitchFamily="18" charset="0"/>
              </a:rPr>
              <a:t>they </a:t>
            </a:r>
          </a:p>
          <a:p>
            <a:pPr marL="0" lvl="0" indent="0" algn="just">
              <a:buNone/>
            </a:pPr>
            <a:r>
              <a:rPr lang="en-GB" sz="2600" dirty="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need to </a:t>
            </a:r>
            <a:r>
              <a:rPr lang="en-GB" sz="2600" dirty="0" smtClean="0">
                <a:latin typeface="Times New Roman" panose="02020603050405020304" pitchFamily="18" charset="0"/>
                <a:cs typeface="Times New Roman" panose="02020603050405020304" pitchFamily="18" charset="0"/>
              </a:rPr>
              <a:t>be </a:t>
            </a:r>
            <a:r>
              <a:rPr lang="en-GB" sz="2600" dirty="0" smtClean="0">
                <a:latin typeface="Times New Roman" panose="02020603050405020304" pitchFamily="18" charset="0"/>
                <a:cs typeface="Times New Roman" panose="02020603050405020304" pitchFamily="18" charset="0"/>
              </a:rPr>
              <a:t>regulated </a:t>
            </a:r>
            <a:r>
              <a:rPr lang="en-GB" sz="2600" dirty="0">
                <a:latin typeface="Times New Roman" panose="02020603050405020304" pitchFamily="18" charset="0"/>
                <a:cs typeface="Times New Roman" panose="02020603050405020304" pitchFamily="18" charset="0"/>
              </a:rPr>
              <a:t>and handled with care</a:t>
            </a:r>
            <a:r>
              <a:rPr lang="en-GB" sz="2600" dirty="0" smtClean="0">
                <a:latin typeface="Times New Roman" panose="02020603050405020304" pitchFamily="18" charset="0"/>
                <a:cs typeface="Times New Roman" panose="02020603050405020304" pitchFamily="18" charset="0"/>
              </a:rPr>
              <a:t>.</a:t>
            </a:r>
          </a:p>
          <a:p>
            <a:pPr marL="0" lvl="0" indent="0" algn="just">
              <a:buNone/>
            </a:pPr>
            <a:endParaRPr lang="en-US" sz="2600" dirty="0">
              <a:latin typeface="Times New Roman" panose="02020603050405020304" pitchFamily="18" charset="0"/>
              <a:cs typeface="Times New Roman" panose="02020603050405020304" pitchFamily="18" charset="0"/>
            </a:endParaRPr>
          </a:p>
          <a:p>
            <a:pPr marL="0" lvl="0" indent="0" algn="just">
              <a:buNone/>
            </a:pPr>
            <a:r>
              <a:rPr lang="en-US" sz="2600" dirty="0" smtClean="0">
                <a:latin typeface="Times New Roman" panose="02020603050405020304" pitchFamily="18" charset="0"/>
                <a:cs typeface="Times New Roman" panose="02020603050405020304" pitchFamily="18" charset="0"/>
              </a:rPr>
              <a:t>g) </a:t>
            </a:r>
            <a:r>
              <a:rPr lang="en-GB" sz="2600" dirty="0">
                <a:latin typeface="Times New Roman" panose="02020603050405020304" pitchFamily="18" charset="0"/>
                <a:cs typeface="Times New Roman" panose="02020603050405020304" pitchFamily="18" charset="0"/>
              </a:rPr>
              <a:t>Do not respond to something you did not </a:t>
            </a:r>
            <a:r>
              <a:rPr lang="en-GB" sz="2600" dirty="0" smtClean="0">
                <a:latin typeface="Times New Roman" panose="02020603050405020304" pitchFamily="18" charset="0"/>
                <a:cs typeface="Times New Roman" panose="02020603050405020304" pitchFamily="18" charset="0"/>
              </a:rPr>
              <a:t>understand - ask </a:t>
            </a:r>
            <a:r>
              <a:rPr lang="en-GB" sz="2600" dirty="0">
                <a:latin typeface="Times New Roman" panose="02020603050405020304" pitchFamily="18" charset="0"/>
                <a:cs typeface="Times New Roman" panose="02020603050405020304" pitchFamily="18" charset="0"/>
              </a:rPr>
              <a:t>for clarification </a:t>
            </a:r>
            <a:endParaRPr lang="en-GB" sz="2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381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838646"/>
          </a:xfrm>
        </p:spPr>
        <p:txBody>
          <a:bodyPr>
            <a:normAutofit/>
          </a:bodyPr>
          <a:lstStyle/>
          <a:p>
            <a:pPr marL="0" indent="0" algn="just">
              <a:buNone/>
            </a:pPr>
            <a:r>
              <a:rPr lang="en-GB" sz="2600" dirty="0" smtClean="0">
                <a:latin typeface="Times New Roman" panose="02020603050405020304" pitchFamily="18" charset="0"/>
                <a:cs typeface="Times New Roman" panose="02020603050405020304" pitchFamily="18" charset="0"/>
              </a:rPr>
              <a:t>h</a:t>
            </a:r>
            <a:r>
              <a:rPr lang="en-GB" sz="26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Be </a:t>
            </a:r>
            <a:r>
              <a:rPr lang="en-GB" sz="2400" dirty="0">
                <a:latin typeface="Times New Roman" panose="02020603050405020304" pitchFamily="18" charset="0"/>
                <a:cs typeface="Times New Roman" panose="02020603050405020304" pitchFamily="18" charset="0"/>
              </a:rPr>
              <a:t>concise and precise to save time- Answers need be sufficient but not too </a:t>
            </a:r>
            <a:r>
              <a:rPr lang="en-GB" sz="2400" dirty="0" smtClean="0">
                <a:latin typeface="Times New Roman" panose="02020603050405020304" pitchFamily="18" charset="0"/>
                <a:cs typeface="Times New Roman" panose="02020603050405020304" pitchFamily="18" charset="0"/>
              </a:rPr>
              <a:t>long</a:t>
            </a:r>
          </a:p>
          <a:p>
            <a:pPr mar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to </a:t>
            </a:r>
            <a:r>
              <a:rPr lang="en-GB" sz="2400" dirty="0">
                <a:latin typeface="Times New Roman" panose="02020603050405020304" pitchFamily="18" charset="0"/>
                <a:cs typeface="Times New Roman" panose="02020603050405020304" pitchFamily="18" charset="0"/>
              </a:rPr>
              <a:t>affect the allocated time. Maximally, two minutes </a:t>
            </a:r>
            <a:r>
              <a:rPr lang="en-GB" sz="2400" dirty="0" smtClean="0">
                <a:latin typeface="Times New Roman" panose="02020603050405020304" pitchFamily="18" charset="0"/>
                <a:cs typeface="Times New Roman" panose="02020603050405020304" pitchFamily="18" charset="0"/>
              </a:rPr>
              <a:t>for</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responses. </a:t>
            </a:r>
            <a:endParaRPr lang="en-US" sz="2400" dirty="0">
              <a:latin typeface="Times New Roman" panose="02020603050405020304" pitchFamily="18" charset="0"/>
              <a:cs typeface="Times New Roman" panose="02020603050405020304" pitchFamily="18" charset="0"/>
            </a:endParaRPr>
          </a:p>
          <a:p>
            <a:pPr marL="0" lvl="0" indent="0" algn="just">
              <a:buNone/>
            </a:pPr>
            <a:endParaRPr lang="en-US" sz="2400" dirty="0">
              <a:latin typeface="Times New Roman" panose="02020603050405020304" pitchFamily="18" charset="0"/>
              <a:cs typeface="Times New Roman" panose="02020603050405020304" pitchFamily="18" charset="0"/>
            </a:endParaRPr>
          </a:p>
          <a:p>
            <a:pPr marL="514350" lvl="0" indent="-514350" algn="just">
              <a:buAutoNum type="romanLcParenR"/>
            </a:pPr>
            <a:r>
              <a:rPr lang="en-GB" sz="2400" dirty="0" smtClean="0">
                <a:solidFill>
                  <a:prstClr val="black"/>
                </a:solidFill>
                <a:latin typeface="Times New Roman" panose="02020603050405020304" pitchFamily="18" charset="0"/>
                <a:cs typeface="Times New Roman" panose="02020603050405020304" pitchFamily="18" charset="0"/>
              </a:rPr>
              <a:t>Be </a:t>
            </a:r>
            <a:r>
              <a:rPr lang="en-GB" sz="2400" dirty="0">
                <a:solidFill>
                  <a:prstClr val="black"/>
                </a:solidFill>
                <a:latin typeface="Times New Roman" panose="02020603050405020304" pitchFamily="18" charset="0"/>
                <a:cs typeface="Times New Roman" panose="02020603050405020304" pitchFamily="18" charset="0"/>
              </a:rPr>
              <a:t>attentive </a:t>
            </a:r>
            <a:r>
              <a:rPr lang="en-GB" sz="2400" dirty="0" err="1">
                <a:solidFill>
                  <a:prstClr val="black"/>
                </a:solidFill>
                <a:latin typeface="Times New Roman" panose="02020603050405020304" pitchFamily="18" charset="0"/>
                <a:cs typeface="Times New Roman" panose="02020603050405020304" pitchFamily="18" charset="0"/>
              </a:rPr>
              <a:t>ie</a:t>
            </a:r>
            <a:r>
              <a:rPr lang="en-GB" sz="2400" dirty="0">
                <a:solidFill>
                  <a:prstClr val="black"/>
                </a:solidFill>
                <a:latin typeface="Times New Roman" panose="02020603050405020304" pitchFamily="18" charset="0"/>
                <a:cs typeface="Times New Roman" panose="02020603050405020304" pitchFamily="18" charset="0"/>
              </a:rPr>
              <a:t> listen to the questions </a:t>
            </a:r>
            <a:r>
              <a:rPr lang="en-GB" sz="2400" dirty="0" smtClean="0">
                <a:solidFill>
                  <a:prstClr val="black"/>
                </a:solidFill>
                <a:latin typeface="Times New Roman" panose="02020603050405020304" pitchFamily="18" charset="0"/>
                <a:cs typeface="Times New Roman" panose="02020603050405020304" pitchFamily="18" charset="0"/>
              </a:rPr>
              <a:t>carefully -avoid assuming</a:t>
            </a:r>
          </a:p>
          <a:p>
            <a:pPr marL="0" lvl="0" indent="0" algn="just">
              <a:buNone/>
            </a:pPr>
            <a:endParaRPr lang="en-GB" sz="2400" dirty="0">
              <a:solidFill>
                <a:prstClr val="black"/>
              </a:solidFill>
              <a:latin typeface="Times New Roman" panose="02020603050405020304" pitchFamily="18" charset="0"/>
              <a:cs typeface="Times New Roman" panose="02020603050405020304" pitchFamily="18" charset="0"/>
            </a:endParaRPr>
          </a:p>
          <a:p>
            <a:pPr marL="0" lvl="0" indent="0" algn="just">
              <a:buNone/>
            </a:pPr>
            <a:r>
              <a:rPr lang="en-US" dirty="0" smtClean="0"/>
              <a:t>j) </a:t>
            </a:r>
            <a:r>
              <a:rPr lang="en-GB" sz="2400" dirty="0">
                <a:solidFill>
                  <a:prstClr val="black"/>
                </a:solidFill>
                <a:latin typeface="Times New Roman" panose="02020603050405020304" pitchFamily="18" charset="0"/>
                <a:cs typeface="Times New Roman" panose="02020603050405020304" pitchFamily="18" charset="0"/>
              </a:rPr>
              <a:t>Be consistent </a:t>
            </a:r>
            <a:r>
              <a:rPr lang="en-GB" sz="2400" dirty="0" err="1">
                <a:solidFill>
                  <a:prstClr val="black"/>
                </a:solidFill>
                <a:latin typeface="Times New Roman" panose="02020603050405020304" pitchFamily="18" charset="0"/>
                <a:cs typeface="Times New Roman" panose="02020603050405020304" pitchFamily="18" charset="0"/>
              </a:rPr>
              <a:t>ie</a:t>
            </a:r>
            <a:r>
              <a:rPr lang="en-GB" sz="2400" dirty="0">
                <a:solidFill>
                  <a:prstClr val="black"/>
                </a:solidFill>
                <a:latin typeface="Times New Roman" panose="02020603050405020304" pitchFamily="18" charset="0"/>
                <a:cs typeface="Times New Roman" panose="02020603050405020304" pitchFamily="18" charset="0"/>
              </a:rPr>
              <a:t> </a:t>
            </a:r>
            <a:r>
              <a:rPr lang="en-GB" sz="2400" dirty="0" smtClean="0">
                <a:solidFill>
                  <a:prstClr val="black"/>
                </a:solidFill>
                <a:latin typeface="Times New Roman" panose="02020603050405020304" pitchFamily="18" charset="0"/>
                <a:cs typeface="Times New Roman" panose="02020603050405020304" pitchFamily="18" charset="0"/>
              </a:rPr>
              <a:t>maintain </a:t>
            </a:r>
            <a:r>
              <a:rPr lang="en-GB" sz="2400" dirty="0">
                <a:solidFill>
                  <a:prstClr val="black"/>
                </a:solidFill>
                <a:latin typeface="Times New Roman" panose="02020603050405020304" pitchFamily="18" charset="0"/>
                <a:cs typeface="Times New Roman" panose="02020603050405020304" pitchFamily="18" charset="0"/>
              </a:rPr>
              <a:t>your common stand and understanding when the </a:t>
            </a:r>
          </a:p>
          <a:p>
            <a:pPr marL="0" lvl="0" indent="0" algn="just">
              <a:buNone/>
            </a:pPr>
            <a:r>
              <a:rPr lang="en-GB" sz="2400" dirty="0">
                <a:solidFill>
                  <a:prstClr val="black"/>
                </a:solidFill>
                <a:latin typeface="Times New Roman" panose="02020603050405020304" pitchFamily="18" charset="0"/>
                <a:cs typeface="Times New Roman" panose="02020603050405020304" pitchFamily="18" charset="0"/>
              </a:rPr>
              <a:t>    question is asked repeatedly or in different style </a:t>
            </a:r>
            <a:endParaRPr lang="en-US" dirty="0"/>
          </a:p>
        </p:txBody>
      </p:sp>
    </p:spTree>
    <p:extLst>
      <p:ext uri="{BB962C8B-B14F-4D97-AF65-F5344CB8AC3E}">
        <p14:creationId xmlns:p14="http://schemas.microsoft.com/office/powerpoint/2010/main" val="1703381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6"/>
          </a:xfrm>
        </p:spPr>
        <p:txBody>
          <a:bodyPr>
            <a:noAutofit/>
          </a:bodyPr>
          <a:lstStyle/>
          <a:p>
            <a:pPr marL="0" lvl="0" indent="0" algn="just">
              <a:buNone/>
            </a:pPr>
            <a:r>
              <a:rPr lang="en-US" sz="2400" dirty="0" smtClean="0">
                <a:latin typeface="Times New Roman" panose="02020603050405020304" pitchFamily="18" charset="0"/>
                <a:cs typeface="Times New Roman" panose="02020603050405020304" pitchFamily="18" charset="0"/>
              </a:rPr>
              <a:t>k</a:t>
            </a:r>
            <a:r>
              <a:rPr lang="en-US" sz="2400" dirty="0" smtClean="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Hold your temper (especially when you face a hostile remark). </a:t>
            </a:r>
            <a:endParaRPr lang="en-GB" sz="2400" dirty="0" smtClean="0">
              <a:latin typeface="Times New Roman" panose="02020603050405020304" pitchFamily="18" charset="0"/>
              <a:cs typeface="Times New Roman" panose="02020603050405020304" pitchFamily="18" charset="0"/>
            </a:endParaRPr>
          </a:p>
          <a:p>
            <a:pPr marL="0" lvl="0" indent="0" algn="just">
              <a:buNone/>
            </a:pPr>
            <a:endParaRPr lang="en-GB" sz="2400" dirty="0" smtClean="0">
              <a:latin typeface="Times New Roman" panose="02020603050405020304" pitchFamily="18" charset="0"/>
              <a:cs typeface="Times New Roman" panose="02020603050405020304" pitchFamily="18" charset="0"/>
            </a:endParaRPr>
          </a:p>
          <a:p>
            <a:pPr marL="0" lvl="0" indent="0" algn="just">
              <a:buNone/>
            </a:pPr>
            <a:r>
              <a:rPr lang="en-GB" sz="2400" dirty="0" smtClean="0">
                <a:latin typeface="Times New Roman" panose="02020603050405020304" pitchFamily="18" charset="0"/>
                <a:cs typeface="Times New Roman" panose="02020603050405020304" pitchFamily="18" charset="0"/>
              </a:rPr>
              <a:t>l) </a:t>
            </a:r>
            <a:r>
              <a:rPr lang="en-GB" sz="2400" dirty="0" smtClean="0">
                <a:latin typeface="Times New Roman" panose="02020603050405020304" pitchFamily="18" charset="0"/>
                <a:cs typeface="Times New Roman" panose="02020603050405020304" pitchFamily="18" charset="0"/>
              </a:rPr>
              <a:t>Be </a:t>
            </a:r>
            <a:r>
              <a:rPr lang="en-GB" sz="2400" dirty="0">
                <a:latin typeface="Times New Roman" panose="02020603050405020304" pitchFamily="18" charset="0"/>
                <a:cs typeface="Times New Roman" panose="02020603050405020304" pitchFamily="18" charset="0"/>
              </a:rPr>
              <a:t>honest </a:t>
            </a:r>
            <a:r>
              <a:rPr lang="en-GB" sz="2400" dirty="0" err="1">
                <a:latin typeface="Times New Roman" panose="02020603050405020304" pitchFamily="18" charset="0"/>
                <a:cs typeface="Times New Roman" panose="02020603050405020304" pitchFamily="18" charset="0"/>
              </a:rPr>
              <a:t>ie</a:t>
            </a:r>
            <a:r>
              <a:rPr lang="en-GB" sz="2400" dirty="0">
                <a:latin typeface="Times New Roman" panose="02020603050405020304" pitchFamily="18" charset="0"/>
                <a:cs typeface="Times New Roman" panose="02020603050405020304" pitchFamily="18" charset="0"/>
              </a:rPr>
              <a:t> respond to the questions as they have been asked rather than </a:t>
            </a:r>
            <a:r>
              <a:rPr lang="en-GB" sz="2400" dirty="0" smtClean="0">
                <a:latin typeface="Times New Roman" panose="02020603050405020304" pitchFamily="18" charset="0"/>
                <a:cs typeface="Times New Roman" panose="02020603050405020304" pitchFamily="18" charset="0"/>
              </a:rPr>
              <a:t>telling </a:t>
            </a:r>
          </a:p>
          <a:p>
            <a:pPr marL="0" lv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the interviewer what you think she/ he wants to hear. </a:t>
            </a:r>
            <a:endParaRPr lang="en-US" sz="2400" dirty="0">
              <a:latin typeface="Times New Roman" panose="02020603050405020304" pitchFamily="18" charset="0"/>
              <a:cs typeface="Times New Roman" panose="02020603050405020304" pitchFamily="18" charset="0"/>
            </a:endParaRPr>
          </a:p>
          <a:p>
            <a:pPr marL="0" lvl="0" indent="0" algn="just">
              <a:buNone/>
            </a:pP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20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916138"/>
          </a:xfrm>
        </p:spPr>
        <p:txBody>
          <a:bodyPr>
            <a:normAutofit/>
          </a:bodyPr>
          <a:lstStyle/>
          <a:p>
            <a:pPr algn="just">
              <a:buFont typeface="Wingdings" panose="05000000000000000000" pitchFamily="2" charset="2"/>
              <a:buChar char="q"/>
            </a:pPr>
            <a:r>
              <a:rPr lang="en-GB" sz="2600" b="1" dirty="0">
                <a:latin typeface="Times New Roman" panose="02020603050405020304" pitchFamily="18" charset="0"/>
                <a:cs typeface="Times New Roman" panose="02020603050405020304" pitchFamily="18" charset="0"/>
              </a:rPr>
              <a:t>Ending the Interview </a:t>
            </a:r>
            <a:endParaRPr lang="en-US" sz="26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The Interviewee is, in most cases, given a chance to ask question(s</a:t>
            </a:r>
            <a:r>
              <a:rPr lang="en-GB"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Do not leave the chance unused; ask few sensible questions before leaving. The questions may be like: </a:t>
            </a:r>
            <a:endParaRPr lang="en-GB"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sz="2400" dirty="0" smtClean="0">
                <a:latin typeface="Times New Roman" panose="02020603050405020304" pitchFamily="18" charset="0"/>
                <a:cs typeface="Times New Roman" panose="02020603050405020304" pitchFamily="18" charset="0"/>
              </a:rPr>
              <a:t>When will </a:t>
            </a:r>
            <a:r>
              <a:rPr lang="en-GB" sz="2400" dirty="0">
                <a:latin typeface="Times New Roman" panose="02020603050405020304" pitchFamily="18" charset="0"/>
                <a:cs typeface="Times New Roman" panose="02020603050405020304" pitchFamily="18" charset="0"/>
              </a:rPr>
              <a:t>the decision for this position be made and which medium will be used for feedback? </a:t>
            </a:r>
            <a:endParaRPr lang="en-GB" sz="2400" dirty="0" smtClean="0">
              <a:latin typeface="Times New Roman" panose="02020603050405020304" pitchFamily="18" charset="0"/>
              <a:cs typeface="Times New Roman" panose="02020603050405020304" pitchFamily="18" charset="0"/>
            </a:endParaRPr>
          </a:p>
          <a:p>
            <a:pPr marL="0" lvl="0" indent="0" algn="just">
              <a:buNone/>
            </a:pP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sz="2400" dirty="0">
                <a:latin typeface="Times New Roman" panose="02020603050405020304" pitchFamily="18" charset="0"/>
                <a:cs typeface="Times New Roman" panose="02020603050405020304" pitchFamily="18" charset="0"/>
              </a:rPr>
              <a:t>What are the </a:t>
            </a:r>
            <a:r>
              <a:rPr lang="en-GB" sz="2400" dirty="0" smtClean="0">
                <a:latin typeface="Times New Roman" panose="02020603050405020304" pitchFamily="18" charset="0"/>
                <a:cs typeface="Times New Roman" panose="02020603050405020304" pitchFamily="18" charset="0"/>
              </a:rPr>
              <a:t>future plans of this </a:t>
            </a:r>
            <a:r>
              <a:rPr lang="en-GB" sz="2400" dirty="0">
                <a:latin typeface="Times New Roman" panose="02020603050405020304" pitchFamily="18" charset="0"/>
                <a:cs typeface="Times New Roman" panose="02020603050405020304" pitchFamily="18" charset="0"/>
              </a:rPr>
              <a:t>organization? </a:t>
            </a:r>
            <a:endParaRPr lang="en-US" sz="2400" dirty="0">
              <a:latin typeface="Times New Roman" panose="02020603050405020304" pitchFamily="18" charset="0"/>
              <a:cs typeface="Times New Roman" panose="02020603050405020304" pitchFamily="18" charset="0"/>
            </a:endParaRPr>
          </a:p>
          <a:p>
            <a:pPr marL="0" lvl="0" indent="0" algn="just">
              <a:buNone/>
            </a:pPr>
            <a:endParaRPr lang="en-US" sz="2400" dirty="0" smtClean="0">
              <a:latin typeface="Times New Roman" panose="02020603050405020304" pitchFamily="18" charset="0"/>
              <a:cs typeface="Times New Roman" panose="02020603050405020304" pitchFamily="18" charset="0"/>
            </a:endParaRPr>
          </a:p>
          <a:p>
            <a:pPr marL="0" lvl="0" indent="0" algn="just">
              <a:buNone/>
            </a:pPr>
            <a:endParaRPr lang="en-US" sz="24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15963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buFont typeface="Wingdings" panose="05000000000000000000" pitchFamily="2" charset="2"/>
              <a:buChar char="ü"/>
            </a:pPr>
            <a:endParaRPr lang="en-GB" sz="2400"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sz="2400" dirty="0" smtClean="0">
                <a:solidFill>
                  <a:prstClr val="black"/>
                </a:solidFill>
                <a:latin typeface="Times New Roman" panose="02020603050405020304" pitchFamily="18" charset="0"/>
                <a:cs typeface="Times New Roman" panose="02020603050405020304" pitchFamily="18" charset="0"/>
              </a:rPr>
              <a:t>What </a:t>
            </a:r>
            <a:r>
              <a:rPr lang="en-GB" sz="2400" dirty="0">
                <a:solidFill>
                  <a:prstClr val="black"/>
                </a:solidFill>
                <a:latin typeface="Times New Roman" panose="02020603050405020304" pitchFamily="18" charset="0"/>
                <a:cs typeface="Times New Roman" panose="02020603050405020304" pitchFamily="18" charset="0"/>
              </a:rPr>
              <a:t>are the criteria for promotion in your organization</a:t>
            </a:r>
            <a:r>
              <a:rPr lang="en-GB" sz="2400" dirty="0" smtClean="0">
                <a:solidFill>
                  <a:prstClr val="black"/>
                </a:solidFill>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ü"/>
            </a:pPr>
            <a:endParaRPr lang="en-US" sz="2400"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sz="2400" dirty="0">
                <a:solidFill>
                  <a:prstClr val="black"/>
                </a:solidFill>
                <a:latin typeface="Times New Roman" panose="02020603050405020304" pitchFamily="18" charset="0"/>
                <a:cs typeface="Times New Roman" panose="02020603050405020304" pitchFamily="18" charset="0"/>
              </a:rPr>
              <a:t>Does the organization provide sponsorship for further education to employees who want to develop their skills</a:t>
            </a:r>
            <a:r>
              <a:rPr lang="en-GB" sz="2400" dirty="0" smtClean="0">
                <a:solidFill>
                  <a:prstClr val="black"/>
                </a:solidFill>
                <a:latin typeface="Times New Roman" panose="02020603050405020304" pitchFamily="18" charset="0"/>
                <a:cs typeface="Times New Roman" panose="02020603050405020304" pitchFamily="18" charset="0"/>
              </a:rPr>
              <a:t>?</a:t>
            </a:r>
          </a:p>
          <a:p>
            <a:pPr marL="0" lvl="0" indent="0" algn="just">
              <a:buNone/>
            </a:pPr>
            <a:endParaRPr lang="en-US" sz="2400"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sz="2400" dirty="0">
                <a:solidFill>
                  <a:prstClr val="black"/>
                </a:solidFill>
                <a:latin typeface="Times New Roman" panose="02020603050405020304" pitchFamily="18" charset="0"/>
                <a:cs typeface="Times New Roman" panose="02020603050405020304" pitchFamily="18" charset="0"/>
              </a:rPr>
              <a:t>Are there any benefits provided by your organization to employees</a:t>
            </a:r>
            <a:endParaRPr lang="en-US" dirty="0"/>
          </a:p>
        </p:txBody>
      </p:sp>
    </p:spTree>
    <p:extLst>
      <p:ext uri="{BB962C8B-B14F-4D97-AF65-F5344CB8AC3E}">
        <p14:creationId xmlns:p14="http://schemas.microsoft.com/office/powerpoint/2010/main" val="2908286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lgn="just"/>
            <a:r>
              <a:rPr lang="en-US" dirty="0" smtClean="0"/>
              <a:t> </a:t>
            </a:r>
            <a:r>
              <a:rPr lang="en-US" sz="2400" dirty="0" smtClean="0"/>
              <a:t>Finally, </a:t>
            </a:r>
            <a:r>
              <a:rPr lang="en-GB" sz="2400" dirty="0"/>
              <a:t>t</a:t>
            </a:r>
            <a:r>
              <a:rPr lang="en-GB" sz="2400" dirty="0" smtClean="0"/>
              <a:t>hank </a:t>
            </a:r>
            <a:r>
              <a:rPr lang="en-GB" sz="2400" dirty="0"/>
              <a:t>the interviewers for short listing you among the interviewees. Leave with a warm smile and you may handshake if entertained by the interviewers. Let them initiate if not just </a:t>
            </a:r>
            <a:r>
              <a:rPr lang="en-GB" sz="2400" dirty="0" smtClean="0"/>
              <a:t>leave</a:t>
            </a:r>
            <a:r>
              <a:rPr lang="en-GB" sz="2400" b="1" dirty="0"/>
              <a:t> </a:t>
            </a:r>
            <a:endParaRPr lang="en-GB" sz="2400" b="1" dirty="0" smtClean="0"/>
          </a:p>
          <a:p>
            <a:pPr algn="just">
              <a:buFont typeface="Wingdings" panose="05000000000000000000" pitchFamily="2" charset="2"/>
              <a:buChar char="q"/>
            </a:pPr>
            <a:r>
              <a:rPr lang="en-GB" b="1" dirty="0" smtClean="0"/>
              <a:t>What </a:t>
            </a:r>
            <a:r>
              <a:rPr lang="en-GB" b="1" dirty="0"/>
              <a:t>do most employers demand? </a:t>
            </a:r>
            <a:endParaRPr lang="en-US" dirty="0"/>
          </a:p>
          <a:p>
            <a:pPr marL="0" lvl="0" indent="0" algn="just">
              <a:buNone/>
            </a:pPr>
            <a:r>
              <a:rPr lang="en-GB" sz="2400" dirty="0" smtClean="0"/>
              <a:t>I) Effective </a:t>
            </a:r>
            <a:r>
              <a:rPr lang="en-GB" sz="2400" dirty="0"/>
              <a:t>communication- employers need candidates with ability to get on with </a:t>
            </a:r>
            <a:r>
              <a:rPr lang="en-GB" sz="2400" dirty="0" smtClean="0"/>
              <a:t>a </a:t>
            </a:r>
          </a:p>
          <a:p>
            <a:pPr marL="0" lvl="0" indent="0" algn="just">
              <a:buNone/>
            </a:pPr>
            <a:r>
              <a:rPr lang="en-GB" sz="2400" dirty="0"/>
              <a:t> </a:t>
            </a:r>
            <a:r>
              <a:rPr lang="en-GB" sz="2400" dirty="0" smtClean="0"/>
              <a:t>  </a:t>
            </a:r>
            <a:r>
              <a:rPr lang="en-GB" sz="2400" dirty="0"/>
              <a:t>wide range of people. </a:t>
            </a:r>
            <a:endParaRPr lang="en-US" sz="2400" dirty="0"/>
          </a:p>
          <a:p>
            <a:pPr marL="0" lvl="0" indent="0" algn="just">
              <a:buNone/>
            </a:pPr>
            <a:endParaRPr lang="en-GB" sz="2400" dirty="0" smtClean="0"/>
          </a:p>
        </p:txBody>
      </p:sp>
    </p:spTree>
    <p:extLst>
      <p:ext uri="{BB962C8B-B14F-4D97-AF65-F5344CB8AC3E}">
        <p14:creationId xmlns:p14="http://schemas.microsoft.com/office/powerpoint/2010/main" val="2526930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marL="0" lvl="0" indent="0" algn="just">
              <a:buNone/>
            </a:pPr>
            <a:endParaRPr lang="en-GB" sz="2400" dirty="0" smtClean="0">
              <a:solidFill>
                <a:prstClr val="black"/>
              </a:solidFill>
            </a:endParaRPr>
          </a:p>
          <a:p>
            <a:pPr marL="0" lvl="0" indent="0" algn="just">
              <a:buNone/>
            </a:pPr>
            <a:r>
              <a:rPr lang="en-GB" sz="2400" dirty="0" smtClean="0">
                <a:solidFill>
                  <a:prstClr val="black"/>
                </a:solidFill>
              </a:rPr>
              <a:t>ii)Team </a:t>
            </a:r>
            <a:r>
              <a:rPr lang="en-GB" sz="2400" dirty="0">
                <a:solidFill>
                  <a:prstClr val="black"/>
                </a:solidFill>
              </a:rPr>
              <a:t>working- Candidates with abilities to mobilize people and enhance working </a:t>
            </a:r>
          </a:p>
          <a:p>
            <a:pPr marL="0" lvl="0" indent="0" algn="just">
              <a:buNone/>
            </a:pPr>
            <a:r>
              <a:rPr lang="en-GB" sz="2400" dirty="0">
                <a:solidFill>
                  <a:prstClr val="black"/>
                </a:solidFill>
              </a:rPr>
              <a:t>    as a group in accomplishing the organizational goals. </a:t>
            </a:r>
            <a:endParaRPr lang="en-US" sz="2400" dirty="0">
              <a:solidFill>
                <a:prstClr val="black"/>
              </a:solidFill>
            </a:endParaRPr>
          </a:p>
          <a:p>
            <a:pPr marL="0" lvl="0" indent="0" algn="just">
              <a:buNone/>
            </a:pPr>
            <a:r>
              <a:rPr lang="en-GB" sz="2400" dirty="0">
                <a:solidFill>
                  <a:prstClr val="black"/>
                </a:solidFill>
              </a:rPr>
              <a:t>iii) IT Skills – Candidates who are computer literates with this error of science and </a:t>
            </a:r>
          </a:p>
          <a:p>
            <a:pPr marL="0" lvl="0" indent="0" algn="just">
              <a:buNone/>
            </a:pPr>
            <a:r>
              <a:rPr lang="en-GB" sz="2400" dirty="0">
                <a:solidFill>
                  <a:prstClr val="black"/>
                </a:solidFill>
              </a:rPr>
              <a:t>     technology</a:t>
            </a:r>
            <a:endParaRPr lang="en-US" sz="2400" dirty="0">
              <a:solidFill>
                <a:prstClr val="black"/>
              </a:solidFill>
            </a:endParaRPr>
          </a:p>
          <a:p>
            <a:pPr marL="0" lvl="0" indent="0" algn="just">
              <a:buNone/>
            </a:pPr>
            <a:r>
              <a:rPr lang="en-GB" sz="2400" dirty="0" smtClean="0">
                <a:solidFill>
                  <a:prstClr val="black"/>
                </a:solidFill>
                <a:latin typeface="Times New Roman" panose="02020603050405020304" pitchFamily="18" charset="0"/>
                <a:cs typeface="Times New Roman" panose="02020603050405020304" pitchFamily="18" charset="0"/>
              </a:rPr>
              <a:t>iv) Flexibility</a:t>
            </a:r>
            <a:r>
              <a:rPr lang="en-GB" sz="2400" dirty="0">
                <a:solidFill>
                  <a:prstClr val="black"/>
                </a:solidFill>
                <a:latin typeface="Times New Roman" panose="02020603050405020304" pitchFamily="18" charset="0"/>
                <a:cs typeface="Times New Roman" panose="02020603050405020304" pitchFamily="18" charset="0"/>
              </a:rPr>
              <a:t>/- Candidates who are multipurpose i.e. who can perform a </a:t>
            </a:r>
          </a:p>
          <a:p>
            <a:pPr marL="0" lvl="0" indent="0" algn="just">
              <a:buNone/>
            </a:pPr>
            <a:r>
              <a:rPr lang="en-GB" sz="2400" dirty="0">
                <a:solidFill>
                  <a:prstClr val="black"/>
                </a:solidFill>
                <a:latin typeface="Times New Roman" panose="02020603050405020304" pitchFamily="18" charset="0"/>
                <a:cs typeface="Times New Roman" panose="02020603050405020304" pitchFamily="18" charset="0"/>
              </a:rPr>
              <a:t>      variety of tasks to achieve a common organizational goal. </a:t>
            </a:r>
            <a:endParaRPr lang="en-US" sz="2400" dirty="0">
              <a:solidFill>
                <a:prstClr val="black"/>
              </a:solidFill>
              <a:latin typeface="Times New Roman" panose="02020603050405020304" pitchFamily="18" charset="0"/>
              <a:cs typeface="Times New Roman" panose="02020603050405020304" pitchFamily="18" charset="0"/>
            </a:endParaRPr>
          </a:p>
          <a:p>
            <a:pPr marL="0" lvl="0" indent="0" algn="just">
              <a:buNone/>
            </a:pPr>
            <a:r>
              <a:rPr lang="en-GB" sz="2400" dirty="0">
                <a:solidFill>
                  <a:prstClr val="black"/>
                </a:solidFill>
                <a:latin typeface="Times New Roman" panose="02020603050405020304" pitchFamily="18" charset="0"/>
                <a:cs typeface="Times New Roman" panose="02020603050405020304" pitchFamily="18" charset="0"/>
              </a:rPr>
              <a:t>v) Problem solving- Candidate who can identify problems and look for their </a:t>
            </a:r>
          </a:p>
          <a:p>
            <a:pPr marL="0" lvl="0" indent="0" algn="just">
              <a:buNone/>
            </a:pPr>
            <a:r>
              <a:rPr lang="en-GB" sz="2400" dirty="0">
                <a:solidFill>
                  <a:prstClr val="black"/>
                </a:solidFill>
                <a:latin typeface="Times New Roman" panose="02020603050405020304" pitchFamily="18" charset="0"/>
                <a:cs typeface="Times New Roman" panose="02020603050405020304" pitchFamily="18" charset="0"/>
              </a:rPr>
              <a:t>    solutions</a:t>
            </a:r>
          </a:p>
          <a:p>
            <a:pPr marL="0" indent="0">
              <a:buNone/>
            </a:pPr>
            <a:endParaRPr lang="en-US" dirty="0"/>
          </a:p>
        </p:txBody>
      </p:sp>
    </p:spTree>
    <p:extLst>
      <p:ext uri="{BB962C8B-B14F-4D97-AF65-F5344CB8AC3E}">
        <p14:creationId xmlns:p14="http://schemas.microsoft.com/office/powerpoint/2010/main" val="3042111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marL="0" lvl="0" indent="0" algn="just">
              <a:buNone/>
            </a:pPr>
            <a:r>
              <a:rPr lang="en-GB" sz="5100" dirty="0" smtClean="0"/>
              <a:t>    </a:t>
            </a:r>
            <a:endParaRPr lang="en-US" sz="5100" dirty="0"/>
          </a:p>
          <a:p>
            <a:pPr marL="0" lvl="0" indent="0" algn="just">
              <a:buNone/>
            </a:pPr>
            <a:r>
              <a:rPr lang="en-GB" sz="2400" dirty="0" smtClean="0">
                <a:latin typeface="Times New Roman" panose="02020603050405020304" pitchFamily="18" charset="0"/>
                <a:cs typeface="Times New Roman" panose="02020603050405020304" pitchFamily="18" charset="0"/>
              </a:rPr>
              <a:t>vi</a:t>
            </a:r>
            <a:r>
              <a:rPr lang="en-GB" sz="2400" dirty="0" smtClean="0">
                <a:latin typeface="Times New Roman" panose="02020603050405020304" pitchFamily="18" charset="0"/>
                <a:cs typeface="Times New Roman" panose="02020603050405020304" pitchFamily="18" charset="0"/>
              </a:rPr>
              <a:t>) Adaptability </a:t>
            </a:r>
            <a:r>
              <a:rPr lang="en-GB" sz="2400" dirty="0" err="1">
                <a:latin typeface="Times New Roman" panose="02020603050405020304" pitchFamily="18" charset="0"/>
                <a:cs typeface="Times New Roman" panose="02020603050405020304" pitchFamily="18" charset="0"/>
              </a:rPr>
              <a:t>ie</a:t>
            </a:r>
            <a:r>
              <a:rPr lang="en-GB" sz="2400" dirty="0">
                <a:latin typeface="Times New Roman" panose="02020603050405020304" pitchFamily="18" charset="0"/>
                <a:cs typeface="Times New Roman" panose="02020603050405020304" pitchFamily="18" charset="0"/>
              </a:rPr>
              <a:t> those who have quick learning ability- employee who can </a:t>
            </a:r>
            <a:r>
              <a:rPr lang="en-GB" sz="2400" dirty="0" smtClean="0">
                <a:latin typeface="Times New Roman" panose="02020603050405020304" pitchFamily="18" charset="0"/>
                <a:cs typeface="Times New Roman" panose="02020603050405020304" pitchFamily="18" charset="0"/>
              </a:rPr>
              <a:t>learn </a:t>
            </a:r>
          </a:p>
          <a:p>
            <a:pPr marL="0" lv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and understand </a:t>
            </a:r>
            <a:r>
              <a:rPr lang="en-GB" sz="2400" dirty="0" smtClean="0">
                <a:latin typeface="Times New Roman" panose="02020603050405020304" pitchFamily="18" charset="0"/>
                <a:cs typeface="Times New Roman" panose="02020603050405020304" pitchFamily="18" charset="0"/>
              </a:rPr>
              <a:t>faster, thus, </a:t>
            </a:r>
            <a:r>
              <a:rPr lang="en-GB" sz="2400" dirty="0">
                <a:latin typeface="Times New Roman" panose="02020603050405020304" pitchFamily="18" charset="0"/>
                <a:cs typeface="Times New Roman" panose="02020603050405020304" pitchFamily="18" charset="0"/>
              </a:rPr>
              <a:t>able to take new tasks in the organization. </a:t>
            </a:r>
            <a:endParaRPr lang="en-US" sz="2400" dirty="0">
              <a:latin typeface="Times New Roman" panose="02020603050405020304" pitchFamily="18" charset="0"/>
              <a:cs typeface="Times New Roman" panose="02020603050405020304" pitchFamily="18" charset="0"/>
            </a:endParaRPr>
          </a:p>
          <a:p>
            <a:pPr marL="0" indent="0" algn="just">
              <a:buNone/>
            </a:pPr>
            <a:r>
              <a:rPr lang="en-GB" sz="2400" dirty="0" smtClean="0">
                <a:latin typeface="Times New Roman" panose="02020603050405020304" pitchFamily="18" charset="0"/>
                <a:cs typeface="Times New Roman" panose="02020603050405020304" pitchFamily="18" charset="0"/>
              </a:rPr>
              <a:t>vii) Critical </a:t>
            </a:r>
            <a:r>
              <a:rPr lang="en-GB" sz="2400" dirty="0">
                <a:latin typeface="Times New Roman" panose="02020603050405020304" pitchFamily="18" charset="0"/>
                <a:cs typeface="Times New Roman" panose="02020603050405020304" pitchFamily="18" charset="0"/>
              </a:rPr>
              <a:t>Thinking: The ability to </a:t>
            </a:r>
            <a:r>
              <a:rPr lang="en-GB" sz="2400" dirty="0" err="1">
                <a:latin typeface="Times New Roman" panose="02020603050405020304" pitchFamily="18" charset="0"/>
                <a:cs typeface="Times New Roman" panose="02020603050405020304" pitchFamily="18" charset="0"/>
              </a:rPr>
              <a:t>analyze</a:t>
            </a:r>
            <a:r>
              <a:rPr lang="en-GB" sz="2400" dirty="0">
                <a:latin typeface="Times New Roman" panose="02020603050405020304" pitchFamily="18" charset="0"/>
                <a:cs typeface="Times New Roman" panose="02020603050405020304" pitchFamily="18" charset="0"/>
              </a:rPr>
              <a:t> information objectively, </a:t>
            </a:r>
            <a:r>
              <a:rPr lang="en-GB" sz="2400" dirty="0" smtClean="0">
                <a:latin typeface="Times New Roman" panose="02020603050405020304" pitchFamily="18" charset="0"/>
                <a:cs typeface="Times New Roman" panose="02020603050405020304" pitchFamily="18" charset="0"/>
              </a:rPr>
              <a:t>evaluate </a:t>
            </a:r>
          </a:p>
          <a:p>
            <a:pPr marL="0" indent="0" algn="just">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different perspectives, and make reasoned decisions</a:t>
            </a:r>
            <a:endParaRPr lang="en-GB" sz="2400" dirty="0" smtClean="0">
              <a:latin typeface="Times New Roman" panose="02020603050405020304" pitchFamily="18" charset="0"/>
              <a:cs typeface="Times New Roman" panose="02020603050405020304" pitchFamily="18" charset="0"/>
            </a:endParaRPr>
          </a:p>
          <a:p>
            <a:pPr marL="0" indent="0" algn="just">
              <a:buNone/>
            </a:pPr>
            <a:endParaRPr lang="en-US" sz="5100" dirty="0"/>
          </a:p>
        </p:txBody>
      </p:sp>
    </p:spTree>
    <p:extLst>
      <p:ext uri="{BB962C8B-B14F-4D97-AF65-F5344CB8AC3E}">
        <p14:creationId xmlns:p14="http://schemas.microsoft.com/office/powerpoint/2010/main" val="2526930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854144"/>
          </a:xfrm>
        </p:spPr>
        <p:txBody>
          <a:bodyPr>
            <a:normAutofit/>
          </a:bodyPr>
          <a:lstStyle/>
          <a:p>
            <a:pPr>
              <a:buFont typeface="Wingdings" panose="05000000000000000000" pitchFamily="2" charset="2"/>
              <a:buChar char="q"/>
            </a:pPr>
            <a:r>
              <a:rPr lang="en-GB" b="1" dirty="0"/>
              <a:t>The Sample Questions for Job Interviewees </a:t>
            </a:r>
            <a:endParaRPr lang="en-US" dirty="0"/>
          </a:p>
          <a:p>
            <a:pPr lvl="0"/>
            <a:r>
              <a:rPr lang="en-GB" sz="2400" dirty="0" smtClean="0">
                <a:latin typeface="Times New Roman" panose="02020603050405020304" pitchFamily="18" charset="0"/>
                <a:cs typeface="Times New Roman" panose="02020603050405020304" pitchFamily="18" charset="0"/>
              </a:rPr>
              <a:t>Tell us about </a:t>
            </a:r>
            <a:r>
              <a:rPr lang="en-GB" sz="2400" dirty="0" smtClean="0">
                <a:latin typeface="Times New Roman" panose="02020603050405020304" pitchFamily="18" charset="0"/>
                <a:cs typeface="Times New Roman" panose="02020603050405020304" pitchFamily="18" charset="0"/>
              </a:rPr>
              <a:t>yourself</a:t>
            </a:r>
          </a:p>
          <a:p>
            <a:pPr lvl="0"/>
            <a:endParaRPr lang="en-GB" sz="2400" dirty="0" smtClean="0">
              <a:latin typeface="Times New Roman" panose="02020603050405020304" pitchFamily="18" charset="0"/>
              <a:cs typeface="Times New Roman" panose="02020603050405020304" pitchFamily="18" charset="0"/>
            </a:endParaRPr>
          </a:p>
          <a:p>
            <a:pPr lvl="0"/>
            <a:r>
              <a:rPr lang="en-GB" sz="2400" dirty="0" smtClean="0">
                <a:latin typeface="Times New Roman" panose="02020603050405020304" pitchFamily="18" charset="0"/>
                <a:cs typeface="Times New Roman" panose="02020603050405020304" pitchFamily="18" charset="0"/>
              </a:rPr>
              <a:t>What </a:t>
            </a:r>
            <a:r>
              <a:rPr lang="en-GB" sz="2400" dirty="0">
                <a:latin typeface="Times New Roman" panose="02020603050405020304" pitchFamily="18" charset="0"/>
                <a:cs typeface="Times New Roman" panose="02020603050405020304" pitchFamily="18" charset="0"/>
              </a:rPr>
              <a:t>are your future career plans? </a:t>
            </a:r>
            <a:endParaRPr lang="en-GB" sz="2400" dirty="0" smtClean="0">
              <a:latin typeface="Times New Roman" panose="02020603050405020304" pitchFamily="18" charset="0"/>
              <a:cs typeface="Times New Roman" panose="02020603050405020304" pitchFamily="18" charset="0"/>
            </a:endParaRPr>
          </a:p>
          <a:p>
            <a:pPr lvl="0"/>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Do you consider your education valuable? Why? </a:t>
            </a:r>
            <a:endParaRPr lang="en-GB" sz="2400" dirty="0" smtClean="0">
              <a:latin typeface="Times New Roman" panose="02020603050405020304" pitchFamily="18" charset="0"/>
              <a:cs typeface="Times New Roman" panose="02020603050405020304" pitchFamily="18" charset="0"/>
            </a:endParaRPr>
          </a:p>
          <a:p>
            <a:pPr lvl="0"/>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What do you consider to be your </a:t>
            </a:r>
            <a:r>
              <a:rPr lang="en-GB" sz="2400" dirty="0" smtClean="0">
                <a:latin typeface="Times New Roman" panose="02020603050405020304" pitchFamily="18" charset="0"/>
                <a:cs typeface="Times New Roman" panose="02020603050405020304" pitchFamily="18" charset="0"/>
              </a:rPr>
              <a:t>weaknesses</a:t>
            </a:r>
            <a:r>
              <a:rPr lang="en-GB" sz="2400" dirty="0" smtClean="0">
                <a:latin typeface="Times New Roman" panose="02020603050405020304" pitchFamily="18" charset="0"/>
                <a:cs typeface="Times New Roman" panose="02020603050405020304" pitchFamily="18" charset="0"/>
              </a:rPr>
              <a:t>?</a:t>
            </a:r>
          </a:p>
          <a:p>
            <a:pPr marL="0" lvl="0" indent="0">
              <a:buNone/>
            </a:pPr>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Why did you choose your particular career</a:t>
            </a:r>
            <a:r>
              <a:rPr lang="en-GB"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4103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854144"/>
          </a:xfrm>
        </p:spPr>
        <p:txBody>
          <a:bodyPr>
            <a:normAutofit/>
          </a:bodyPr>
          <a:lstStyle/>
          <a:p>
            <a:pPr lvl="0"/>
            <a:r>
              <a:rPr lang="en-GB" sz="2400" dirty="0" smtClean="0">
                <a:latin typeface="Times New Roman" panose="02020603050405020304" pitchFamily="18" charset="0"/>
                <a:cs typeface="Times New Roman" panose="02020603050405020304" pitchFamily="18" charset="0"/>
              </a:rPr>
              <a:t>What </a:t>
            </a:r>
            <a:r>
              <a:rPr lang="en-GB" sz="2400" dirty="0">
                <a:latin typeface="Times New Roman" panose="02020603050405020304" pitchFamily="18" charset="0"/>
                <a:cs typeface="Times New Roman" panose="02020603050405020304" pitchFamily="18" charset="0"/>
              </a:rPr>
              <a:t>qualifications do you have that make you feel you would be successful in your field? </a:t>
            </a:r>
            <a:endParaRPr lang="en-GB" sz="2400" dirty="0" smtClean="0">
              <a:latin typeface="Times New Roman" panose="02020603050405020304" pitchFamily="18" charset="0"/>
              <a:cs typeface="Times New Roman" panose="02020603050405020304" pitchFamily="18" charset="0"/>
            </a:endParaRPr>
          </a:p>
          <a:p>
            <a:pPr lvl="0"/>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What do you think determines a person's progress in any organization? </a:t>
            </a:r>
            <a:endParaRPr lang="en-GB" sz="2400" dirty="0" smtClean="0">
              <a:latin typeface="Times New Roman" panose="02020603050405020304" pitchFamily="18" charset="0"/>
              <a:cs typeface="Times New Roman" panose="02020603050405020304" pitchFamily="18" charset="0"/>
            </a:endParaRPr>
          </a:p>
          <a:p>
            <a:pPr lvl="0"/>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What personal characteristics are necessary for success in your chosen field</a:t>
            </a:r>
            <a:r>
              <a:rPr lang="en-GB" sz="2400" dirty="0" smtClean="0">
                <a:latin typeface="Times New Roman" panose="02020603050405020304" pitchFamily="18" charset="0"/>
                <a:cs typeface="Times New Roman" panose="02020603050405020304" pitchFamily="18" charset="0"/>
              </a:rPr>
              <a:t>?</a:t>
            </a:r>
          </a:p>
          <a:p>
            <a:pPr marL="0" lvl="0" indent="0">
              <a:buNone/>
            </a:pPr>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Do you prefer working with others or by yourself</a:t>
            </a:r>
            <a:r>
              <a:rPr lang="en-GB" sz="2400" dirty="0" smtClean="0">
                <a:latin typeface="Times New Roman" panose="02020603050405020304" pitchFamily="18" charset="0"/>
                <a:cs typeface="Times New Roman" panose="02020603050405020304" pitchFamily="18" charset="0"/>
              </a:rPr>
              <a:t>?</a:t>
            </a:r>
          </a:p>
          <a:p>
            <a:pPr lvl="0"/>
            <a:endParaRPr lang="en-US" sz="2400" dirty="0">
              <a:latin typeface="Times New Roman" panose="02020603050405020304" pitchFamily="18" charset="0"/>
              <a:cs typeface="Times New Roman" panose="02020603050405020304" pitchFamily="18" charset="0"/>
            </a:endParaRPr>
          </a:p>
          <a:p>
            <a:pPr lvl="0"/>
            <a:r>
              <a:rPr lang="en-GB" sz="2600" dirty="0">
                <a:latin typeface="Times New Roman" panose="02020603050405020304" pitchFamily="18" charset="0"/>
                <a:cs typeface="Times New Roman" panose="02020603050405020304" pitchFamily="18" charset="0"/>
              </a:rPr>
              <a:t>What do you know about opportunities in the field in which you are trained</a:t>
            </a:r>
            <a:r>
              <a:rPr lang="en-GB" dirty="0"/>
              <a:t>? </a:t>
            </a:r>
            <a:endParaRPr lang="en-US" dirty="0"/>
          </a:p>
          <a:p>
            <a:endParaRPr lang="en-US" dirty="0"/>
          </a:p>
        </p:txBody>
      </p:sp>
    </p:spTree>
    <p:extLst>
      <p:ext uri="{BB962C8B-B14F-4D97-AF65-F5344CB8AC3E}">
        <p14:creationId xmlns:p14="http://schemas.microsoft.com/office/powerpoint/2010/main" val="3334103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lvl="0"/>
            <a:r>
              <a:rPr lang="en-GB" sz="2400" dirty="0">
                <a:latin typeface="Times New Roman" panose="02020603050405020304" pitchFamily="18" charset="0"/>
                <a:cs typeface="Times New Roman" panose="02020603050405020304" pitchFamily="18" charset="0"/>
              </a:rPr>
              <a:t>What do you expect to be doing in five, ten or fifteen years</a:t>
            </a:r>
            <a:r>
              <a:rPr lang="en-GB" sz="2400" dirty="0" smtClean="0">
                <a:latin typeface="Times New Roman" panose="02020603050405020304" pitchFamily="18" charset="0"/>
                <a:cs typeface="Times New Roman" panose="02020603050405020304" pitchFamily="18" charset="0"/>
              </a:rPr>
              <a:t>?</a:t>
            </a:r>
          </a:p>
          <a:p>
            <a:pPr lvl="0"/>
            <a:endParaRPr lang="en-US" sz="2400" dirty="0" smtClean="0">
              <a:latin typeface="Times New Roman" panose="02020603050405020304" pitchFamily="18" charset="0"/>
              <a:cs typeface="Times New Roman" panose="02020603050405020304" pitchFamily="18" charset="0"/>
            </a:endParaRPr>
          </a:p>
          <a:p>
            <a:pPr lvl="0"/>
            <a:r>
              <a:rPr lang="en-GB" sz="2400" dirty="0" smtClean="0">
                <a:latin typeface="Times New Roman" panose="02020603050405020304" pitchFamily="18" charset="0"/>
                <a:cs typeface="Times New Roman" panose="02020603050405020304" pitchFamily="18" charset="0"/>
              </a:rPr>
              <a:t>What </a:t>
            </a:r>
            <a:r>
              <a:rPr lang="en-GB" sz="2400" dirty="0">
                <a:latin typeface="Times New Roman" panose="02020603050405020304" pitchFamily="18" charset="0"/>
                <a:cs typeface="Times New Roman" panose="02020603050405020304" pitchFamily="18" charset="0"/>
              </a:rPr>
              <a:t>are the disadvantages of your chosen field? </a:t>
            </a:r>
            <a:endParaRPr lang="en-GB" sz="2400" dirty="0" smtClean="0">
              <a:latin typeface="Times New Roman" panose="02020603050405020304" pitchFamily="18" charset="0"/>
              <a:cs typeface="Times New Roman" panose="02020603050405020304" pitchFamily="18" charset="0"/>
            </a:endParaRPr>
          </a:p>
          <a:p>
            <a:pPr lvl="0"/>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Do you feel you have received a good general training? </a:t>
            </a:r>
            <a:endParaRPr lang="en-GB" sz="2400" dirty="0" smtClean="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a:p>
            <a:pPr lvl="0"/>
            <a:r>
              <a:rPr lang="en-GB" sz="2400" dirty="0">
                <a:latin typeface="Times New Roman" panose="02020603050405020304" pitchFamily="18" charset="0"/>
                <a:cs typeface="Times New Roman" panose="02020603050405020304" pitchFamily="18" charset="0"/>
              </a:rPr>
              <a:t>Have you ever had any difficulty getting along with fellow students and teacher? How did you overcome the situation? </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smtClean="0"/>
          </a:p>
          <a:p>
            <a:pPr lvl="0"/>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1803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endParaRPr lang="en-GB" sz="2400" dirty="0" smtClean="0">
              <a:solidFill>
                <a:prstClr val="black"/>
              </a:solidFill>
              <a:latin typeface="Times New Roman" panose="02020603050405020304" pitchFamily="18" charset="0"/>
              <a:cs typeface="Times New Roman" panose="02020603050405020304" pitchFamily="18" charset="0"/>
            </a:endParaRPr>
          </a:p>
          <a:p>
            <a:pPr lvl="0"/>
            <a:r>
              <a:rPr lang="en-GB" sz="2400" dirty="0" smtClean="0">
                <a:solidFill>
                  <a:prstClr val="black"/>
                </a:solidFill>
                <a:latin typeface="Times New Roman" panose="02020603050405020304" pitchFamily="18" charset="0"/>
                <a:cs typeface="Times New Roman" panose="02020603050405020304" pitchFamily="18" charset="0"/>
              </a:rPr>
              <a:t>What </a:t>
            </a:r>
            <a:r>
              <a:rPr lang="en-GB" sz="2400" dirty="0">
                <a:solidFill>
                  <a:prstClr val="black"/>
                </a:solidFill>
                <a:latin typeface="Times New Roman" panose="02020603050405020304" pitchFamily="18" charset="0"/>
                <a:cs typeface="Times New Roman" panose="02020603050405020304" pitchFamily="18" charset="0"/>
              </a:rPr>
              <a:t>jobs have you held? How were they obtained, and why did you leave</a:t>
            </a:r>
            <a:r>
              <a:rPr lang="en-GB" sz="2400" dirty="0" smtClean="0">
                <a:solidFill>
                  <a:prstClr val="black"/>
                </a:solidFill>
                <a:latin typeface="Times New Roman" panose="02020603050405020304" pitchFamily="18" charset="0"/>
                <a:cs typeface="Times New Roman" panose="02020603050405020304" pitchFamily="18" charset="0"/>
              </a:rPr>
              <a:t>?</a:t>
            </a:r>
          </a:p>
          <a:p>
            <a:pPr lvl="0"/>
            <a:endParaRPr lang="en-US" sz="2400" dirty="0">
              <a:solidFill>
                <a:prstClr val="black"/>
              </a:solidFill>
              <a:latin typeface="Times New Roman" panose="02020603050405020304" pitchFamily="18" charset="0"/>
              <a:cs typeface="Times New Roman" panose="02020603050405020304" pitchFamily="18" charset="0"/>
            </a:endParaRPr>
          </a:p>
          <a:p>
            <a:pPr lvl="0"/>
            <a:r>
              <a:rPr lang="en-GB" sz="2400" dirty="0">
                <a:solidFill>
                  <a:prstClr val="black"/>
                </a:solidFill>
                <a:latin typeface="Times New Roman" panose="02020603050405020304" pitchFamily="18" charset="0"/>
                <a:cs typeface="Times New Roman" panose="02020603050405020304" pitchFamily="18" charset="0"/>
              </a:rPr>
              <a:t>What jobs have you enjoyed most? Least? Why? </a:t>
            </a:r>
            <a:endParaRPr lang="en-GB" sz="2400" dirty="0" smtClean="0">
              <a:solidFill>
                <a:prstClr val="black"/>
              </a:solidFill>
              <a:latin typeface="Times New Roman" panose="02020603050405020304" pitchFamily="18" charset="0"/>
              <a:cs typeface="Times New Roman" panose="02020603050405020304" pitchFamily="18" charset="0"/>
            </a:endParaRPr>
          </a:p>
          <a:p>
            <a:pPr lvl="0"/>
            <a:endParaRPr lang="en-GB" sz="2400" dirty="0">
              <a:solidFill>
                <a:prstClr val="black"/>
              </a:solidFill>
              <a:latin typeface="Times New Roman" panose="02020603050405020304" pitchFamily="18" charset="0"/>
              <a:cs typeface="Times New Roman" panose="02020603050405020304" pitchFamily="18" charset="0"/>
            </a:endParaRPr>
          </a:p>
          <a:p>
            <a:pPr lvl="0"/>
            <a:r>
              <a:rPr lang="en-GB" sz="2400" dirty="0">
                <a:solidFill>
                  <a:prstClr val="black"/>
                </a:solidFill>
              </a:rPr>
              <a:t>Have you ever trained anyone to do a job? How</a:t>
            </a:r>
            <a:r>
              <a:rPr lang="en-GB" sz="2400" dirty="0" smtClean="0">
                <a:solidFill>
                  <a:prstClr val="black"/>
                </a:solidFill>
              </a:rPr>
              <a:t>?</a:t>
            </a:r>
          </a:p>
          <a:p>
            <a:pPr marL="0" lvl="0" indent="0">
              <a:buNone/>
            </a:pPr>
            <a:endParaRPr lang="en-GB" sz="2400" dirty="0">
              <a:solidFill>
                <a:prstClr val="black"/>
              </a:solidFill>
            </a:endParaRPr>
          </a:p>
          <a:p>
            <a:pPr lvl="0"/>
            <a:r>
              <a:rPr lang="en-GB" sz="2400" dirty="0">
                <a:solidFill>
                  <a:prstClr val="black"/>
                </a:solidFill>
              </a:rPr>
              <a:t> What do you know about our organization and why do you think you might like to work for it? </a:t>
            </a:r>
            <a:endParaRPr lang="en-US" sz="2400" dirty="0">
              <a:solidFill>
                <a:prstClr val="black"/>
              </a:solidFill>
            </a:endParaRPr>
          </a:p>
          <a:p>
            <a:endParaRPr lang="en-US" dirty="0"/>
          </a:p>
        </p:txBody>
      </p:sp>
    </p:spTree>
    <p:extLst>
      <p:ext uri="{BB962C8B-B14F-4D97-AF65-F5344CB8AC3E}">
        <p14:creationId xmlns:p14="http://schemas.microsoft.com/office/powerpoint/2010/main" val="2196990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4730159"/>
          </a:xfrm>
        </p:spPr>
        <p:txBody>
          <a:bodyPr>
            <a:noAutofit/>
          </a:bodyPr>
          <a:lstStyle/>
          <a:p>
            <a:r>
              <a:rPr lang="en-GB" sz="2000" dirty="0" smtClean="0">
                <a:latin typeface="Times New Roman" panose="02020603050405020304" pitchFamily="18" charset="0"/>
                <a:cs typeface="Times New Roman" panose="02020603050405020304" pitchFamily="18" charset="0"/>
              </a:rPr>
              <a:t>What </a:t>
            </a:r>
            <a:r>
              <a:rPr lang="en-GB" sz="2000" dirty="0">
                <a:latin typeface="Times New Roman" panose="02020603050405020304" pitchFamily="18" charset="0"/>
                <a:cs typeface="Times New Roman" panose="02020603050405020304" pitchFamily="18" charset="0"/>
              </a:rPr>
              <a:t>interests you about our product or service? </a:t>
            </a:r>
            <a:endParaRPr lang="en-US" sz="2000" dirty="0">
              <a:latin typeface="Times New Roman" panose="02020603050405020304" pitchFamily="18" charset="0"/>
              <a:cs typeface="Times New Roman" panose="02020603050405020304" pitchFamily="18" charset="0"/>
            </a:endParaRPr>
          </a:p>
          <a:p>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What salary do you expect on this job? </a:t>
            </a:r>
            <a:endParaRPr lang="en-US" sz="2000" dirty="0">
              <a:latin typeface="Times New Roman" panose="02020603050405020304" pitchFamily="18" charset="0"/>
              <a:cs typeface="Times New Roman" panose="02020603050405020304" pitchFamily="18" charset="0"/>
            </a:endParaRPr>
          </a:p>
          <a:p>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Is it an effort for you to be tolerant of persons with a background and interest different from your own? </a:t>
            </a:r>
            <a:endParaRPr lang="en-US" sz="2000" dirty="0">
              <a:latin typeface="Times New Roman" panose="02020603050405020304" pitchFamily="18" charset="0"/>
              <a:cs typeface="Times New Roman" panose="02020603050405020304" pitchFamily="18" charset="0"/>
            </a:endParaRPr>
          </a:p>
          <a:p>
            <a:r>
              <a:rPr lang="en-GB" sz="2000" dirty="0" smtClean="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What are your own special abilities? How can they help to accomplish the organizational goals?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1803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lvl="0" algn="just"/>
            <a:r>
              <a:rPr lang="en-GB" sz="2000" dirty="0">
                <a:solidFill>
                  <a:prstClr val="black"/>
                </a:solidFill>
                <a:latin typeface="Times New Roman" panose="02020603050405020304" pitchFamily="18" charset="0"/>
                <a:cs typeface="Times New Roman" panose="02020603050405020304" pitchFamily="18" charset="0"/>
              </a:rPr>
              <a:t>Which area(s) of the field interests you most? Why? </a:t>
            </a:r>
            <a:endParaRPr lang="en-GB" sz="2000" dirty="0" smtClean="0">
              <a:solidFill>
                <a:prstClr val="black"/>
              </a:solidFill>
              <a:latin typeface="Times New Roman" panose="02020603050405020304" pitchFamily="18" charset="0"/>
              <a:cs typeface="Times New Roman" panose="02020603050405020304" pitchFamily="18" charset="0"/>
            </a:endParaRPr>
          </a:p>
          <a:p>
            <a:pPr lvl="0" algn="just"/>
            <a:endParaRPr lang="en-US" sz="2000" dirty="0">
              <a:solidFill>
                <a:prstClr val="black"/>
              </a:solidFill>
              <a:latin typeface="Times New Roman" panose="02020603050405020304" pitchFamily="18" charset="0"/>
              <a:cs typeface="Times New Roman" panose="02020603050405020304" pitchFamily="18" charset="0"/>
            </a:endParaRPr>
          </a:p>
          <a:p>
            <a:pPr lvl="0" algn="just"/>
            <a:r>
              <a:rPr lang="en-GB" sz="2000" dirty="0">
                <a:solidFill>
                  <a:prstClr val="black"/>
                </a:solidFill>
                <a:latin typeface="Times New Roman" panose="02020603050405020304" pitchFamily="18" charset="0"/>
                <a:cs typeface="Times New Roman" panose="02020603050405020304" pitchFamily="18" charset="0"/>
              </a:rPr>
              <a:t> What experience related to this position have you had? </a:t>
            </a:r>
            <a:endParaRPr lang="en-GB" sz="2000" dirty="0" smtClean="0">
              <a:solidFill>
                <a:prstClr val="black"/>
              </a:solidFill>
              <a:latin typeface="Times New Roman" panose="02020603050405020304" pitchFamily="18" charset="0"/>
              <a:cs typeface="Times New Roman" panose="02020603050405020304" pitchFamily="18" charset="0"/>
            </a:endParaRPr>
          </a:p>
          <a:p>
            <a:pPr lvl="0" algn="just"/>
            <a:endParaRPr lang="en-US" sz="2000" dirty="0">
              <a:solidFill>
                <a:prstClr val="black"/>
              </a:solidFill>
              <a:latin typeface="Times New Roman" panose="02020603050405020304" pitchFamily="18" charset="0"/>
              <a:cs typeface="Times New Roman" panose="02020603050405020304" pitchFamily="18" charset="0"/>
            </a:endParaRPr>
          </a:p>
          <a:p>
            <a:pPr lvl="0" algn="just"/>
            <a:r>
              <a:rPr lang="en-GB" sz="2000" dirty="0">
                <a:solidFill>
                  <a:prstClr val="black"/>
                </a:solidFill>
                <a:latin typeface="Times New Roman" panose="02020603050405020304" pitchFamily="18" charset="0"/>
                <a:cs typeface="Times New Roman" panose="02020603050405020304" pitchFamily="18" charset="0"/>
              </a:rPr>
              <a:t> How would you summarize your overall knowledge and skills in the field? (Mention strengths and areas of special interest</a:t>
            </a:r>
            <a:r>
              <a:rPr lang="en-GB" sz="2000" dirty="0" smtClean="0">
                <a:solidFill>
                  <a:prstClr val="black"/>
                </a:solidFill>
                <a:latin typeface="Times New Roman" panose="02020603050405020304" pitchFamily="18" charset="0"/>
                <a:cs typeface="Times New Roman" panose="02020603050405020304" pitchFamily="18" charset="0"/>
              </a:rPr>
              <a:t>.)</a:t>
            </a:r>
          </a:p>
          <a:p>
            <a:pPr lvl="0" algn="just"/>
            <a:endParaRPr lang="en-US" sz="2000" dirty="0">
              <a:solidFill>
                <a:prstClr val="black"/>
              </a:solidFill>
              <a:latin typeface="Times New Roman" panose="02020603050405020304" pitchFamily="18" charset="0"/>
              <a:cs typeface="Times New Roman" panose="02020603050405020304" pitchFamily="18" charset="0"/>
            </a:endParaRPr>
          </a:p>
          <a:p>
            <a:pPr lvl="0"/>
            <a:r>
              <a:rPr lang="en-GB" sz="2000" dirty="0">
                <a:solidFill>
                  <a:prstClr val="black"/>
                </a:solidFill>
                <a:latin typeface="Times New Roman" panose="02020603050405020304" pitchFamily="18" charset="0"/>
                <a:cs typeface="Times New Roman" panose="02020603050405020304" pitchFamily="18" charset="0"/>
              </a:rPr>
              <a:t>What is your educational background? (Start from secondary to tertiary level not kindergarten) </a:t>
            </a:r>
            <a:endParaRPr lang="en-GB" sz="2000" dirty="0" smtClean="0">
              <a:solidFill>
                <a:prstClr val="black"/>
              </a:solidFill>
              <a:latin typeface="Times New Roman" panose="02020603050405020304" pitchFamily="18" charset="0"/>
              <a:cs typeface="Times New Roman" panose="02020603050405020304" pitchFamily="18" charset="0"/>
            </a:endParaRPr>
          </a:p>
          <a:p>
            <a:pPr marL="0" lvl="0" indent="0">
              <a:buNone/>
            </a:pPr>
            <a:endParaRPr lang="en-US" sz="2000" dirty="0">
              <a:solidFill>
                <a:prstClr val="black"/>
              </a:solidFill>
              <a:latin typeface="Times New Roman" panose="02020603050405020304" pitchFamily="18" charset="0"/>
              <a:cs typeface="Times New Roman" panose="02020603050405020304" pitchFamily="18" charset="0"/>
            </a:endParaRPr>
          </a:p>
          <a:p>
            <a:pPr lvl="0"/>
            <a:r>
              <a:rPr lang="en-GB" sz="2000" dirty="0">
                <a:solidFill>
                  <a:prstClr val="black"/>
                </a:solidFill>
                <a:latin typeface="Times New Roman" panose="02020603050405020304" pitchFamily="18" charset="0"/>
                <a:cs typeface="Times New Roman" panose="02020603050405020304" pitchFamily="18" charset="0"/>
              </a:rPr>
              <a:t>Which race, sex, are you most comfortable to work with?  </a:t>
            </a:r>
            <a:endParaRPr lang="en-US" sz="2000" dirty="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75677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745656"/>
          </a:xfrm>
        </p:spPr>
        <p:txBody>
          <a:bodyPr>
            <a:normAutofit/>
          </a:bodyPr>
          <a:lstStyle/>
          <a:p>
            <a:pPr algn="just">
              <a:buFont typeface="Wingdings" panose="05000000000000000000" pitchFamily="2" charset="2"/>
              <a:buChar char="q"/>
            </a:pPr>
            <a:r>
              <a:rPr lang="en-GB" sz="2600" b="1" dirty="0">
                <a:latin typeface="Times New Roman" panose="02020603050405020304" pitchFamily="18" charset="0"/>
                <a:cs typeface="Times New Roman" panose="02020603050405020304" pitchFamily="18" charset="0"/>
              </a:rPr>
              <a:t>Types job interviews</a:t>
            </a:r>
            <a:endParaRPr lang="en-US" sz="2600" dirty="0">
              <a:latin typeface="Times New Roman" panose="02020603050405020304" pitchFamily="18" charset="0"/>
              <a:cs typeface="Times New Roman" panose="02020603050405020304" pitchFamily="18" charset="0"/>
            </a:endParaRPr>
          </a:p>
          <a:p>
            <a:pPr algn="just"/>
            <a:r>
              <a:rPr lang="en-GB" sz="2600" dirty="0">
                <a:latin typeface="Times New Roman" panose="02020603050405020304" pitchFamily="18" charset="0"/>
                <a:cs typeface="Times New Roman" panose="02020603050405020304" pitchFamily="18" charset="0"/>
              </a:rPr>
              <a:t>You may experience many different types of job interviews. Understanding what could happen, and being prepared, will help you successfully navigate any interview situation.</a:t>
            </a:r>
            <a:endParaRPr lang="en-US" sz="2600" dirty="0">
              <a:latin typeface="Times New Roman" panose="02020603050405020304" pitchFamily="18" charset="0"/>
              <a:cs typeface="Times New Roman" panose="02020603050405020304" pitchFamily="18" charset="0"/>
            </a:endParaRPr>
          </a:p>
          <a:p>
            <a:pPr marL="0" indent="0" algn="just">
              <a:buNone/>
            </a:pPr>
            <a:r>
              <a:rPr lang="en-GB" sz="2600" b="1" dirty="0" smtClean="0">
                <a:latin typeface="Times New Roman" panose="02020603050405020304" pitchFamily="18" charset="0"/>
                <a:cs typeface="Times New Roman" panose="02020603050405020304" pitchFamily="18" charset="0"/>
              </a:rPr>
              <a:t>(</a:t>
            </a:r>
            <a:r>
              <a:rPr lang="en-GB" sz="2600" b="1" dirty="0">
                <a:latin typeface="Times New Roman" panose="02020603050405020304" pitchFamily="18" charset="0"/>
                <a:cs typeface="Times New Roman" panose="02020603050405020304" pitchFamily="18" charset="0"/>
              </a:rPr>
              <a:t>1</a:t>
            </a:r>
            <a:r>
              <a:rPr lang="en-GB" sz="2600" b="1" dirty="0" smtClean="0">
                <a:latin typeface="Times New Roman" panose="02020603050405020304" pitchFamily="18" charset="0"/>
                <a:cs typeface="Times New Roman" panose="02020603050405020304" pitchFamily="18" charset="0"/>
              </a:rPr>
              <a:t>)Phone </a:t>
            </a:r>
            <a:r>
              <a:rPr lang="en-GB" sz="2600" b="1" dirty="0" smtClean="0">
                <a:latin typeface="Times New Roman" panose="02020603050405020304" pitchFamily="18" charset="0"/>
                <a:cs typeface="Times New Roman" panose="02020603050405020304" pitchFamily="18" charset="0"/>
              </a:rPr>
              <a:t>Interview</a:t>
            </a:r>
            <a:r>
              <a:rPr lang="en-GB" sz="2600" dirty="0">
                <a:solidFill>
                  <a:prstClr val="black"/>
                </a:solidFill>
                <a:latin typeface="Times New Roman" panose="02020603050405020304" pitchFamily="18" charset="0"/>
                <a:cs typeface="Times New Roman" panose="02020603050405020304" pitchFamily="18" charset="0"/>
              </a:rPr>
              <a:t> The phone interview is a screening device meant to eliminate candidates and narrow the pool of applicants for personal interviews. It is useful to have notes nearby.</a:t>
            </a:r>
            <a:endParaRPr lang="en-GB" sz="2600" b="1" dirty="0" smtClean="0">
              <a:latin typeface="Times New Roman" panose="02020603050405020304" pitchFamily="18" charset="0"/>
              <a:cs typeface="Times New Roman" panose="02020603050405020304" pitchFamily="18" charset="0"/>
            </a:endParaRPr>
          </a:p>
          <a:p>
            <a:pPr marL="0" indent="0" algn="just">
              <a:buNone/>
            </a:pPr>
            <a:r>
              <a:rPr lang="en-GB" sz="2600" b="1" dirty="0">
                <a:latin typeface="Times New Roman" panose="02020603050405020304" pitchFamily="18" charset="0"/>
                <a:cs typeface="Times New Roman" panose="02020603050405020304" pitchFamily="18" charset="0"/>
              </a:rPr>
              <a:t> </a:t>
            </a:r>
            <a:r>
              <a:rPr lang="en-GB" sz="2600" b="1" dirty="0" smtClean="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475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5"/>
            <a:ext cx="10515600" cy="4745656"/>
          </a:xfrm>
        </p:spPr>
        <p:txBody>
          <a:bodyPr>
            <a:normAutofit/>
          </a:bodyPr>
          <a:lstStyle/>
          <a:p>
            <a:pPr algn="just"/>
            <a:r>
              <a:rPr lang="en-GB" sz="2600" dirty="0" smtClean="0">
                <a:latin typeface="Times New Roman" panose="02020603050405020304" pitchFamily="18" charset="0"/>
                <a:cs typeface="Times New Roman" panose="02020603050405020304" pitchFamily="18" charset="0"/>
              </a:rPr>
              <a:t>You </a:t>
            </a:r>
            <a:r>
              <a:rPr lang="en-GB" sz="2600" dirty="0">
                <a:latin typeface="Times New Roman" panose="02020603050405020304" pitchFamily="18" charset="0"/>
                <a:cs typeface="Times New Roman" panose="02020603050405020304" pitchFamily="18" charset="0"/>
              </a:rPr>
              <a:t>will sound more prepared if you don't have to search for information. Make sure you also have paper and a pen so that you can take notes and write down any questions you might have. Be prepared to think on your feet. </a:t>
            </a:r>
            <a:endParaRPr lang="en-GB" sz="2600" dirty="0" smtClean="0">
              <a:latin typeface="Times New Roman" panose="02020603050405020304" pitchFamily="18" charset="0"/>
              <a:cs typeface="Times New Roman" panose="02020603050405020304" pitchFamily="18" charset="0"/>
            </a:endParaRPr>
          </a:p>
          <a:p>
            <a:pPr algn="just"/>
            <a:r>
              <a:rPr lang="en-GB" sz="2600" dirty="0" smtClean="0">
                <a:latin typeface="Times New Roman" panose="02020603050405020304" pitchFamily="18" charset="0"/>
                <a:cs typeface="Times New Roman" panose="02020603050405020304" pitchFamily="18" charset="0"/>
              </a:rPr>
              <a:t>Pauses </a:t>
            </a:r>
            <a:r>
              <a:rPr lang="en-GB" sz="2600" dirty="0">
                <a:latin typeface="Times New Roman" panose="02020603050405020304" pitchFamily="18" charset="0"/>
                <a:cs typeface="Times New Roman" panose="02020603050405020304" pitchFamily="18" charset="0"/>
              </a:rPr>
              <a:t>to think seem longer when the interviewer is not physically in your presence. Since you cannot use body language, it is important to use vocal inflections as a substitute.</a:t>
            </a:r>
            <a:endParaRPr lang="en-US" sz="26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41475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Autofit/>
          </a:bodyPr>
          <a:lstStyle/>
          <a:p>
            <a:pPr marL="0" indent="0" algn="just">
              <a:buNone/>
            </a:pPr>
            <a:r>
              <a:rPr lang="en-GB" sz="2400" b="1" dirty="0" smtClean="0">
                <a:latin typeface="Times New Roman" panose="02020603050405020304" pitchFamily="18" charset="0"/>
                <a:cs typeface="Times New Roman" panose="02020603050405020304" pitchFamily="18" charset="0"/>
              </a:rPr>
              <a:t>(2)One-to-One </a:t>
            </a:r>
            <a:r>
              <a:rPr lang="en-GB" sz="2400" b="1" dirty="0">
                <a:latin typeface="Times New Roman" panose="02020603050405020304" pitchFamily="18" charset="0"/>
                <a:cs typeface="Times New Roman" panose="02020603050405020304" pitchFamily="18" charset="0"/>
              </a:rPr>
              <a:t>Interview</a:t>
            </a:r>
            <a:endParaRPr lang="en-US" sz="24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In a one-to-one interview session, one interviewer is speaking with one candidate. This is the most common type of interview. It has already been established that you have the skills and education necessary for the position. </a:t>
            </a:r>
            <a:endParaRPr lang="en-GB" sz="2400" dirty="0" smtClean="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The </a:t>
            </a:r>
            <a:r>
              <a:rPr lang="en-GB" sz="2400" dirty="0">
                <a:latin typeface="Times New Roman" panose="02020603050405020304" pitchFamily="18" charset="0"/>
                <a:cs typeface="Times New Roman" panose="02020603050405020304" pitchFamily="18" charset="0"/>
              </a:rPr>
              <a:t>interviewer wants to see if you will fit in with the company and how your skills will complement the rest of the department or unit. Your goal in a one-to-one interview is to establish rapport with the interviewer and show how your qualifications will benefit the company</a:t>
            </a:r>
            <a:r>
              <a:rPr lang="en-GB"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3152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Autofit/>
          </a:bodyPr>
          <a:lstStyle/>
          <a:p>
            <a:pPr marL="0" indent="0" algn="just">
              <a:buNone/>
            </a:pPr>
            <a:r>
              <a:rPr lang="en-GB" sz="2400" b="1" dirty="0" smtClean="0">
                <a:latin typeface="Times New Roman" panose="02020603050405020304" pitchFamily="18" charset="0"/>
                <a:cs typeface="Times New Roman" panose="02020603050405020304" pitchFamily="18" charset="0"/>
              </a:rPr>
              <a:t>(3)Behavioural </a:t>
            </a:r>
            <a:r>
              <a:rPr lang="en-GB" sz="2400" b="1" dirty="0">
                <a:latin typeface="Times New Roman" panose="02020603050405020304" pitchFamily="18" charset="0"/>
                <a:cs typeface="Times New Roman" panose="02020603050405020304" pitchFamily="18" charset="0"/>
              </a:rPr>
              <a:t>Interview</a:t>
            </a:r>
            <a:endParaRPr lang="en-US" sz="24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A behavioural interview is designed to provide the employer with another glimpse of your abilities. Sometimes you can fudge your way through an interview; this is more difficult to do in a behavioural interview situation. </a:t>
            </a:r>
            <a:endParaRPr lang="en-GB" sz="2400" dirty="0" smtClean="0">
              <a:latin typeface="Times New Roman" panose="02020603050405020304" pitchFamily="18" charset="0"/>
              <a:cs typeface="Times New Roman" panose="02020603050405020304" pitchFamily="18" charset="0"/>
            </a:endParaRPr>
          </a:p>
          <a:p>
            <a:pPr algn="just"/>
            <a:r>
              <a:rPr lang="en-GB" sz="2400" dirty="0" smtClean="0">
                <a:latin typeface="Times New Roman" panose="02020603050405020304" pitchFamily="18" charset="0"/>
                <a:cs typeface="Times New Roman" panose="02020603050405020304" pitchFamily="18" charset="0"/>
              </a:rPr>
              <a:t>Here</a:t>
            </a:r>
            <a:r>
              <a:rPr lang="en-GB" sz="2400" dirty="0">
                <a:latin typeface="Times New Roman" panose="02020603050405020304" pitchFamily="18" charset="0"/>
                <a:cs typeface="Times New Roman" panose="02020603050405020304" pitchFamily="18" charset="0"/>
              </a:rPr>
              <a:t>, employers are asking for specific examples of how you did things, or handled certain situations. The thought process behind these questions is, past performance is a good predictor of future actions.</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3152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marL="0" lvl="0" indent="0" algn="just">
              <a:buNone/>
            </a:pPr>
            <a:r>
              <a:rPr lang="en-GB" sz="2400" b="1" dirty="0">
                <a:solidFill>
                  <a:prstClr val="black"/>
                </a:solidFill>
                <a:latin typeface="Times New Roman" panose="02020603050405020304" pitchFamily="18" charset="0"/>
                <a:cs typeface="Times New Roman" panose="02020603050405020304" pitchFamily="18" charset="0"/>
              </a:rPr>
              <a:t>4)Committee Interview</a:t>
            </a:r>
            <a:endParaRPr lang="en-US" sz="2400" dirty="0">
              <a:solidFill>
                <a:prstClr val="black"/>
              </a:solidFill>
              <a:latin typeface="Times New Roman" panose="02020603050405020304" pitchFamily="18" charset="0"/>
              <a:cs typeface="Times New Roman" panose="02020603050405020304" pitchFamily="18" charset="0"/>
            </a:endParaRPr>
          </a:p>
          <a:p>
            <a:pPr lvl="0" algn="just"/>
            <a:r>
              <a:rPr lang="en-GB" sz="2400" dirty="0">
                <a:solidFill>
                  <a:prstClr val="black"/>
                </a:solidFill>
                <a:latin typeface="Times New Roman" panose="02020603050405020304" pitchFamily="18" charset="0"/>
                <a:cs typeface="Times New Roman" panose="02020603050405020304" pitchFamily="18" charset="0"/>
              </a:rPr>
              <a:t>In a committee interview you will face several members of the organization who will be actively involved in the hiring decision. When answering questions from several people, speak directly to the person asking the question. </a:t>
            </a:r>
            <a:endParaRPr lang="en-GB" sz="2400" dirty="0" smtClean="0">
              <a:solidFill>
                <a:prstClr val="black"/>
              </a:solidFill>
              <a:latin typeface="Times New Roman" panose="02020603050405020304" pitchFamily="18" charset="0"/>
              <a:cs typeface="Times New Roman" panose="02020603050405020304" pitchFamily="18" charset="0"/>
            </a:endParaRPr>
          </a:p>
          <a:p>
            <a:pPr lvl="0" algn="just"/>
            <a:r>
              <a:rPr lang="en-GB" sz="2400" dirty="0" smtClean="0">
                <a:solidFill>
                  <a:prstClr val="black"/>
                </a:solidFill>
                <a:latin typeface="Times New Roman" panose="02020603050405020304" pitchFamily="18" charset="0"/>
                <a:cs typeface="Times New Roman" panose="02020603050405020304" pitchFamily="18" charset="0"/>
              </a:rPr>
              <a:t>It </a:t>
            </a:r>
            <a:r>
              <a:rPr lang="en-GB" sz="2400" dirty="0">
                <a:solidFill>
                  <a:prstClr val="black"/>
                </a:solidFill>
                <a:latin typeface="Times New Roman" panose="02020603050405020304" pitchFamily="18" charset="0"/>
                <a:cs typeface="Times New Roman" panose="02020603050405020304" pitchFamily="18" charset="0"/>
              </a:rPr>
              <a:t>is not always necessary to answer to the entire group. In some committee interviews, you may be asked to demonstrate your problem-solving skills.</a:t>
            </a:r>
            <a:endParaRPr lang="en-US" sz="2400" dirty="0">
              <a:solidFill>
                <a:prstClr val="black"/>
              </a:solidFill>
              <a:latin typeface="Times New Roman" panose="02020603050405020304" pitchFamily="18" charset="0"/>
              <a:cs typeface="Times New Roman" panose="02020603050405020304" pitchFamily="18" charset="0"/>
            </a:endParaRPr>
          </a:p>
          <a:p>
            <a:pPr lvl="0" algn="just"/>
            <a:endParaRPr lang="en-US" sz="2400" dirty="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55063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algn="just"/>
            <a:r>
              <a:rPr lang="en-GB" sz="2400" dirty="0" smtClean="0">
                <a:latin typeface="Times New Roman" panose="02020603050405020304" pitchFamily="18" charset="0"/>
                <a:cs typeface="Times New Roman" panose="02020603050405020304" pitchFamily="18" charset="0"/>
              </a:rPr>
              <a:t>The committee might outline a situation and ask you to formulate a plan that deals with the problem. You need not develop the ultimate solution; the interviewers are simply evaluating how you apply your knowledge and skills to a real-life situation.</a:t>
            </a:r>
          </a:p>
          <a:p>
            <a:pPr marL="0" indent="0" algn="just">
              <a:buNone/>
            </a:pPr>
            <a:r>
              <a:rPr lang="en-GB" sz="2400" b="1" dirty="0" smtClean="0">
                <a:latin typeface="Times New Roman" panose="02020603050405020304" pitchFamily="18" charset="0"/>
                <a:cs typeface="Times New Roman" panose="02020603050405020304" pitchFamily="18" charset="0"/>
              </a:rPr>
              <a:t>(5)Group </a:t>
            </a:r>
            <a:r>
              <a:rPr lang="en-GB" sz="2400" b="1" dirty="0">
                <a:latin typeface="Times New Roman" panose="02020603050405020304" pitchFamily="18" charset="0"/>
                <a:cs typeface="Times New Roman" panose="02020603050405020304" pitchFamily="18" charset="0"/>
              </a:rPr>
              <a:t>Interview</a:t>
            </a:r>
            <a:endParaRPr lang="en-US" sz="2400" dirty="0">
              <a:latin typeface="Times New Roman" panose="02020603050405020304" pitchFamily="18" charset="0"/>
              <a:cs typeface="Times New Roman" panose="02020603050405020304" pitchFamily="18" charset="0"/>
            </a:endParaRPr>
          </a:p>
          <a:p>
            <a:pPr algn="just"/>
            <a:r>
              <a:rPr lang="en-GB" sz="2400" dirty="0">
                <a:latin typeface="Times New Roman" panose="02020603050405020304" pitchFamily="18" charset="0"/>
                <a:cs typeface="Times New Roman" panose="02020603050405020304" pitchFamily="18" charset="0"/>
              </a:rPr>
              <a:t>The group interview is usually designed to illustrate the leadership potential of prospective managers and employees, who will be dealing with the public. Final candidates are gathered together in an informal, discussion-type interview. A subject is introduced and the interviewer will start a discussion. The goal of the group interview is to see how you interact with others and how you use your knowledge and reasoning </a:t>
            </a:r>
            <a:r>
              <a:rPr lang="en-GB" sz="2400" dirty="0" smtClean="0">
                <a:latin typeface="Times New Roman" panose="02020603050405020304" pitchFamily="18" charset="0"/>
                <a:cs typeface="Times New Roman" panose="02020603050405020304" pitchFamily="18" charset="0"/>
              </a:rPr>
              <a:t>skills.</a:t>
            </a:r>
            <a:endParaRPr lang="en-US" sz="2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49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2352</Words>
  <Application>Microsoft Office PowerPoint</Application>
  <PresentationFormat>Widescreen</PresentationFormat>
  <Paragraphs>239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Times New Roman</vt:lpstr>
      <vt:lpstr>Wingdings</vt:lpstr>
      <vt:lpstr>Office Theme</vt:lpstr>
      <vt:lpstr> SKILLS FOR JOB INTERVIEW</vt:lpstr>
      <vt:lpstr> SKILLS FOR JOB INTERVIEW</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OF JOB INTERVIEW</dc:title>
  <dc:creator>Raytoni</dc:creator>
  <cp:lastModifiedBy>Raytoni</cp:lastModifiedBy>
  <cp:revision>33</cp:revision>
  <dcterms:created xsi:type="dcterms:W3CDTF">2025-01-14T13:15:50Z</dcterms:created>
  <dcterms:modified xsi:type="dcterms:W3CDTF">2025-01-15T09:10:03Z</dcterms:modified>
</cp:coreProperties>
</file>