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57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4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D4570-71E3-ECCF-EB7F-E11F4B6DE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9ED231-FA83-C902-486D-7F1B50CB8B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8B929-B7A7-6A0D-22B6-4026549E1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B35C1-070E-4663-ACBA-4663EDEB504F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AE9A2-D52A-138E-7ED3-9BE4F6F2C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71FEE-D522-4465-9250-6BBB0614E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6A6FF-D695-45F6-976C-82622E537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589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E5462-2557-B82F-C251-4614EA66B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0D81E-2915-F710-7B97-CE6240DF3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E631B-D866-2745-5288-9AD19ACAC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B35C1-070E-4663-ACBA-4663EDEB504F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356AC-2628-3932-661A-8A6C4153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7E62B5-BCF1-C1C9-35D9-5D8DCE777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6A6FF-D695-45F6-976C-82622E537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117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63C18-E8E4-E128-8A39-C60530D0D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750C0A-976A-277B-BAFA-DB81F5FD5C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10803-5107-6945-750D-C937970C9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B35C1-070E-4663-ACBA-4663EDEB504F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F8FE1A-85DC-480A-89B6-0CA3E4DA7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E56F5-884B-C514-9ECE-6ECD63EBB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6A6FF-D695-45F6-976C-82622E537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695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126F6-5D63-43DB-4A8B-89E02A583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40283-78FA-021D-3E75-ADDEA5CF29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CADC9-59E3-DB07-84BA-CDC76D83D9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1A0EEA-C2E7-2931-83F6-2BE05A448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B35C1-070E-4663-ACBA-4663EDEB504F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9CBBA2-1215-BECE-0B48-BD0A709B7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E01DE6-8D8B-3820-DC05-C752B3007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6A6FF-D695-45F6-976C-82622E537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497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AA575-B27B-3D0A-A1C6-8B640AA14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324A3-5296-1B4F-3770-6A3FADFD1B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15986B-EA0A-C9DC-744E-829E240359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67B4A6-59BD-69CE-5E07-42C536CE4B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F68163-F4FD-BFC4-F09E-F34D56F3F0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B2C559-E39C-266F-4060-0A9E2E6C9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B35C1-070E-4663-ACBA-4663EDEB504F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9E3F94-1831-4F25-359F-95216E76F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4DD756-B50C-55A3-A1BE-A7845C014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6A6FF-D695-45F6-976C-82622E537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213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7FC0D-1385-3785-6553-DD0421CF2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33E5DC-AB76-979F-EBE0-0A762C9B6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B35C1-070E-4663-ACBA-4663EDEB504F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44ECEE-9456-45CD-799A-C78D90458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8E4040-B581-6335-0359-CA5029366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6A6FF-D695-45F6-976C-82622E537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753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89786D-9B2B-E80A-4809-34FF62449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B35C1-070E-4663-ACBA-4663EDEB504F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377692-B319-E25B-6F06-95215A17D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BF5E7F-F880-72AD-52C6-32EE92FD2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6A6FF-D695-45F6-976C-82622E537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290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581EB-45E9-C8A2-B21A-23A649901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066C4-F0D9-9FA3-90FE-84F5A5AAE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9C5BF3-5052-18F1-3296-C50B6BD09E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D8962E-DE01-493D-D85D-E5C1E9A2F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B35C1-070E-4663-ACBA-4663EDEB504F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F56BF-DF44-3931-6CB0-EA7FB1AFB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A67F92-A158-87AF-C244-3556AEB40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6A6FF-D695-45F6-976C-82622E537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492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3FA71-6755-C726-BD5B-7490FFC68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E0661B-B208-ABAF-8DF8-4D15815411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A75182-68B9-3F29-615E-5E5CBCC64C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8D5F01-F357-1C62-61CC-628AAE176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B35C1-070E-4663-ACBA-4663EDEB504F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1900EE-8E26-B993-6C1B-6E5F887B3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4EDEAA-0C05-E22F-7F26-0BB3BD09A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6A6FF-D695-45F6-976C-82622E537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648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7A501-020A-FCCE-45D2-8EC66FD2A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7EE394-9EC5-A8A5-5383-88C4378382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E1290-F0EB-2FB2-6E9A-4284F2AA7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B35C1-070E-4663-ACBA-4663EDEB504F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63996-A48F-F5B0-89F7-945437672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45341-B78E-7A8E-05F1-574C48E3B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6A6FF-D695-45F6-976C-82622E537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963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783505-EC0C-3CCA-1838-FA4B281F45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2A833B-E9DF-5FF6-74E1-773EFE9A5A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4CB19-5DF6-FCF7-9AFF-092CF53AE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B35C1-070E-4663-ACBA-4663EDEB504F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71F70-16D4-30DF-F73E-F9A1D1733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491433-A8D1-65D9-69DF-97ACA4437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6A6FF-D695-45F6-976C-82622E537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462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9F6388-45CB-6E28-EA9B-BA50C54F1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1C32F2-A6DD-27AB-C32B-212C8BC74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04C46-936A-A76C-110D-D4C128253A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6B35C1-070E-4663-ACBA-4663EDEB504F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F7E80-D9D6-49D8-5089-4BD5EA118C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E37F1-AA00-DDF3-1A30-9D76C130AD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66A6FF-D695-45F6-976C-82622E537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000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share.net/OECLIBOdishaElectron/5g-technologyppt" TargetMode="External"/><Relationship Id="rId2" Type="http://schemas.openxmlformats.org/officeDocument/2006/relationships/hyperlink" Target="http://www.google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lideshare.ne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184977C-5377-BB94-EECD-C1125A2765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5153" y="376518"/>
            <a:ext cx="11976847" cy="6481481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solidFill>
                  <a:srgbClr val="FF0000"/>
                </a:solidFill>
              </a:rPr>
              <a:t>	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MBEYA UNIVERSITY OF SCIENCE AND TECHNOLOGY</a:t>
            </a:r>
          </a:p>
          <a:p>
            <a:pPr algn="l"/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b="1" dirty="0">
              <a:solidFill>
                <a:srgbClr val="FF0000"/>
              </a:solidFill>
            </a:endParaRPr>
          </a:p>
          <a:p>
            <a:pPr algn="l"/>
            <a:endParaRPr lang="en-US" b="1" dirty="0">
              <a:solidFill>
                <a:srgbClr val="FF0000"/>
              </a:solidFill>
            </a:endParaRPr>
          </a:p>
          <a:p>
            <a:pPr algn="l"/>
            <a:endParaRPr lang="en-US" b="1" dirty="0">
              <a:solidFill>
                <a:srgbClr val="FF0000"/>
              </a:solidFill>
            </a:endParaRPr>
          </a:p>
          <a:p>
            <a:pPr algn="l"/>
            <a:endParaRPr lang="en-US" b="1" dirty="0">
              <a:solidFill>
                <a:srgbClr val="FF0000"/>
              </a:solidFill>
            </a:endParaRPr>
          </a:p>
          <a:p>
            <a:pPr algn="l"/>
            <a:endParaRPr lang="en-US" b="1" dirty="0">
              <a:solidFill>
                <a:srgbClr val="FF0000"/>
              </a:solidFill>
            </a:endParaRPr>
          </a:p>
          <a:p>
            <a:pPr algn="l"/>
            <a:endParaRPr lang="en-US" b="1" dirty="0">
              <a:solidFill>
                <a:srgbClr val="FF0000"/>
              </a:solidFill>
            </a:endParaRPr>
          </a:p>
          <a:p>
            <a:pPr algn="l"/>
            <a:r>
              <a:rPr lang="en-US" sz="2400" b="1" dirty="0">
                <a:solidFill>
                  <a:srgbClr val="00B050"/>
                </a:solidFill>
                <a:latin typeface="+mj-lt"/>
              </a:rPr>
              <a:t>	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COLLEGE OF INFORMATION AND COMMUNICATION TECHNOLOGY</a:t>
            </a:r>
          </a:p>
          <a:p>
            <a:pPr algn="l"/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5 GENERATION (5G)  PRESENTATION</a:t>
            </a:r>
          </a:p>
          <a:p>
            <a:pPr algn="l"/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 GROUP ASGNMENT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C5EA32-9698-9BC3-D72F-6F39AE44DA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0679" y="1021975"/>
            <a:ext cx="6250641" cy="3039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299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97C7E-4F38-20E0-1F74-DD295F208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541" y="112782"/>
            <a:ext cx="11551024" cy="674521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				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724C543-E1CC-120B-3C8D-EC3E8F5408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0685889"/>
              </p:ext>
            </p:extLst>
          </p:nvPr>
        </p:nvGraphicFramePr>
        <p:xfrm>
          <a:off x="1129553" y="689791"/>
          <a:ext cx="10394576" cy="6055427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26205">
                  <a:extLst>
                    <a:ext uri="{9D8B030D-6E8A-4147-A177-3AD203B41FA5}">
                      <a16:colId xmlns:a16="http://schemas.microsoft.com/office/drawing/2014/main" val="3174016224"/>
                    </a:ext>
                  </a:extLst>
                </a:gridCol>
                <a:gridCol w="5798729">
                  <a:extLst>
                    <a:ext uri="{9D8B030D-6E8A-4147-A177-3AD203B41FA5}">
                      <a16:colId xmlns:a16="http://schemas.microsoft.com/office/drawing/2014/main" val="4184775814"/>
                    </a:ext>
                  </a:extLst>
                </a:gridCol>
                <a:gridCol w="3469642">
                  <a:extLst>
                    <a:ext uri="{9D8B030D-6E8A-4147-A177-3AD203B41FA5}">
                      <a16:colId xmlns:a16="http://schemas.microsoft.com/office/drawing/2014/main" val="3428974403"/>
                    </a:ext>
                  </a:extLst>
                </a:gridCol>
              </a:tblGrid>
              <a:tr h="67253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GB" sz="2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b="1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GB" sz="2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b="1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NAMES</a:t>
                      </a:r>
                      <a:endParaRPr lang="en-US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GB" sz="2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b="1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REG NO</a:t>
                      </a:r>
                      <a:endParaRPr lang="en-US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35295835"/>
                  </a:ext>
                </a:extLst>
              </a:tr>
              <a:tr h="65464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GB" sz="2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01 </a:t>
                      </a:r>
                      <a:endParaRPr lang="en-US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GB" sz="2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JACKSON B ARONE</a:t>
                      </a:r>
                      <a:endParaRPr lang="en-US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GB" sz="2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21100934340015</a:t>
                      </a:r>
                      <a:endParaRPr lang="en-US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22044777"/>
                  </a:ext>
                </a:extLst>
              </a:tr>
              <a:tr h="82889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GB" sz="2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02</a:t>
                      </a:r>
                      <a:endParaRPr lang="en-US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GB" sz="2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RAMADHAN S MAYUYA</a:t>
                      </a:r>
                      <a:endParaRPr lang="en-US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GB" sz="2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21100934340016</a:t>
                      </a:r>
                      <a:endParaRPr lang="en-US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1246331"/>
                  </a:ext>
                </a:extLst>
              </a:tr>
              <a:tr h="82889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GB" sz="2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03</a:t>
                      </a:r>
                      <a:endParaRPr lang="en-US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GB" sz="2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GROLY F LALISA</a:t>
                      </a:r>
                      <a:endParaRPr lang="en-US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GB" sz="2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21100934340017</a:t>
                      </a:r>
                      <a:endParaRPr lang="en-US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33543340"/>
                  </a:ext>
                </a:extLst>
              </a:tr>
              <a:tr h="82889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GB" sz="2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04</a:t>
                      </a:r>
                      <a:endParaRPr lang="en-US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GB" sz="2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EDWIN C GERALD</a:t>
                      </a:r>
                      <a:endParaRPr lang="en-US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GB" sz="2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21100934340020</a:t>
                      </a:r>
                      <a:endParaRPr lang="en-US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12289509"/>
                  </a:ext>
                </a:extLst>
              </a:tr>
              <a:tr h="82889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GB" sz="2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05</a:t>
                      </a:r>
                      <a:endParaRPr lang="en-US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GB" sz="2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RENATUS RUKANGA</a:t>
                      </a:r>
                      <a:endParaRPr lang="en-US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GB" sz="2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21100934340023</a:t>
                      </a:r>
                      <a:endParaRPr lang="en-US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28078954"/>
                  </a:ext>
                </a:extLst>
              </a:tr>
              <a:tr h="83176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GB" sz="2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06</a:t>
                      </a:r>
                      <a:endParaRPr lang="en-US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GB" sz="2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ENOCK LUBINZA</a:t>
                      </a:r>
                      <a:endParaRPr lang="en-US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GB" sz="2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21100934340032</a:t>
                      </a:r>
                      <a:endParaRPr lang="en-US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516738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8860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E17E7-7CB1-7EE5-2E85-16F4AFDC3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14051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1212B-676E-D76E-AF34-26E6A041C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29" y="1479176"/>
            <a:ext cx="10905565" cy="5013699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5G stands for fifth generation advancement communication technology. It require high frequency range of sub 6 GHz and millimeter waves.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millimeter wave (10mm to 1mm) covering a frequency range 30GHz to 300GHz, and enabling a 20Mbps data rate.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millimeter wave band is the most effective solution to the recent surge in wireless Internet usage. These specification are capable of providing wireless word wide web (WWWW)applications.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WWWW allows a highly flexible network (flexible channel bandwidth between 5 and 20 MHz, optimally up to 40 MHz, and dynamic ad-hoc wireless network (DAWN)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5G is not about changing the existing technologies but to enhance and support them with new technologies that require very high-speed data.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309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39736-FD62-2F25-8146-C4D7F7F52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5" y="55158"/>
            <a:ext cx="10990729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INVESTIGATED IN 5G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DDDCE-3A27-CF0C-E5E8-7376E787B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01533"/>
            <a:ext cx="10753165" cy="4351338"/>
          </a:xfrm>
        </p:spPr>
        <p:txBody>
          <a:bodyPr/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Millimeter wave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a frequency range of 30 to 325 GHZ and the wavelength is from 1 to 10 millimeters hence the name.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shorter the wavelength, the shorter the transmission range. This can be overcome by using high sensitivity receiver, high transmit power and high antenna gain.</a:t>
            </a:r>
          </a:p>
        </p:txBody>
      </p:sp>
    </p:spTree>
    <p:extLst>
      <p:ext uri="{BB962C8B-B14F-4D97-AF65-F5344CB8AC3E}">
        <p14:creationId xmlns:p14="http://schemas.microsoft.com/office/powerpoint/2010/main" val="1223330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1C128-789C-B5FD-68F2-E55D35FDC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384" y="108488"/>
            <a:ext cx="10570490" cy="898902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CONT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E944E-ACB5-46CC-E508-3451612F0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008" y="1196788"/>
            <a:ext cx="10764865" cy="3638683"/>
          </a:xfrm>
        </p:spPr>
        <p:txBody>
          <a:bodyPr/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COGNITIVE RADIO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a form of wireless communication in which a transceiver can intelligently detect which communication channels are in use and which are not and instantly move into vacant channels while avoiding occupied ones.</a:t>
            </a:r>
          </a:p>
        </p:txBody>
      </p:sp>
    </p:spTree>
    <p:extLst>
      <p:ext uri="{BB962C8B-B14F-4D97-AF65-F5344CB8AC3E}">
        <p14:creationId xmlns:p14="http://schemas.microsoft.com/office/powerpoint/2010/main" val="3285748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DB9DE-1D3E-9765-7F7A-471D96CAD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CONT……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DD1B5-9A03-FC1F-3535-180FC45B3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2588"/>
            <a:ext cx="10672482" cy="400676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Visible light communication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a data communication medium which uses visible light between 400 and 800 THZ (780-375 nm).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Also, VLC is a subset of optical wireless communication technologies.</a:t>
            </a:r>
          </a:p>
        </p:txBody>
      </p:sp>
    </p:spTree>
    <p:extLst>
      <p:ext uri="{BB962C8B-B14F-4D97-AF65-F5344CB8AC3E}">
        <p14:creationId xmlns:p14="http://schemas.microsoft.com/office/powerpoint/2010/main" val="1623607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EC54C-C96A-D4CF-E9E2-3880652FB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CONT…..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D5790-F474-B695-D3BE-07E7B674A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3611"/>
            <a:ext cx="10739718" cy="3739399"/>
          </a:xfrm>
        </p:spPr>
        <p:txBody>
          <a:bodyPr/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MASIVE MIMO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Massive MIMO use a very large number of service antennas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hundred or thousand) that are operated fully coherently and adaptively.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more antennas the transmitter/receiver is equipped with the more the possible signal paths and better the performance in term of data rate and link reliability.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on the principle of Time Division Duplexing</a:t>
            </a:r>
          </a:p>
        </p:txBody>
      </p:sp>
    </p:spTree>
    <p:extLst>
      <p:ext uri="{BB962C8B-B14F-4D97-AF65-F5344CB8AC3E}">
        <p14:creationId xmlns:p14="http://schemas.microsoft.com/office/powerpoint/2010/main" val="126901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A15B9-0747-26B2-5CA6-CE8E65C41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722" y="-167725"/>
            <a:ext cx="10739034" cy="1206111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FEATURES OF 5G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C68D03-5163-1536-F197-072150A86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244" y="1546411"/>
            <a:ext cx="9923474" cy="3254189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Speed: Up to 20 Gbps peak data rates.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Latency: As low 1 millisecond.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Capacity: Support 1 million devices per square kilometer.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efficiency: Improve power usage for massive IoT.</a:t>
            </a:r>
          </a:p>
        </p:txBody>
      </p:sp>
    </p:spTree>
    <p:extLst>
      <p:ext uri="{BB962C8B-B14F-4D97-AF65-F5344CB8AC3E}">
        <p14:creationId xmlns:p14="http://schemas.microsoft.com/office/powerpoint/2010/main" val="2031181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3A17C-4CF8-C8A7-418E-0357A868C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72232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5G NETWORK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1E99F6-B517-D4A7-4ACC-445E6DEE2E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519" y="1383506"/>
            <a:ext cx="8807822" cy="4638675"/>
          </a:xfrm>
        </p:spPr>
      </p:pic>
    </p:spTree>
    <p:extLst>
      <p:ext uri="{BB962C8B-B14F-4D97-AF65-F5344CB8AC3E}">
        <p14:creationId xmlns:p14="http://schemas.microsoft.com/office/powerpoint/2010/main" val="1039130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576C9-5063-31D6-82DF-96DF51CBE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7576"/>
            <a:ext cx="10515600" cy="909876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5G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824EE-CF5D-F108-C3A7-CFC6437D3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4024" y="1653987"/>
            <a:ext cx="10327340" cy="3520133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Bandwidth of 1Gbps or higher.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information access.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Finest Quality of service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interactive multimedia, voice, streaming video, Internet and other broadband services.</a:t>
            </a:r>
          </a:p>
        </p:txBody>
      </p:sp>
    </p:spTree>
    <p:extLst>
      <p:ext uri="{BB962C8B-B14F-4D97-AF65-F5344CB8AC3E}">
        <p14:creationId xmlns:p14="http://schemas.microsoft.com/office/powerpoint/2010/main" val="2710154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0E4C5-C634-170D-8887-AF5E330D7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641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OF 5G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A0DA9-6EE1-D975-3C4F-54EDA5FEF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4364" y="1842247"/>
            <a:ext cx="9628095" cy="3762421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frequencies could be blocked by buildings and they lose intensity over long distance.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speed of this technology is claiming seem difficult to achieve (in future, it might be) because of the incompetent technological support in most parts of the world.</a:t>
            </a:r>
          </a:p>
        </p:txBody>
      </p:sp>
    </p:spTree>
    <p:extLst>
      <p:ext uri="{BB962C8B-B14F-4D97-AF65-F5344CB8AC3E}">
        <p14:creationId xmlns:p14="http://schemas.microsoft.com/office/powerpoint/2010/main" val="44761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00F6C-D014-19E9-F80E-090B4C21C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3CA27-C6BF-1B9C-DA6F-AAB345452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689" y="2057400"/>
            <a:ext cx="9636146" cy="2756647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automation.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hospitals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vehicles.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smart TVs that need a very high amount of data.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397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4C5A6-20FE-B89B-A00D-B6CD8F379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49225"/>
            <a:ext cx="10914529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ALL 5 GENERATIONS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FC7ABD-F32A-E285-8FFB-BBB698B8A2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252537"/>
            <a:ext cx="10515601" cy="5336522"/>
          </a:xfrm>
        </p:spPr>
      </p:pic>
    </p:spTree>
    <p:extLst>
      <p:ext uri="{BB962C8B-B14F-4D97-AF65-F5344CB8AC3E}">
        <p14:creationId xmlns:p14="http://schemas.microsoft.com/office/powerpoint/2010/main" val="28080846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EC389-835F-38BF-80F6-22823582F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00" y="18255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4B48B-54D3-955D-E92E-40E3E2FEF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6500" y="1613647"/>
            <a:ext cx="10515600" cy="3750516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https:/electronicsforu.ccomtechnology.trends/introduction-5g-technology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www.google.com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https://www.slideshare.net/OECLIBOdishaElectron/5g-technologyppt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https://www.slideshare.net/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danielgeorge17/5g-ppt-new-31950466</a:t>
            </a:r>
          </a:p>
        </p:txBody>
      </p:sp>
    </p:spTree>
    <p:extLst>
      <p:ext uri="{BB962C8B-B14F-4D97-AF65-F5344CB8AC3E}">
        <p14:creationId xmlns:p14="http://schemas.microsoft.com/office/powerpoint/2010/main" val="4038067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592</Words>
  <Application>Microsoft Office PowerPoint</Application>
  <PresentationFormat>Widescreen</PresentationFormat>
  <Paragraphs>101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INTRODUCTION</vt:lpstr>
      <vt:lpstr>TECHNOLOGIES INVESTIGATED IN 5G</vt:lpstr>
      <vt:lpstr>TECHNOLOGIES CONT ………</vt:lpstr>
      <vt:lpstr>TECHNOLOGIES CONT……</vt:lpstr>
      <vt:lpstr>TECHNOLOGIES CONT…..</vt:lpstr>
      <vt:lpstr> FEATURES OF 5G</vt:lpstr>
      <vt:lpstr>5G NETWORK ARCHITECTURE</vt:lpstr>
      <vt:lpstr>ADVANTAGES OF 5G</vt:lpstr>
      <vt:lpstr>DISADVANTAGES OF 5G</vt:lpstr>
      <vt:lpstr>APPLICATIONS</vt:lpstr>
      <vt:lpstr>COMPARISON OF ALL 5 GENERATIONS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</dc:creator>
  <cp:lastModifiedBy>Jackson Arone</cp:lastModifiedBy>
  <cp:revision>14</cp:revision>
  <dcterms:created xsi:type="dcterms:W3CDTF">2025-01-15T18:01:17Z</dcterms:created>
  <dcterms:modified xsi:type="dcterms:W3CDTF">2025-01-21T08:55:40Z</dcterms:modified>
</cp:coreProperties>
</file>