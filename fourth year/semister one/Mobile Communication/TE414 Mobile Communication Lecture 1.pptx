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5" d="100"/>
          <a:sy n="45" d="100"/>
        </p:scale>
        <p:origin x="2328" y="4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FF0000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FF0000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42950" y="1585386"/>
            <a:ext cx="6076949" cy="436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82319" y="2038350"/>
            <a:ext cx="5995034" cy="2870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FF0000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133411" y="9973589"/>
            <a:ext cx="267334" cy="2273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21.png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65111" y="455423"/>
            <a:ext cx="59690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latin typeface="Calibri"/>
                <a:cs typeface="Calibri"/>
              </a:rPr>
              <a:t>6/23/20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07755" y="3015474"/>
            <a:ext cx="435229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US" sz="2400" b="1" dirty="0" smtClean="0">
                <a:latin typeface="Palatino Linotype"/>
                <a:cs typeface="Palatino Linotype"/>
              </a:rPr>
              <a:t>ET 8402</a:t>
            </a:r>
            <a:r>
              <a:rPr sz="2400" b="1" dirty="0" smtClean="0">
                <a:latin typeface="Palatino Linotype"/>
                <a:cs typeface="Palatino Linotype"/>
              </a:rPr>
              <a:t>:</a:t>
            </a:r>
            <a:r>
              <a:rPr sz="2400" b="1" spc="-15" dirty="0" smtClean="0">
                <a:latin typeface="Palatino Linotype"/>
                <a:cs typeface="Palatino Linotype"/>
              </a:rPr>
              <a:t> </a:t>
            </a:r>
            <a:r>
              <a:rPr sz="2400" b="1" dirty="0">
                <a:latin typeface="Palatino Linotype"/>
                <a:cs typeface="Palatino Linotype"/>
              </a:rPr>
              <a:t>Mobile</a:t>
            </a:r>
            <a:r>
              <a:rPr sz="2400" b="1" spc="-10" dirty="0">
                <a:latin typeface="Palatino Linotype"/>
                <a:cs typeface="Palatino Linotype"/>
              </a:rPr>
              <a:t> Communication</a:t>
            </a:r>
            <a:endParaRPr sz="2400" dirty="0">
              <a:latin typeface="Palatino Linotype"/>
              <a:cs typeface="Palatino Linotype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599" y="4635500"/>
            <a:ext cx="6096000" cy="762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33119" y="4670107"/>
            <a:ext cx="10547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005599"/>
                </a:solidFill>
                <a:latin typeface="Times New Roman"/>
                <a:cs typeface="Times New Roman"/>
              </a:rPr>
              <a:t>CoICT</a:t>
            </a:r>
            <a:r>
              <a:rPr sz="1400" b="1" spc="-25" dirty="0">
                <a:solidFill>
                  <a:srgbClr val="005599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5599"/>
                </a:solidFill>
                <a:latin typeface="Times New Roman"/>
                <a:cs typeface="Times New Roman"/>
              </a:rPr>
              <a:t>–</a:t>
            </a:r>
            <a:r>
              <a:rPr sz="1400" b="1" spc="-85" dirty="0">
                <a:solidFill>
                  <a:srgbClr val="005599"/>
                </a:solidFill>
                <a:latin typeface="Times New Roman"/>
                <a:cs typeface="Times New Roman"/>
              </a:rPr>
              <a:t> </a:t>
            </a:r>
            <a:r>
              <a:rPr sz="1400" b="1" spc="-25" dirty="0">
                <a:solidFill>
                  <a:srgbClr val="005599"/>
                </a:solidFill>
                <a:latin typeface="Times New Roman"/>
                <a:cs typeface="Times New Roman"/>
              </a:rPr>
              <a:t>ETE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42949" y="1492249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1</a:t>
            </a:fld>
            <a:endParaRPr spc="-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65111" y="455423"/>
            <a:ext cx="59690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latin typeface="Calibri"/>
                <a:cs typeface="Calibri"/>
              </a:rPr>
              <a:t>6/23/20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2319" y="4670107"/>
            <a:ext cx="10674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005599"/>
                </a:solidFill>
                <a:latin typeface="Times New Roman"/>
                <a:cs typeface="Times New Roman"/>
              </a:rPr>
              <a:t>CoICT</a:t>
            </a:r>
            <a:r>
              <a:rPr sz="1400" b="1" spc="-20" dirty="0">
                <a:solidFill>
                  <a:srgbClr val="005599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5599"/>
                </a:solidFill>
                <a:latin typeface="Times New Roman"/>
                <a:cs typeface="Times New Roman"/>
              </a:rPr>
              <a:t>–</a:t>
            </a:r>
            <a:r>
              <a:rPr sz="1400" b="1" spc="10" dirty="0">
                <a:solidFill>
                  <a:srgbClr val="005599"/>
                </a:solidFill>
                <a:latin typeface="Times New Roman"/>
                <a:cs typeface="Times New Roman"/>
              </a:rPr>
              <a:t> </a:t>
            </a:r>
            <a:r>
              <a:rPr sz="1400" b="1" spc="-25" dirty="0">
                <a:solidFill>
                  <a:srgbClr val="005599"/>
                </a:solidFill>
                <a:latin typeface="Times New Roman"/>
                <a:cs typeface="Times New Roman"/>
              </a:rPr>
              <a:t>ETE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43446" y="2061047"/>
            <a:ext cx="4401185" cy="2275840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55"/>
              </a:spcBef>
            </a:pPr>
            <a:r>
              <a:rPr sz="2000" b="1" dirty="0">
                <a:solidFill>
                  <a:srgbClr val="FF0000"/>
                </a:solidFill>
                <a:latin typeface="Palatino Linotype"/>
                <a:cs typeface="Palatino Linotype"/>
              </a:rPr>
              <a:t>Course</a:t>
            </a:r>
            <a:r>
              <a:rPr sz="2000" b="1" spc="-95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Palatino Linotype"/>
                <a:cs typeface="Palatino Linotype"/>
              </a:rPr>
              <a:t>Outline</a:t>
            </a:r>
            <a:endParaRPr sz="2000">
              <a:latin typeface="Palatino Linotype"/>
              <a:cs typeface="Palatino Linotype"/>
            </a:endParaRPr>
          </a:p>
          <a:p>
            <a:pPr marL="288290" indent="-227965">
              <a:lnSpc>
                <a:spcPts val="1910"/>
              </a:lnSpc>
              <a:spcBef>
                <a:spcPts val="840"/>
              </a:spcBef>
              <a:buFont typeface="Wingdings"/>
              <a:buChar char=""/>
              <a:tabLst>
                <a:tab pos="288290" algn="l"/>
              </a:tabLst>
            </a:pPr>
            <a:r>
              <a:rPr sz="1600" spc="45" dirty="0">
                <a:latin typeface="Cambria"/>
                <a:cs typeface="Cambria"/>
              </a:rPr>
              <a:t>Evolution</a:t>
            </a:r>
            <a:r>
              <a:rPr sz="1600" spc="-10" dirty="0">
                <a:latin typeface="Cambria"/>
                <a:cs typeface="Cambria"/>
              </a:rPr>
              <a:t> </a:t>
            </a:r>
            <a:r>
              <a:rPr sz="1600" spc="20" dirty="0">
                <a:latin typeface="Cambria"/>
                <a:cs typeface="Cambria"/>
              </a:rPr>
              <a:t>of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Mobile</a:t>
            </a:r>
            <a:r>
              <a:rPr sz="1600" spc="80" dirty="0">
                <a:latin typeface="Cambria"/>
                <a:cs typeface="Cambria"/>
              </a:rPr>
              <a:t> </a:t>
            </a:r>
            <a:r>
              <a:rPr sz="1600" spc="20" dirty="0">
                <a:latin typeface="Cambria"/>
                <a:cs typeface="Cambria"/>
              </a:rPr>
              <a:t>Communication</a:t>
            </a:r>
            <a:r>
              <a:rPr sz="1600" spc="12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Systems</a:t>
            </a:r>
            <a:endParaRPr sz="1600">
              <a:latin typeface="Cambria"/>
              <a:cs typeface="Cambria"/>
            </a:endParaRPr>
          </a:p>
          <a:p>
            <a:pPr marL="288290" indent="-227965">
              <a:lnSpc>
                <a:spcPts val="1900"/>
              </a:lnSpc>
              <a:buFont typeface="Wingdings"/>
              <a:buChar char=""/>
              <a:tabLst>
                <a:tab pos="288290" algn="l"/>
              </a:tabLst>
            </a:pPr>
            <a:r>
              <a:rPr sz="1600" spc="55" dirty="0">
                <a:latin typeface="Cambria"/>
                <a:cs typeface="Cambria"/>
              </a:rPr>
              <a:t>Cellular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Concept</a:t>
            </a:r>
            <a:r>
              <a:rPr sz="1600" spc="7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12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architecture</a:t>
            </a:r>
            <a:endParaRPr sz="1600">
              <a:latin typeface="Cambria"/>
              <a:cs typeface="Cambria"/>
            </a:endParaRPr>
          </a:p>
          <a:p>
            <a:pPr marL="288290" indent="-227965">
              <a:lnSpc>
                <a:spcPts val="1900"/>
              </a:lnSpc>
              <a:buFont typeface="Wingdings"/>
              <a:buChar char=""/>
              <a:tabLst>
                <a:tab pos="288290" algn="l"/>
              </a:tabLst>
            </a:pPr>
            <a:r>
              <a:rPr sz="1600" spc="55" dirty="0">
                <a:latin typeface="Cambria"/>
                <a:cs typeface="Cambria"/>
              </a:rPr>
              <a:t>Mobile</a:t>
            </a:r>
            <a:r>
              <a:rPr sz="1600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Cellular</a:t>
            </a:r>
            <a:r>
              <a:rPr sz="1600" spc="-7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Architectures</a:t>
            </a:r>
            <a:endParaRPr sz="1600">
              <a:latin typeface="Cambria"/>
              <a:cs typeface="Cambria"/>
            </a:endParaRPr>
          </a:p>
          <a:p>
            <a:pPr marL="288290" indent="-227965">
              <a:lnSpc>
                <a:spcPts val="1910"/>
              </a:lnSpc>
              <a:buFont typeface="Wingdings"/>
              <a:buChar char=""/>
              <a:tabLst>
                <a:tab pos="288290" algn="l"/>
              </a:tabLst>
            </a:pPr>
            <a:r>
              <a:rPr sz="1600" spc="55" dirty="0">
                <a:latin typeface="Cambria"/>
                <a:cs typeface="Cambria"/>
              </a:rPr>
              <a:t>Mobile</a:t>
            </a:r>
            <a:r>
              <a:rPr sz="1600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Radio</a:t>
            </a:r>
            <a:r>
              <a:rPr sz="1600" spc="-10" dirty="0">
                <a:latin typeface="Cambria"/>
                <a:cs typeface="Cambria"/>
              </a:rPr>
              <a:t> Propagation</a:t>
            </a:r>
            <a:endParaRPr sz="1600">
              <a:latin typeface="Cambria"/>
              <a:cs typeface="Cambria"/>
            </a:endParaRPr>
          </a:p>
          <a:p>
            <a:pPr marL="288290" indent="-227965">
              <a:lnSpc>
                <a:spcPts val="1910"/>
              </a:lnSpc>
              <a:spcBef>
                <a:spcPts val="80"/>
              </a:spcBef>
              <a:buFont typeface="Wingdings"/>
              <a:buChar char=""/>
              <a:tabLst>
                <a:tab pos="288290" algn="l"/>
              </a:tabLst>
            </a:pPr>
            <a:r>
              <a:rPr sz="1600" spc="50" dirty="0">
                <a:latin typeface="Cambria"/>
                <a:cs typeface="Cambria"/>
              </a:rPr>
              <a:t>Radio</a:t>
            </a:r>
            <a:r>
              <a:rPr sz="1600" spc="-1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Spectrum</a:t>
            </a:r>
            <a:r>
              <a:rPr sz="1600" spc="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as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</a:t>
            </a:r>
            <a:r>
              <a:rPr sz="1600" spc="6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Scarce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Resource</a:t>
            </a:r>
            <a:endParaRPr sz="1600">
              <a:latin typeface="Cambria"/>
              <a:cs typeface="Cambria"/>
            </a:endParaRPr>
          </a:p>
          <a:p>
            <a:pPr marL="288290" indent="-227965">
              <a:lnSpc>
                <a:spcPts val="1900"/>
              </a:lnSpc>
              <a:buFont typeface="Wingdings"/>
              <a:buChar char=""/>
              <a:tabLst>
                <a:tab pos="288290" algn="l"/>
              </a:tabLst>
            </a:pPr>
            <a:r>
              <a:rPr sz="1600" spc="55" dirty="0">
                <a:latin typeface="Cambria"/>
                <a:cs typeface="Cambria"/>
              </a:rPr>
              <a:t>Mobile</a:t>
            </a:r>
            <a:r>
              <a:rPr sz="1600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Radio</a:t>
            </a:r>
            <a:r>
              <a:rPr sz="1600" spc="-10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Modulation</a:t>
            </a:r>
            <a:r>
              <a:rPr sz="1600" spc="-6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Technique</a:t>
            </a:r>
            <a:endParaRPr sz="1600">
              <a:latin typeface="Cambria"/>
              <a:cs typeface="Cambria"/>
            </a:endParaRPr>
          </a:p>
          <a:p>
            <a:pPr marL="288290" indent="-227965">
              <a:lnSpc>
                <a:spcPts val="1910"/>
              </a:lnSpc>
              <a:buFont typeface="Wingdings"/>
              <a:buChar char=""/>
              <a:tabLst>
                <a:tab pos="288290" algn="l"/>
              </a:tabLst>
            </a:pPr>
            <a:r>
              <a:rPr sz="1600" spc="60" dirty="0">
                <a:latin typeface="Cambria"/>
                <a:cs typeface="Cambria"/>
              </a:rPr>
              <a:t>Multiple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Access</a:t>
            </a:r>
            <a:r>
              <a:rPr sz="1600" spc="7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Techniques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42949" y="1492249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82319" y="8937307"/>
            <a:ext cx="10674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005599"/>
                </a:solidFill>
                <a:latin typeface="Times New Roman"/>
                <a:cs typeface="Times New Roman"/>
              </a:rPr>
              <a:t>CoICT</a:t>
            </a:r>
            <a:r>
              <a:rPr sz="1400" b="1" spc="-20" dirty="0">
                <a:solidFill>
                  <a:srgbClr val="005599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5599"/>
                </a:solidFill>
                <a:latin typeface="Times New Roman"/>
                <a:cs typeface="Times New Roman"/>
              </a:rPr>
              <a:t>–</a:t>
            </a:r>
            <a:r>
              <a:rPr sz="1400" b="1" spc="10" dirty="0">
                <a:solidFill>
                  <a:srgbClr val="005599"/>
                </a:solidFill>
                <a:latin typeface="Times New Roman"/>
                <a:cs typeface="Times New Roman"/>
              </a:rPr>
              <a:t> </a:t>
            </a:r>
            <a:r>
              <a:rPr sz="1400" b="1" spc="-25" dirty="0">
                <a:solidFill>
                  <a:srgbClr val="005599"/>
                </a:solidFill>
                <a:latin typeface="Times New Roman"/>
                <a:cs typeface="Times New Roman"/>
              </a:rPr>
              <a:t>ETE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43446" y="6328247"/>
            <a:ext cx="5381625" cy="1793239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55"/>
              </a:spcBef>
            </a:pPr>
            <a:r>
              <a:rPr sz="2000" b="1" spc="-10" dirty="0">
                <a:solidFill>
                  <a:srgbClr val="FF0000"/>
                </a:solidFill>
                <a:latin typeface="Palatino Linotype"/>
                <a:cs typeface="Palatino Linotype"/>
              </a:rPr>
              <a:t>References</a:t>
            </a:r>
            <a:endParaRPr sz="2000">
              <a:latin typeface="Palatino Linotype"/>
              <a:cs typeface="Palatino Linotype"/>
            </a:endParaRPr>
          </a:p>
          <a:p>
            <a:pPr marL="288290" marR="525145" indent="-227965">
              <a:lnSpc>
                <a:spcPts val="1900"/>
              </a:lnSpc>
              <a:spcBef>
                <a:spcPts val="919"/>
              </a:spcBef>
              <a:buFont typeface="Wingdings"/>
              <a:buChar char=""/>
              <a:tabLst>
                <a:tab pos="301625" algn="l"/>
              </a:tabLst>
            </a:pPr>
            <a:r>
              <a:rPr sz="1600" spc="20" dirty="0">
                <a:latin typeface="Cambria"/>
                <a:cs typeface="Cambria"/>
              </a:rPr>
              <a:t>Theodore</a:t>
            </a:r>
            <a:r>
              <a:rPr sz="1600" spc="45" dirty="0">
                <a:latin typeface="Cambria"/>
                <a:cs typeface="Cambria"/>
              </a:rPr>
              <a:t> </a:t>
            </a:r>
            <a:r>
              <a:rPr sz="1600" spc="20" dirty="0">
                <a:latin typeface="Cambria"/>
                <a:cs typeface="Cambria"/>
              </a:rPr>
              <a:t>S.</a:t>
            </a:r>
            <a:r>
              <a:rPr sz="1600" spc="130" dirty="0">
                <a:latin typeface="Cambria"/>
                <a:cs typeface="Cambria"/>
              </a:rPr>
              <a:t> </a:t>
            </a:r>
            <a:r>
              <a:rPr sz="1600" spc="20" dirty="0">
                <a:latin typeface="Cambria"/>
                <a:cs typeface="Cambria"/>
              </a:rPr>
              <a:t>Rappaport,</a:t>
            </a:r>
            <a:r>
              <a:rPr sz="1600" spc="5" dirty="0">
                <a:latin typeface="Cambria"/>
                <a:cs typeface="Cambria"/>
              </a:rPr>
              <a:t> </a:t>
            </a:r>
            <a:r>
              <a:rPr sz="1600" spc="20" dirty="0">
                <a:latin typeface="Cambria"/>
                <a:cs typeface="Cambria"/>
              </a:rPr>
              <a:t>Wireless</a:t>
            </a:r>
            <a:r>
              <a:rPr sz="1600" spc="3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communications: 	</a:t>
            </a:r>
            <a:r>
              <a:rPr sz="1600" dirty="0">
                <a:latin typeface="Cambria"/>
                <a:cs typeface="Cambria"/>
              </a:rPr>
              <a:t>Principles</a:t>
            </a:r>
            <a:r>
              <a:rPr sz="1600" spc="5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&amp;Practice</a:t>
            </a:r>
            <a:r>
              <a:rPr sz="1600" spc="210" dirty="0">
                <a:latin typeface="Cambria"/>
                <a:cs typeface="Cambria"/>
              </a:rPr>
              <a:t> </a:t>
            </a:r>
            <a:r>
              <a:rPr sz="1600" spc="70" dirty="0">
                <a:latin typeface="Cambria"/>
                <a:cs typeface="Cambria"/>
              </a:rPr>
              <a:t>,</a:t>
            </a:r>
            <a:r>
              <a:rPr sz="1600" spc="160" dirty="0">
                <a:latin typeface="Cambria"/>
                <a:cs typeface="Cambria"/>
              </a:rPr>
              <a:t> </a:t>
            </a:r>
            <a:r>
              <a:rPr sz="1600" spc="-20" dirty="0">
                <a:latin typeface="Cambria"/>
                <a:cs typeface="Cambria"/>
              </a:rPr>
              <a:t>2002</a:t>
            </a:r>
            <a:endParaRPr sz="1600">
              <a:latin typeface="Cambria"/>
              <a:cs typeface="Cambria"/>
            </a:endParaRPr>
          </a:p>
          <a:p>
            <a:pPr marL="288290" indent="-227965">
              <a:lnSpc>
                <a:spcPts val="1830"/>
              </a:lnSpc>
              <a:buFont typeface="Wingdings"/>
              <a:buChar char=""/>
              <a:tabLst>
                <a:tab pos="288290" algn="l"/>
              </a:tabLst>
            </a:pPr>
            <a:r>
              <a:rPr sz="1600" dirty="0">
                <a:latin typeface="Cambria"/>
                <a:cs typeface="Cambria"/>
              </a:rPr>
              <a:t>Andrea</a:t>
            </a:r>
            <a:r>
              <a:rPr sz="1600" spc="434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Goldsmith,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spc="-25" dirty="0">
                <a:latin typeface="Verdana"/>
                <a:cs typeface="Verdana"/>
              </a:rPr>
              <a:t>―</a:t>
            </a:r>
            <a:r>
              <a:rPr sz="1600" spc="-25" dirty="0">
                <a:latin typeface="Cambria"/>
                <a:cs typeface="Cambria"/>
              </a:rPr>
              <a:t>Wireless</a:t>
            </a:r>
            <a:r>
              <a:rPr sz="1600" spc="1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Communications,</a:t>
            </a:r>
            <a:r>
              <a:rPr sz="1600" spc="275" dirty="0">
                <a:latin typeface="Cambria"/>
                <a:cs typeface="Cambria"/>
              </a:rPr>
              <a:t> </a:t>
            </a:r>
            <a:r>
              <a:rPr sz="1600" spc="-20" dirty="0">
                <a:latin typeface="Cambria"/>
                <a:cs typeface="Cambria"/>
              </a:rPr>
              <a:t>2005</a:t>
            </a:r>
            <a:endParaRPr sz="1600">
              <a:latin typeface="Cambria"/>
              <a:cs typeface="Cambria"/>
            </a:endParaRPr>
          </a:p>
          <a:p>
            <a:pPr marL="288290" indent="-227965">
              <a:lnSpc>
                <a:spcPts val="1910"/>
              </a:lnSpc>
              <a:buFont typeface="Wingdings"/>
              <a:buChar char=""/>
              <a:tabLst>
                <a:tab pos="288290" algn="l"/>
              </a:tabLst>
            </a:pPr>
            <a:r>
              <a:rPr sz="1600" spc="70" dirty="0">
                <a:latin typeface="Cambria"/>
                <a:cs typeface="Cambria"/>
              </a:rPr>
              <a:t>David</a:t>
            </a:r>
            <a:r>
              <a:rPr sz="1600" spc="1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Tse, </a:t>
            </a:r>
            <a:r>
              <a:rPr sz="1600" dirty="0">
                <a:latin typeface="Verdana"/>
                <a:cs typeface="Verdana"/>
              </a:rPr>
              <a:t>―</a:t>
            </a:r>
            <a:r>
              <a:rPr sz="1600" dirty="0">
                <a:latin typeface="Cambria"/>
                <a:cs typeface="Cambria"/>
              </a:rPr>
              <a:t>Fundamentals</a:t>
            </a:r>
            <a:r>
              <a:rPr sz="1600" spc="1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of</a:t>
            </a:r>
            <a:r>
              <a:rPr sz="1600" spc="8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Wireless</a:t>
            </a:r>
            <a:r>
              <a:rPr sz="1600" spc="2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Communication,</a:t>
            </a:r>
            <a:endParaRPr sz="1600">
              <a:latin typeface="Cambria"/>
              <a:cs typeface="Cambria"/>
            </a:endParaRPr>
          </a:p>
          <a:p>
            <a:pPr marL="301625">
              <a:lnSpc>
                <a:spcPct val="100000"/>
              </a:lnSpc>
              <a:spcBef>
                <a:spcPts val="80"/>
              </a:spcBef>
            </a:pPr>
            <a:r>
              <a:rPr sz="1600" spc="-10" dirty="0">
                <a:latin typeface="Cambria"/>
                <a:cs typeface="Cambria"/>
              </a:rPr>
              <a:t>2005.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42949" y="5759450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65111" y="455423"/>
            <a:ext cx="59690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latin typeface="Calibri"/>
                <a:cs typeface="Calibri"/>
              </a:rPr>
              <a:t>6/23/20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40540" rIns="0" bIns="0" rtlCol="0">
            <a:spAutoFit/>
          </a:bodyPr>
          <a:lstStyle/>
          <a:p>
            <a:pPr marL="260985">
              <a:lnSpc>
                <a:spcPct val="100000"/>
              </a:lnSpc>
              <a:spcBef>
                <a:spcPts val="100"/>
              </a:spcBef>
            </a:pPr>
            <a:r>
              <a:rPr dirty="0"/>
              <a:t>Evolution</a:t>
            </a:r>
            <a:r>
              <a:rPr spc="-55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Mobile</a:t>
            </a:r>
            <a:r>
              <a:rPr spc="-30" dirty="0"/>
              <a:t> </a:t>
            </a:r>
            <a:r>
              <a:rPr spc="-10" dirty="0"/>
              <a:t>Communication</a:t>
            </a:r>
          </a:p>
          <a:p>
            <a:pPr marL="484505" marR="228600" indent="-228600" algn="just">
              <a:lnSpc>
                <a:spcPts val="1900"/>
              </a:lnSpc>
              <a:spcBef>
                <a:spcPts val="1505"/>
              </a:spcBef>
              <a:buFont typeface="Wingdings"/>
              <a:buChar char=""/>
              <a:tabLst>
                <a:tab pos="484505" algn="l"/>
              </a:tabLst>
            </a:pPr>
            <a:r>
              <a:rPr sz="1600" b="0" spc="55" dirty="0">
                <a:solidFill>
                  <a:srgbClr val="000000"/>
                </a:solidFill>
                <a:latin typeface="Cambria"/>
                <a:cs typeface="Cambria"/>
              </a:rPr>
              <a:t>Mobile</a:t>
            </a:r>
            <a:r>
              <a:rPr sz="1600" b="0" spc="27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dirty="0">
                <a:solidFill>
                  <a:srgbClr val="000000"/>
                </a:solidFill>
                <a:latin typeface="Cambria"/>
                <a:cs typeface="Cambria"/>
              </a:rPr>
              <a:t>communication</a:t>
            </a:r>
            <a:r>
              <a:rPr sz="1600" b="0" spc="31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dirty="0">
                <a:solidFill>
                  <a:srgbClr val="000000"/>
                </a:solidFill>
                <a:latin typeface="Cambria"/>
                <a:cs typeface="Cambria"/>
              </a:rPr>
              <a:t>uses</a:t>
            </a:r>
            <a:r>
              <a:rPr sz="1600" b="0" spc="37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dirty="0">
                <a:solidFill>
                  <a:srgbClr val="000000"/>
                </a:solidFill>
                <a:latin typeface="Cambria"/>
                <a:cs typeface="Cambria"/>
              </a:rPr>
              <a:t>technology</a:t>
            </a:r>
            <a:r>
              <a:rPr sz="1600" b="0" spc="36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dirty="0">
                <a:solidFill>
                  <a:srgbClr val="000000"/>
                </a:solidFill>
                <a:latin typeface="Cambria"/>
                <a:cs typeface="Cambria"/>
              </a:rPr>
              <a:t>that</a:t>
            </a:r>
            <a:r>
              <a:rPr sz="1600" b="0" spc="32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dirty="0">
                <a:solidFill>
                  <a:srgbClr val="000000"/>
                </a:solidFill>
                <a:latin typeface="Cambria"/>
                <a:cs typeface="Cambria"/>
              </a:rPr>
              <a:t>allows</a:t>
            </a:r>
            <a:r>
              <a:rPr sz="1600" b="0" spc="37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dirty="0">
                <a:solidFill>
                  <a:srgbClr val="000000"/>
                </a:solidFill>
                <a:latin typeface="Cambria"/>
                <a:cs typeface="Cambria"/>
              </a:rPr>
              <a:t>us</a:t>
            </a:r>
            <a:r>
              <a:rPr sz="1600" b="0" spc="26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spc="-25" dirty="0">
                <a:solidFill>
                  <a:srgbClr val="000000"/>
                </a:solidFill>
                <a:latin typeface="Cambria"/>
                <a:cs typeface="Cambria"/>
              </a:rPr>
              <a:t>to </a:t>
            </a:r>
            <a:r>
              <a:rPr sz="1600" b="0" dirty="0">
                <a:solidFill>
                  <a:srgbClr val="000000"/>
                </a:solidFill>
                <a:latin typeface="Cambria"/>
                <a:cs typeface="Cambria"/>
              </a:rPr>
              <a:t>communicate</a:t>
            </a:r>
            <a:r>
              <a:rPr sz="1600" b="0" spc="110" dirty="0">
                <a:solidFill>
                  <a:srgbClr val="000000"/>
                </a:solidFill>
                <a:latin typeface="Cambria"/>
                <a:cs typeface="Cambria"/>
              </a:rPr>
              <a:t>  </a:t>
            </a:r>
            <a:r>
              <a:rPr sz="1600" b="0" dirty="0">
                <a:solidFill>
                  <a:srgbClr val="000000"/>
                </a:solidFill>
                <a:latin typeface="Cambria"/>
                <a:cs typeface="Cambria"/>
              </a:rPr>
              <a:t>with</a:t>
            </a:r>
            <a:r>
              <a:rPr sz="1600" b="0" spc="75" dirty="0">
                <a:solidFill>
                  <a:srgbClr val="000000"/>
                </a:solidFill>
                <a:latin typeface="Cambria"/>
                <a:cs typeface="Cambria"/>
              </a:rPr>
              <a:t>  </a:t>
            </a:r>
            <a:r>
              <a:rPr sz="1600" b="0" dirty="0">
                <a:solidFill>
                  <a:srgbClr val="000000"/>
                </a:solidFill>
                <a:latin typeface="Cambria"/>
                <a:cs typeface="Cambria"/>
              </a:rPr>
              <a:t>others</a:t>
            </a:r>
            <a:r>
              <a:rPr sz="1600" b="0" spc="105" dirty="0">
                <a:solidFill>
                  <a:srgbClr val="000000"/>
                </a:solidFill>
                <a:latin typeface="Cambria"/>
                <a:cs typeface="Cambria"/>
              </a:rPr>
              <a:t>  </a:t>
            </a:r>
            <a:r>
              <a:rPr sz="1600" b="0" dirty="0">
                <a:solidFill>
                  <a:srgbClr val="000000"/>
                </a:solidFill>
                <a:latin typeface="Cambria"/>
                <a:cs typeface="Cambria"/>
              </a:rPr>
              <a:t>in</a:t>
            </a:r>
            <a:r>
              <a:rPr sz="1600" b="0" spc="75" dirty="0">
                <a:solidFill>
                  <a:srgbClr val="000000"/>
                </a:solidFill>
                <a:latin typeface="Cambria"/>
                <a:cs typeface="Cambria"/>
              </a:rPr>
              <a:t>  </a:t>
            </a:r>
            <a:r>
              <a:rPr sz="1600" b="0" dirty="0">
                <a:solidFill>
                  <a:srgbClr val="000000"/>
                </a:solidFill>
                <a:latin typeface="Cambria"/>
                <a:cs typeface="Cambria"/>
              </a:rPr>
              <a:t>different</a:t>
            </a:r>
            <a:r>
              <a:rPr sz="1600" b="0" spc="80" dirty="0">
                <a:solidFill>
                  <a:srgbClr val="000000"/>
                </a:solidFill>
                <a:latin typeface="Cambria"/>
                <a:cs typeface="Cambria"/>
              </a:rPr>
              <a:t>  </a:t>
            </a:r>
            <a:r>
              <a:rPr sz="1600" b="0" dirty="0">
                <a:solidFill>
                  <a:srgbClr val="000000"/>
                </a:solidFill>
                <a:latin typeface="Cambria"/>
                <a:cs typeface="Cambria"/>
              </a:rPr>
              <a:t>locations</a:t>
            </a:r>
            <a:r>
              <a:rPr sz="1600" b="0" spc="105" dirty="0">
                <a:solidFill>
                  <a:srgbClr val="000000"/>
                </a:solidFill>
                <a:latin typeface="Cambria"/>
                <a:cs typeface="Cambria"/>
              </a:rPr>
              <a:t>  </a:t>
            </a:r>
            <a:r>
              <a:rPr sz="1600" b="0" spc="-10" dirty="0">
                <a:solidFill>
                  <a:srgbClr val="000000"/>
                </a:solidFill>
                <a:latin typeface="Cambria"/>
                <a:cs typeface="Cambria"/>
              </a:rPr>
              <a:t>without </a:t>
            </a:r>
            <a:r>
              <a:rPr sz="1600" b="0" dirty="0">
                <a:solidFill>
                  <a:srgbClr val="000000"/>
                </a:solidFill>
                <a:latin typeface="Cambria"/>
                <a:cs typeface="Cambria"/>
              </a:rPr>
              <a:t>the</a:t>
            </a:r>
            <a:r>
              <a:rPr sz="1600" b="0" spc="13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dirty="0">
                <a:solidFill>
                  <a:srgbClr val="000000"/>
                </a:solidFill>
                <a:latin typeface="Cambria"/>
                <a:cs typeface="Cambria"/>
              </a:rPr>
              <a:t>use</a:t>
            </a:r>
            <a:r>
              <a:rPr sz="1600" b="0" spc="2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dirty="0">
                <a:solidFill>
                  <a:srgbClr val="000000"/>
                </a:solidFill>
                <a:latin typeface="Cambria"/>
                <a:cs typeface="Cambria"/>
              </a:rPr>
              <a:t>of</a:t>
            </a:r>
            <a:r>
              <a:rPr sz="1600" b="0" spc="6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dirty="0">
                <a:solidFill>
                  <a:srgbClr val="000000"/>
                </a:solidFill>
                <a:latin typeface="Cambria"/>
                <a:cs typeface="Cambria"/>
              </a:rPr>
              <a:t>cables.</a:t>
            </a:r>
            <a:r>
              <a:rPr sz="1600" b="0" spc="10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dirty="0">
                <a:solidFill>
                  <a:srgbClr val="000000"/>
                </a:solidFill>
                <a:latin typeface="Cambria"/>
                <a:cs typeface="Cambria"/>
              </a:rPr>
              <a:t>It</a:t>
            </a:r>
            <a:r>
              <a:rPr sz="1600" b="0" spc="7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dirty="0">
                <a:solidFill>
                  <a:srgbClr val="000000"/>
                </a:solidFill>
                <a:latin typeface="Cambria"/>
                <a:cs typeface="Cambria"/>
              </a:rPr>
              <a:t>facilitates</a:t>
            </a:r>
            <a:r>
              <a:rPr sz="1600" b="0" spc="12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spc="-10" dirty="0">
                <a:solidFill>
                  <a:srgbClr val="ED7D31"/>
                </a:solidFill>
              </a:rPr>
              <a:t>Mobility</a:t>
            </a:r>
            <a:endParaRPr sz="1600" dirty="0">
              <a:latin typeface="Cambria"/>
              <a:cs typeface="Cambria"/>
            </a:endParaRPr>
          </a:p>
          <a:p>
            <a:pPr marL="488950" indent="-227965">
              <a:lnSpc>
                <a:spcPts val="1910"/>
              </a:lnSpc>
              <a:spcBef>
                <a:spcPts val="1160"/>
              </a:spcBef>
              <a:buFont typeface="Wingdings"/>
              <a:buChar char=""/>
              <a:tabLst>
                <a:tab pos="488950" algn="l"/>
              </a:tabLst>
            </a:pPr>
            <a:r>
              <a:rPr sz="1600" b="0" dirty="0">
                <a:solidFill>
                  <a:srgbClr val="000000"/>
                </a:solidFill>
                <a:latin typeface="Cambria"/>
                <a:cs typeface="Cambria"/>
              </a:rPr>
              <a:t>Types</a:t>
            </a:r>
            <a:r>
              <a:rPr sz="1600" b="0" spc="15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dirty="0">
                <a:solidFill>
                  <a:srgbClr val="000000"/>
                </a:solidFill>
                <a:latin typeface="Cambria"/>
                <a:cs typeface="Cambria"/>
              </a:rPr>
              <a:t>of</a:t>
            </a:r>
            <a:r>
              <a:rPr sz="1600" b="0" spc="229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dirty="0">
                <a:solidFill>
                  <a:srgbClr val="000000"/>
                </a:solidFill>
                <a:latin typeface="Cambria"/>
                <a:cs typeface="Cambria"/>
              </a:rPr>
              <a:t>mobile</a:t>
            </a:r>
            <a:r>
              <a:rPr sz="1600" b="0" spc="16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dirty="0">
                <a:solidFill>
                  <a:srgbClr val="000000"/>
                </a:solidFill>
                <a:latin typeface="Cambria"/>
                <a:cs typeface="Cambria"/>
              </a:rPr>
              <a:t>communication</a:t>
            </a:r>
            <a:r>
              <a:rPr sz="1600" b="0" spc="229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dirty="0">
                <a:solidFill>
                  <a:srgbClr val="000000"/>
                </a:solidFill>
                <a:latin typeface="Cambria"/>
                <a:cs typeface="Cambria"/>
              </a:rPr>
              <a:t>systems</a:t>
            </a:r>
            <a:r>
              <a:rPr sz="1600" b="0" spc="16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spc="-10" dirty="0">
                <a:solidFill>
                  <a:srgbClr val="000000"/>
                </a:solidFill>
                <a:latin typeface="Cambria"/>
                <a:cs typeface="Cambria"/>
              </a:rPr>
              <a:t>include:</a:t>
            </a:r>
            <a:endParaRPr sz="1600" dirty="0">
              <a:latin typeface="Cambria"/>
              <a:cs typeface="Cambria"/>
            </a:endParaRPr>
          </a:p>
          <a:p>
            <a:pPr marL="768350" lvl="1" indent="-278765">
              <a:lnSpc>
                <a:spcPts val="1900"/>
              </a:lnSpc>
              <a:buFont typeface="Wingdings"/>
              <a:buChar char=""/>
              <a:tabLst>
                <a:tab pos="768350" algn="l"/>
              </a:tabLst>
            </a:pPr>
            <a:r>
              <a:rPr sz="1600" spc="55" dirty="0">
                <a:latin typeface="Cambria"/>
                <a:cs typeface="Cambria"/>
              </a:rPr>
              <a:t>Mobile</a:t>
            </a:r>
            <a:r>
              <a:rPr sz="1600" spc="6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two-way</a:t>
            </a:r>
            <a:r>
              <a:rPr sz="1600" spc="29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radio,</a:t>
            </a:r>
            <a:r>
              <a:rPr sz="1600" spc="25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public</a:t>
            </a:r>
            <a:r>
              <a:rPr sz="1600" spc="10" dirty="0">
                <a:latin typeface="Cambria"/>
                <a:cs typeface="Cambria"/>
              </a:rPr>
              <a:t> </a:t>
            </a:r>
            <a:r>
              <a:rPr sz="1600" spc="-20" dirty="0">
                <a:latin typeface="Cambria"/>
                <a:cs typeface="Cambria"/>
              </a:rPr>
              <a:t>land</a:t>
            </a:r>
            <a:endParaRPr sz="1600" dirty="0">
              <a:latin typeface="Cambria"/>
              <a:cs typeface="Cambria"/>
            </a:endParaRPr>
          </a:p>
          <a:p>
            <a:pPr marL="768350" lvl="1" indent="-278765">
              <a:lnSpc>
                <a:spcPts val="1900"/>
              </a:lnSpc>
              <a:buFont typeface="Wingdings"/>
              <a:buChar char=""/>
              <a:tabLst>
                <a:tab pos="768350" algn="l"/>
              </a:tabLst>
            </a:pPr>
            <a:r>
              <a:rPr sz="1600" spc="55" dirty="0">
                <a:latin typeface="Cambria"/>
                <a:cs typeface="Cambria"/>
              </a:rPr>
              <a:t>Mobile</a:t>
            </a:r>
            <a:r>
              <a:rPr sz="1600" spc="-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telephone</a:t>
            </a:r>
            <a:endParaRPr sz="1600" dirty="0">
              <a:latin typeface="Cambria"/>
              <a:cs typeface="Cambria"/>
            </a:endParaRPr>
          </a:p>
          <a:p>
            <a:pPr marL="717550" lvl="1" indent="-227965">
              <a:lnSpc>
                <a:spcPts val="1910"/>
              </a:lnSpc>
              <a:buFont typeface="Wingdings"/>
              <a:buChar char=""/>
              <a:tabLst>
                <a:tab pos="717550" algn="l"/>
              </a:tabLst>
            </a:pPr>
            <a:r>
              <a:rPr sz="1600" dirty="0">
                <a:latin typeface="Cambria"/>
                <a:cs typeface="Cambria"/>
              </a:rPr>
              <a:t>Amateur</a:t>
            </a:r>
            <a:r>
              <a:rPr sz="1600" spc="130" dirty="0">
                <a:latin typeface="Cambria"/>
                <a:cs typeface="Cambria"/>
              </a:rPr>
              <a:t> </a:t>
            </a:r>
            <a:r>
              <a:rPr sz="1600" spc="75" dirty="0">
                <a:latin typeface="Cambria"/>
                <a:cs typeface="Cambria"/>
              </a:rPr>
              <a:t>(HAM)</a:t>
            </a:r>
            <a:r>
              <a:rPr sz="1600" spc="385" dirty="0">
                <a:latin typeface="Cambria"/>
                <a:cs typeface="Cambria"/>
              </a:rPr>
              <a:t> </a:t>
            </a:r>
            <a:r>
              <a:rPr sz="1600" spc="-20" dirty="0">
                <a:latin typeface="Cambria"/>
                <a:cs typeface="Cambria"/>
              </a:rPr>
              <a:t>radio</a:t>
            </a:r>
            <a:endParaRPr sz="16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330"/>
              </a:spcBef>
              <a:tabLst>
                <a:tab pos="5485765" algn="l"/>
              </a:tabLst>
            </a:pPr>
            <a:r>
              <a:rPr sz="1400" spc="-10" dirty="0">
                <a:solidFill>
                  <a:srgbClr val="005599"/>
                </a:solidFill>
                <a:latin typeface="Times New Roman"/>
                <a:cs typeface="Times New Roman"/>
              </a:rPr>
              <a:t>CoICT</a:t>
            </a:r>
            <a:r>
              <a:rPr sz="1400" spc="-20" dirty="0">
                <a:solidFill>
                  <a:srgbClr val="005599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5599"/>
                </a:solidFill>
                <a:latin typeface="Times New Roman"/>
                <a:cs typeface="Times New Roman"/>
              </a:rPr>
              <a:t>–</a:t>
            </a:r>
            <a:r>
              <a:rPr sz="1400" spc="10" dirty="0">
                <a:solidFill>
                  <a:srgbClr val="005599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005599"/>
                </a:solidFill>
                <a:latin typeface="Times New Roman"/>
                <a:cs typeface="Times New Roman"/>
              </a:rPr>
              <a:t>ETE</a:t>
            </a:r>
            <a:r>
              <a:rPr sz="1400" dirty="0">
                <a:solidFill>
                  <a:srgbClr val="005599"/>
                </a:solidFill>
                <a:latin typeface="Times New Roman"/>
                <a:cs typeface="Times New Roman"/>
              </a:rPr>
              <a:t>	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42949" y="1492249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49299" y="5852587"/>
            <a:ext cx="607060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710" algn="ctr">
              <a:lnSpc>
                <a:spcPct val="100000"/>
              </a:lnSpc>
              <a:spcBef>
                <a:spcPts val="100"/>
              </a:spcBef>
            </a:pP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University</a:t>
            </a:r>
            <a:r>
              <a:rPr sz="2700" spc="-2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7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Dar</a:t>
            </a:r>
            <a:r>
              <a:rPr sz="27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es</a:t>
            </a:r>
            <a:r>
              <a:rPr sz="2700" spc="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spc="-10" dirty="0">
                <a:solidFill>
                  <a:srgbClr val="FFFFFF"/>
                </a:solidFill>
                <a:latin typeface="Times New Roman"/>
                <a:cs typeface="Times New Roman"/>
              </a:rPr>
              <a:t>Salaam</a:t>
            </a:r>
            <a:endParaRPr sz="27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36599" y="6832600"/>
            <a:ext cx="6096000" cy="2146300"/>
            <a:chOff x="736599" y="6832600"/>
            <a:chExt cx="6096000" cy="214630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6599" y="8902700"/>
              <a:ext cx="6096000" cy="762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1399" y="6832600"/>
              <a:ext cx="1435100" cy="1727200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782319" y="6462148"/>
            <a:ext cx="5995035" cy="2713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0985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0000"/>
                </a:solidFill>
                <a:latin typeface="Palatino Linotype"/>
                <a:cs typeface="Palatino Linotype"/>
              </a:rPr>
              <a:t>Invention</a:t>
            </a:r>
            <a:r>
              <a:rPr sz="2000" b="1" spc="-40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b="1" dirty="0">
                <a:solidFill>
                  <a:srgbClr val="FF0000"/>
                </a:solidFill>
                <a:latin typeface="Palatino Linotype"/>
                <a:cs typeface="Palatino Linotype"/>
              </a:rPr>
              <a:t>of First</a:t>
            </a:r>
            <a:r>
              <a:rPr sz="2000" b="1" spc="-80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b="1" dirty="0">
                <a:solidFill>
                  <a:srgbClr val="FF0000"/>
                </a:solidFill>
                <a:latin typeface="Palatino Linotype"/>
                <a:cs typeface="Palatino Linotype"/>
              </a:rPr>
              <a:t>Mobile</a:t>
            </a:r>
            <a:r>
              <a:rPr sz="2000" b="1" spc="-15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Palatino Linotype"/>
                <a:cs typeface="Palatino Linotype"/>
              </a:rPr>
              <a:t>Phone</a:t>
            </a:r>
            <a:endParaRPr sz="2000" dirty="0">
              <a:latin typeface="Palatino Linotype"/>
              <a:cs typeface="Palatino Linotype"/>
            </a:endParaRPr>
          </a:p>
          <a:p>
            <a:pPr marL="2156460" indent="-227965">
              <a:lnSpc>
                <a:spcPts val="1910"/>
              </a:lnSpc>
              <a:spcBef>
                <a:spcPts val="1335"/>
              </a:spcBef>
              <a:buFont typeface="Wingdings"/>
              <a:buChar char=""/>
              <a:tabLst>
                <a:tab pos="2156460" algn="l"/>
              </a:tabLst>
            </a:pPr>
            <a:r>
              <a:rPr sz="1600" dirty="0">
                <a:latin typeface="Cambria"/>
                <a:cs typeface="Cambria"/>
              </a:rPr>
              <a:t>American</a:t>
            </a:r>
            <a:r>
              <a:rPr sz="1600" spc="27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engineer</a:t>
            </a:r>
            <a:r>
              <a:rPr sz="1600" spc="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at</a:t>
            </a:r>
            <a:r>
              <a:rPr sz="1600" spc="29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Motorola</a:t>
            </a:r>
            <a:endParaRPr sz="1600" dirty="0">
              <a:latin typeface="Cambria"/>
              <a:cs typeface="Cambria"/>
            </a:endParaRPr>
          </a:p>
          <a:p>
            <a:pPr marL="2156460" indent="-227965">
              <a:lnSpc>
                <a:spcPts val="1900"/>
              </a:lnSpc>
              <a:buFont typeface="Wingdings"/>
              <a:buChar char=""/>
              <a:tabLst>
                <a:tab pos="2156460" algn="l"/>
              </a:tabLst>
            </a:pPr>
            <a:r>
              <a:rPr sz="1600" dirty="0">
                <a:latin typeface="Cambria"/>
                <a:cs typeface="Cambria"/>
              </a:rPr>
              <a:t>Born</a:t>
            </a:r>
            <a:r>
              <a:rPr sz="1600" spc="4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in1928</a:t>
            </a:r>
            <a:endParaRPr sz="1600" dirty="0">
              <a:latin typeface="Cambria"/>
              <a:cs typeface="Cambria"/>
            </a:endParaRPr>
          </a:p>
          <a:p>
            <a:pPr marL="2156460" indent="-227965">
              <a:lnSpc>
                <a:spcPts val="1900"/>
              </a:lnSpc>
              <a:buFont typeface="Wingdings"/>
              <a:buChar char=""/>
              <a:tabLst>
                <a:tab pos="2156460" algn="l"/>
              </a:tabLst>
            </a:pPr>
            <a:r>
              <a:rPr sz="1600" spc="-75" dirty="0">
                <a:latin typeface="Cambria"/>
                <a:cs typeface="Cambria"/>
              </a:rPr>
              <a:t>1972–73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built</a:t>
            </a:r>
            <a:r>
              <a:rPr sz="1600" spc="-2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the</a:t>
            </a:r>
            <a:r>
              <a:rPr sz="1600" spc="15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first</a:t>
            </a:r>
            <a:r>
              <a:rPr sz="1600" spc="21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mobile</a:t>
            </a:r>
            <a:r>
              <a:rPr sz="1600" spc="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cell</a:t>
            </a:r>
            <a:r>
              <a:rPr sz="1600" spc="4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phone</a:t>
            </a:r>
            <a:endParaRPr sz="1600" dirty="0">
              <a:latin typeface="Cambria"/>
              <a:cs typeface="Cambria"/>
            </a:endParaRPr>
          </a:p>
          <a:p>
            <a:pPr marL="2156460" indent="-227965">
              <a:lnSpc>
                <a:spcPts val="1910"/>
              </a:lnSpc>
              <a:buFont typeface="Wingdings"/>
              <a:buChar char=""/>
              <a:tabLst>
                <a:tab pos="2156460" algn="l"/>
                <a:tab pos="5408295" algn="l"/>
              </a:tabLst>
            </a:pPr>
            <a:r>
              <a:rPr sz="1600" dirty="0">
                <a:latin typeface="Cambria"/>
                <a:cs typeface="Cambria"/>
              </a:rPr>
              <a:t>Initially</a:t>
            </a:r>
            <a:r>
              <a:rPr sz="1600" spc="135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developed</a:t>
            </a:r>
            <a:r>
              <a:rPr sz="1600" spc="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to</a:t>
            </a:r>
            <a:r>
              <a:rPr sz="1600" spc="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use</a:t>
            </a:r>
            <a:r>
              <a:rPr sz="1600" spc="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in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</a:t>
            </a:r>
            <a:r>
              <a:rPr sz="1600" spc="125" dirty="0">
                <a:latin typeface="Cambria"/>
                <a:cs typeface="Cambria"/>
              </a:rPr>
              <a:t> </a:t>
            </a:r>
            <a:r>
              <a:rPr sz="1600" spc="-20" dirty="0">
                <a:latin typeface="Cambria"/>
                <a:cs typeface="Cambria"/>
              </a:rPr>
              <a:t>car,</a:t>
            </a:r>
            <a:r>
              <a:rPr sz="1600" dirty="0">
                <a:latin typeface="Cambria"/>
                <a:cs typeface="Cambria"/>
              </a:rPr>
              <a:t>	</a:t>
            </a:r>
            <a:r>
              <a:rPr sz="1600" spc="-25" dirty="0">
                <a:latin typeface="Cambria"/>
                <a:cs typeface="Cambria"/>
              </a:rPr>
              <a:t>the</a:t>
            </a:r>
            <a:endParaRPr sz="1600" dirty="0">
              <a:latin typeface="Cambria"/>
              <a:cs typeface="Cambria"/>
            </a:endParaRPr>
          </a:p>
          <a:p>
            <a:pPr marL="2068195">
              <a:lnSpc>
                <a:spcPts val="1910"/>
              </a:lnSpc>
              <a:spcBef>
                <a:spcPts val="80"/>
              </a:spcBef>
            </a:pPr>
            <a:r>
              <a:rPr sz="1600" dirty="0">
                <a:latin typeface="Cambria"/>
                <a:cs typeface="Cambria"/>
              </a:rPr>
              <a:t>first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prototype</a:t>
            </a:r>
            <a:r>
              <a:rPr sz="1600" spc="16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was</a:t>
            </a:r>
            <a:r>
              <a:rPr sz="1600" spc="1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tested</a:t>
            </a:r>
            <a:r>
              <a:rPr sz="1600" spc="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in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1974.</a:t>
            </a:r>
            <a:endParaRPr sz="1600" dirty="0">
              <a:latin typeface="Cambria"/>
              <a:cs typeface="Cambria"/>
            </a:endParaRPr>
          </a:p>
          <a:p>
            <a:pPr marL="2068195" marR="433705" indent="-139700">
              <a:lnSpc>
                <a:spcPts val="1900"/>
              </a:lnSpc>
              <a:spcBef>
                <a:spcPts val="70"/>
              </a:spcBef>
              <a:buFont typeface="Wingdings"/>
              <a:buChar char=""/>
              <a:tabLst>
                <a:tab pos="2068195" algn="l"/>
                <a:tab pos="2156460" algn="l"/>
              </a:tabLst>
            </a:pPr>
            <a:r>
              <a:rPr sz="1600" spc="85" dirty="0">
                <a:latin typeface="Cambria"/>
                <a:cs typeface="Cambria"/>
              </a:rPr>
              <a:t>	He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is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widely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regarded</a:t>
            </a:r>
            <a:r>
              <a:rPr sz="1600" spc="-1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as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the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father</a:t>
            </a:r>
            <a:r>
              <a:rPr sz="1600" spc="135" dirty="0">
                <a:latin typeface="Cambria"/>
                <a:cs typeface="Cambria"/>
              </a:rPr>
              <a:t> </a:t>
            </a:r>
            <a:r>
              <a:rPr sz="1600" spc="-25" dirty="0">
                <a:latin typeface="Cambria"/>
                <a:cs typeface="Cambria"/>
              </a:rPr>
              <a:t>of </a:t>
            </a:r>
            <a:r>
              <a:rPr sz="1600" dirty="0">
                <a:latin typeface="Cambria"/>
                <a:cs typeface="Cambria"/>
              </a:rPr>
              <a:t>the</a:t>
            </a:r>
            <a:r>
              <a:rPr sz="1600" spc="20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cellular</a:t>
            </a:r>
            <a:r>
              <a:rPr sz="1600" spc="-10" dirty="0">
                <a:latin typeface="Cambria"/>
                <a:cs typeface="Cambria"/>
              </a:rPr>
              <a:t> </a:t>
            </a:r>
            <a:r>
              <a:rPr sz="1600" spc="-20" dirty="0">
                <a:latin typeface="Cambria"/>
                <a:cs typeface="Cambria"/>
              </a:rPr>
              <a:t>phone</a:t>
            </a:r>
            <a:endParaRPr sz="1600" dirty="0">
              <a:latin typeface="Cambria"/>
              <a:cs typeface="Cambria"/>
            </a:endParaRPr>
          </a:p>
          <a:p>
            <a:pPr marL="382905">
              <a:lnSpc>
                <a:spcPts val="1360"/>
              </a:lnSpc>
            </a:pPr>
            <a:r>
              <a:rPr sz="1400" dirty="0">
                <a:latin typeface="Cambria"/>
                <a:cs typeface="Cambria"/>
              </a:rPr>
              <a:t>Martin</a:t>
            </a:r>
            <a:r>
              <a:rPr sz="1400" spc="215" dirty="0">
                <a:latin typeface="Cambria"/>
                <a:cs typeface="Cambria"/>
              </a:rPr>
              <a:t> </a:t>
            </a:r>
            <a:r>
              <a:rPr sz="1400" spc="40" dirty="0">
                <a:latin typeface="Cambria"/>
                <a:cs typeface="Cambria"/>
              </a:rPr>
              <a:t>Cooper</a:t>
            </a:r>
            <a:endParaRPr sz="14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15"/>
              </a:spcBef>
              <a:tabLst>
                <a:tab pos="5485765" algn="l"/>
              </a:tabLst>
            </a:pPr>
            <a:r>
              <a:rPr sz="1400" b="1" spc="-10" dirty="0">
                <a:solidFill>
                  <a:srgbClr val="005599"/>
                </a:solidFill>
                <a:latin typeface="Times New Roman"/>
                <a:cs typeface="Times New Roman"/>
              </a:rPr>
              <a:t>CoICT</a:t>
            </a:r>
            <a:r>
              <a:rPr sz="1400" b="1" spc="-20" dirty="0">
                <a:solidFill>
                  <a:srgbClr val="005599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5599"/>
                </a:solidFill>
                <a:latin typeface="Times New Roman"/>
                <a:cs typeface="Times New Roman"/>
              </a:rPr>
              <a:t>–</a:t>
            </a:r>
            <a:r>
              <a:rPr sz="1400" b="1" spc="10" dirty="0">
                <a:solidFill>
                  <a:srgbClr val="005599"/>
                </a:solidFill>
                <a:latin typeface="Times New Roman"/>
                <a:cs typeface="Times New Roman"/>
              </a:rPr>
              <a:t> </a:t>
            </a:r>
            <a:r>
              <a:rPr sz="1400" b="1" spc="-25" dirty="0">
                <a:solidFill>
                  <a:srgbClr val="005599"/>
                </a:solidFill>
                <a:latin typeface="Times New Roman"/>
                <a:cs typeface="Times New Roman"/>
              </a:rPr>
              <a:t>ETE</a:t>
            </a:r>
            <a:r>
              <a:rPr sz="1400" b="1" dirty="0">
                <a:solidFill>
                  <a:srgbClr val="005599"/>
                </a:solidFill>
                <a:latin typeface="Times New Roman"/>
                <a:cs typeface="Times New Roman"/>
              </a:rPr>
              <a:t>	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42949" y="5759450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65111" y="455423"/>
            <a:ext cx="59690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latin typeface="Calibri"/>
                <a:cs typeface="Calibri"/>
              </a:rPr>
              <a:t>6/23/20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260985">
              <a:lnSpc>
                <a:spcPct val="100000"/>
              </a:lnSpc>
              <a:spcBef>
                <a:spcPts val="1120"/>
              </a:spcBef>
            </a:pPr>
            <a:r>
              <a:rPr dirty="0"/>
              <a:t>Evolution</a:t>
            </a:r>
            <a:r>
              <a:rPr spc="-55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Mobile</a:t>
            </a:r>
            <a:r>
              <a:rPr spc="-30" dirty="0"/>
              <a:t> </a:t>
            </a:r>
            <a:r>
              <a:rPr spc="-10" dirty="0"/>
              <a:t>Communication….</a:t>
            </a:r>
          </a:p>
          <a:p>
            <a:pPr marL="452120" marR="196215" indent="-228600">
              <a:lnSpc>
                <a:spcPts val="1900"/>
              </a:lnSpc>
              <a:spcBef>
                <a:spcPts val="900"/>
              </a:spcBef>
              <a:buFont typeface="Wingdings"/>
              <a:buChar char=""/>
              <a:tabLst>
                <a:tab pos="452120" algn="l"/>
              </a:tabLst>
            </a:pPr>
            <a:r>
              <a:rPr sz="1600" b="0" spc="55" dirty="0">
                <a:solidFill>
                  <a:srgbClr val="000000"/>
                </a:solidFill>
                <a:latin typeface="Cambria"/>
                <a:cs typeface="Cambria"/>
              </a:rPr>
              <a:t>Mobile</a:t>
            </a:r>
            <a:r>
              <a:rPr sz="1600" b="0" spc="37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dirty="0">
                <a:solidFill>
                  <a:srgbClr val="000000"/>
                </a:solidFill>
                <a:latin typeface="Cambria"/>
                <a:cs typeface="Cambria"/>
              </a:rPr>
              <a:t>wireless</a:t>
            </a:r>
            <a:r>
              <a:rPr sz="1600" b="0" spc="36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dirty="0">
                <a:solidFill>
                  <a:srgbClr val="000000"/>
                </a:solidFill>
                <a:latin typeface="Cambria"/>
                <a:cs typeface="Cambria"/>
              </a:rPr>
              <a:t>communication</a:t>
            </a:r>
            <a:r>
              <a:rPr sz="1600" b="0" spc="30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dirty="0">
                <a:solidFill>
                  <a:srgbClr val="000000"/>
                </a:solidFill>
                <a:latin typeface="Cambria"/>
                <a:cs typeface="Cambria"/>
              </a:rPr>
              <a:t>system</a:t>
            </a:r>
            <a:r>
              <a:rPr sz="1600" b="0" spc="32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dirty="0">
                <a:solidFill>
                  <a:srgbClr val="000000"/>
                </a:solidFill>
                <a:latin typeface="Cambria"/>
                <a:cs typeface="Cambria"/>
              </a:rPr>
              <a:t>has</a:t>
            </a:r>
            <a:r>
              <a:rPr sz="1600" b="0" spc="24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dirty="0">
                <a:solidFill>
                  <a:srgbClr val="000000"/>
                </a:solidFill>
                <a:latin typeface="Cambria"/>
                <a:cs typeface="Cambria"/>
              </a:rPr>
              <a:t>gone</a:t>
            </a:r>
            <a:r>
              <a:rPr sz="1600" b="0" spc="37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spc="-10" dirty="0">
                <a:solidFill>
                  <a:srgbClr val="000000"/>
                </a:solidFill>
                <a:latin typeface="Cambria"/>
                <a:cs typeface="Cambria"/>
              </a:rPr>
              <a:t>through </a:t>
            </a:r>
            <a:r>
              <a:rPr sz="1600" b="0" spc="20" dirty="0">
                <a:solidFill>
                  <a:srgbClr val="000000"/>
                </a:solidFill>
                <a:latin typeface="Cambria"/>
                <a:cs typeface="Cambria"/>
              </a:rPr>
              <a:t>several</a:t>
            </a:r>
            <a:r>
              <a:rPr sz="1600" b="0" spc="7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spc="20" dirty="0">
                <a:solidFill>
                  <a:srgbClr val="000000"/>
                </a:solidFill>
                <a:latin typeface="Cambria"/>
                <a:cs typeface="Cambria"/>
              </a:rPr>
              <a:t>evolution</a:t>
            </a:r>
            <a:r>
              <a:rPr sz="1600" b="0" spc="-10" dirty="0">
                <a:solidFill>
                  <a:srgbClr val="000000"/>
                </a:solidFill>
                <a:latin typeface="Cambria"/>
                <a:cs typeface="Cambria"/>
              </a:rPr>
              <a:t> stages</a:t>
            </a:r>
            <a:endParaRPr sz="1600" dirty="0">
              <a:latin typeface="Cambria"/>
              <a:cs typeface="Cambria"/>
            </a:endParaRPr>
          </a:p>
          <a:p>
            <a:pPr marL="452120" marR="196215" indent="-228600">
              <a:lnSpc>
                <a:spcPts val="1900"/>
              </a:lnSpc>
              <a:buFont typeface="Wingdings"/>
              <a:buChar char=""/>
              <a:tabLst>
                <a:tab pos="452120" algn="l"/>
              </a:tabLst>
            </a:pPr>
            <a:r>
              <a:rPr sz="1600" b="0" dirty="0">
                <a:solidFill>
                  <a:srgbClr val="000000"/>
                </a:solidFill>
                <a:latin typeface="Cambria"/>
                <a:cs typeface="Cambria"/>
              </a:rPr>
              <a:t>The</a:t>
            </a:r>
            <a:r>
              <a:rPr sz="1600" b="0" spc="175" dirty="0">
                <a:solidFill>
                  <a:srgbClr val="000000"/>
                </a:solidFill>
                <a:latin typeface="Cambria"/>
                <a:cs typeface="Cambria"/>
              </a:rPr>
              <a:t>  </a:t>
            </a:r>
            <a:r>
              <a:rPr sz="1600" b="0" dirty="0">
                <a:solidFill>
                  <a:srgbClr val="000000"/>
                </a:solidFill>
                <a:latin typeface="Cambria"/>
                <a:cs typeface="Cambria"/>
              </a:rPr>
              <a:t>evolution</a:t>
            </a:r>
            <a:r>
              <a:rPr sz="1600" b="0" spc="145" dirty="0">
                <a:solidFill>
                  <a:srgbClr val="000000"/>
                </a:solidFill>
                <a:latin typeface="Cambria"/>
                <a:cs typeface="Cambria"/>
              </a:rPr>
              <a:t>  </a:t>
            </a:r>
            <a:r>
              <a:rPr sz="1600" b="0" dirty="0">
                <a:solidFill>
                  <a:srgbClr val="000000"/>
                </a:solidFill>
                <a:latin typeface="Cambria"/>
                <a:cs typeface="Cambria"/>
              </a:rPr>
              <a:t>was</a:t>
            </a:r>
            <a:r>
              <a:rPr sz="1600" b="0" spc="170" dirty="0">
                <a:solidFill>
                  <a:srgbClr val="000000"/>
                </a:solidFill>
                <a:latin typeface="Cambria"/>
                <a:cs typeface="Cambria"/>
              </a:rPr>
              <a:t>  </a:t>
            </a:r>
            <a:r>
              <a:rPr sz="1600" b="0" dirty="0">
                <a:solidFill>
                  <a:srgbClr val="000000"/>
                </a:solidFill>
                <a:latin typeface="Cambria"/>
                <a:cs typeface="Cambria"/>
              </a:rPr>
              <a:t>inevitable</a:t>
            </a:r>
            <a:r>
              <a:rPr sz="1600" b="0" spc="180" dirty="0">
                <a:solidFill>
                  <a:srgbClr val="000000"/>
                </a:solidFill>
                <a:latin typeface="Cambria"/>
                <a:cs typeface="Cambria"/>
              </a:rPr>
              <a:t>  </a:t>
            </a:r>
            <a:r>
              <a:rPr sz="1600" b="0" dirty="0">
                <a:solidFill>
                  <a:srgbClr val="000000"/>
                </a:solidFill>
                <a:latin typeface="Cambria"/>
                <a:cs typeface="Cambria"/>
              </a:rPr>
              <a:t>due</a:t>
            </a:r>
            <a:r>
              <a:rPr sz="1600" b="0" spc="175" dirty="0">
                <a:solidFill>
                  <a:srgbClr val="000000"/>
                </a:solidFill>
                <a:latin typeface="Cambria"/>
                <a:cs typeface="Cambria"/>
              </a:rPr>
              <a:t>  </a:t>
            </a:r>
            <a:r>
              <a:rPr sz="1600" b="0" dirty="0">
                <a:solidFill>
                  <a:srgbClr val="000000"/>
                </a:solidFill>
                <a:latin typeface="Cambria"/>
                <a:cs typeface="Cambria"/>
              </a:rPr>
              <a:t>to</a:t>
            </a:r>
            <a:r>
              <a:rPr sz="1600" b="0" spc="175" dirty="0">
                <a:solidFill>
                  <a:srgbClr val="000000"/>
                </a:solidFill>
                <a:latin typeface="Cambria"/>
                <a:cs typeface="Cambria"/>
              </a:rPr>
              <a:t>  </a:t>
            </a:r>
            <a:r>
              <a:rPr sz="1600" b="0" dirty="0">
                <a:solidFill>
                  <a:srgbClr val="000000"/>
                </a:solidFill>
                <a:latin typeface="Cambria"/>
                <a:cs typeface="Cambria"/>
              </a:rPr>
              <a:t>huge</a:t>
            </a:r>
            <a:r>
              <a:rPr sz="1600" b="0" spc="120" dirty="0">
                <a:solidFill>
                  <a:srgbClr val="000000"/>
                </a:solidFill>
                <a:latin typeface="Cambria"/>
                <a:cs typeface="Cambria"/>
              </a:rPr>
              <a:t>  </a:t>
            </a:r>
            <a:r>
              <a:rPr sz="1600" b="0" dirty="0">
                <a:solidFill>
                  <a:srgbClr val="000000"/>
                </a:solidFill>
                <a:latin typeface="Cambria"/>
                <a:cs typeface="Cambria"/>
              </a:rPr>
              <a:t>demand</a:t>
            </a:r>
            <a:r>
              <a:rPr sz="1600" b="0" spc="175" dirty="0">
                <a:solidFill>
                  <a:srgbClr val="000000"/>
                </a:solidFill>
                <a:latin typeface="Cambria"/>
                <a:cs typeface="Cambria"/>
              </a:rPr>
              <a:t>  </a:t>
            </a:r>
            <a:r>
              <a:rPr sz="1600" b="0" spc="-25" dirty="0">
                <a:solidFill>
                  <a:srgbClr val="000000"/>
                </a:solidFill>
                <a:latin typeface="Cambria"/>
                <a:cs typeface="Cambria"/>
              </a:rPr>
              <a:t>for </a:t>
            </a:r>
            <a:r>
              <a:rPr sz="1600" b="0" spc="10" dirty="0">
                <a:solidFill>
                  <a:srgbClr val="000000"/>
                </a:solidFill>
                <a:latin typeface="Cambria"/>
                <a:cs typeface="Cambria"/>
              </a:rPr>
              <a:t>more</a:t>
            </a:r>
            <a:r>
              <a:rPr sz="1600" b="0" spc="114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spc="10" dirty="0">
                <a:solidFill>
                  <a:srgbClr val="000000"/>
                </a:solidFill>
                <a:latin typeface="Cambria"/>
                <a:cs typeface="Cambria"/>
              </a:rPr>
              <a:t>connections</a:t>
            </a:r>
            <a:r>
              <a:rPr sz="1600" b="0" spc="10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spc="10" dirty="0">
                <a:solidFill>
                  <a:srgbClr val="000000"/>
                </a:solidFill>
                <a:latin typeface="Cambria"/>
                <a:cs typeface="Cambria"/>
              </a:rPr>
              <a:t>worldwide</a:t>
            </a:r>
            <a:r>
              <a:rPr sz="1600" b="0" spc="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spc="10" dirty="0">
                <a:solidFill>
                  <a:srgbClr val="000000"/>
                </a:solidFill>
                <a:latin typeface="Cambria"/>
                <a:cs typeface="Cambria"/>
              </a:rPr>
              <a:t>and</a:t>
            </a:r>
            <a:r>
              <a:rPr sz="1600" b="0" spc="10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spc="10" dirty="0">
                <a:solidFill>
                  <a:srgbClr val="000000"/>
                </a:solidFill>
                <a:latin typeface="Cambria"/>
                <a:cs typeface="Cambria"/>
              </a:rPr>
              <a:t>better</a:t>
            </a:r>
            <a:r>
              <a:rPr sz="1600" b="0" spc="15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spc="-10" dirty="0">
                <a:solidFill>
                  <a:srgbClr val="000000"/>
                </a:solidFill>
                <a:latin typeface="Cambria"/>
                <a:cs typeface="Cambria"/>
              </a:rPr>
              <a:t>performance.</a:t>
            </a:r>
            <a:endParaRPr sz="1600" dirty="0">
              <a:latin typeface="Cambria"/>
              <a:cs typeface="Cambria"/>
            </a:endParaRPr>
          </a:p>
          <a:p>
            <a:pPr marL="452120" marR="203200" indent="-228600">
              <a:lnSpc>
                <a:spcPts val="1900"/>
              </a:lnSpc>
              <a:spcBef>
                <a:spcPts val="100"/>
              </a:spcBef>
              <a:buFont typeface="Wingdings"/>
              <a:buChar char=""/>
              <a:tabLst>
                <a:tab pos="452120" algn="l"/>
                <a:tab pos="502284" algn="l"/>
                <a:tab pos="1531620" algn="l"/>
                <a:tab pos="2319020" algn="l"/>
                <a:tab pos="3868420" algn="l"/>
                <a:tab pos="4909820" algn="l"/>
              </a:tabLst>
            </a:pPr>
            <a:r>
              <a:rPr sz="1600" b="0" dirty="0">
                <a:solidFill>
                  <a:srgbClr val="000000"/>
                </a:solidFill>
                <a:latin typeface="Cambria"/>
                <a:cs typeface="Cambria"/>
              </a:rPr>
              <a:t>	</a:t>
            </a:r>
            <a:r>
              <a:rPr sz="1600" b="0" spc="-10" dirty="0">
                <a:solidFill>
                  <a:srgbClr val="000000"/>
                </a:solidFill>
                <a:latin typeface="Cambria"/>
                <a:cs typeface="Cambria"/>
              </a:rPr>
              <a:t>Therefore</a:t>
            </a:r>
            <a:r>
              <a:rPr sz="1600" b="0" dirty="0">
                <a:solidFill>
                  <a:srgbClr val="000000"/>
                </a:solidFill>
                <a:latin typeface="Cambria"/>
                <a:cs typeface="Cambria"/>
              </a:rPr>
              <a:t>	</a:t>
            </a:r>
            <a:r>
              <a:rPr sz="1600" b="0" spc="-10" dirty="0">
                <a:solidFill>
                  <a:srgbClr val="000000"/>
                </a:solidFill>
                <a:latin typeface="Cambria"/>
                <a:cs typeface="Cambria"/>
              </a:rPr>
              <a:t>mobile</a:t>
            </a:r>
            <a:r>
              <a:rPr sz="1600" b="0" dirty="0">
                <a:solidFill>
                  <a:srgbClr val="000000"/>
                </a:solidFill>
                <a:latin typeface="Cambria"/>
                <a:cs typeface="Cambria"/>
              </a:rPr>
              <a:t>	</a:t>
            </a:r>
            <a:r>
              <a:rPr sz="1600" b="0" spc="-10" dirty="0">
                <a:solidFill>
                  <a:srgbClr val="000000"/>
                </a:solidFill>
                <a:latin typeface="Cambria"/>
                <a:cs typeface="Cambria"/>
              </a:rPr>
              <a:t>communication</a:t>
            </a:r>
            <a:r>
              <a:rPr sz="1600" b="0" dirty="0">
                <a:solidFill>
                  <a:srgbClr val="000000"/>
                </a:solidFill>
                <a:latin typeface="Cambria"/>
                <a:cs typeface="Cambria"/>
              </a:rPr>
              <a:t>	</a:t>
            </a:r>
            <a:r>
              <a:rPr sz="1600" b="0" spc="-10" dirty="0">
                <a:solidFill>
                  <a:srgbClr val="000000"/>
                </a:solidFill>
                <a:latin typeface="Cambria"/>
                <a:cs typeface="Cambria"/>
              </a:rPr>
              <a:t>standards</a:t>
            </a:r>
            <a:r>
              <a:rPr sz="1600" b="0" dirty="0">
                <a:solidFill>
                  <a:srgbClr val="000000"/>
                </a:solidFill>
                <a:latin typeface="Cambria"/>
                <a:cs typeface="Cambria"/>
              </a:rPr>
              <a:t>	</a:t>
            </a:r>
            <a:r>
              <a:rPr sz="1600" b="0" spc="-10" dirty="0">
                <a:solidFill>
                  <a:srgbClr val="000000"/>
                </a:solidFill>
                <a:latin typeface="Cambria"/>
                <a:cs typeface="Cambria"/>
              </a:rPr>
              <a:t>advanced </a:t>
            </a:r>
            <a:r>
              <a:rPr sz="1600" b="0" spc="45" dirty="0">
                <a:solidFill>
                  <a:srgbClr val="000000"/>
                </a:solidFill>
                <a:latin typeface="Cambria"/>
                <a:cs typeface="Cambria"/>
              </a:rPr>
              <a:t>rapidly</a:t>
            </a:r>
            <a:r>
              <a:rPr sz="1600" b="0" spc="-3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spc="10" dirty="0">
                <a:solidFill>
                  <a:srgbClr val="000000"/>
                </a:solidFill>
                <a:latin typeface="Cambria"/>
                <a:cs typeface="Cambria"/>
              </a:rPr>
              <a:t>to</a:t>
            </a:r>
            <a:r>
              <a:rPr sz="1600" b="0" spc="9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spc="10" dirty="0">
                <a:solidFill>
                  <a:srgbClr val="000000"/>
                </a:solidFill>
                <a:latin typeface="Cambria"/>
                <a:cs typeface="Cambria"/>
              </a:rPr>
              <a:t>support</a:t>
            </a:r>
            <a:r>
              <a:rPr sz="1600" b="0" spc="-6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spc="10" dirty="0">
                <a:solidFill>
                  <a:srgbClr val="000000"/>
                </a:solidFill>
                <a:latin typeface="Cambria"/>
                <a:cs typeface="Cambria"/>
              </a:rPr>
              <a:t>more</a:t>
            </a:r>
            <a:r>
              <a:rPr sz="1600" b="0" spc="11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spc="10" dirty="0">
                <a:solidFill>
                  <a:srgbClr val="000000"/>
                </a:solidFill>
                <a:latin typeface="Cambria"/>
                <a:cs typeface="Cambria"/>
              </a:rPr>
              <a:t>users</a:t>
            </a:r>
            <a:r>
              <a:rPr sz="1600" b="0" spc="-1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spc="10" dirty="0">
                <a:solidFill>
                  <a:srgbClr val="000000"/>
                </a:solidFill>
                <a:latin typeface="Cambria"/>
                <a:cs typeface="Cambria"/>
              </a:rPr>
              <a:t>with</a:t>
            </a:r>
            <a:r>
              <a:rPr sz="1600" b="0" spc="14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dirty="0">
                <a:solidFill>
                  <a:srgbClr val="000000"/>
                </a:solidFill>
                <a:latin typeface="Cambria"/>
                <a:cs typeface="Cambria"/>
              </a:rPr>
              <a:t>better</a:t>
            </a:r>
            <a:r>
              <a:rPr sz="1600" b="0" spc="3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spc="-10" dirty="0">
                <a:solidFill>
                  <a:srgbClr val="000000"/>
                </a:solidFill>
                <a:latin typeface="Cambria"/>
                <a:cs typeface="Cambria"/>
              </a:rPr>
              <a:t>services</a:t>
            </a:r>
            <a:endParaRPr sz="1600" dirty="0">
              <a:latin typeface="Cambria"/>
              <a:cs typeface="Cambria"/>
            </a:endParaRPr>
          </a:p>
          <a:p>
            <a:pPr marL="452120" marR="202565" indent="-228600">
              <a:lnSpc>
                <a:spcPts val="1900"/>
              </a:lnSpc>
              <a:buFont typeface="Wingdings"/>
              <a:buChar char=""/>
              <a:tabLst>
                <a:tab pos="452120" algn="l"/>
                <a:tab pos="947419" algn="l"/>
                <a:tab pos="1874520" algn="l"/>
                <a:tab pos="3081020" algn="l"/>
                <a:tab pos="3589020" algn="l"/>
                <a:tab pos="4706620" algn="l"/>
                <a:tab pos="5036820" algn="l"/>
              </a:tabLst>
            </a:pPr>
            <a:r>
              <a:rPr sz="1600" b="0" spc="-25" dirty="0">
                <a:solidFill>
                  <a:srgbClr val="000000"/>
                </a:solidFill>
                <a:latin typeface="Cambria"/>
                <a:cs typeface="Cambria"/>
              </a:rPr>
              <a:t>The</a:t>
            </a:r>
            <a:r>
              <a:rPr sz="1600" b="0" dirty="0">
                <a:solidFill>
                  <a:srgbClr val="000000"/>
                </a:solidFill>
                <a:latin typeface="Cambria"/>
                <a:cs typeface="Cambria"/>
              </a:rPr>
              <a:t>	</a:t>
            </a:r>
            <a:r>
              <a:rPr sz="1600" b="0" spc="-10" dirty="0">
                <a:solidFill>
                  <a:srgbClr val="000000"/>
                </a:solidFill>
                <a:latin typeface="Cambria"/>
                <a:cs typeface="Cambria"/>
              </a:rPr>
              <a:t>different</a:t>
            </a:r>
            <a:r>
              <a:rPr sz="1600" b="0" dirty="0">
                <a:solidFill>
                  <a:srgbClr val="000000"/>
                </a:solidFill>
                <a:latin typeface="Cambria"/>
                <a:cs typeface="Cambria"/>
              </a:rPr>
              <a:t>	</a:t>
            </a:r>
            <a:r>
              <a:rPr sz="1600" b="0" spc="-10" dirty="0">
                <a:solidFill>
                  <a:srgbClr val="000000"/>
                </a:solidFill>
                <a:latin typeface="Cambria"/>
                <a:cs typeface="Cambria"/>
              </a:rPr>
              <a:t>generations</a:t>
            </a:r>
            <a:r>
              <a:rPr sz="1600" b="0" dirty="0">
                <a:solidFill>
                  <a:srgbClr val="000000"/>
                </a:solidFill>
                <a:latin typeface="Cambria"/>
                <a:cs typeface="Cambria"/>
              </a:rPr>
              <a:t>	</a:t>
            </a:r>
            <a:r>
              <a:rPr sz="1600" b="0" spc="35" dirty="0">
                <a:solidFill>
                  <a:srgbClr val="000000"/>
                </a:solidFill>
                <a:latin typeface="Cambria"/>
                <a:cs typeface="Cambria"/>
              </a:rPr>
              <a:t>and</a:t>
            </a:r>
            <a:r>
              <a:rPr sz="1600" b="0" dirty="0">
                <a:solidFill>
                  <a:srgbClr val="000000"/>
                </a:solidFill>
                <a:latin typeface="Cambria"/>
                <a:cs typeface="Cambria"/>
              </a:rPr>
              <a:t>	</a:t>
            </a:r>
            <a:r>
              <a:rPr sz="1600" b="0" spc="-10" dirty="0">
                <a:solidFill>
                  <a:srgbClr val="000000"/>
                </a:solidFill>
                <a:latin typeface="Cambria"/>
                <a:cs typeface="Cambria"/>
              </a:rPr>
              <a:t>evolutions</a:t>
            </a:r>
            <a:r>
              <a:rPr sz="1600" b="0" dirty="0">
                <a:solidFill>
                  <a:srgbClr val="000000"/>
                </a:solidFill>
                <a:latin typeface="Cambria"/>
                <a:cs typeface="Cambria"/>
              </a:rPr>
              <a:t>	</a:t>
            </a:r>
            <a:r>
              <a:rPr sz="1600" b="0" spc="-25" dirty="0">
                <a:solidFill>
                  <a:srgbClr val="000000"/>
                </a:solidFill>
                <a:latin typeface="Cambria"/>
                <a:cs typeface="Cambria"/>
              </a:rPr>
              <a:t>in</a:t>
            </a:r>
            <a:r>
              <a:rPr sz="1600" b="0" dirty="0">
                <a:solidFill>
                  <a:srgbClr val="000000"/>
                </a:solidFill>
                <a:latin typeface="Cambria"/>
                <a:cs typeface="Cambria"/>
              </a:rPr>
              <a:t>	</a:t>
            </a:r>
            <a:r>
              <a:rPr sz="1600" b="0" spc="-10" dirty="0">
                <a:solidFill>
                  <a:srgbClr val="000000"/>
                </a:solidFill>
                <a:latin typeface="Cambria"/>
                <a:cs typeface="Cambria"/>
              </a:rPr>
              <a:t>wireless </a:t>
            </a:r>
            <a:r>
              <a:rPr sz="1600" b="0" spc="10" dirty="0">
                <a:solidFill>
                  <a:srgbClr val="000000"/>
                </a:solidFill>
                <a:latin typeface="Cambria"/>
                <a:cs typeface="Cambria"/>
              </a:rPr>
              <a:t>mobile</a:t>
            </a:r>
            <a:r>
              <a:rPr sz="1600" b="0" spc="5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spc="10" dirty="0">
                <a:solidFill>
                  <a:srgbClr val="000000"/>
                </a:solidFill>
                <a:latin typeface="Cambria"/>
                <a:cs typeface="Cambria"/>
              </a:rPr>
              <a:t>telecommunication</a:t>
            </a:r>
            <a:r>
              <a:rPr sz="1600" b="0" spc="-2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spc="10" dirty="0">
                <a:solidFill>
                  <a:srgbClr val="000000"/>
                </a:solidFill>
                <a:latin typeface="Cambria"/>
                <a:cs typeface="Cambria"/>
              </a:rPr>
              <a:t>technology</a:t>
            </a:r>
            <a:r>
              <a:rPr sz="1600" b="0" spc="16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spc="10" dirty="0">
                <a:solidFill>
                  <a:srgbClr val="000000"/>
                </a:solidFill>
                <a:latin typeface="Cambria"/>
                <a:cs typeface="Cambria"/>
              </a:rPr>
              <a:t>and</a:t>
            </a:r>
            <a:r>
              <a:rPr sz="1600" b="0" spc="17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spc="65" dirty="0">
                <a:solidFill>
                  <a:srgbClr val="000000"/>
                </a:solidFill>
                <a:latin typeface="Cambria"/>
                <a:cs typeface="Cambria"/>
              </a:rPr>
              <a:t>1G,</a:t>
            </a:r>
            <a:r>
              <a:rPr sz="1600" b="0" spc="14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spc="65" dirty="0">
                <a:solidFill>
                  <a:srgbClr val="000000"/>
                </a:solidFill>
                <a:latin typeface="Cambria"/>
                <a:cs typeface="Cambria"/>
              </a:rPr>
              <a:t>2G,</a:t>
            </a:r>
            <a:r>
              <a:rPr sz="1600" b="0" spc="14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spc="65" dirty="0">
                <a:solidFill>
                  <a:srgbClr val="000000"/>
                </a:solidFill>
                <a:latin typeface="Cambria"/>
                <a:cs typeface="Cambria"/>
              </a:rPr>
              <a:t>3G,</a:t>
            </a:r>
            <a:r>
              <a:rPr sz="1600" b="0" spc="14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spc="-25" dirty="0">
                <a:solidFill>
                  <a:srgbClr val="000000"/>
                </a:solidFill>
                <a:latin typeface="Cambria"/>
                <a:cs typeface="Cambria"/>
              </a:rPr>
              <a:t>etc</a:t>
            </a:r>
            <a:endParaRPr sz="16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890"/>
              </a:spcBef>
              <a:tabLst>
                <a:tab pos="5485765" algn="l"/>
              </a:tabLst>
            </a:pPr>
            <a:r>
              <a:rPr sz="1400" spc="-10" dirty="0">
                <a:solidFill>
                  <a:srgbClr val="005599"/>
                </a:solidFill>
                <a:latin typeface="Times New Roman"/>
                <a:cs typeface="Times New Roman"/>
              </a:rPr>
              <a:t>CoICT</a:t>
            </a:r>
            <a:r>
              <a:rPr sz="1400" spc="-20" dirty="0">
                <a:solidFill>
                  <a:srgbClr val="005599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5599"/>
                </a:solidFill>
                <a:latin typeface="Times New Roman"/>
                <a:cs typeface="Times New Roman"/>
              </a:rPr>
              <a:t>–</a:t>
            </a:r>
            <a:r>
              <a:rPr sz="1400" spc="10" dirty="0">
                <a:solidFill>
                  <a:srgbClr val="005599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005599"/>
                </a:solidFill>
                <a:latin typeface="Times New Roman"/>
                <a:cs typeface="Times New Roman"/>
              </a:rPr>
              <a:t>ETE</a:t>
            </a:r>
            <a:r>
              <a:rPr sz="1400" dirty="0">
                <a:solidFill>
                  <a:srgbClr val="005599"/>
                </a:solidFill>
                <a:latin typeface="Times New Roman"/>
                <a:cs typeface="Times New Roman"/>
              </a:rPr>
              <a:t>	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42949" y="1492249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49299" y="5852587"/>
            <a:ext cx="607060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710" algn="ctr">
              <a:lnSpc>
                <a:spcPct val="100000"/>
              </a:lnSpc>
              <a:spcBef>
                <a:spcPts val="100"/>
              </a:spcBef>
            </a:pP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University</a:t>
            </a:r>
            <a:r>
              <a:rPr sz="2700" spc="-2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7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Dar</a:t>
            </a:r>
            <a:r>
              <a:rPr sz="27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es</a:t>
            </a:r>
            <a:r>
              <a:rPr sz="2700" spc="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spc="-10" dirty="0">
                <a:solidFill>
                  <a:srgbClr val="FFFFFF"/>
                </a:solidFill>
                <a:latin typeface="Times New Roman"/>
                <a:cs typeface="Times New Roman"/>
              </a:rPr>
              <a:t>Salaam</a:t>
            </a:r>
            <a:endParaRPr sz="2700">
              <a:latin typeface="Times New Roman"/>
              <a:cs typeface="Times New Roman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599" y="8902700"/>
            <a:ext cx="6096000" cy="76200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782319" y="8937307"/>
            <a:ext cx="10674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005599"/>
                </a:solidFill>
                <a:latin typeface="Times New Roman"/>
                <a:cs typeface="Times New Roman"/>
              </a:rPr>
              <a:t>CoICT</a:t>
            </a:r>
            <a:r>
              <a:rPr sz="1400" b="1" spc="-20" dirty="0">
                <a:solidFill>
                  <a:srgbClr val="005599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5599"/>
                </a:solidFill>
                <a:latin typeface="Times New Roman"/>
                <a:cs typeface="Times New Roman"/>
              </a:rPr>
              <a:t>–</a:t>
            </a:r>
            <a:r>
              <a:rPr sz="1400" b="1" spc="10" dirty="0">
                <a:solidFill>
                  <a:srgbClr val="005599"/>
                </a:solidFill>
                <a:latin typeface="Times New Roman"/>
                <a:cs typeface="Times New Roman"/>
              </a:rPr>
              <a:t> </a:t>
            </a:r>
            <a:r>
              <a:rPr sz="1400" b="1" spc="-25" dirty="0">
                <a:solidFill>
                  <a:srgbClr val="005599"/>
                </a:solidFill>
                <a:latin typeface="Times New Roman"/>
                <a:cs typeface="Times New Roman"/>
              </a:rPr>
              <a:t>ETE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43446" y="6384845"/>
            <a:ext cx="4759325" cy="1691639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05"/>
              </a:spcBef>
            </a:pPr>
            <a:r>
              <a:rPr sz="2000" b="1" dirty="0">
                <a:solidFill>
                  <a:srgbClr val="FF0000"/>
                </a:solidFill>
                <a:latin typeface="Palatino Linotype"/>
                <a:cs typeface="Palatino Linotype"/>
              </a:rPr>
              <a:t>First</a:t>
            </a:r>
            <a:r>
              <a:rPr sz="2000" b="1" spc="-60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b="1" dirty="0">
                <a:solidFill>
                  <a:srgbClr val="FF0000"/>
                </a:solidFill>
                <a:latin typeface="Palatino Linotype"/>
                <a:cs typeface="Palatino Linotype"/>
              </a:rPr>
              <a:t>Generation,</a:t>
            </a:r>
            <a:r>
              <a:rPr sz="2000" b="1" spc="15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b="1" spc="-25" dirty="0">
                <a:solidFill>
                  <a:srgbClr val="FF0000"/>
                </a:solidFill>
                <a:latin typeface="Palatino Linotype"/>
                <a:cs typeface="Palatino Linotype"/>
              </a:rPr>
              <a:t>1G</a:t>
            </a:r>
            <a:endParaRPr sz="2000">
              <a:latin typeface="Palatino Linotype"/>
              <a:cs typeface="Palatino Linotype"/>
            </a:endParaRPr>
          </a:p>
          <a:p>
            <a:pPr marL="347345" indent="-227965">
              <a:lnSpc>
                <a:spcPts val="1910"/>
              </a:lnSpc>
              <a:spcBef>
                <a:spcPts val="490"/>
              </a:spcBef>
              <a:buFont typeface="Wingdings"/>
              <a:buChar char=""/>
              <a:tabLst>
                <a:tab pos="347345" algn="l"/>
              </a:tabLst>
            </a:pPr>
            <a:r>
              <a:rPr sz="1600" dirty="0">
                <a:latin typeface="Cambria"/>
                <a:cs typeface="Cambria"/>
              </a:rPr>
              <a:t>This</a:t>
            </a:r>
            <a:r>
              <a:rPr sz="1600" spc="1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is</a:t>
            </a:r>
            <a:r>
              <a:rPr sz="1600" spc="2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the</a:t>
            </a:r>
            <a:r>
              <a:rPr sz="1600" spc="1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first</a:t>
            </a:r>
            <a:r>
              <a:rPr sz="1600" spc="21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generation</a:t>
            </a:r>
            <a:r>
              <a:rPr sz="1600" spc="7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of</a:t>
            </a:r>
            <a:r>
              <a:rPr sz="1600" spc="7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mobile</a:t>
            </a:r>
            <a:r>
              <a:rPr sz="1600" spc="3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phone</a:t>
            </a:r>
            <a:endParaRPr sz="1600">
              <a:latin typeface="Cambria"/>
              <a:cs typeface="Cambria"/>
            </a:endParaRPr>
          </a:p>
          <a:p>
            <a:pPr marL="259079" marR="304165" indent="-139700">
              <a:lnSpc>
                <a:spcPts val="1900"/>
              </a:lnSpc>
              <a:spcBef>
                <a:spcPts val="70"/>
              </a:spcBef>
              <a:buFont typeface="Wingdings"/>
              <a:buChar char=""/>
              <a:tabLst>
                <a:tab pos="259079" algn="l"/>
                <a:tab pos="347345" algn="l"/>
              </a:tabLst>
            </a:pPr>
            <a:r>
              <a:rPr sz="1600" spc="65" dirty="0">
                <a:latin typeface="Cambria"/>
                <a:cs typeface="Cambria"/>
              </a:rPr>
              <a:t>	Deployed</a:t>
            </a:r>
            <a:r>
              <a:rPr sz="1600" spc="6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in</a:t>
            </a:r>
            <a:r>
              <a:rPr sz="1600" spc="-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Japan</a:t>
            </a:r>
            <a:r>
              <a:rPr sz="1600" spc="26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by</a:t>
            </a:r>
            <a:r>
              <a:rPr sz="1600" spc="50" dirty="0">
                <a:latin typeface="Cambria"/>
                <a:cs typeface="Cambria"/>
              </a:rPr>
              <a:t> </a:t>
            </a:r>
            <a:r>
              <a:rPr sz="1600" spc="90" dirty="0">
                <a:latin typeface="Cambria"/>
                <a:cs typeface="Cambria"/>
              </a:rPr>
              <a:t>Nippon</a:t>
            </a:r>
            <a:r>
              <a:rPr sz="1600" spc="1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Telephone</a:t>
            </a:r>
            <a:r>
              <a:rPr sz="1600" spc="80" dirty="0">
                <a:latin typeface="Cambria"/>
                <a:cs typeface="Cambria"/>
              </a:rPr>
              <a:t> </a:t>
            </a:r>
            <a:r>
              <a:rPr sz="1600" spc="-25" dirty="0">
                <a:latin typeface="Cambria"/>
                <a:cs typeface="Cambria"/>
              </a:rPr>
              <a:t>and </a:t>
            </a:r>
            <a:r>
              <a:rPr sz="1600" spc="10" dirty="0">
                <a:latin typeface="Cambria"/>
                <a:cs typeface="Cambria"/>
              </a:rPr>
              <a:t>Telegraph</a:t>
            </a:r>
            <a:r>
              <a:rPr sz="1600" spc="15" dirty="0">
                <a:latin typeface="Cambria"/>
                <a:cs typeface="Cambria"/>
              </a:rPr>
              <a:t> </a:t>
            </a:r>
            <a:r>
              <a:rPr sz="1600" spc="10" dirty="0">
                <a:latin typeface="Cambria"/>
                <a:cs typeface="Cambria"/>
              </a:rPr>
              <a:t>company</a:t>
            </a:r>
            <a:r>
              <a:rPr sz="1600" spc="204" dirty="0">
                <a:latin typeface="Cambria"/>
                <a:cs typeface="Cambria"/>
              </a:rPr>
              <a:t> </a:t>
            </a:r>
            <a:r>
              <a:rPr sz="1600" spc="10" dirty="0">
                <a:latin typeface="Cambria"/>
                <a:cs typeface="Cambria"/>
              </a:rPr>
              <a:t>(NTT)</a:t>
            </a:r>
            <a:r>
              <a:rPr sz="1600" spc="150" dirty="0">
                <a:latin typeface="Cambria"/>
                <a:cs typeface="Cambria"/>
              </a:rPr>
              <a:t> </a:t>
            </a:r>
            <a:r>
              <a:rPr sz="1600" spc="10" dirty="0">
                <a:latin typeface="Cambria"/>
                <a:cs typeface="Cambria"/>
              </a:rPr>
              <a:t>in</a:t>
            </a:r>
            <a:r>
              <a:rPr sz="1600" spc="150" dirty="0">
                <a:latin typeface="Cambria"/>
                <a:cs typeface="Cambria"/>
              </a:rPr>
              <a:t> </a:t>
            </a:r>
            <a:r>
              <a:rPr sz="1600" spc="-20" dirty="0">
                <a:latin typeface="Cambria"/>
                <a:cs typeface="Cambria"/>
              </a:rPr>
              <a:t>1979</a:t>
            </a:r>
            <a:endParaRPr sz="1600">
              <a:latin typeface="Cambria"/>
              <a:cs typeface="Cambria"/>
            </a:endParaRPr>
          </a:p>
          <a:p>
            <a:pPr marL="347345" indent="-227965">
              <a:lnSpc>
                <a:spcPts val="1839"/>
              </a:lnSpc>
              <a:buFont typeface="Wingdings"/>
              <a:buChar char=""/>
              <a:tabLst>
                <a:tab pos="347345" algn="l"/>
              </a:tabLst>
            </a:pPr>
            <a:r>
              <a:rPr sz="1600" dirty="0">
                <a:latin typeface="Cambria"/>
                <a:cs typeface="Cambria"/>
              </a:rPr>
              <a:t>In</a:t>
            </a:r>
            <a:r>
              <a:rPr sz="1600" spc="28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the</a:t>
            </a:r>
            <a:r>
              <a:rPr sz="1600" spc="2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beginning</a:t>
            </a:r>
            <a:r>
              <a:rPr sz="1600" spc="20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of</a:t>
            </a:r>
            <a:r>
              <a:rPr sz="1600" spc="140" dirty="0">
                <a:latin typeface="Cambria"/>
                <a:cs typeface="Cambria"/>
              </a:rPr>
              <a:t> </a:t>
            </a:r>
            <a:r>
              <a:rPr sz="1600" spc="-50" dirty="0">
                <a:latin typeface="Cambria"/>
                <a:cs typeface="Cambria"/>
              </a:rPr>
              <a:t>1980s,</a:t>
            </a:r>
            <a:r>
              <a:rPr sz="1600" spc="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it</a:t>
            </a:r>
            <a:r>
              <a:rPr sz="1600" spc="16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gained</a:t>
            </a:r>
            <a:r>
              <a:rPr sz="1600" spc="22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popularity</a:t>
            </a:r>
            <a:r>
              <a:rPr sz="1600" spc="65" dirty="0">
                <a:latin typeface="Cambria"/>
                <a:cs typeface="Cambria"/>
              </a:rPr>
              <a:t> </a:t>
            </a:r>
            <a:r>
              <a:rPr sz="1600" spc="-25" dirty="0">
                <a:latin typeface="Cambria"/>
                <a:cs typeface="Cambria"/>
              </a:rPr>
              <a:t>in</a:t>
            </a:r>
            <a:endParaRPr sz="1600">
              <a:latin typeface="Cambria"/>
              <a:cs typeface="Cambria"/>
            </a:endParaRPr>
          </a:p>
          <a:p>
            <a:pPr marL="259079">
              <a:lnSpc>
                <a:spcPct val="100000"/>
              </a:lnSpc>
              <a:spcBef>
                <a:spcPts val="80"/>
              </a:spcBef>
            </a:pPr>
            <a:r>
              <a:rPr sz="1600" dirty="0">
                <a:latin typeface="Cambria"/>
                <a:cs typeface="Cambria"/>
              </a:rPr>
              <a:t>the</a:t>
            </a:r>
            <a:r>
              <a:rPr sz="1600" spc="155" dirty="0">
                <a:latin typeface="Cambria"/>
                <a:cs typeface="Cambria"/>
              </a:rPr>
              <a:t> </a:t>
            </a:r>
            <a:r>
              <a:rPr sz="1600" spc="70" dirty="0">
                <a:latin typeface="Cambria"/>
                <a:cs typeface="Cambria"/>
              </a:rPr>
              <a:t>US,</a:t>
            </a:r>
            <a:r>
              <a:rPr sz="1600" spc="229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Finland,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spc="145" dirty="0">
                <a:latin typeface="Cambria"/>
                <a:cs typeface="Cambria"/>
              </a:rPr>
              <a:t>UK</a:t>
            </a:r>
            <a:r>
              <a:rPr sz="1600" spc="16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145" dirty="0">
                <a:latin typeface="Cambria"/>
                <a:cs typeface="Cambria"/>
              </a:rPr>
              <a:t> </a:t>
            </a:r>
            <a:r>
              <a:rPr sz="1600" spc="35" dirty="0">
                <a:latin typeface="Cambria"/>
                <a:cs typeface="Cambria"/>
              </a:rPr>
              <a:t>Europe.</a:t>
            </a:r>
            <a:endParaRPr sz="1600">
              <a:latin typeface="Cambria"/>
              <a:cs typeface="Cambri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36599" y="5753100"/>
            <a:ext cx="6096000" cy="3429000"/>
            <a:chOff x="736599" y="5753100"/>
            <a:chExt cx="6096000" cy="3429000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73750" y="6520816"/>
              <a:ext cx="704848" cy="2343783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742949" y="5759450"/>
              <a:ext cx="6083300" cy="3416300"/>
            </a:xfrm>
            <a:custGeom>
              <a:avLst/>
              <a:gdLst/>
              <a:ahLst/>
              <a:cxnLst/>
              <a:rect l="l" t="t" r="r" b="b"/>
              <a:pathLst>
                <a:path w="6083300" h="3416300">
                  <a:moveTo>
                    <a:pt x="0" y="0"/>
                  </a:moveTo>
                  <a:lnTo>
                    <a:pt x="6083300" y="0"/>
                  </a:lnTo>
                  <a:lnTo>
                    <a:pt x="6083300" y="3416300"/>
                  </a:lnTo>
                  <a:lnTo>
                    <a:pt x="0" y="34163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65111" y="455423"/>
            <a:ext cx="59690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latin typeface="Calibri"/>
                <a:cs typeface="Calibri"/>
              </a:rPr>
              <a:t>6/23/20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2319" y="4670107"/>
            <a:ext cx="10674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005599"/>
                </a:solidFill>
                <a:latin typeface="Times New Roman"/>
                <a:cs typeface="Times New Roman"/>
              </a:rPr>
              <a:t>CoICT</a:t>
            </a:r>
            <a:r>
              <a:rPr sz="1400" b="1" spc="-20" dirty="0">
                <a:solidFill>
                  <a:srgbClr val="005599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5599"/>
                </a:solidFill>
                <a:latin typeface="Times New Roman"/>
                <a:cs typeface="Times New Roman"/>
              </a:rPr>
              <a:t>–</a:t>
            </a:r>
            <a:r>
              <a:rPr sz="1400" b="1" spc="10" dirty="0">
                <a:solidFill>
                  <a:srgbClr val="005599"/>
                </a:solidFill>
                <a:latin typeface="Times New Roman"/>
                <a:cs typeface="Times New Roman"/>
              </a:rPr>
              <a:t> </a:t>
            </a:r>
            <a:r>
              <a:rPr sz="1400" b="1" spc="-25" dirty="0">
                <a:solidFill>
                  <a:srgbClr val="005599"/>
                </a:solidFill>
                <a:latin typeface="Times New Roman"/>
                <a:cs typeface="Times New Roman"/>
              </a:rPr>
              <a:t>ETE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65858" y="2087009"/>
            <a:ext cx="5090160" cy="208343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10"/>
              </a:spcBef>
            </a:pPr>
            <a:r>
              <a:rPr sz="2000" b="1" dirty="0">
                <a:solidFill>
                  <a:srgbClr val="FF0000"/>
                </a:solidFill>
                <a:latin typeface="Palatino Linotype"/>
                <a:cs typeface="Palatino Linotype"/>
              </a:rPr>
              <a:t>1G</a:t>
            </a:r>
            <a:r>
              <a:rPr sz="2000" b="1" spc="30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Palatino Linotype"/>
                <a:cs typeface="Palatino Linotype"/>
              </a:rPr>
              <a:t>Features</a:t>
            </a:r>
            <a:endParaRPr sz="2000">
              <a:latin typeface="Palatino Linotype"/>
              <a:cs typeface="Palatino Linotype"/>
            </a:endParaRPr>
          </a:p>
          <a:p>
            <a:pPr marL="177165" indent="-177165">
              <a:lnSpc>
                <a:spcPts val="1910"/>
              </a:lnSpc>
              <a:spcBef>
                <a:spcPts val="170"/>
              </a:spcBef>
              <a:buSzPct val="90625"/>
              <a:buFont typeface="Wingdings"/>
              <a:buChar char=""/>
              <a:tabLst>
                <a:tab pos="177165" algn="l"/>
              </a:tabLst>
            </a:pPr>
            <a:r>
              <a:rPr sz="1600" dirty="0">
                <a:latin typeface="Cambria"/>
                <a:cs typeface="Cambria"/>
              </a:rPr>
              <a:t>Frequency</a:t>
            </a:r>
            <a:r>
              <a:rPr sz="1600" spc="-15" dirty="0">
                <a:latin typeface="Cambria"/>
                <a:cs typeface="Cambria"/>
              </a:rPr>
              <a:t> </a:t>
            </a:r>
            <a:r>
              <a:rPr sz="1600" spc="-75" dirty="0">
                <a:latin typeface="Cambria"/>
                <a:cs typeface="Cambria"/>
              </a:rPr>
              <a:t>800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150" dirty="0">
                <a:latin typeface="Cambria"/>
                <a:cs typeface="Cambria"/>
              </a:rPr>
              <a:t>MHz</a:t>
            </a:r>
            <a:r>
              <a:rPr sz="1600" spc="19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spc="-75" dirty="0">
                <a:latin typeface="Cambria"/>
                <a:cs typeface="Cambria"/>
              </a:rPr>
              <a:t>900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125" dirty="0">
                <a:latin typeface="Cambria"/>
                <a:cs typeface="Cambria"/>
              </a:rPr>
              <a:t>MHz</a:t>
            </a:r>
            <a:endParaRPr sz="1600">
              <a:latin typeface="Cambria"/>
              <a:cs typeface="Cambria"/>
            </a:endParaRPr>
          </a:p>
          <a:p>
            <a:pPr marL="177165" indent="-177165">
              <a:lnSpc>
                <a:spcPts val="1900"/>
              </a:lnSpc>
              <a:buSzPct val="90625"/>
              <a:buFont typeface="Wingdings"/>
              <a:buChar char=""/>
              <a:tabLst>
                <a:tab pos="177165" algn="l"/>
              </a:tabLst>
            </a:pPr>
            <a:r>
              <a:rPr sz="1600" spc="10" dirty="0">
                <a:latin typeface="Cambria"/>
                <a:cs typeface="Cambria"/>
              </a:rPr>
              <a:t>Technology:</a:t>
            </a:r>
            <a:r>
              <a:rPr sz="1600" spc="50" dirty="0">
                <a:latin typeface="Cambria"/>
                <a:cs typeface="Cambria"/>
              </a:rPr>
              <a:t> </a:t>
            </a:r>
            <a:r>
              <a:rPr sz="1600" spc="60" dirty="0">
                <a:latin typeface="Cambria"/>
                <a:cs typeface="Cambria"/>
              </a:rPr>
              <a:t>Analogue</a:t>
            </a:r>
            <a:r>
              <a:rPr sz="1600" spc="24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switching</a:t>
            </a:r>
            <a:endParaRPr sz="1600">
              <a:latin typeface="Cambria"/>
              <a:cs typeface="Cambria"/>
            </a:endParaRPr>
          </a:p>
          <a:p>
            <a:pPr marL="177165" indent="-177165">
              <a:lnSpc>
                <a:spcPts val="1900"/>
              </a:lnSpc>
              <a:buSzPct val="90625"/>
              <a:buFont typeface="Wingdings"/>
              <a:buChar char=""/>
              <a:tabLst>
                <a:tab pos="177165" algn="l"/>
              </a:tabLst>
            </a:pPr>
            <a:r>
              <a:rPr sz="1600" spc="80" dirty="0">
                <a:latin typeface="Cambria"/>
                <a:cs typeface="Cambria"/>
              </a:rPr>
              <a:t>Mode</a:t>
            </a:r>
            <a:r>
              <a:rPr sz="1600" spc="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of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service:</a:t>
            </a:r>
            <a:r>
              <a:rPr sz="1600" spc="1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voice</a:t>
            </a:r>
            <a:r>
              <a:rPr sz="1600" spc="50" dirty="0">
                <a:latin typeface="Cambria"/>
                <a:cs typeface="Cambria"/>
              </a:rPr>
              <a:t> </a:t>
            </a:r>
            <a:r>
              <a:rPr sz="1600" spc="-20" dirty="0">
                <a:latin typeface="Cambria"/>
                <a:cs typeface="Cambria"/>
              </a:rPr>
              <a:t>only</a:t>
            </a:r>
            <a:endParaRPr sz="1600">
              <a:latin typeface="Cambria"/>
              <a:cs typeface="Cambria"/>
            </a:endParaRPr>
          </a:p>
          <a:p>
            <a:pPr marL="177165" indent="-177165">
              <a:lnSpc>
                <a:spcPts val="1910"/>
              </a:lnSpc>
              <a:buSzPct val="90625"/>
              <a:buFont typeface="Wingdings"/>
              <a:buChar char=""/>
              <a:tabLst>
                <a:tab pos="177165" algn="l"/>
              </a:tabLst>
            </a:pPr>
            <a:r>
              <a:rPr sz="1600" dirty="0">
                <a:latin typeface="Cambria"/>
                <a:cs typeface="Cambria"/>
              </a:rPr>
              <a:t>Access</a:t>
            </a:r>
            <a:r>
              <a:rPr sz="1600" spc="19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technique:</a:t>
            </a:r>
            <a:r>
              <a:rPr sz="1600" spc="17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Frequency</a:t>
            </a:r>
            <a:r>
              <a:rPr sz="1600" spc="55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Division</a:t>
            </a:r>
            <a:r>
              <a:rPr sz="1600" dirty="0">
                <a:latin typeface="Cambria"/>
                <a:cs typeface="Cambria"/>
              </a:rPr>
              <a:t> </a:t>
            </a:r>
            <a:r>
              <a:rPr sz="1600" spc="60" dirty="0">
                <a:latin typeface="Cambria"/>
                <a:cs typeface="Cambria"/>
              </a:rPr>
              <a:t>Multiple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Access</a:t>
            </a:r>
            <a:endParaRPr sz="1600">
              <a:latin typeface="Cambria"/>
              <a:cs typeface="Cambria"/>
            </a:endParaRPr>
          </a:p>
          <a:p>
            <a:pPr marL="139700">
              <a:lnSpc>
                <a:spcPts val="1910"/>
              </a:lnSpc>
              <a:spcBef>
                <a:spcPts val="80"/>
              </a:spcBef>
            </a:pPr>
            <a:r>
              <a:rPr sz="1600" spc="45" dirty="0">
                <a:latin typeface="Cambria"/>
                <a:cs typeface="Cambria"/>
              </a:rPr>
              <a:t>(FDMA)</a:t>
            </a:r>
            <a:endParaRPr sz="1600">
              <a:latin typeface="Cambria"/>
              <a:cs typeface="Cambria"/>
            </a:endParaRPr>
          </a:p>
          <a:p>
            <a:pPr marL="177165" indent="-177165">
              <a:lnSpc>
                <a:spcPts val="1900"/>
              </a:lnSpc>
              <a:buSzPct val="90625"/>
              <a:buFont typeface="Wingdings"/>
              <a:buChar char=""/>
              <a:tabLst>
                <a:tab pos="177165" algn="l"/>
              </a:tabLst>
            </a:pPr>
            <a:r>
              <a:rPr sz="1600" dirty="0">
                <a:latin typeface="Cambria"/>
                <a:cs typeface="Cambria"/>
              </a:rPr>
              <a:t>It</a:t>
            </a:r>
            <a:r>
              <a:rPr sz="1600" spc="20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allows</a:t>
            </a:r>
            <a:r>
              <a:rPr sz="1600" spc="1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the</a:t>
            </a:r>
            <a:r>
              <a:rPr sz="1600" spc="1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voice</a:t>
            </a:r>
            <a:r>
              <a:rPr sz="1600" spc="1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calls</a:t>
            </a:r>
            <a:r>
              <a:rPr sz="1600" spc="2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in</a:t>
            </a:r>
            <a:r>
              <a:rPr sz="1600" spc="7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one</a:t>
            </a:r>
            <a:r>
              <a:rPr sz="1600" spc="15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country</a:t>
            </a:r>
            <a:endParaRPr sz="1600">
              <a:latin typeface="Cambria"/>
              <a:cs typeface="Cambria"/>
            </a:endParaRPr>
          </a:p>
          <a:p>
            <a:pPr marL="177165" indent="-177165">
              <a:lnSpc>
                <a:spcPts val="1910"/>
              </a:lnSpc>
              <a:buSzPct val="90625"/>
              <a:buFont typeface="Wingdings"/>
              <a:buChar char=""/>
              <a:tabLst>
                <a:tab pos="177165" algn="l"/>
              </a:tabLst>
            </a:pPr>
            <a:r>
              <a:rPr sz="1600" spc="10" dirty="0">
                <a:latin typeface="Cambria"/>
                <a:cs typeface="Cambria"/>
              </a:rPr>
              <a:t>Bandwidth:</a:t>
            </a:r>
            <a:r>
              <a:rPr sz="1600" spc="195" dirty="0">
                <a:latin typeface="Cambria"/>
                <a:cs typeface="Cambria"/>
              </a:rPr>
              <a:t> </a:t>
            </a:r>
            <a:r>
              <a:rPr sz="1600" spc="65" dirty="0">
                <a:latin typeface="Cambria"/>
                <a:cs typeface="Cambria"/>
              </a:rPr>
              <a:t>Analog</a:t>
            </a:r>
            <a:r>
              <a:rPr sz="1600" spc="215" dirty="0">
                <a:latin typeface="Cambria"/>
                <a:cs typeface="Cambria"/>
              </a:rPr>
              <a:t> </a:t>
            </a:r>
            <a:r>
              <a:rPr sz="1600" spc="10" dirty="0">
                <a:latin typeface="Cambria"/>
                <a:cs typeface="Cambria"/>
              </a:rPr>
              <a:t>telecommunication</a:t>
            </a:r>
            <a:r>
              <a:rPr sz="1600" spc="2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(30kHz)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42949" y="1492249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599" y="8902700"/>
            <a:ext cx="6096000" cy="76200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782319" y="8937307"/>
            <a:ext cx="10674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005599"/>
                </a:solidFill>
                <a:latin typeface="Times New Roman"/>
                <a:cs typeface="Times New Roman"/>
              </a:rPr>
              <a:t>CoICT</a:t>
            </a:r>
            <a:r>
              <a:rPr sz="1400" b="1" spc="-20" dirty="0">
                <a:solidFill>
                  <a:srgbClr val="005599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5599"/>
                </a:solidFill>
                <a:latin typeface="Times New Roman"/>
                <a:cs typeface="Times New Roman"/>
              </a:rPr>
              <a:t>–</a:t>
            </a:r>
            <a:r>
              <a:rPr sz="1400" b="1" spc="10" dirty="0">
                <a:solidFill>
                  <a:srgbClr val="005599"/>
                </a:solidFill>
                <a:latin typeface="Times New Roman"/>
                <a:cs typeface="Times New Roman"/>
              </a:rPr>
              <a:t> </a:t>
            </a:r>
            <a:r>
              <a:rPr sz="1400" b="1" spc="-25" dirty="0">
                <a:solidFill>
                  <a:srgbClr val="005599"/>
                </a:solidFill>
                <a:latin typeface="Times New Roman"/>
                <a:cs typeface="Times New Roman"/>
              </a:rPr>
              <a:t>ETE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43446" y="6462148"/>
            <a:ext cx="5039995" cy="1454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0000"/>
                </a:solidFill>
                <a:latin typeface="Palatino Linotype"/>
                <a:cs typeface="Palatino Linotype"/>
              </a:rPr>
              <a:t>1G</a:t>
            </a:r>
            <a:r>
              <a:rPr sz="2000" b="1" spc="-5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b="1" dirty="0">
                <a:solidFill>
                  <a:srgbClr val="FF0000"/>
                </a:solidFill>
                <a:latin typeface="Palatino Linotype"/>
                <a:cs typeface="Palatino Linotype"/>
              </a:rPr>
              <a:t>Popular</a:t>
            </a:r>
            <a:r>
              <a:rPr sz="2000" b="1" spc="-15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b="1" dirty="0">
                <a:solidFill>
                  <a:srgbClr val="FF0000"/>
                </a:solidFill>
                <a:latin typeface="Palatino Linotype"/>
                <a:cs typeface="Palatino Linotype"/>
              </a:rPr>
              <a:t>Systems</a:t>
            </a:r>
            <a:r>
              <a:rPr sz="2000" b="1" spc="-120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b="1" dirty="0">
                <a:solidFill>
                  <a:srgbClr val="FF0000"/>
                </a:solidFill>
                <a:latin typeface="Palatino Linotype"/>
                <a:cs typeface="Palatino Linotype"/>
              </a:rPr>
              <a:t>During</a:t>
            </a:r>
            <a:r>
              <a:rPr sz="2000" b="1" spc="-45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Palatino Linotype"/>
                <a:cs typeface="Palatino Linotype"/>
              </a:rPr>
              <a:t>1980’s</a:t>
            </a:r>
            <a:endParaRPr sz="2000">
              <a:latin typeface="Palatino Linotype"/>
              <a:cs typeface="Palatino Linotype"/>
            </a:endParaRPr>
          </a:p>
          <a:p>
            <a:pPr marL="335915" indent="-278765">
              <a:lnSpc>
                <a:spcPts val="1910"/>
              </a:lnSpc>
              <a:spcBef>
                <a:spcPts val="1130"/>
              </a:spcBef>
              <a:buFont typeface="Wingdings"/>
              <a:buChar char=""/>
              <a:tabLst>
                <a:tab pos="335915" algn="l"/>
              </a:tabLst>
            </a:pPr>
            <a:r>
              <a:rPr sz="1600" spc="60" dirty="0">
                <a:latin typeface="Cambria"/>
                <a:cs typeface="Cambria"/>
              </a:rPr>
              <a:t>Advanced</a:t>
            </a:r>
            <a:r>
              <a:rPr sz="1600" spc="135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Mobile</a:t>
            </a:r>
            <a:r>
              <a:rPr sz="1600" spc="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Phone</a:t>
            </a:r>
            <a:r>
              <a:rPr sz="1600" spc="1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System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(AMPS)</a:t>
            </a:r>
            <a:endParaRPr sz="1600">
              <a:latin typeface="Cambria"/>
              <a:cs typeface="Cambria"/>
            </a:endParaRPr>
          </a:p>
          <a:p>
            <a:pPr marL="335915" indent="-278765">
              <a:lnSpc>
                <a:spcPts val="1900"/>
              </a:lnSpc>
              <a:buFont typeface="Wingdings"/>
              <a:buChar char=""/>
              <a:tabLst>
                <a:tab pos="335915" algn="l"/>
              </a:tabLst>
            </a:pPr>
            <a:r>
              <a:rPr sz="1600" dirty="0">
                <a:latin typeface="Times New Roman"/>
                <a:cs typeface="Times New Roman"/>
              </a:rPr>
              <a:t>Nordic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Mobile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Phone</a:t>
            </a:r>
            <a:r>
              <a:rPr sz="1600" spc="-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System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(NMTS)</a:t>
            </a:r>
            <a:endParaRPr sz="1600">
              <a:latin typeface="Times New Roman"/>
              <a:cs typeface="Times New Roman"/>
            </a:endParaRPr>
          </a:p>
          <a:p>
            <a:pPr marL="323215" indent="-266065">
              <a:lnSpc>
                <a:spcPts val="1910"/>
              </a:lnSpc>
              <a:buFont typeface="Wingdings"/>
              <a:buChar char=""/>
              <a:tabLst>
                <a:tab pos="323215" algn="l"/>
              </a:tabLst>
            </a:pPr>
            <a:r>
              <a:rPr sz="1600" spc="-30" dirty="0">
                <a:latin typeface="Times New Roman"/>
                <a:cs typeface="Times New Roman"/>
              </a:rPr>
              <a:t>Total</a:t>
            </a:r>
            <a:r>
              <a:rPr sz="1600" spc="-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Access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Communication</a:t>
            </a:r>
            <a:r>
              <a:rPr sz="1600" spc="10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System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(TACS)</a:t>
            </a:r>
            <a:endParaRPr sz="1600">
              <a:latin typeface="Times New Roman"/>
              <a:cs typeface="Times New Roman"/>
            </a:endParaRPr>
          </a:p>
          <a:p>
            <a:pPr marL="323215" indent="-266065">
              <a:lnSpc>
                <a:spcPct val="100000"/>
              </a:lnSpc>
              <a:spcBef>
                <a:spcPts val="80"/>
              </a:spcBef>
              <a:buFont typeface="Wingdings"/>
              <a:buChar char=""/>
              <a:tabLst>
                <a:tab pos="323215" algn="l"/>
              </a:tabLst>
            </a:pPr>
            <a:r>
              <a:rPr sz="1600" dirty="0">
                <a:latin typeface="Times New Roman"/>
                <a:cs typeface="Times New Roman"/>
              </a:rPr>
              <a:t>European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spc="-30" dirty="0">
                <a:latin typeface="Times New Roman"/>
                <a:cs typeface="Times New Roman"/>
              </a:rPr>
              <a:t>Total</a:t>
            </a:r>
            <a:r>
              <a:rPr sz="1600" spc="-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Access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Communication</a:t>
            </a:r>
            <a:r>
              <a:rPr sz="1600" spc="11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System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(ETACS)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42949" y="5759450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65111" y="455423"/>
            <a:ext cx="59690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latin typeface="Calibri"/>
                <a:cs typeface="Calibri"/>
              </a:rPr>
              <a:t>6/23/20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8425"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University</a:t>
            </a:r>
            <a:r>
              <a:rPr spc="-21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Dar</a:t>
            </a:r>
            <a:r>
              <a:rPr spc="60" dirty="0"/>
              <a:t> </a:t>
            </a:r>
            <a:r>
              <a:rPr dirty="0"/>
              <a:t>es</a:t>
            </a:r>
            <a:r>
              <a:rPr spc="114" dirty="0"/>
              <a:t> </a:t>
            </a:r>
            <a:r>
              <a:rPr spc="-10" dirty="0"/>
              <a:t>Salaam</a:t>
            </a: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599" y="4635499"/>
            <a:ext cx="6096000" cy="762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82319" y="4670107"/>
            <a:ext cx="10674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005599"/>
                </a:solidFill>
                <a:latin typeface="Times New Roman"/>
                <a:cs typeface="Times New Roman"/>
              </a:rPr>
              <a:t>CoICT</a:t>
            </a:r>
            <a:r>
              <a:rPr sz="1400" b="1" spc="-20" dirty="0">
                <a:solidFill>
                  <a:srgbClr val="005599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5599"/>
                </a:solidFill>
                <a:latin typeface="Times New Roman"/>
                <a:cs typeface="Times New Roman"/>
              </a:rPr>
              <a:t>–</a:t>
            </a:r>
            <a:r>
              <a:rPr sz="1400" b="1" spc="10" dirty="0">
                <a:solidFill>
                  <a:srgbClr val="005599"/>
                </a:solidFill>
                <a:latin typeface="Times New Roman"/>
                <a:cs typeface="Times New Roman"/>
              </a:rPr>
              <a:t> </a:t>
            </a:r>
            <a:r>
              <a:rPr sz="1400" b="1" spc="-25" dirty="0">
                <a:solidFill>
                  <a:srgbClr val="005599"/>
                </a:solidFill>
                <a:latin typeface="Times New Roman"/>
                <a:cs typeface="Times New Roman"/>
              </a:rPr>
              <a:t>ETE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43446" y="2087359"/>
            <a:ext cx="5344160" cy="1745614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44"/>
              </a:spcBef>
            </a:pPr>
            <a:r>
              <a:rPr sz="2000" b="1" dirty="0">
                <a:solidFill>
                  <a:srgbClr val="FF0000"/>
                </a:solidFill>
                <a:latin typeface="Palatino Linotype"/>
                <a:cs typeface="Palatino Linotype"/>
              </a:rPr>
              <a:t>1G</a:t>
            </a:r>
            <a:r>
              <a:rPr sz="2000" b="1" spc="-5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b="1" dirty="0">
                <a:solidFill>
                  <a:srgbClr val="FF0000"/>
                </a:solidFill>
                <a:latin typeface="Palatino Linotype"/>
                <a:cs typeface="Palatino Linotype"/>
              </a:rPr>
              <a:t>Popular</a:t>
            </a:r>
            <a:r>
              <a:rPr sz="2000" b="1" spc="-15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b="1" dirty="0">
                <a:solidFill>
                  <a:srgbClr val="FF0000"/>
                </a:solidFill>
                <a:latin typeface="Palatino Linotype"/>
                <a:cs typeface="Palatino Linotype"/>
              </a:rPr>
              <a:t>Systems</a:t>
            </a:r>
            <a:r>
              <a:rPr sz="2000" b="1" spc="-120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b="1" dirty="0">
                <a:solidFill>
                  <a:srgbClr val="FF0000"/>
                </a:solidFill>
                <a:latin typeface="Palatino Linotype"/>
                <a:cs typeface="Palatino Linotype"/>
              </a:rPr>
              <a:t>During</a:t>
            </a:r>
            <a:r>
              <a:rPr sz="2000" b="1" spc="-45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Palatino Linotype"/>
                <a:cs typeface="Palatino Linotype"/>
              </a:rPr>
              <a:t>1980’s</a:t>
            </a:r>
            <a:endParaRPr sz="2000">
              <a:latin typeface="Palatino Linotype"/>
              <a:cs typeface="Palatino Linotype"/>
            </a:endParaRPr>
          </a:p>
          <a:p>
            <a:pPr marL="220345" indent="-182880">
              <a:lnSpc>
                <a:spcPts val="1910"/>
              </a:lnSpc>
              <a:spcBef>
                <a:spcPts val="680"/>
              </a:spcBef>
              <a:buSzPct val="93750"/>
              <a:buFont typeface="Wingdings"/>
              <a:buChar char=""/>
              <a:tabLst>
                <a:tab pos="220345" algn="l"/>
              </a:tabLst>
            </a:pPr>
            <a:r>
              <a:rPr sz="1600" spc="60" dirty="0">
                <a:latin typeface="Cambria"/>
                <a:cs typeface="Cambria"/>
              </a:rPr>
              <a:t>Advanced</a:t>
            </a:r>
            <a:r>
              <a:rPr sz="1600" spc="135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Mobile</a:t>
            </a:r>
            <a:r>
              <a:rPr sz="1600" spc="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Phone</a:t>
            </a:r>
            <a:r>
              <a:rPr sz="1600" spc="1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System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(AMPS)</a:t>
            </a:r>
            <a:endParaRPr sz="1600">
              <a:latin typeface="Cambria"/>
              <a:cs typeface="Cambria"/>
            </a:endParaRPr>
          </a:p>
          <a:p>
            <a:pPr marL="182880" marR="5080" indent="-145415">
              <a:lnSpc>
                <a:spcPts val="1900"/>
              </a:lnSpc>
              <a:spcBef>
                <a:spcPts val="70"/>
              </a:spcBef>
              <a:buSzPct val="93750"/>
              <a:buFont typeface="Wingdings"/>
              <a:buChar char=""/>
              <a:tabLst>
                <a:tab pos="182880" algn="l"/>
                <a:tab pos="220345" algn="l"/>
              </a:tabLst>
            </a:pPr>
            <a:r>
              <a:rPr sz="1600" dirty="0">
                <a:latin typeface="Cambria"/>
                <a:cs typeface="Cambria"/>
              </a:rPr>
              <a:t>	It</a:t>
            </a:r>
            <a:r>
              <a:rPr sz="1600" spc="2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was</a:t>
            </a:r>
            <a:r>
              <a:rPr sz="1600" spc="16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the</a:t>
            </a:r>
            <a:r>
              <a:rPr sz="1600" spc="18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primary</a:t>
            </a:r>
            <a:r>
              <a:rPr sz="1600" spc="1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analog</a:t>
            </a:r>
            <a:r>
              <a:rPr sz="1600" spc="15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mobile</a:t>
            </a:r>
            <a:r>
              <a:rPr sz="1600" spc="6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phone</a:t>
            </a:r>
            <a:r>
              <a:rPr sz="1600" spc="6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system</a:t>
            </a:r>
            <a:r>
              <a:rPr sz="1600" spc="12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in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North </a:t>
            </a:r>
            <a:r>
              <a:rPr sz="1600" dirty="0">
                <a:latin typeface="Cambria"/>
                <a:cs typeface="Cambria"/>
              </a:rPr>
              <a:t>America</a:t>
            </a:r>
            <a:r>
              <a:rPr sz="1600" spc="204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in</a:t>
            </a:r>
            <a:r>
              <a:rPr sz="1600" spc="170" dirty="0">
                <a:latin typeface="Cambria"/>
                <a:cs typeface="Cambria"/>
              </a:rPr>
              <a:t> </a:t>
            </a:r>
            <a:r>
              <a:rPr sz="1600" spc="-20" dirty="0">
                <a:latin typeface="Cambria"/>
                <a:cs typeface="Cambria"/>
              </a:rPr>
              <a:t>1983</a:t>
            </a:r>
            <a:endParaRPr sz="1600">
              <a:latin typeface="Cambria"/>
              <a:cs typeface="Cambria"/>
            </a:endParaRPr>
          </a:p>
          <a:p>
            <a:pPr marL="271145" indent="-227965">
              <a:lnSpc>
                <a:spcPts val="1839"/>
              </a:lnSpc>
              <a:buSzPct val="93750"/>
              <a:buFont typeface="Wingdings"/>
              <a:buChar char=""/>
              <a:tabLst>
                <a:tab pos="271145" algn="l"/>
              </a:tabLst>
            </a:pPr>
            <a:r>
              <a:rPr sz="1600" dirty="0">
                <a:latin typeface="Cambria"/>
                <a:cs typeface="Cambria"/>
              </a:rPr>
              <a:t>Israel</a:t>
            </a:r>
            <a:r>
              <a:rPr sz="1600" spc="1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in</a:t>
            </a:r>
            <a:r>
              <a:rPr sz="1600" spc="70" dirty="0">
                <a:latin typeface="Cambria"/>
                <a:cs typeface="Cambria"/>
              </a:rPr>
              <a:t> </a:t>
            </a:r>
            <a:r>
              <a:rPr sz="1600" spc="-45" dirty="0">
                <a:latin typeface="Cambria"/>
                <a:cs typeface="Cambria"/>
              </a:rPr>
              <a:t>1986,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Australia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in</a:t>
            </a:r>
            <a:r>
              <a:rPr sz="1600" spc="70" dirty="0">
                <a:latin typeface="Cambria"/>
                <a:cs typeface="Cambria"/>
              </a:rPr>
              <a:t> </a:t>
            </a:r>
            <a:r>
              <a:rPr sz="1600" spc="-45" dirty="0">
                <a:latin typeface="Cambria"/>
                <a:cs typeface="Cambria"/>
              </a:rPr>
              <a:t>1987,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Singapore</a:t>
            </a:r>
            <a:r>
              <a:rPr sz="1600" spc="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in</a:t>
            </a:r>
            <a:r>
              <a:rPr sz="1600" spc="65" dirty="0">
                <a:latin typeface="Cambria"/>
                <a:cs typeface="Cambria"/>
              </a:rPr>
              <a:t> </a:t>
            </a:r>
            <a:r>
              <a:rPr sz="1600" spc="-45" dirty="0">
                <a:latin typeface="Cambria"/>
                <a:cs typeface="Cambria"/>
              </a:rPr>
              <a:t>1988,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-25" dirty="0">
                <a:latin typeface="Cambria"/>
                <a:cs typeface="Cambria"/>
              </a:rPr>
              <a:t>and</a:t>
            </a:r>
            <a:endParaRPr sz="1600">
              <a:latin typeface="Cambria"/>
              <a:cs typeface="Cambria"/>
            </a:endParaRPr>
          </a:p>
          <a:p>
            <a:pPr marL="182880">
              <a:lnSpc>
                <a:spcPct val="100000"/>
              </a:lnSpc>
              <a:spcBef>
                <a:spcPts val="80"/>
              </a:spcBef>
            </a:pPr>
            <a:r>
              <a:rPr sz="1600" dirty="0">
                <a:latin typeface="Cambria"/>
                <a:cs typeface="Cambria"/>
              </a:rPr>
              <a:t>Pakistan</a:t>
            </a:r>
            <a:r>
              <a:rPr sz="1600" spc="1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in</a:t>
            </a:r>
            <a:r>
              <a:rPr sz="1600" spc="145" dirty="0">
                <a:latin typeface="Cambria"/>
                <a:cs typeface="Cambria"/>
              </a:rPr>
              <a:t> </a:t>
            </a:r>
            <a:r>
              <a:rPr sz="1600" spc="-20" dirty="0">
                <a:latin typeface="Cambria"/>
                <a:cs typeface="Cambria"/>
              </a:rPr>
              <a:t>1990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42949" y="1492249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599" y="8902700"/>
            <a:ext cx="6096000" cy="76200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782319" y="8937307"/>
            <a:ext cx="10674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005599"/>
                </a:solidFill>
                <a:latin typeface="Times New Roman"/>
                <a:cs typeface="Times New Roman"/>
              </a:rPr>
              <a:t>CoICT</a:t>
            </a:r>
            <a:r>
              <a:rPr sz="1400" b="1" spc="-20" dirty="0">
                <a:solidFill>
                  <a:srgbClr val="005599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5599"/>
                </a:solidFill>
                <a:latin typeface="Times New Roman"/>
                <a:cs typeface="Times New Roman"/>
              </a:rPr>
              <a:t>–</a:t>
            </a:r>
            <a:r>
              <a:rPr sz="1400" b="1" spc="10" dirty="0">
                <a:solidFill>
                  <a:srgbClr val="005599"/>
                </a:solidFill>
                <a:latin typeface="Times New Roman"/>
                <a:cs typeface="Times New Roman"/>
              </a:rPr>
              <a:t> </a:t>
            </a:r>
            <a:r>
              <a:rPr sz="1400" b="1" spc="-25" dirty="0">
                <a:solidFill>
                  <a:srgbClr val="005599"/>
                </a:solidFill>
                <a:latin typeface="Times New Roman"/>
                <a:cs typeface="Times New Roman"/>
              </a:rPr>
              <a:t>ETE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43445" y="6462148"/>
            <a:ext cx="5173345" cy="20281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0000"/>
                </a:solidFill>
                <a:latin typeface="Palatino Linotype"/>
                <a:cs typeface="Palatino Linotype"/>
              </a:rPr>
              <a:t>1G</a:t>
            </a:r>
            <a:r>
              <a:rPr sz="2000" b="1" spc="-5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b="1" dirty="0">
                <a:solidFill>
                  <a:srgbClr val="FF0000"/>
                </a:solidFill>
                <a:latin typeface="Palatino Linotype"/>
                <a:cs typeface="Palatino Linotype"/>
              </a:rPr>
              <a:t>Popular</a:t>
            </a:r>
            <a:r>
              <a:rPr sz="2000" b="1" spc="-15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b="1" dirty="0">
                <a:solidFill>
                  <a:srgbClr val="FF0000"/>
                </a:solidFill>
                <a:latin typeface="Palatino Linotype"/>
                <a:cs typeface="Palatino Linotype"/>
              </a:rPr>
              <a:t>Systems</a:t>
            </a:r>
            <a:r>
              <a:rPr sz="2000" b="1" spc="-120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b="1" dirty="0">
                <a:solidFill>
                  <a:srgbClr val="FF0000"/>
                </a:solidFill>
                <a:latin typeface="Palatino Linotype"/>
                <a:cs typeface="Palatino Linotype"/>
              </a:rPr>
              <a:t>During</a:t>
            </a:r>
            <a:r>
              <a:rPr sz="2000" b="1" spc="-45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Palatino Linotype"/>
                <a:cs typeface="Palatino Linotype"/>
              </a:rPr>
              <a:t>1980’s</a:t>
            </a:r>
            <a:endParaRPr sz="2000">
              <a:latin typeface="Palatino Linotype"/>
              <a:cs typeface="Palatino Linotype"/>
            </a:endParaRPr>
          </a:p>
          <a:p>
            <a:pPr marL="139700" marR="5080" indent="-139700">
              <a:lnSpc>
                <a:spcPts val="1900"/>
              </a:lnSpc>
              <a:spcBef>
                <a:spcPts val="1925"/>
              </a:spcBef>
              <a:buFont typeface="Wingdings"/>
              <a:buChar char=""/>
              <a:tabLst>
                <a:tab pos="139700" algn="l"/>
                <a:tab pos="227965" algn="l"/>
              </a:tabLst>
            </a:pPr>
            <a:r>
              <a:rPr sz="1600" spc="55" dirty="0">
                <a:latin typeface="Cambria"/>
                <a:cs typeface="Cambria"/>
              </a:rPr>
              <a:t>	Nordic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Mobile</a:t>
            </a:r>
            <a:r>
              <a:rPr sz="1600" spc="2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Telephone</a:t>
            </a:r>
            <a:r>
              <a:rPr sz="1600" spc="20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(NMT,</a:t>
            </a:r>
            <a:r>
              <a:rPr sz="1600" spc="100" dirty="0">
                <a:latin typeface="Cambria"/>
                <a:cs typeface="Cambria"/>
              </a:rPr>
              <a:t> NMT-</a:t>
            </a:r>
            <a:r>
              <a:rPr sz="1600" spc="-35" dirty="0">
                <a:latin typeface="Cambria"/>
                <a:cs typeface="Cambria"/>
              </a:rPr>
              <a:t>450,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240" dirty="0">
                <a:latin typeface="Cambria"/>
                <a:cs typeface="Cambria"/>
              </a:rPr>
              <a:t> </a:t>
            </a:r>
            <a:r>
              <a:rPr sz="1600" spc="90" dirty="0">
                <a:latin typeface="Cambria"/>
                <a:cs typeface="Cambria"/>
              </a:rPr>
              <a:t>NMT- </a:t>
            </a:r>
            <a:r>
              <a:rPr sz="1600" spc="-20" dirty="0">
                <a:latin typeface="Cambria"/>
                <a:cs typeface="Cambria"/>
              </a:rPr>
              <a:t>900)</a:t>
            </a:r>
            <a:endParaRPr sz="1600">
              <a:latin typeface="Cambria"/>
              <a:cs typeface="Cambria"/>
            </a:endParaRPr>
          </a:p>
          <a:p>
            <a:pPr marL="139700" marR="595630" indent="-139700">
              <a:lnSpc>
                <a:spcPts val="1900"/>
              </a:lnSpc>
              <a:buFont typeface="Wingdings"/>
              <a:buChar char=""/>
              <a:tabLst>
                <a:tab pos="139700" algn="l"/>
                <a:tab pos="227965" algn="l"/>
              </a:tabLst>
            </a:pPr>
            <a:r>
              <a:rPr sz="1600" spc="55" dirty="0">
                <a:latin typeface="Cambria"/>
                <a:cs typeface="Cambria"/>
              </a:rPr>
              <a:t>	Originally</a:t>
            </a:r>
            <a:r>
              <a:rPr sz="1600" spc="-10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designed</a:t>
            </a:r>
            <a:r>
              <a:rPr sz="1600" spc="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for</a:t>
            </a:r>
            <a:r>
              <a:rPr sz="1600" spc="6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12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by</a:t>
            </a:r>
            <a:r>
              <a:rPr sz="1600" spc="-5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Nordic</a:t>
            </a:r>
            <a:r>
              <a:rPr sz="1600" spc="8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countries </a:t>
            </a:r>
            <a:r>
              <a:rPr sz="1600" dirty="0">
                <a:latin typeface="Cambria"/>
                <a:cs typeface="Cambria"/>
              </a:rPr>
              <a:t>(Finland,</a:t>
            </a:r>
            <a:r>
              <a:rPr sz="1600" spc="19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Sweden,</a:t>
            </a:r>
            <a:r>
              <a:rPr sz="1600" spc="190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Norway,</a:t>
            </a:r>
            <a:r>
              <a:rPr sz="1600" spc="33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Denmark)</a:t>
            </a:r>
            <a:endParaRPr sz="1600">
              <a:latin typeface="Cambria"/>
              <a:cs typeface="Cambria"/>
            </a:endParaRPr>
          </a:p>
          <a:p>
            <a:pPr marL="139700" marR="335280" indent="-139700">
              <a:lnSpc>
                <a:spcPts val="1900"/>
              </a:lnSpc>
              <a:spcBef>
                <a:spcPts val="100"/>
              </a:spcBef>
              <a:buFont typeface="Wingdings"/>
              <a:buChar char=""/>
              <a:tabLst>
                <a:tab pos="139700" algn="l"/>
                <a:tab pos="227965" algn="l"/>
              </a:tabLst>
            </a:pPr>
            <a:r>
              <a:rPr sz="1600" spc="65" dirty="0">
                <a:latin typeface="Cambria"/>
                <a:cs typeface="Cambria"/>
              </a:rPr>
              <a:t>	Widely</a:t>
            </a:r>
            <a:r>
              <a:rPr sz="1600" spc="40" dirty="0">
                <a:latin typeface="Cambria"/>
                <a:cs typeface="Cambria"/>
              </a:rPr>
              <a:t> </a:t>
            </a:r>
            <a:r>
              <a:rPr sz="1600" spc="60" dirty="0">
                <a:latin typeface="Cambria"/>
                <a:cs typeface="Cambria"/>
              </a:rPr>
              <a:t>deployed </a:t>
            </a:r>
            <a:r>
              <a:rPr sz="1600" dirty="0">
                <a:latin typeface="Cambria"/>
                <a:cs typeface="Cambria"/>
              </a:rPr>
              <a:t>around</a:t>
            </a:r>
            <a:r>
              <a:rPr sz="1600" spc="6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the</a:t>
            </a:r>
            <a:r>
              <a:rPr sz="1600" spc="20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world,</a:t>
            </a:r>
            <a:r>
              <a:rPr sz="1600" spc="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for</a:t>
            </a:r>
            <a:r>
              <a:rPr sz="1600" spc="2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example</a:t>
            </a:r>
            <a:r>
              <a:rPr sz="1600" spc="75" dirty="0">
                <a:latin typeface="Cambria"/>
                <a:cs typeface="Cambria"/>
              </a:rPr>
              <a:t> </a:t>
            </a:r>
            <a:r>
              <a:rPr sz="1600" spc="-25" dirty="0">
                <a:latin typeface="Cambria"/>
                <a:cs typeface="Cambria"/>
              </a:rPr>
              <a:t>in </a:t>
            </a:r>
            <a:r>
              <a:rPr sz="1600" dirty="0">
                <a:latin typeface="Cambria"/>
                <a:cs typeface="Cambria"/>
              </a:rPr>
              <a:t>Saudi</a:t>
            </a:r>
            <a:r>
              <a:rPr sz="1600" spc="17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Arabia,</a:t>
            </a:r>
            <a:r>
              <a:rPr sz="1600" spc="4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Russia</a:t>
            </a:r>
            <a:r>
              <a:rPr sz="1600" spc="12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16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Switzerland.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42949" y="5759450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65111" y="455423"/>
            <a:ext cx="59690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latin typeface="Calibri"/>
                <a:cs typeface="Calibri"/>
              </a:rPr>
              <a:t>6/23/20</a:t>
            </a:r>
            <a:endParaRPr sz="13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599" y="4635499"/>
            <a:ext cx="6096000" cy="762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82319" y="4670107"/>
            <a:ext cx="10674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005599"/>
                </a:solidFill>
                <a:latin typeface="Times New Roman"/>
                <a:cs typeface="Times New Roman"/>
              </a:rPr>
              <a:t>CoICT</a:t>
            </a:r>
            <a:r>
              <a:rPr sz="1400" b="1" spc="-20" dirty="0">
                <a:solidFill>
                  <a:srgbClr val="005599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5599"/>
                </a:solidFill>
                <a:latin typeface="Times New Roman"/>
                <a:cs typeface="Times New Roman"/>
              </a:rPr>
              <a:t>–</a:t>
            </a:r>
            <a:r>
              <a:rPr sz="1400" b="1" spc="10" dirty="0">
                <a:solidFill>
                  <a:srgbClr val="005599"/>
                </a:solidFill>
                <a:latin typeface="Times New Roman"/>
                <a:cs typeface="Times New Roman"/>
              </a:rPr>
              <a:t> </a:t>
            </a:r>
            <a:r>
              <a:rPr sz="1400" b="1" spc="-25" dirty="0">
                <a:solidFill>
                  <a:srgbClr val="005599"/>
                </a:solidFill>
                <a:latin typeface="Times New Roman"/>
                <a:cs typeface="Times New Roman"/>
              </a:rPr>
              <a:t>ETE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43446" y="2194948"/>
            <a:ext cx="5088890" cy="177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0000"/>
                </a:solidFill>
                <a:latin typeface="Palatino Linotype"/>
                <a:cs typeface="Palatino Linotype"/>
              </a:rPr>
              <a:t>1G</a:t>
            </a:r>
            <a:r>
              <a:rPr sz="2000" b="1" spc="-5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b="1" dirty="0">
                <a:solidFill>
                  <a:srgbClr val="FF0000"/>
                </a:solidFill>
                <a:latin typeface="Palatino Linotype"/>
                <a:cs typeface="Palatino Linotype"/>
              </a:rPr>
              <a:t>Popular</a:t>
            </a:r>
            <a:r>
              <a:rPr sz="2000" b="1" spc="-15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b="1" dirty="0">
                <a:solidFill>
                  <a:srgbClr val="FF0000"/>
                </a:solidFill>
                <a:latin typeface="Palatino Linotype"/>
                <a:cs typeface="Palatino Linotype"/>
              </a:rPr>
              <a:t>Systems</a:t>
            </a:r>
            <a:r>
              <a:rPr sz="2000" b="1" spc="-120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b="1" dirty="0">
                <a:solidFill>
                  <a:srgbClr val="FF0000"/>
                </a:solidFill>
                <a:latin typeface="Palatino Linotype"/>
                <a:cs typeface="Palatino Linotype"/>
              </a:rPr>
              <a:t>During</a:t>
            </a:r>
            <a:r>
              <a:rPr sz="2000" b="1" spc="-45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Palatino Linotype"/>
                <a:cs typeface="Palatino Linotype"/>
              </a:rPr>
              <a:t>1980’s</a:t>
            </a:r>
            <a:endParaRPr sz="2000">
              <a:latin typeface="Palatino Linotype"/>
              <a:cs typeface="Palatino Linotype"/>
            </a:endParaRPr>
          </a:p>
          <a:p>
            <a:pPr marL="177165" indent="-177165">
              <a:lnSpc>
                <a:spcPts val="1910"/>
              </a:lnSpc>
              <a:spcBef>
                <a:spcPts val="1739"/>
              </a:spcBef>
              <a:buSzPct val="90625"/>
              <a:buFont typeface="Wingdings"/>
              <a:buChar char=""/>
              <a:tabLst>
                <a:tab pos="177165" algn="l"/>
              </a:tabLst>
            </a:pPr>
            <a:r>
              <a:rPr sz="1600" spc="20" dirty="0">
                <a:latin typeface="Cambria"/>
                <a:cs typeface="Cambria"/>
              </a:rPr>
              <a:t>Total</a:t>
            </a:r>
            <a:r>
              <a:rPr sz="1600" spc="175" dirty="0">
                <a:latin typeface="Cambria"/>
                <a:cs typeface="Cambria"/>
              </a:rPr>
              <a:t> </a:t>
            </a:r>
            <a:r>
              <a:rPr sz="1600" spc="20" dirty="0">
                <a:latin typeface="Cambria"/>
                <a:cs typeface="Cambria"/>
              </a:rPr>
              <a:t>Access</a:t>
            </a:r>
            <a:r>
              <a:rPr sz="1600" spc="155" dirty="0">
                <a:latin typeface="Cambria"/>
                <a:cs typeface="Cambria"/>
              </a:rPr>
              <a:t> </a:t>
            </a:r>
            <a:r>
              <a:rPr sz="1600" spc="20" dirty="0">
                <a:latin typeface="Cambria"/>
                <a:cs typeface="Cambria"/>
              </a:rPr>
              <a:t>Communication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20" dirty="0">
                <a:latin typeface="Cambria"/>
                <a:cs typeface="Cambria"/>
              </a:rPr>
              <a:t>System</a:t>
            </a:r>
            <a:r>
              <a:rPr sz="1600" spc="12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(TACS)</a:t>
            </a:r>
            <a:endParaRPr sz="1600">
              <a:latin typeface="Cambria"/>
              <a:cs typeface="Cambria"/>
            </a:endParaRPr>
          </a:p>
          <a:p>
            <a:pPr marL="139700" marR="250190">
              <a:lnSpc>
                <a:spcPts val="1900"/>
              </a:lnSpc>
              <a:spcBef>
                <a:spcPts val="70"/>
              </a:spcBef>
            </a:pPr>
            <a:r>
              <a:rPr sz="1600" spc="10" dirty="0">
                <a:latin typeface="Cambria"/>
                <a:cs typeface="Cambria"/>
              </a:rPr>
              <a:t>and</a:t>
            </a:r>
            <a:r>
              <a:rPr sz="1600" spc="155" dirty="0">
                <a:latin typeface="Cambria"/>
                <a:cs typeface="Cambria"/>
              </a:rPr>
              <a:t> </a:t>
            </a:r>
            <a:r>
              <a:rPr sz="1600" spc="10" dirty="0">
                <a:latin typeface="Cambria"/>
                <a:cs typeface="Cambria"/>
              </a:rPr>
              <a:t>European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spc="114" dirty="0">
                <a:latin typeface="Cambria"/>
                <a:cs typeface="Cambria"/>
              </a:rPr>
              <a:t>TACS</a:t>
            </a:r>
            <a:r>
              <a:rPr sz="1600" spc="165" dirty="0">
                <a:latin typeface="Cambria"/>
                <a:cs typeface="Cambria"/>
              </a:rPr>
              <a:t>  </a:t>
            </a:r>
            <a:r>
              <a:rPr sz="1600" spc="10" dirty="0">
                <a:latin typeface="Cambria"/>
                <a:cs typeface="Cambria"/>
              </a:rPr>
              <a:t>(ETACS)</a:t>
            </a:r>
            <a:r>
              <a:rPr sz="1600" spc="320" dirty="0">
                <a:latin typeface="Cambria"/>
                <a:cs typeface="Cambria"/>
              </a:rPr>
              <a:t> </a:t>
            </a:r>
            <a:r>
              <a:rPr sz="1600" spc="10" dirty="0">
                <a:latin typeface="Cambria"/>
                <a:cs typeface="Cambria"/>
              </a:rPr>
              <a:t>are</a:t>
            </a:r>
            <a:r>
              <a:rPr sz="1600" spc="170" dirty="0">
                <a:latin typeface="Cambria"/>
                <a:cs typeface="Cambria"/>
              </a:rPr>
              <a:t> </a:t>
            </a:r>
            <a:r>
              <a:rPr sz="1600" spc="10" dirty="0">
                <a:latin typeface="Cambria"/>
                <a:cs typeface="Cambria"/>
              </a:rPr>
              <a:t>mostly-</a:t>
            </a:r>
            <a:r>
              <a:rPr sz="1600" spc="-10" dirty="0">
                <a:latin typeface="Cambria"/>
                <a:cs typeface="Cambria"/>
              </a:rPr>
              <a:t>obsolete </a:t>
            </a:r>
            <a:r>
              <a:rPr sz="1600" dirty="0">
                <a:latin typeface="Cambria"/>
                <a:cs typeface="Cambria"/>
              </a:rPr>
              <a:t>variants</a:t>
            </a:r>
            <a:r>
              <a:rPr sz="1600" spc="12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of</a:t>
            </a:r>
            <a:r>
              <a:rPr sz="1600" spc="180" dirty="0">
                <a:latin typeface="Cambria"/>
                <a:cs typeface="Cambria"/>
              </a:rPr>
              <a:t> </a:t>
            </a:r>
            <a:r>
              <a:rPr sz="1600" spc="60" dirty="0">
                <a:latin typeface="Cambria"/>
                <a:cs typeface="Cambria"/>
              </a:rPr>
              <a:t>Advanced</a:t>
            </a:r>
            <a:r>
              <a:rPr sz="1600" spc="130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Mobile</a:t>
            </a:r>
            <a:r>
              <a:rPr sz="1600" spc="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Phone</a:t>
            </a:r>
            <a:r>
              <a:rPr sz="1600" spc="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System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(AMPS)</a:t>
            </a:r>
            <a:endParaRPr sz="1600">
              <a:latin typeface="Cambria"/>
              <a:cs typeface="Cambria"/>
            </a:endParaRPr>
          </a:p>
          <a:p>
            <a:pPr marL="227965" indent="-227965">
              <a:lnSpc>
                <a:spcPts val="1839"/>
              </a:lnSpc>
              <a:buSzPct val="90625"/>
              <a:buFont typeface="Wingdings"/>
              <a:buChar char=""/>
              <a:tabLst>
                <a:tab pos="227965" algn="l"/>
              </a:tabLst>
            </a:pPr>
            <a:r>
              <a:rPr sz="1600" spc="50" dirty="0">
                <a:latin typeface="Cambria"/>
                <a:cs typeface="Cambria"/>
              </a:rPr>
              <a:t>Announced</a:t>
            </a:r>
            <a:r>
              <a:rPr sz="1600" spc="6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as</a:t>
            </a:r>
            <a:r>
              <a:rPr sz="1600" spc="6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the</a:t>
            </a:r>
            <a:r>
              <a:rPr sz="1600" spc="7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choice</a:t>
            </a:r>
            <a:r>
              <a:rPr sz="1600" spc="8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for</a:t>
            </a:r>
            <a:r>
              <a:rPr sz="1600" spc="1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the</a:t>
            </a:r>
            <a:r>
              <a:rPr sz="1600" spc="17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first</a:t>
            </a:r>
            <a:r>
              <a:rPr sz="1600" spc="2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two</a:t>
            </a:r>
            <a:r>
              <a:rPr sz="1600" spc="65" dirty="0">
                <a:latin typeface="Cambria"/>
                <a:cs typeface="Cambria"/>
              </a:rPr>
              <a:t> </a:t>
            </a:r>
            <a:r>
              <a:rPr sz="1600" spc="145" dirty="0">
                <a:latin typeface="Cambria"/>
                <a:cs typeface="Cambria"/>
              </a:rPr>
              <a:t>UK</a:t>
            </a:r>
            <a:r>
              <a:rPr sz="1600" spc="17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national</a:t>
            </a:r>
            <a:endParaRPr sz="1600">
              <a:latin typeface="Cambria"/>
              <a:cs typeface="Cambria"/>
            </a:endParaRPr>
          </a:p>
          <a:p>
            <a:pPr marL="139700">
              <a:lnSpc>
                <a:spcPct val="100000"/>
              </a:lnSpc>
              <a:spcBef>
                <a:spcPts val="80"/>
              </a:spcBef>
            </a:pPr>
            <a:r>
              <a:rPr sz="1600" dirty="0">
                <a:latin typeface="Cambria"/>
                <a:cs typeface="Cambria"/>
              </a:rPr>
              <a:t>cellular</a:t>
            </a:r>
            <a:r>
              <a:rPr sz="1600" spc="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systems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in</a:t>
            </a:r>
            <a:r>
              <a:rPr sz="1600" spc="185" dirty="0">
                <a:latin typeface="Cambria"/>
                <a:cs typeface="Cambria"/>
              </a:rPr>
              <a:t> </a:t>
            </a:r>
            <a:r>
              <a:rPr sz="1600" spc="-20" dirty="0">
                <a:latin typeface="Cambria"/>
                <a:cs typeface="Cambria"/>
              </a:rPr>
              <a:t>1983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42949" y="1492249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599" y="8902700"/>
            <a:ext cx="6096000" cy="76200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782319" y="6332340"/>
            <a:ext cx="5071110" cy="2844165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260985">
              <a:lnSpc>
                <a:spcPct val="100000"/>
              </a:lnSpc>
              <a:spcBef>
                <a:spcPts val="1120"/>
              </a:spcBef>
            </a:pPr>
            <a:r>
              <a:rPr sz="2000" b="1" dirty="0">
                <a:solidFill>
                  <a:srgbClr val="FF0000"/>
                </a:solidFill>
                <a:latin typeface="Palatino Linotype"/>
                <a:cs typeface="Palatino Linotype"/>
              </a:rPr>
              <a:t>1G</a:t>
            </a:r>
            <a:r>
              <a:rPr sz="2000" b="1" spc="25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b="1" dirty="0">
                <a:solidFill>
                  <a:srgbClr val="FF0000"/>
                </a:solidFill>
                <a:latin typeface="Palatino Linotype"/>
                <a:cs typeface="Palatino Linotype"/>
              </a:rPr>
              <a:t>Systems</a:t>
            </a:r>
            <a:r>
              <a:rPr sz="2000" b="1" spc="-95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Palatino Linotype"/>
                <a:cs typeface="Palatino Linotype"/>
              </a:rPr>
              <a:t>Disadvantages</a:t>
            </a:r>
            <a:endParaRPr sz="2000">
              <a:latin typeface="Palatino Linotype"/>
              <a:cs typeface="Palatino Linotype"/>
            </a:endParaRPr>
          </a:p>
          <a:p>
            <a:pPr marL="379095" indent="-182880">
              <a:lnSpc>
                <a:spcPts val="1910"/>
              </a:lnSpc>
              <a:spcBef>
                <a:spcPts val="820"/>
              </a:spcBef>
              <a:buSzPct val="93750"/>
              <a:buFont typeface="Wingdings"/>
              <a:buChar char=""/>
              <a:tabLst>
                <a:tab pos="379095" algn="l"/>
              </a:tabLst>
            </a:pPr>
            <a:r>
              <a:rPr sz="1600" dirty="0">
                <a:latin typeface="Cambria"/>
                <a:cs typeface="Cambria"/>
              </a:rPr>
              <a:t>Poor</a:t>
            </a:r>
            <a:r>
              <a:rPr sz="1600" spc="12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voice</a:t>
            </a:r>
            <a:r>
              <a:rPr sz="1600" spc="8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quality</a:t>
            </a:r>
            <a:r>
              <a:rPr sz="1600" spc="45" dirty="0">
                <a:latin typeface="Cambria"/>
                <a:cs typeface="Cambria"/>
              </a:rPr>
              <a:t> </a:t>
            </a:r>
            <a:r>
              <a:rPr sz="1600" spc="65" dirty="0">
                <a:latin typeface="Cambria"/>
                <a:cs typeface="Cambria"/>
              </a:rPr>
              <a:t>due</a:t>
            </a:r>
            <a:r>
              <a:rPr sz="1600" spc="7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to</a:t>
            </a:r>
            <a:r>
              <a:rPr sz="1600" spc="19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interference</a:t>
            </a:r>
            <a:endParaRPr sz="1600">
              <a:latin typeface="Cambria"/>
              <a:cs typeface="Cambria"/>
            </a:endParaRPr>
          </a:p>
          <a:p>
            <a:pPr marL="379095" indent="-182880">
              <a:lnSpc>
                <a:spcPts val="1900"/>
              </a:lnSpc>
              <a:buSzPct val="93750"/>
              <a:buFont typeface="Wingdings"/>
              <a:buChar char=""/>
              <a:tabLst>
                <a:tab pos="379095" algn="l"/>
              </a:tabLst>
            </a:pPr>
            <a:r>
              <a:rPr sz="1600" dirty="0">
                <a:latin typeface="Cambria"/>
                <a:cs typeface="Cambria"/>
              </a:rPr>
              <a:t>Poor</a:t>
            </a:r>
            <a:r>
              <a:rPr sz="1600" spc="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battery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-20" dirty="0">
                <a:latin typeface="Cambria"/>
                <a:cs typeface="Cambria"/>
              </a:rPr>
              <a:t>life</a:t>
            </a:r>
            <a:endParaRPr sz="1600">
              <a:latin typeface="Cambria"/>
              <a:cs typeface="Cambria"/>
            </a:endParaRPr>
          </a:p>
          <a:p>
            <a:pPr marL="379095" indent="-182880">
              <a:lnSpc>
                <a:spcPts val="1900"/>
              </a:lnSpc>
              <a:buSzPct val="93750"/>
              <a:buFont typeface="Wingdings"/>
              <a:buChar char=""/>
              <a:tabLst>
                <a:tab pos="379095" algn="l"/>
              </a:tabLst>
            </a:pPr>
            <a:r>
              <a:rPr sz="1600" dirty="0">
                <a:latin typeface="Cambria"/>
                <a:cs typeface="Cambria"/>
              </a:rPr>
              <a:t>Large</a:t>
            </a:r>
            <a:r>
              <a:rPr sz="1600" spc="19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sized</a:t>
            </a:r>
            <a:r>
              <a:rPr sz="1600" spc="6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mobile</a:t>
            </a:r>
            <a:r>
              <a:rPr sz="1600" spc="8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phones</a:t>
            </a:r>
            <a:r>
              <a:rPr sz="1600" spc="5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(not</a:t>
            </a:r>
            <a:r>
              <a:rPr sz="1600" spc="26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convenient</a:t>
            </a:r>
            <a:r>
              <a:rPr sz="1600" spc="1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to</a:t>
            </a:r>
            <a:r>
              <a:rPr sz="1600" spc="19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carry)</a:t>
            </a:r>
            <a:endParaRPr sz="1600">
              <a:latin typeface="Cambria"/>
              <a:cs typeface="Cambria"/>
            </a:endParaRPr>
          </a:p>
          <a:p>
            <a:pPr marL="379095" indent="-182880">
              <a:lnSpc>
                <a:spcPts val="1910"/>
              </a:lnSpc>
              <a:buSzPct val="93750"/>
              <a:buFont typeface="Wingdings"/>
              <a:buChar char=""/>
              <a:tabLst>
                <a:tab pos="379095" algn="l"/>
              </a:tabLst>
            </a:pPr>
            <a:r>
              <a:rPr sz="1600" dirty="0">
                <a:latin typeface="Cambria"/>
                <a:cs typeface="Cambria"/>
              </a:rPr>
              <a:t>Less security</a:t>
            </a:r>
            <a:r>
              <a:rPr sz="1600" spc="-1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(calls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could</a:t>
            </a:r>
            <a:r>
              <a:rPr sz="1600" spc="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be</a:t>
            </a:r>
            <a:r>
              <a:rPr sz="1600" spc="130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decoded</a:t>
            </a:r>
            <a:r>
              <a:rPr sz="1600" spc="10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using</a:t>
            </a:r>
            <a:r>
              <a:rPr sz="1600" spc="-1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</a:t>
            </a:r>
            <a:r>
              <a:rPr sz="1600" spc="55" dirty="0">
                <a:latin typeface="Cambria"/>
                <a:cs typeface="Cambria"/>
              </a:rPr>
              <a:t> </a:t>
            </a:r>
            <a:r>
              <a:rPr sz="1600" spc="95" dirty="0">
                <a:latin typeface="Cambria"/>
                <a:cs typeface="Cambria"/>
              </a:rPr>
              <a:t>FM</a:t>
            </a:r>
            <a:endParaRPr sz="1600">
              <a:latin typeface="Cambria"/>
              <a:cs typeface="Cambria"/>
            </a:endParaRPr>
          </a:p>
          <a:p>
            <a:pPr marL="341630">
              <a:lnSpc>
                <a:spcPts val="1910"/>
              </a:lnSpc>
              <a:spcBef>
                <a:spcPts val="80"/>
              </a:spcBef>
            </a:pPr>
            <a:r>
              <a:rPr sz="1600" spc="-10" dirty="0">
                <a:latin typeface="Cambria"/>
                <a:cs typeface="Cambria"/>
              </a:rPr>
              <a:t>demodulator)</a:t>
            </a:r>
            <a:endParaRPr sz="1600">
              <a:latin typeface="Cambria"/>
              <a:cs typeface="Cambria"/>
            </a:endParaRPr>
          </a:p>
          <a:p>
            <a:pPr marL="379095" indent="-182880">
              <a:lnSpc>
                <a:spcPts val="1900"/>
              </a:lnSpc>
              <a:buSzPct val="93750"/>
              <a:buFont typeface="Wingdings"/>
              <a:buChar char=""/>
              <a:tabLst>
                <a:tab pos="379095" algn="l"/>
              </a:tabLst>
            </a:pPr>
            <a:r>
              <a:rPr sz="1600" spc="45" dirty="0">
                <a:latin typeface="Cambria"/>
                <a:cs typeface="Cambria"/>
              </a:rPr>
              <a:t>Limited </a:t>
            </a:r>
            <a:r>
              <a:rPr sz="1600" dirty="0">
                <a:latin typeface="Cambria"/>
                <a:cs typeface="Cambria"/>
              </a:rPr>
              <a:t>number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of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users</a:t>
            </a:r>
            <a:r>
              <a:rPr sz="1600" spc="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17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cell</a:t>
            </a:r>
            <a:r>
              <a:rPr sz="1600" spc="6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coverage</a:t>
            </a:r>
            <a:endParaRPr sz="1600">
              <a:latin typeface="Cambria"/>
              <a:cs typeface="Cambria"/>
            </a:endParaRPr>
          </a:p>
          <a:p>
            <a:pPr marL="379095" indent="-182880">
              <a:lnSpc>
                <a:spcPts val="1900"/>
              </a:lnSpc>
              <a:buSzPct val="93750"/>
              <a:buFont typeface="Wingdings"/>
              <a:buChar char=""/>
              <a:tabLst>
                <a:tab pos="379095" algn="l"/>
              </a:tabLst>
            </a:pPr>
            <a:r>
              <a:rPr sz="1600" dirty="0">
                <a:latin typeface="Cambria"/>
                <a:cs typeface="Cambria"/>
              </a:rPr>
              <a:t>Poor</a:t>
            </a:r>
            <a:r>
              <a:rPr sz="1600" spc="18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handoff</a:t>
            </a:r>
            <a:r>
              <a:rPr sz="1600" spc="18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reliability</a:t>
            </a:r>
            <a:endParaRPr sz="1600">
              <a:latin typeface="Cambria"/>
              <a:cs typeface="Cambria"/>
            </a:endParaRPr>
          </a:p>
          <a:p>
            <a:pPr marL="379095" indent="-182880">
              <a:lnSpc>
                <a:spcPts val="1910"/>
              </a:lnSpc>
              <a:buSzPct val="93750"/>
              <a:buFont typeface="Wingdings"/>
              <a:buChar char=""/>
              <a:tabLst>
                <a:tab pos="379095" algn="l"/>
              </a:tabLst>
            </a:pPr>
            <a:r>
              <a:rPr sz="1600" spc="45" dirty="0">
                <a:latin typeface="Cambria"/>
                <a:cs typeface="Cambria"/>
              </a:rPr>
              <a:t>Roaming</a:t>
            </a:r>
            <a:r>
              <a:rPr sz="1600" spc="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was</a:t>
            </a:r>
            <a:r>
              <a:rPr sz="1600" spc="32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not</a:t>
            </a:r>
            <a:r>
              <a:rPr sz="1600" spc="1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possible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between</a:t>
            </a:r>
            <a:r>
              <a:rPr sz="1600" spc="-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similar </a:t>
            </a:r>
            <a:r>
              <a:rPr sz="1600" spc="-10" dirty="0">
                <a:latin typeface="Cambria"/>
                <a:cs typeface="Cambria"/>
              </a:rPr>
              <a:t>systems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50"/>
              </a:spcBef>
            </a:pPr>
            <a:r>
              <a:rPr sz="1400" b="1" spc="-10" dirty="0">
                <a:solidFill>
                  <a:srgbClr val="005599"/>
                </a:solidFill>
                <a:latin typeface="Times New Roman"/>
                <a:cs typeface="Times New Roman"/>
              </a:rPr>
              <a:t>CoICT</a:t>
            </a:r>
            <a:r>
              <a:rPr sz="1400" b="1" spc="-20" dirty="0">
                <a:solidFill>
                  <a:srgbClr val="005599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5599"/>
                </a:solidFill>
                <a:latin typeface="Times New Roman"/>
                <a:cs typeface="Times New Roman"/>
              </a:rPr>
              <a:t>–</a:t>
            </a:r>
            <a:r>
              <a:rPr sz="1400" b="1" spc="10" dirty="0">
                <a:solidFill>
                  <a:srgbClr val="005599"/>
                </a:solidFill>
                <a:latin typeface="Times New Roman"/>
                <a:cs typeface="Times New Roman"/>
              </a:rPr>
              <a:t> </a:t>
            </a:r>
            <a:r>
              <a:rPr sz="1400" b="1" spc="-25" dirty="0">
                <a:solidFill>
                  <a:srgbClr val="005599"/>
                </a:solidFill>
                <a:latin typeface="Times New Roman"/>
                <a:cs typeface="Times New Roman"/>
              </a:rPr>
              <a:t>ETE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42949" y="5759450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65111" y="455423"/>
            <a:ext cx="59690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latin typeface="Calibri"/>
                <a:cs typeface="Calibri"/>
              </a:rPr>
              <a:t>6/23/20</a:t>
            </a:r>
            <a:endParaRPr sz="13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599" y="4635499"/>
            <a:ext cx="6096000" cy="762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82319" y="2048115"/>
            <a:ext cx="3946525" cy="2861310"/>
          </a:xfrm>
          <a:prstGeom prst="rect">
            <a:avLst/>
          </a:prstGeom>
        </p:spPr>
        <p:txBody>
          <a:bodyPr vert="horz" wrap="square" lIns="0" tIns="159385" rIns="0" bIns="0" rtlCol="0">
            <a:spAutoFit/>
          </a:bodyPr>
          <a:lstStyle/>
          <a:p>
            <a:pPr marL="260985">
              <a:lnSpc>
                <a:spcPct val="100000"/>
              </a:lnSpc>
              <a:spcBef>
                <a:spcPts val="1255"/>
              </a:spcBef>
            </a:pPr>
            <a:r>
              <a:rPr sz="2000" b="1" dirty="0">
                <a:solidFill>
                  <a:srgbClr val="FF0000"/>
                </a:solidFill>
                <a:latin typeface="Palatino Linotype"/>
                <a:cs typeface="Palatino Linotype"/>
              </a:rPr>
              <a:t>Second</a:t>
            </a:r>
            <a:r>
              <a:rPr sz="2000" b="1" spc="-10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b="1" dirty="0">
                <a:solidFill>
                  <a:srgbClr val="FF0000"/>
                </a:solidFill>
                <a:latin typeface="Palatino Linotype"/>
                <a:cs typeface="Palatino Linotype"/>
              </a:rPr>
              <a:t>Generation</a:t>
            </a:r>
            <a:r>
              <a:rPr sz="2000" b="1" spc="-125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b="1" spc="-25" dirty="0">
                <a:solidFill>
                  <a:srgbClr val="FF0000"/>
                </a:solidFill>
                <a:latin typeface="Palatino Linotype"/>
                <a:cs typeface="Palatino Linotype"/>
              </a:rPr>
              <a:t>2G</a:t>
            </a:r>
            <a:endParaRPr sz="2000">
              <a:latin typeface="Palatino Linotype"/>
              <a:cs typeface="Palatino Linotype"/>
            </a:endParaRPr>
          </a:p>
          <a:p>
            <a:pPr marL="405130" indent="-227965">
              <a:lnSpc>
                <a:spcPts val="1910"/>
              </a:lnSpc>
              <a:spcBef>
                <a:spcPts val="925"/>
              </a:spcBef>
              <a:buFont typeface="Wingdings"/>
              <a:buChar char=""/>
              <a:tabLst>
                <a:tab pos="405130" algn="l"/>
              </a:tabLst>
            </a:pPr>
            <a:r>
              <a:rPr sz="1600" dirty="0">
                <a:latin typeface="Cambria"/>
                <a:cs typeface="Cambria"/>
              </a:rPr>
              <a:t>Was</a:t>
            </a:r>
            <a:r>
              <a:rPr sz="1600" spc="2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launched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in</a:t>
            </a:r>
            <a:r>
              <a:rPr sz="1600" spc="16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Finland</a:t>
            </a:r>
            <a:r>
              <a:rPr sz="1600" spc="2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in</a:t>
            </a:r>
            <a:r>
              <a:rPr sz="1600" spc="165" dirty="0">
                <a:latin typeface="Cambria"/>
                <a:cs typeface="Cambria"/>
              </a:rPr>
              <a:t> </a:t>
            </a:r>
            <a:r>
              <a:rPr sz="1600" spc="-20" dirty="0">
                <a:latin typeface="Cambria"/>
                <a:cs typeface="Cambria"/>
              </a:rPr>
              <a:t>1991</a:t>
            </a:r>
            <a:endParaRPr sz="1600">
              <a:latin typeface="Cambria"/>
              <a:cs typeface="Cambria"/>
            </a:endParaRPr>
          </a:p>
          <a:p>
            <a:pPr marL="316865" marR="5080" indent="-139700">
              <a:lnSpc>
                <a:spcPts val="1900"/>
              </a:lnSpc>
              <a:spcBef>
                <a:spcPts val="70"/>
              </a:spcBef>
              <a:buFont typeface="Wingdings"/>
              <a:buChar char=""/>
              <a:tabLst>
                <a:tab pos="316865" algn="l"/>
                <a:tab pos="405130" algn="l"/>
              </a:tabLst>
            </a:pPr>
            <a:r>
              <a:rPr sz="1600" dirty="0">
                <a:latin typeface="Cambria"/>
                <a:cs typeface="Cambria"/>
              </a:rPr>
              <a:t>	Is</a:t>
            </a:r>
            <a:r>
              <a:rPr sz="1600" spc="18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</a:t>
            </a:r>
            <a:r>
              <a:rPr sz="1600" spc="16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new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digital</a:t>
            </a:r>
            <a:r>
              <a:rPr sz="1600" spc="7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technology</a:t>
            </a:r>
            <a:r>
              <a:rPr sz="1600" spc="17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for</a:t>
            </a:r>
            <a:r>
              <a:rPr sz="1600" spc="12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wireless transmission</a:t>
            </a:r>
            <a:endParaRPr sz="1600">
              <a:latin typeface="Cambria"/>
              <a:cs typeface="Cambria"/>
            </a:endParaRPr>
          </a:p>
          <a:p>
            <a:pPr marL="405130" indent="-227965">
              <a:lnSpc>
                <a:spcPts val="1839"/>
              </a:lnSpc>
              <a:buFont typeface="Wingdings"/>
              <a:buChar char=""/>
              <a:tabLst>
                <a:tab pos="405130" algn="l"/>
              </a:tabLst>
            </a:pPr>
            <a:r>
              <a:rPr sz="1600" dirty="0">
                <a:latin typeface="Cambria"/>
                <a:cs typeface="Cambria"/>
              </a:rPr>
              <a:t>It</a:t>
            </a:r>
            <a:r>
              <a:rPr sz="1600" spc="2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was</a:t>
            </a:r>
            <a:r>
              <a:rPr sz="1600" spc="16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known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as</a:t>
            </a:r>
            <a:r>
              <a:rPr sz="1600" spc="16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Digital</a:t>
            </a:r>
            <a:r>
              <a:rPr sz="1600" spc="185" dirty="0">
                <a:latin typeface="Cambria"/>
                <a:cs typeface="Cambria"/>
              </a:rPr>
              <a:t> </a:t>
            </a:r>
            <a:r>
              <a:rPr sz="1600" spc="-25" dirty="0">
                <a:latin typeface="Cambria"/>
                <a:cs typeface="Cambria"/>
              </a:rPr>
              <a:t>Era</a:t>
            </a:r>
            <a:endParaRPr sz="1600">
              <a:latin typeface="Cambria"/>
              <a:cs typeface="Cambria"/>
            </a:endParaRPr>
          </a:p>
          <a:p>
            <a:pPr marL="316865" marR="361950" indent="-139700">
              <a:lnSpc>
                <a:spcPts val="1900"/>
              </a:lnSpc>
              <a:spcBef>
                <a:spcPts val="160"/>
              </a:spcBef>
              <a:buFont typeface="Wingdings"/>
              <a:buChar char=""/>
              <a:tabLst>
                <a:tab pos="316865" algn="l"/>
                <a:tab pos="405130" algn="l"/>
              </a:tabLst>
            </a:pPr>
            <a:r>
              <a:rPr sz="1600" dirty="0">
                <a:latin typeface="Cambria"/>
                <a:cs typeface="Cambria"/>
              </a:rPr>
              <a:t>	Based</a:t>
            </a:r>
            <a:r>
              <a:rPr sz="1600" spc="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on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60" dirty="0">
                <a:latin typeface="Cambria"/>
                <a:cs typeface="Cambria"/>
              </a:rPr>
              <a:t>Global</a:t>
            </a:r>
            <a:r>
              <a:rPr sz="1600" spc="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System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for</a:t>
            </a:r>
            <a:r>
              <a:rPr sz="1600" spc="210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Mobile </a:t>
            </a:r>
            <a:r>
              <a:rPr sz="1600" dirty="0">
                <a:latin typeface="Cambria"/>
                <a:cs typeface="Cambria"/>
              </a:rPr>
              <a:t>communication</a:t>
            </a:r>
            <a:r>
              <a:rPr sz="1600" spc="130" dirty="0"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FF0000"/>
                </a:solidFill>
                <a:latin typeface="Palatino Linotype"/>
                <a:cs typeface="Palatino Linotype"/>
              </a:rPr>
              <a:t>(GSM)</a:t>
            </a:r>
            <a:r>
              <a:rPr sz="1600" b="1" spc="215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1600" spc="-10" dirty="0">
                <a:latin typeface="Cambria"/>
                <a:cs typeface="Cambria"/>
              </a:rPr>
              <a:t>technology</a:t>
            </a:r>
            <a:endParaRPr sz="1600">
              <a:latin typeface="Cambria"/>
              <a:cs typeface="Cambria"/>
            </a:endParaRPr>
          </a:p>
          <a:p>
            <a:pPr marL="405130" indent="-227965">
              <a:lnSpc>
                <a:spcPts val="1830"/>
              </a:lnSpc>
              <a:buFont typeface="Wingdings"/>
              <a:buChar char=""/>
              <a:tabLst>
                <a:tab pos="405130" algn="l"/>
              </a:tabLst>
            </a:pPr>
            <a:r>
              <a:rPr sz="1600" spc="135" dirty="0">
                <a:latin typeface="Cambria"/>
                <a:cs typeface="Cambria"/>
              </a:rPr>
              <a:t>GSM</a:t>
            </a:r>
            <a:r>
              <a:rPr sz="1600" spc="16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was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globally</a:t>
            </a:r>
            <a:r>
              <a:rPr sz="1600" spc="-2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accepted</a:t>
            </a:r>
            <a:endParaRPr sz="1600">
              <a:latin typeface="Cambria"/>
              <a:cs typeface="Cambria"/>
            </a:endParaRPr>
          </a:p>
          <a:p>
            <a:pPr marL="405130" indent="-227965">
              <a:lnSpc>
                <a:spcPts val="1910"/>
              </a:lnSpc>
              <a:buFont typeface="Wingdings"/>
              <a:buChar char=""/>
              <a:tabLst>
                <a:tab pos="405130" algn="l"/>
              </a:tabLst>
            </a:pPr>
            <a:r>
              <a:rPr sz="1600" spc="65" dirty="0">
                <a:latin typeface="Cambria"/>
                <a:cs typeface="Cambria"/>
              </a:rPr>
              <a:t>Also</a:t>
            </a:r>
            <a:r>
              <a:rPr sz="1600" spc="155" dirty="0"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FF0000"/>
                </a:solidFill>
                <a:latin typeface="Palatino Linotype"/>
                <a:cs typeface="Palatino Linotype"/>
              </a:rPr>
              <a:t>CDMA</a:t>
            </a:r>
            <a:r>
              <a:rPr sz="1600" b="1" spc="25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1600" dirty="0">
                <a:latin typeface="Cambria"/>
                <a:cs typeface="Cambria"/>
              </a:rPr>
              <a:t>technology</a:t>
            </a:r>
            <a:r>
              <a:rPr sz="1600" spc="1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is</a:t>
            </a:r>
            <a:r>
              <a:rPr sz="1600" spc="30" dirty="0">
                <a:latin typeface="Cambria"/>
                <a:cs typeface="Cambria"/>
              </a:rPr>
              <a:t> used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844"/>
              </a:spcBef>
            </a:pPr>
            <a:r>
              <a:rPr sz="1400" b="1" spc="-10" dirty="0">
                <a:solidFill>
                  <a:srgbClr val="005599"/>
                </a:solidFill>
                <a:latin typeface="Times New Roman"/>
                <a:cs typeface="Times New Roman"/>
              </a:rPr>
              <a:t>CoICT</a:t>
            </a:r>
            <a:r>
              <a:rPr sz="1400" b="1" spc="-20" dirty="0">
                <a:solidFill>
                  <a:srgbClr val="005599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5599"/>
                </a:solidFill>
                <a:latin typeface="Times New Roman"/>
                <a:cs typeface="Times New Roman"/>
              </a:rPr>
              <a:t>–</a:t>
            </a:r>
            <a:r>
              <a:rPr sz="1400" b="1" spc="10" dirty="0">
                <a:solidFill>
                  <a:srgbClr val="005599"/>
                </a:solidFill>
                <a:latin typeface="Times New Roman"/>
                <a:cs typeface="Times New Roman"/>
              </a:rPr>
              <a:t> </a:t>
            </a:r>
            <a:r>
              <a:rPr sz="1400" b="1" spc="-25" dirty="0">
                <a:solidFill>
                  <a:srgbClr val="005599"/>
                </a:solidFill>
                <a:latin typeface="Times New Roman"/>
                <a:cs typeface="Times New Roman"/>
              </a:rPr>
              <a:t>ETE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36599" y="1485899"/>
            <a:ext cx="6096000" cy="3429000"/>
            <a:chOff x="736599" y="1485899"/>
            <a:chExt cx="6096000" cy="342900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37251" y="2536470"/>
              <a:ext cx="105533" cy="190280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59894" y="2536470"/>
              <a:ext cx="1027636" cy="6582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37251" y="2536470"/>
              <a:ext cx="1343967" cy="197148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37251" y="4439270"/>
              <a:ext cx="1238432" cy="6868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75684" y="2605155"/>
              <a:ext cx="105534" cy="190280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775672" y="4507958"/>
              <a:ext cx="635" cy="0"/>
            </a:xfrm>
            <a:custGeom>
              <a:avLst/>
              <a:gdLst/>
              <a:ahLst/>
              <a:cxnLst/>
              <a:rect l="l" t="t" r="r" b="b"/>
              <a:pathLst>
                <a:path w="635">
                  <a:moveTo>
                    <a:pt x="0" y="0"/>
                  </a:moveTo>
                  <a:lnTo>
                    <a:pt x="12" y="0"/>
                  </a:lnTo>
                </a:path>
              </a:pathLst>
            </a:custGeom>
            <a:ln w="3175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486387" y="2397519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86387" y="2397519"/>
              <a:ext cx="649964" cy="1959121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6136350" y="4356639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3" y="0"/>
                  </a:lnTo>
                </a:path>
              </a:pathLst>
            </a:custGeom>
            <a:ln w="3175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557221" y="2166530"/>
              <a:ext cx="575312" cy="22585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486387" y="2166530"/>
              <a:ext cx="1346211" cy="219010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136351" y="4125650"/>
              <a:ext cx="696247" cy="23099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182635" y="2166530"/>
              <a:ext cx="649963" cy="195911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742949" y="1492249"/>
              <a:ext cx="6083300" cy="3416300"/>
            </a:xfrm>
            <a:custGeom>
              <a:avLst/>
              <a:gdLst/>
              <a:ahLst/>
              <a:cxnLst/>
              <a:rect l="l" t="t" r="r" b="b"/>
              <a:pathLst>
                <a:path w="6083300" h="3416300">
                  <a:moveTo>
                    <a:pt x="0" y="0"/>
                  </a:moveTo>
                  <a:lnTo>
                    <a:pt x="6083300" y="0"/>
                  </a:lnTo>
                  <a:lnTo>
                    <a:pt x="6083300" y="3416300"/>
                  </a:lnTo>
                  <a:lnTo>
                    <a:pt x="0" y="34163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9" name="object 2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599" y="8902700"/>
            <a:ext cx="6096000" cy="76200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782319" y="6431910"/>
            <a:ext cx="4858385" cy="274447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394970">
              <a:lnSpc>
                <a:spcPct val="100000"/>
              </a:lnSpc>
              <a:spcBef>
                <a:spcPts val="705"/>
              </a:spcBef>
            </a:pPr>
            <a:r>
              <a:rPr sz="2000" b="1" dirty="0">
                <a:solidFill>
                  <a:srgbClr val="FF0000"/>
                </a:solidFill>
                <a:latin typeface="Palatino Linotype"/>
                <a:cs typeface="Palatino Linotype"/>
              </a:rPr>
              <a:t>2G</a:t>
            </a:r>
            <a:r>
              <a:rPr sz="2000" b="1" spc="30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Palatino Linotype"/>
                <a:cs typeface="Palatino Linotype"/>
              </a:rPr>
              <a:t>Features</a:t>
            </a:r>
            <a:endParaRPr sz="2000">
              <a:latin typeface="Palatino Linotype"/>
              <a:cs typeface="Palatino Linotype"/>
            </a:endParaRPr>
          </a:p>
          <a:p>
            <a:pPr marL="622935" indent="-227965">
              <a:lnSpc>
                <a:spcPts val="1910"/>
              </a:lnSpc>
              <a:spcBef>
                <a:spcPts val="490"/>
              </a:spcBef>
              <a:buFont typeface="Wingdings"/>
              <a:buChar char=""/>
              <a:tabLst>
                <a:tab pos="622935" algn="l"/>
              </a:tabLst>
            </a:pPr>
            <a:r>
              <a:rPr sz="1600" dirty="0">
                <a:latin typeface="Cambria"/>
                <a:cs typeface="Cambria"/>
              </a:rPr>
              <a:t>Digital</a:t>
            </a:r>
            <a:r>
              <a:rPr sz="1600" spc="39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system</a:t>
            </a:r>
            <a:endParaRPr sz="1600">
              <a:latin typeface="Cambria"/>
              <a:cs typeface="Cambria"/>
            </a:endParaRPr>
          </a:p>
          <a:p>
            <a:pPr marL="622935" indent="-227965">
              <a:lnSpc>
                <a:spcPts val="1900"/>
              </a:lnSpc>
              <a:buFont typeface="Wingdings"/>
              <a:buChar char=""/>
              <a:tabLst>
                <a:tab pos="622935" algn="l"/>
              </a:tabLst>
            </a:pPr>
            <a:r>
              <a:rPr sz="1600" spc="10" dirty="0">
                <a:latin typeface="Cambria"/>
                <a:cs typeface="Cambria"/>
              </a:rPr>
              <a:t>supporting</a:t>
            </a:r>
            <a:r>
              <a:rPr sz="1600" dirty="0">
                <a:latin typeface="Cambria"/>
                <a:cs typeface="Cambria"/>
              </a:rPr>
              <a:t> </a:t>
            </a:r>
            <a:r>
              <a:rPr sz="1600" spc="85" dirty="0">
                <a:latin typeface="Cambria"/>
                <a:cs typeface="Cambria"/>
              </a:rPr>
              <a:t>up</a:t>
            </a:r>
            <a:r>
              <a:rPr sz="1600" spc="40" dirty="0">
                <a:latin typeface="Cambria"/>
                <a:cs typeface="Cambria"/>
              </a:rPr>
              <a:t> </a:t>
            </a:r>
            <a:r>
              <a:rPr sz="1600" spc="10" dirty="0">
                <a:latin typeface="Cambria"/>
                <a:cs typeface="Cambria"/>
              </a:rPr>
              <a:t>to</a:t>
            </a:r>
            <a:r>
              <a:rPr sz="1600" spc="1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64kbps</a:t>
            </a:r>
            <a:r>
              <a:rPr sz="1600" spc="20" dirty="0">
                <a:latin typeface="Cambria"/>
                <a:cs typeface="Cambria"/>
              </a:rPr>
              <a:t> </a:t>
            </a:r>
            <a:r>
              <a:rPr sz="1600" spc="10" dirty="0">
                <a:latin typeface="Cambria"/>
                <a:cs typeface="Cambria"/>
              </a:rPr>
              <a:t>data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-20" dirty="0">
                <a:latin typeface="Cambria"/>
                <a:cs typeface="Cambria"/>
              </a:rPr>
              <a:t>rate</a:t>
            </a:r>
            <a:endParaRPr sz="1600">
              <a:latin typeface="Cambria"/>
              <a:cs typeface="Cambria"/>
            </a:endParaRPr>
          </a:p>
          <a:p>
            <a:pPr marL="572135" indent="-193675">
              <a:lnSpc>
                <a:spcPts val="1900"/>
              </a:lnSpc>
              <a:buFont typeface="Wingdings"/>
              <a:buChar char=""/>
              <a:tabLst>
                <a:tab pos="572135" algn="l"/>
              </a:tabLst>
            </a:pPr>
            <a:r>
              <a:rPr sz="1600" dirty="0">
                <a:latin typeface="Cambria"/>
                <a:cs typeface="Cambria"/>
              </a:rPr>
              <a:t>Frequency:</a:t>
            </a:r>
            <a:r>
              <a:rPr sz="1600" spc="-15" dirty="0">
                <a:latin typeface="Cambria"/>
                <a:cs typeface="Cambria"/>
              </a:rPr>
              <a:t> </a:t>
            </a:r>
            <a:r>
              <a:rPr sz="1600" spc="-45" dirty="0">
                <a:latin typeface="Cambria"/>
                <a:cs typeface="Cambria"/>
              </a:rPr>
              <a:t>900/1800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125" dirty="0">
                <a:latin typeface="Cambria"/>
                <a:cs typeface="Cambria"/>
              </a:rPr>
              <a:t>MHz</a:t>
            </a:r>
            <a:endParaRPr sz="1600">
              <a:latin typeface="Cambria"/>
              <a:cs typeface="Cambria"/>
            </a:endParaRPr>
          </a:p>
          <a:p>
            <a:pPr marL="572135" indent="-193675">
              <a:lnSpc>
                <a:spcPts val="1910"/>
              </a:lnSpc>
              <a:buFont typeface="Wingdings"/>
              <a:buChar char=""/>
              <a:tabLst>
                <a:tab pos="572135" algn="l"/>
              </a:tabLst>
            </a:pPr>
            <a:r>
              <a:rPr sz="1600" dirty="0">
                <a:latin typeface="Cambria"/>
                <a:cs typeface="Cambria"/>
              </a:rPr>
              <a:t>Access:</a:t>
            </a:r>
            <a:r>
              <a:rPr sz="1600" spc="16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Time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Division</a:t>
            </a:r>
            <a:r>
              <a:rPr sz="1600" spc="130" dirty="0">
                <a:latin typeface="Cambria"/>
                <a:cs typeface="Cambria"/>
              </a:rPr>
              <a:t> </a:t>
            </a:r>
            <a:r>
              <a:rPr sz="1600" spc="60" dirty="0">
                <a:latin typeface="Cambria"/>
                <a:cs typeface="Cambria"/>
              </a:rPr>
              <a:t>Multiple</a:t>
            </a:r>
            <a:r>
              <a:rPr sz="1600" spc="8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Access</a:t>
            </a:r>
            <a:r>
              <a:rPr sz="1600" spc="65" dirty="0">
                <a:latin typeface="Cambria"/>
                <a:cs typeface="Cambria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(TDMA)</a:t>
            </a:r>
            <a:endParaRPr sz="1600">
              <a:latin typeface="Times New Roman"/>
              <a:cs typeface="Times New Roman"/>
            </a:endParaRPr>
          </a:p>
          <a:p>
            <a:pPr marL="622935" indent="-227965">
              <a:lnSpc>
                <a:spcPts val="1910"/>
              </a:lnSpc>
              <a:spcBef>
                <a:spcPts val="80"/>
              </a:spcBef>
              <a:buFont typeface="Wingdings"/>
              <a:buChar char=""/>
              <a:tabLst>
                <a:tab pos="622935" algn="l"/>
              </a:tabLst>
            </a:pPr>
            <a:r>
              <a:rPr sz="1600" spc="20" dirty="0">
                <a:latin typeface="Cambria"/>
                <a:cs typeface="Cambria"/>
              </a:rPr>
              <a:t>Text</a:t>
            </a:r>
            <a:r>
              <a:rPr sz="1600" spc="135" dirty="0">
                <a:latin typeface="Cambria"/>
                <a:cs typeface="Cambria"/>
              </a:rPr>
              <a:t> </a:t>
            </a:r>
            <a:r>
              <a:rPr sz="1600" spc="20" dirty="0">
                <a:latin typeface="Cambria"/>
                <a:cs typeface="Cambria"/>
              </a:rPr>
              <a:t>and</a:t>
            </a:r>
            <a:r>
              <a:rPr sz="1600" spc="195" dirty="0">
                <a:latin typeface="Cambria"/>
                <a:cs typeface="Cambria"/>
              </a:rPr>
              <a:t> </a:t>
            </a:r>
            <a:r>
              <a:rPr sz="1600" spc="20" dirty="0">
                <a:latin typeface="Cambria"/>
                <a:cs typeface="Cambria"/>
              </a:rPr>
              <a:t>multimedia</a:t>
            </a:r>
            <a:r>
              <a:rPr sz="1600" spc="30" dirty="0">
                <a:latin typeface="Cambria"/>
                <a:cs typeface="Cambria"/>
              </a:rPr>
              <a:t> </a:t>
            </a:r>
            <a:r>
              <a:rPr sz="1600" spc="20" dirty="0">
                <a:latin typeface="Cambria"/>
                <a:cs typeface="Cambria"/>
              </a:rPr>
              <a:t>messaging</a:t>
            </a:r>
            <a:r>
              <a:rPr sz="1600" spc="4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services</a:t>
            </a:r>
            <a:endParaRPr sz="1600">
              <a:latin typeface="Cambria"/>
              <a:cs typeface="Cambria"/>
            </a:endParaRPr>
          </a:p>
          <a:p>
            <a:pPr marL="622935" indent="-227965">
              <a:lnSpc>
                <a:spcPts val="1900"/>
              </a:lnSpc>
              <a:buFont typeface="Wingdings"/>
              <a:buChar char=""/>
              <a:tabLst>
                <a:tab pos="622935" algn="l"/>
              </a:tabLst>
            </a:pPr>
            <a:r>
              <a:rPr sz="1600" spc="45" dirty="0">
                <a:latin typeface="Cambria"/>
                <a:cs typeface="Cambria"/>
              </a:rPr>
              <a:t>Roaming</a:t>
            </a:r>
            <a:r>
              <a:rPr sz="1600" spc="-2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is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possible</a:t>
            </a:r>
            <a:endParaRPr sz="1600">
              <a:latin typeface="Cambria"/>
              <a:cs typeface="Cambria"/>
            </a:endParaRPr>
          </a:p>
          <a:p>
            <a:pPr marL="622935" indent="-227965">
              <a:lnSpc>
                <a:spcPts val="1900"/>
              </a:lnSpc>
              <a:buFont typeface="Wingdings"/>
              <a:buChar char=""/>
              <a:tabLst>
                <a:tab pos="622935" algn="l"/>
              </a:tabLst>
            </a:pPr>
            <a:r>
              <a:rPr sz="1600" dirty="0">
                <a:latin typeface="Cambria"/>
                <a:cs typeface="Cambria"/>
              </a:rPr>
              <a:t>Enhanced</a:t>
            </a:r>
            <a:r>
              <a:rPr sz="1600" spc="24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security</a:t>
            </a:r>
            <a:endParaRPr sz="1600">
              <a:latin typeface="Cambria"/>
              <a:cs typeface="Cambria"/>
            </a:endParaRPr>
          </a:p>
          <a:p>
            <a:pPr marL="622935" indent="-227965">
              <a:lnSpc>
                <a:spcPts val="1910"/>
              </a:lnSpc>
              <a:buFont typeface="Wingdings"/>
              <a:buChar char=""/>
              <a:tabLst>
                <a:tab pos="622935" algn="l"/>
              </a:tabLst>
            </a:pPr>
            <a:r>
              <a:rPr sz="1600" dirty="0">
                <a:latin typeface="Cambria"/>
                <a:cs typeface="Cambria"/>
              </a:rPr>
              <a:t>Encrypted</a:t>
            </a:r>
            <a:r>
              <a:rPr sz="1600" spc="28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voice</a:t>
            </a:r>
            <a:r>
              <a:rPr sz="1600" spc="15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transmission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10"/>
              </a:spcBef>
            </a:pPr>
            <a:r>
              <a:rPr sz="1400" b="1" spc="-10" dirty="0">
                <a:solidFill>
                  <a:srgbClr val="005599"/>
                </a:solidFill>
                <a:latin typeface="Times New Roman"/>
                <a:cs typeface="Times New Roman"/>
              </a:rPr>
              <a:t>CoICT</a:t>
            </a:r>
            <a:r>
              <a:rPr sz="1400" b="1" spc="-20" dirty="0">
                <a:solidFill>
                  <a:srgbClr val="005599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5599"/>
                </a:solidFill>
                <a:latin typeface="Times New Roman"/>
                <a:cs typeface="Times New Roman"/>
              </a:rPr>
              <a:t>–</a:t>
            </a:r>
            <a:r>
              <a:rPr sz="1400" b="1" spc="10" dirty="0">
                <a:solidFill>
                  <a:srgbClr val="005599"/>
                </a:solidFill>
                <a:latin typeface="Times New Roman"/>
                <a:cs typeface="Times New Roman"/>
              </a:rPr>
              <a:t> </a:t>
            </a:r>
            <a:r>
              <a:rPr sz="1400" b="1" spc="-25" dirty="0">
                <a:solidFill>
                  <a:srgbClr val="005599"/>
                </a:solidFill>
                <a:latin typeface="Times New Roman"/>
                <a:cs typeface="Times New Roman"/>
              </a:rPr>
              <a:t>ETE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42949" y="5759450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65111" y="455423"/>
            <a:ext cx="59690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latin typeface="Calibri"/>
                <a:cs typeface="Calibri"/>
              </a:rPr>
              <a:t>6/23/20</a:t>
            </a:r>
            <a:endParaRPr sz="13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599" y="4635499"/>
            <a:ext cx="6096000" cy="762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82319" y="4670107"/>
            <a:ext cx="10674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005599"/>
                </a:solidFill>
                <a:latin typeface="Times New Roman"/>
                <a:cs typeface="Times New Roman"/>
              </a:rPr>
              <a:t>CoICT</a:t>
            </a:r>
            <a:r>
              <a:rPr sz="1400" b="1" spc="-20" dirty="0">
                <a:solidFill>
                  <a:srgbClr val="005599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5599"/>
                </a:solidFill>
                <a:latin typeface="Times New Roman"/>
                <a:cs typeface="Times New Roman"/>
              </a:rPr>
              <a:t>–</a:t>
            </a:r>
            <a:r>
              <a:rPr sz="1400" b="1" spc="10" dirty="0">
                <a:solidFill>
                  <a:srgbClr val="005599"/>
                </a:solidFill>
                <a:latin typeface="Times New Roman"/>
                <a:cs typeface="Times New Roman"/>
              </a:rPr>
              <a:t> </a:t>
            </a:r>
            <a:r>
              <a:rPr sz="1400" b="1" spc="-25" dirty="0">
                <a:solidFill>
                  <a:srgbClr val="005599"/>
                </a:solidFill>
                <a:latin typeface="Times New Roman"/>
                <a:cs typeface="Times New Roman"/>
              </a:rPr>
              <a:t>ETE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97234" y="2062834"/>
            <a:ext cx="4816475" cy="1793239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55"/>
              </a:spcBef>
            </a:pPr>
            <a:r>
              <a:rPr sz="2000" b="1" dirty="0">
                <a:solidFill>
                  <a:srgbClr val="FF0000"/>
                </a:solidFill>
                <a:latin typeface="Palatino Linotype"/>
                <a:cs typeface="Palatino Linotype"/>
              </a:rPr>
              <a:t>2G</a:t>
            </a:r>
            <a:r>
              <a:rPr sz="2000" b="1" spc="10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b="1" dirty="0">
                <a:solidFill>
                  <a:srgbClr val="FF0000"/>
                </a:solidFill>
                <a:latin typeface="Palatino Linotype"/>
                <a:cs typeface="Palatino Linotype"/>
              </a:rPr>
              <a:t>System</a:t>
            </a:r>
            <a:r>
              <a:rPr sz="2000" b="1" spc="-90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Palatino Linotype"/>
                <a:cs typeface="Palatino Linotype"/>
              </a:rPr>
              <a:t>Disadvantages</a:t>
            </a:r>
            <a:endParaRPr sz="2000">
              <a:latin typeface="Palatino Linotype"/>
              <a:cs typeface="Palatino Linotype"/>
            </a:endParaRPr>
          </a:p>
          <a:p>
            <a:pPr marL="308610" indent="-227965">
              <a:lnSpc>
                <a:spcPts val="1910"/>
              </a:lnSpc>
              <a:spcBef>
                <a:spcPts val="840"/>
              </a:spcBef>
              <a:buFont typeface="Wingdings"/>
              <a:buChar char=""/>
              <a:tabLst>
                <a:tab pos="308610" algn="l"/>
              </a:tabLst>
            </a:pPr>
            <a:r>
              <a:rPr sz="1600" spc="85" dirty="0">
                <a:latin typeface="Cambria"/>
                <a:cs typeface="Cambria"/>
              </a:rPr>
              <a:t>Low</a:t>
            </a:r>
            <a:r>
              <a:rPr sz="1600" spc="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data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-20" dirty="0">
                <a:latin typeface="Cambria"/>
                <a:cs typeface="Cambria"/>
              </a:rPr>
              <a:t>rate</a:t>
            </a:r>
            <a:endParaRPr sz="1600">
              <a:latin typeface="Cambria"/>
              <a:cs typeface="Cambria"/>
            </a:endParaRPr>
          </a:p>
          <a:p>
            <a:pPr marL="308610" indent="-227965">
              <a:lnSpc>
                <a:spcPts val="1900"/>
              </a:lnSpc>
              <a:buFont typeface="Wingdings"/>
              <a:buChar char=""/>
              <a:tabLst>
                <a:tab pos="308610" algn="l"/>
              </a:tabLst>
            </a:pPr>
            <a:r>
              <a:rPr sz="1600" spc="45" dirty="0">
                <a:latin typeface="Cambria"/>
                <a:cs typeface="Cambria"/>
              </a:rPr>
              <a:t>Limited</a:t>
            </a:r>
            <a:r>
              <a:rPr sz="1600" spc="-1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mobility</a:t>
            </a:r>
            <a:endParaRPr sz="1600">
              <a:latin typeface="Cambria"/>
              <a:cs typeface="Cambria"/>
            </a:endParaRPr>
          </a:p>
          <a:p>
            <a:pPr marL="308610" indent="-227965">
              <a:lnSpc>
                <a:spcPts val="1900"/>
              </a:lnSpc>
              <a:buFont typeface="Wingdings"/>
              <a:buChar char=""/>
              <a:tabLst>
                <a:tab pos="308610" algn="l"/>
              </a:tabLst>
            </a:pPr>
            <a:r>
              <a:rPr sz="1600" dirty="0">
                <a:latin typeface="Cambria"/>
                <a:cs typeface="Cambria"/>
              </a:rPr>
              <a:t>Less</a:t>
            </a:r>
            <a:r>
              <a:rPr sz="1600" spc="6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features</a:t>
            </a:r>
            <a:r>
              <a:rPr sz="1600" spc="19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on</a:t>
            </a:r>
            <a:r>
              <a:rPr sz="1600" spc="12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mobile</a:t>
            </a:r>
            <a:r>
              <a:rPr sz="1600" spc="8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devices</a:t>
            </a:r>
            <a:endParaRPr sz="1600">
              <a:latin typeface="Cambria"/>
              <a:cs typeface="Cambria"/>
            </a:endParaRPr>
          </a:p>
          <a:p>
            <a:pPr marL="308610" indent="-227965">
              <a:lnSpc>
                <a:spcPts val="1910"/>
              </a:lnSpc>
              <a:buFont typeface="Wingdings"/>
              <a:buChar char=""/>
              <a:tabLst>
                <a:tab pos="308610" algn="l"/>
              </a:tabLst>
            </a:pPr>
            <a:r>
              <a:rPr sz="1600" spc="45" dirty="0">
                <a:latin typeface="Cambria"/>
                <a:cs typeface="Cambria"/>
              </a:rPr>
              <a:t>Limited</a:t>
            </a:r>
            <a:r>
              <a:rPr sz="1600" spc="2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number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of</a:t>
            </a:r>
            <a:r>
              <a:rPr sz="1600" spc="7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users</a:t>
            </a:r>
            <a:r>
              <a:rPr sz="1600" spc="2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1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hardware</a:t>
            </a:r>
            <a:r>
              <a:rPr sz="1600" spc="27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capability</a:t>
            </a:r>
            <a:endParaRPr sz="1600">
              <a:latin typeface="Cambria"/>
              <a:cs typeface="Cambria"/>
            </a:endParaRPr>
          </a:p>
          <a:p>
            <a:pPr marL="308610" indent="-227965">
              <a:lnSpc>
                <a:spcPct val="100000"/>
              </a:lnSpc>
              <a:spcBef>
                <a:spcPts val="80"/>
              </a:spcBef>
              <a:buFont typeface="Wingdings"/>
              <a:buChar char=""/>
              <a:tabLst>
                <a:tab pos="308610" algn="l"/>
              </a:tabLst>
            </a:pPr>
            <a:r>
              <a:rPr sz="1600" spc="10" dirty="0">
                <a:latin typeface="Cambria"/>
                <a:cs typeface="Cambria"/>
              </a:rPr>
              <a:t>Unable</a:t>
            </a:r>
            <a:r>
              <a:rPr sz="1600" spc="165" dirty="0">
                <a:latin typeface="Cambria"/>
                <a:cs typeface="Cambria"/>
              </a:rPr>
              <a:t> </a:t>
            </a:r>
            <a:r>
              <a:rPr sz="1600" spc="10" dirty="0">
                <a:latin typeface="Cambria"/>
                <a:cs typeface="Cambria"/>
              </a:rPr>
              <a:t>to</a:t>
            </a:r>
            <a:r>
              <a:rPr sz="1600" spc="160" dirty="0">
                <a:latin typeface="Cambria"/>
                <a:cs typeface="Cambria"/>
              </a:rPr>
              <a:t> </a:t>
            </a:r>
            <a:r>
              <a:rPr sz="1600" spc="10" dirty="0">
                <a:latin typeface="Cambria"/>
                <a:cs typeface="Cambria"/>
              </a:rPr>
              <a:t>handle</a:t>
            </a:r>
            <a:r>
              <a:rPr sz="1600" spc="165" dirty="0">
                <a:latin typeface="Cambria"/>
                <a:cs typeface="Cambria"/>
              </a:rPr>
              <a:t> </a:t>
            </a:r>
            <a:r>
              <a:rPr sz="1600" spc="10" dirty="0">
                <a:latin typeface="Cambria"/>
                <a:cs typeface="Cambria"/>
              </a:rPr>
              <a:t>complex</a:t>
            </a:r>
            <a:r>
              <a:rPr sz="1600" spc="-20" dirty="0">
                <a:latin typeface="Cambria"/>
                <a:cs typeface="Cambria"/>
              </a:rPr>
              <a:t> </a:t>
            </a:r>
            <a:r>
              <a:rPr sz="1600" spc="10" dirty="0">
                <a:latin typeface="Cambria"/>
                <a:cs typeface="Cambria"/>
              </a:rPr>
              <a:t>data</a:t>
            </a:r>
            <a:r>
              <a:rPr sz="1600" spc="125" dirty="0">
                <a:latin typeface="Cambria"/>
                <a:cs typeface="Cambria"/>
              </a:rPr>
              <a:t> </a:t>
            </a:r>
            <a:r>
              <a:rPr sz="1600" spc="10" dirty="0">
                <a:latin typeface="Cambria"/>
                <a:cs typeface="Cambria"/>
              </a:rPr>
              <a:t>such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10" dirty="0">
                <a:latin typeface="Cambria"/>
                <a:cs typeface="Cambria"/>
              </a:rPr>
              <a:t>as</a:t>
            </a:r>
            <a:r>
              <a:rPr sz="1600" spc="150" dirty="0">
                <a:latin typeface="Cambria"/>
                <a:cs typeface="Cambria"/>
              </a:rPr>
              <a:t> </a:t>
            </a:r>
            <a:r>
              <a:rPr sz="1600" spc="70" dirty="0">
                <a:latin typeface="Cambria"/>
                <a:cs typeface="Cambria"/>
              </a:rPr>
              <a:t>Video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42949" y="1492249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599" y="8902700"/>
            <a:ext cx="6096000" cy="76200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782319" y="6286225"/>
            <a:ext cx="4539615" cy="2889885"/>
          </a:xfrm>
          <a:prstGeom prst="rect">
            <a:avLst/>
          </a:prstGeom>
        </p:spPr>
        <p:txBody>
          <a:bodyPr vert="horz" wrap="square" lIns="0" tIns="188595" rIns="0" bIns="0" rtlCol="0">
            <a:spAutoFit/>
          </a:bodyPr>
          <a:lstStyle/>
          <a:p>
            <a:pPr marL="260985">
              <a:lnSpc>
                <a:spcPct val="100000"/>
              </a:lnSpc>
              <a:spcBef>
                <a:spcPts val="1485"/>
              </a:spcBef>
            </a:pPr>
            <a:r>
              <a:rPr sz="2000" b="1" dirty="0">
                <a:solidFill>
                  <a:srgbClr val="FF0000"/>
                </a:solidFill>
                <a:latin typeface="Palatino Linotype"/>
                <a:cs typeface="Palatino Linotype"/>
              </a:rPr>
              <a:t>Second</a:t>
            </a:r>
            <a:r>
              <a:rPr sz="2000" b="1" spc="45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b="1" dirty="0">
                <a:solidFill>
                  <a:srgbClr val="FF0000"/>
                </a:solidFill>
                <a:latin typeface="Palatino Linotype"/>
                <a:cs typeface="Palatino Linotype"/>
              </a:rPr>
              <a:t>and</a:t>
            </a:r>
            <a:r>
              <a:rPr sz="2000" b="1" spc="-45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b="1" dirty="0">
                <a:solidFill>
                  <a:srgbClr val="FF0000"/>
                </a:solidFill>
                <a:latin typeface="Palatino Linotype"/>
                <a:cs typeface="Palatino Linotype"/>
              </a:rPr>
              <a:t>a</a:t>
            </a:r>
            <a:r>
              <a:rPr sz="2000" b="1" spc="-20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b="1" dirty="0">
                <a:solidFill>
                  <a:srgbClr val="FF0000"/>
                </a:solidFill>
                <a:latin typeface="Palatino Linotype"/>
                <a:cs typeface="Palatino Linotype"/>
              </a:rPr>
              <a:t>Half</a:t>
            </a:r>
            <a:r>
              <a:rPr sz="2000" b="1" spc="-100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b="1" dirty="0">
                <a:solidFill>
                  <a:srgbClr val="FF0000"/>
                </a:solidFill>
                <a:latin typeface="Palatino Linotype"/>
                <a:cs typeface="Palatino Linotype"/>
              </a:rPr>
              <a:t>Generation,</a:t>
            </a:r>
            <a:r>
              <a:rPr sz="2000" b="1" spc="-20" dirty="0">
                <a:solidFill>
                  <a:srgbClr val="FF0000"/>
                </a:solidFill>
                <a:latin typeface="Palatino Linotype"/>
                <a:cs typeface="Palatino Linotype"/>
              </a:rPr>
              <a:t> 2.5G</a:t>
            </a:r>
            <a:endParaRPr sz="2000">
              <a:latin typeface="Palatino Linotype"/>
              <a:cs typeface="Palatino Linotype"/>
            </a:endParaRPr>
          </a:p>
          <a:p>
            <a:pPr marL="319405" marR="5080" indent="-139700">
              <a:lnSpc>
                <a:spcPts val="1900"/>
              </a:lnSpc>
              <a:spcBef>
                <a:spcPts val="1185"/>
              </a:spcBef>
              <a:buFont typeface="Wingdings"/>
              <a:buChar char=""/>
              <a:tabLst>
                <a:tab pos="319405" algn="l"/>
                <a:tab pos="407670" algn="l"/>
                <a:tab pos="2186305" algn="l"/>
              </a:tabLst>
            </a:pPr>
            <a:r>
              <a:rPr sz="1600" dirty="0">
                <a:latin typeface="Cambria"/>
                <a:cs typeface="Cambria"/>
              </a:rPr>
              <a:t>	Is</a:t>
            </a:r>
            <a:r>
              <a:rPr sz="1600" spc="16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</a:t>
            </a:r>
            <a:r>
              <a:rPr sz="1600" spc="140" dirty="0">
                <a:latin typeface="Cambria"/>
                <a:cs typeface="Cambria"/>
              </a:rPr>
              <a:t> </a:t>
            </a:r>
            <a:r>
              <a:rPr sz="1600" spc="70" dirty="0">
                <a:latin typeface="Cambria"/>
                <a:cs typeface="Cambria"/>
              </a:rPr>
              <a:t>2G</a:t>
            </a:r>
            <a:r>
              <a:rPr sz="1600" spc="12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system</a:t>
            </a:r>
            <a:r>
              <a:rPr sz="1600" spc="12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combined</a:t>
            </a:r>
            <a:r>
              <a:rPr sz="1600" spc="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with</a:t>
            </a:r>
            <a:r>
              <a:rPr sz="1600" spc="229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General</a:t>
            </a:r>
            <a:r>
              <a:rPr sz="1600" spc="18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Packet </a:t>
            </a:r>
            <a:r>
              <a:rPr sz="1600" spc="50" dirty="0">
                <a:latin typeface="Cambria"/>
                <a:cs typeface="Cambria"/>
              </a:rPr>
              <a:t>Radio </a:t>
            </a:r>
            <a:r>
              <a:rPr sz="1600" dirty="0">
                <a:latin typeface="Cambria"/>
                <a:cs typeface="Cambria"/>
              </a:rPr>
              <a:t>Services</a:t>
            </a:r>
            <a:r>
              <a:rPr sz="1600" spc="17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(GPRS)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to</a:t>
            </a:r>
            <a:r>
              <a:rPr sz="1600" spc="160" dirty="0">
                <a:latin typeface="Cambria"/>
                <a:cs typeface="Cambria"/>
              </a:rPr>
              <a:t>  </a:t>
            </a:r>
            <a:r>
              <a:rPr sz="1600" dirty="0">
                <a:latin typeface="Cambria"/>
                <a:cs typeface="Cambria"/>
              </a:rPr>
              <a:t>provide</a:t>
            </a:r>
            <a:r>
              <a:rPr sz="1600" spc="7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higher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-20" dirty="0">
                <a:latin typeface="Cambria"/>
                <a:cs typeface="Cambria"/>
              </a:rPr>
              <a:t>data </a:t>
            </a:r>
            <a:r>
              <a:rPr sz="1600" dirty="0">
                <a:latin typeface="Cambria"/>
                <a:cs typeface="Cambria"/>
              </a:rPr>
              <a:t>rate</a:t>
            </a:r>
            <a:r>
              <a:rPr sz="1600" spc="6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5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additional</a:t>
            </a:r>
            <a:r>
              <a:rPr sz="1600" dirty="0">
                <a:latin typeface="Cambria"/>
                <a:cs typeface="Cambria"/>
              </a:rPr>
              <a:t>	</a:t>
            </a:r>
            <a:r>
              <a:rPr sz="1600" spc="-10" dirty="0">
                <a:latin typeface="Cambria"/>
                <a:cs typeface="Cambria"/>
              </a:rPr>
              <a:t>capabilities</a:t>
            </a:r>
            <a:endParaRPr sz="1600">
              <a:latin typeface="Cambria"/>
              <a:cs typeface="Cambria"/>
            </a:endParaRPr>
          </a:p>
          <a:p>
            <a:pPr marL="407670" indent="-227965">
              <a:lnSpc>
                <a:spcPts val="1839"/>
              </a:lnSpc>
              <a:buFont typeface="Wingdings"/>
              <a:buChar char=""/>
              <a:tabLst>
                <a:tab pos="407670" algn="l"/>
              </a:tabLst>
            </a:pPr>
            <a:r>
              <a:rPr sz="1600" b="1" dirty="0">
                <a:latin typeface="Palatino Linotype"/>
                <a:cs typeface="Palatino Linotype"/>
              </a:rPr>
              <a:t>2.5G</a:t>
            </a:r>
            <a:r>
              <a:rPr sz="1600" b="1" spc="-20" dirty="0">
                <a:latin typeface="Palatino Linotype"/>
                <a:cs typeface="Palatino Linotype"/>
              </a:rPr>
              <a:t> </a:t>
            </a:r>
            <a:r>
              <a:rPr sz="1600" dirty="0">
                <a:latin typeface="Cambria"/>
                <a:cs typeface="Cambria"/>
              </a:rPr>
              <a:t>is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used</a:t>
            </a:r>
            <a:r>
              <a:rPr sz="1600" spc="-1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to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describe</a:t>
            </a:r>
            <a:r>
              <a:rPr sz="1600" spc="-5" dirty="0">
                <a:latin typeface="Cambria"/>
                <a:cs typeface="Cambria"/>
              </a:rPr>
              <a:t> </a:t>
            </a:r>
            <a:r>
              <a:rPr sz="1600" spc="70" dirty="0">
                <a:latin typeface="Cambria"/>
                <a:cs typeface="Cambria"/>
              </a:rPr>
              <a:t>2G</a:t>
            </a:r>
            <a:r>
              <a:rPr sz="1600" spc="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systems</a:t>
            </a:r>
            <a:r>
              <a:rPr sz="1600" spc="-2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</a:t>
            </a:r>
            <a:r>
              <a:rPr sz="1600" b="1" dirty="0">
                <a:latin typeface="Palatino Linotype"/>
                <a:cs typeface="Palatino Linotype"/>
              </a:rPr>
              <a:t>a</a:t>
            </a:r>
            <a:r>
              <a:rPr sz="1600" dirty="0">
                <a:latin typeface="Cambria"/>
                <a:cs typeface="Cambria"/>
              </a:rPr>
              <a:t>t</a:t>
            </a:r>
            <a:r>
              <a:rPr sz="1600" spc="150" dirty="0">
                <a:latin typeface="Cambria"/>
                <a:cs typeface="Cambria"/>
              </a:rPr>
              <a:t> </a:t>
            </a:r>
            <a:r>
              <a:rPr sz="1600" spc="-20" dirty="0">
                <a:latin typeface="Cambria"/>
                <a:cs typeface="Cambria"/>
              </a:rPr>
              <a:t>h</a:t>
            </a:r>
            <a:r>
              <a:rPr sz="1600" b="1" spc="-20" dirty="0">
                <a:latin typeface="Palatino Linotype"/>
                <a:cs typeface="Palatino Linotype"/>
              </a:rPr>
              <a:t>a</a:t>
            </a:r>
            <a:r>
              <a:rPr sz="1600" spc="-20" dirty="0">
                <a:latin typeface="Cambria"/>
                <a:cs typeface="Cambria"/>
              </a:rPr>
              <a:t>ve</a:t>
            </a:r>
            <a:endParaRPr sz="1600">
              <a:latin typeface="Cambria"/>
              <a:cs typeface="Cambria"/>
            </a:endParaRPr>
          </a:p>
          <a:p>
            <a:pPr marL="319405">
              <a:lnSpc>
                <a:spcPts val="1910"/>
              </a:lnSpc>
              <a:spcBef>
                <a:spcPts val="80"/>
              </a:spcBef>
            </a:pPr>
            <a:r>
              <a:rPr sz="1600" dirty="0">
                <a:latin typeface="Cambria"/>
                <a:cs typeface="Cambria"/>
              </a:rPr>
              <a:t>implemented</a:t>
            </a:r>
            <a:r>
              <a:rPr sz="1600" spc="50" dirty="0">
                <a:latin typeface="Cambria"/>
                <a:cs typeface="Cambria"/>
              </a:rPr>
              <a:t> </a:t>
            </a:r>
            <a:r>
              <a:rPr sz="1600" b="1" dirty="0">
                <a:latin typeface="Palatino Linotype"/>
                <a:cs typeface="Palatino Linotype"/>
              </a:rPr>
              <a:t>a</a:t>
            </a:r>
            <a:r>
              <a:rPr sz="1600" b="1" spc="105" dirty="0">
                <a:latin typeface="Palatino Linotype"/>
                <a:cs typeface="Palatino Linotype"/>
              </a:rPr>
              <a:t> </a:t>
            </a:r>
            <a:r>
              <a:rPr sz="1600" b="1" spc="-20" dirty="0">
                <a:solidFill>
                  <a:srgbClr val="FF0000"/>
                </a:solidFill>
                <a:latin typeface="Palatino Linotype"/>
                <a:cs typeface="Palatino Linotype"/>
              </a:rPr>
              <a:t>packet-</a:t>
            </a:r>
            <a:r>
              <a:rPr sz="1600" b="1" dirty="0">
                <a:solidFill>
                  <a:srgbClr val="FF0000"/>
                </a:solidFill>
                <a:latin typeface="Palatino Linotype"/>
                <a:cs typeface="Palatino Linotype"/>
              </a:rPr>
              <a:t>switched</a:t>
            </a:r>
            <a:r>
              <a:rPr sz="1600" b="1" spc="250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1600" spc="40" dirty="0">
                <a:latin typeface="Cambria"/>
                <a:cs typeface="Cambria"/>
              </a:rPr>
              <a:t>dom</a:t>
            </a:r>
            <a:r>
              <a:rPr sz="1600" b="1" spc="40" dirty="0">
                <a:latin typeface="Palatino Linotype"/>
                <a:cs typeface="Palatino Linotype"/>
              </a:rPr>
              <a:t>a</a:t>
            </a:r>
            <a:r>
              <a:rPr sz="1600" spc="40" dirty="0">
                <a:latin typeface="Cambria"/>
                <a:cs typeface="Cambria"/>
              </a:rPr>
              <a:t>in</a:t>
            </a:r>
            <a:endParaRPr sz="1600">
              <a:latin typeface="Cambria"/>
              <a:cs typeface="Cambria"/>
            </a:endParaRPr>
          </a:p>
          <a:p>
            <a:pPr marL="319405">
              <a:lnSpc>
                <a:spcPts val="1900"/>
              </a:lnSpc>
            </a:pPr>
            <a:r>
              <a:rPr sz="1600" spc="10" dirty="0">
                <a:latin typeface="Cambria"/>
                <a:cs typeface="Cambria"/>
              </a:rPr>
              <a:t>in</a:t>
            </a:r>
            <a:r>
              <a:rPr sz="1600" spc="70" dirty="0">
                <a:latin typeface="Cambria"/>
                <a:cs typeface="Cambria"/>
              </a:rPr>
              <a:t> </a:t>
            </a:r>
            <a:r>
              <a:rPr sz="1600" b="1" spc="10" dirty="0">
                <a:latin typeface="Palatino Linotype"/>
                <a:cs typeface="Palatino Linotype"/>
              </a:rPr>
              <a:t>a</a:t>
            </a:r>
            <a:r>
              <a:rPr sz="1600" spc="10" dirty="0">
                <a:latin typeface="Cambria"/>
                <a:cs typeface="Cambria"/>
              </a:rPr>
              <a:t>ddition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spc="10" dirty="0">
                <a:latin typeface="Cambria"/>
                <a:cs typeface="Cambria"/>
              </a:rPr>
              <a:t>to</a:t>
            </a:r>
            <a:r>
              <a:rPr sz="1600" spc="130" dirty="0">
                <a:latin typeface="Cambria"/>
                <a:cs typeface="Cambria"/>
              </a:rPr>
              <a:t> </a:t>
            </a:r>
            <a:r>
              <a:rPr sz="1600" spc="10" dirty="0">
                <a:latin typeface="Cambria"/>
                <a:cs typeface="Cambria"/>
              </a:rPr>
              <a:t>the</a:t>
            </a:r>
            <a:r>
              <a:rPr sz="1600" spc="1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circuit-</a:t>
            </a:r>
            <a:r>
              <a:rPr sz="1600" spc="10" dirty="0">
                <a:latin typeface="Cambria"/>
                <a:cs typeface="Cambria"/>
              </a:rPr>
              <a:t>switched</a:t>
            </a:r>
            <a:r>
              <a:rPr sz="1600" spc="245" dirty="0">
                <a:latin typeface="Cambria"/>
                <a:cs typeface="Cambria"/>
              </a:rPr>
              <a:t> </a:t>
            </a:r>
            <a:r>
              <a:rPr sz="1600" spc="40" dirty="0">
                <a:latin typeface="Cambria"/>
                <a:cs typeface="Cambria"/>
              </a:rPr>
              <a:t>dom</a:t>
            </a:r>
            <a:r>
              <a:rPr sz="1600" b="1" spc="40" dirty="0">
                <a:latin typeface="Palatino Linotype"/>
                <a:cs typeface="Palatino Linotype"/>
              </a:rPr>
              <a:t>a</a:t>
            </a:r>
            <a:r>
              <a:rPr sz="1600" spc="40" dirty="0">
                <a:latin typeface="Cambria"/>
                <a:cs typeface="Cambria"/>
              </a:rPr>
              <a:t>in</a:t>
            </a:r>
            <a:endParaRPr sz="1600">
              <a:latin typeface="Cambria"/>
              <a:cs typeface="Cambria"/>
            </a:endParaRPr>
          </a:p>
          <a:p>
            <a:pPr marL="407670" indent="-227965">
              <a:lnSpc>
                <a:spcPts val="1900"/>
              </a:lnSpc>
              <a:buFont typeface="Wingdings"/>
              <a:buChar char=""/>
              <a:tabLst>
                <a:tab pos="407670" algn="l"/>
              </a:tabLst>
            </a:pPr>
            <a:r>
              <a:rPr sz="1600" spc="75" dirty="0">
                <a:latin typeface="Cambria"/>
                <a:cs typeface="Cambria"/>
              </a:rPr>
              <a:t>2G</a:t>
            </a:r>
            <a:r>
              <a:rPr sz="1600" spc="25" dirty="0">
                <a:latin typeface="Cambria"/>
                <a:cs typeface="Cambria"/>
              </a:rPr>
              <a:t> </a:t>
            </a:r>
            <a:r>
              <a:rPr sz="1600" spc="75" dirty="0">
                <a:latin typeface="Cambria"/>
                <a:cs typeface="Cambria"/>
              </a:rPr>
              <a:t>+</a:t>
            </a:r>
            <a:r>
              <a:rPr sz="1600" spc="80" dirty="0">
                <a:latin typeface="Cambria"/>
                <a:cs typeface="Cambria"/>
              </a:rPr>
              <a:t> GPRS</a:t>
            </a:r>
            <a:endParaRPr sz="1600">
              <a:latin typeface="Cambria"/>
              <a:cs typeface="Cambria"/>
            </a:endParaRPr>
          </a:p>
          <a:p>
            <a:pPr marL="407670" indent="-227965">
              <a:lnSpc>
                <a:spcPts val="1910"/>
              </a:lnSpc>
              <a:buFont typeface="Wingdings"/>
              <a:buChar char=""/>
              <a:tabLst>
                <a:tab pos="407670" algn="l"/>
              </a:tabLst>
            </a:pPr>
            <a:r>
              <a:rPr sz="1600" dirty="0">
                <a:latin typeface="Cambria"/>
                <a:cs typeface="Cambria"/>
              </a:rPr>
              <a:t>Speed</a:t>
            </a:r>
            <a:r>
              <a:rPr sz="1600" spc="5" dirty="0">
                <a:latin typeface="Cambria"/>
                <a:cs typeface="Cambria"/>
              </a:rPr>
              <a:t> </a:t>
            </a:r>
            <a:r>
              <a:rPr sz="1600" spc="-50" dirty="0">
                <a:latin typeface="Cambria"/>
                <a:cs typeface="Cambria"/>
              </a:rPr>
              <a:t>56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–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64kbps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r>
              <a:rPr sz="1400" b="1" spc="-10" dirty="0">
                <a:solidFill>
                  <a:srgbClr val="005599"/>
                </a:solidFill>
                <a:latin typeface="Times New Roman"/>
                <a:cs typeface="Times New Roman"/>
              </a:rPr>
              <a:t>CoICT</a:t>
            </a:r>
            <a:r>
              <a:rPr sz="1400" b="1" spc="-20" dirty="0">
                <a:solidFill>
                  <a:srgbClr val="005599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5599"/>
                </a:solidFill>
                <a:latin typeface="Times New Roman"/>
                <a:cs typeface="Times New Roman"/>
              </a:rPr>
              <a:t>–</a:t>
            </a:r>
            <a:r>
              <a:rPr sz="1400" b="1" spc="10" dirty="0">
                <a:solidFill>
                  <a:srgbClr val="005599"/>
                </a:solidFill>
                <a:latin typeface="Times New Roman"/>
                <a:cs typeface="Times New Roman"/>
              </a:rPr>
              <a:t> </a:t>
            </a:r>
            <a:r>
              <a:rPr sz="1400" b="1" spc="-25" dirty="0">
                <a:solidFill>
                  <a:srgbClr val="005599"/>
                </a:solidFill>
                <a:latin typeface="Times New Roman"/>
                <a:cs typeface="Times New Roman"/>
              </a:rPr>
              <a:t>ETE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36599" y="5753100"/>
            <a:ext cx="6096000" cy="3429000"/>
            <a:chOff x="736599" y="5753100"/>
            <a:chExt cx="6096000" cy="3429000"/>
          </a:xfrm>
        </p:grpSpPr>
        <p:sp>
          <p:nvSpPr>
            <p:cNvPr id="20" name="object 20"/>
            <p:cNvSpPr/>
            <p:nvPr/>
          </p:nvSpPr>
          <p:spPr>
            <a:xfrm>
              <a:off x="5924412" y="6504146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2" y="0"/>
                  </a:lnTo>
                </a:path>
              </a:pathLst>
            </a:custGeom>
            <a:ln w="3175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33834" y="6517676"/>
              <a:ext cx="388334" cy="2054288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45431" y="6504146"/>
              <a:ext cx="678841" cy="17044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33834" y="6504146"/>
              <a:ext cx="1294949" cy="224277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33834" y="8576474"/>
              <a:ext cx="904370" cy="170449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438205" y="6674596"/>
              <a:ext cx="391160" cy="2072639"/>
            </a:xfrm>
            <a:custGeom>
              <a:avLst/>
              <a:gdLst/>
              <a:ahLst/>
              <a:cxnLst/>
              <a:rect l="l" t="t" r="r" b="b"/>
              <a:pathLst>
                <a:path w="391159" h="2072640">
                  <a:moveTo>
                    <a:pt x="390578" y="0"/>
                  </a:moveTo>
                  <a:lnTo>
                    <a:pt x="0" y="0"/>
                  </a:lnTo>
                  <a:lnTo>
                    <a:pt x="0" y="2072327"/>
                  </a:lnTo>
                  <a:lnTo>
                    <a:pt x="390578" y="0"/>
                  </a:lnTo>
                  <a:close/>
                </a:path>
              </a:pathLst>
            </a:custGeom>
            <a:solidFill>
              <a:srgbClr val="FE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42949" y="5759450"/>
              <a:ext cx="6083300" cy="3416300"/>
            </a:xfrm>
            <a:custGeom>
              <a:avLst/>
              <a:gdLst/>
              <a:ahLst/>
              <a:cxnLst/>
              <a:rect l="l" t="t" r="r" b="b"/>
              <a:pathLst>
                <a:path w="6083300" h="3416300">
                  <a:moveTo>
                    <a:pt x="0" y="0"/>
                  </a:moveTo>
                  <a:lnTo>
                    <a:pt x="6083300" y="0"/>
                  </a:lnTo>
                  <a:lnTo>
                    <a:pt x="6083300" y="3416300"/>
                  </a:lnTo>
                  <a:lnTo>
                    <a:pt x="0" y="34163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65111" y="455423"/>
            <a:ext cx="59690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latin typeface="Calibri"/>
                <a:cs typeface="Calibri"/>
              </a:rPr>
              <a:t>6/23/20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8425"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University</a:t>
            </a:r>
            <a:r>
              <a:rPr spc="-21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Dar</a:t>
            </a:r>
            <a:r>
              <a:rPr spc="60" dirty="0"/>
              <a:t> </a:t>
            </a:r>
            <a:r>
              <a:rPr dirty="0"/>
              <a:t>es</a:t>
            </a:r>
            <a:r>
              <a:rPr spc="114" dirty="0"/>
              <a:t> </a:t>
            </a:r>
            <a:r>
              <a:rPr spc="-10" dirty="0"/>
              <a:t>Salaam</a:t>
            </a: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599" y="4635499"/>
            <a:ext cx="6096000" cy="7620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68910" rIns="0" bIns="0" rtlCol="0">
            <a:spAutoFit/>
          </a:bodyPr>
          <a:lstStyle/>
          <a:p>
            <a:pPr marL="260985">
              <a:lnSpc>
                <a:spcPct val="100000"/>
              </a:lnSpc>
              <a:spcBef>
                <a:spcPts val="1330"/>
              </a:spcBef>
            </a:pPr>
            <a:r>
              <a:rPr dirty="0"/>
              <a:t>2.75 </a:t>
            </a:r>
            <a:r>
              <a:rPr spc="-10" dirty="0"/>
              <a:t>Generation</a:t>
            </a:r>
          </a:p>
          <a:p>
            <a:pPr marL="400685" marR="622935" indent="-139700">
              <a:lnSpc>
                <a:spcPts val="1900"/>
              </a:lnSpc>
              <a:spcBef>
                <a:spcPts val="1070"/>
              </a:spcBef>
              <a:buFont typeface="Wingdings"/>
              <a:buChar char=""/>
              <a:tabLst>
                <a:tab pos="400685" algn="l"/>
                <a:tab pos="488950" algn="l"/>
              </a:tabLst>
            </a:pPr>
            <a:r>
              <a:rPr sz="1600" b="0" dirty="0">
                <a:solidFill>
                  <a:srgbClr val="000000"/>
                </a:solidFill>
                <a:latin typeface="Cambria"/>
                <a:cs typeface="Cambria"/>
              </a:rPr>
              <a:t>	In</a:t>
            </a:r>
            <a:r>
              <a:rPr sz="1600" b="0" spc="12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dirty="0">
                <a:solidFill>
                  <a:srgbClr val="000000"/>
                </a:solidFill>
                <a:latin typeface="Cambria"/>
                <a:cs typeface="Cambria"/>
              </a:rPr>
              <a:t>order</a:t>
            </a:r>
            <a:r>
              <a:rPr sz="1600" b="0" spc="2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dirty="0">
                <a:solidFill>
                  <a:srgbClr val="000000"/>
                </a:solidFill>
                <a:latin typeface="Cambria"/>
                <a:cs typeface="Cambria"/>
              </a:rPr>
              <a:t>to</a:t>
            </a:r>
            <a:r>
              <a:rPr sz="1600" b="0" spc="8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dirty="0">
                <a:solidFill>
                  <a:srgbClr val="000000"/>
                </a:solidFill>
                <a:latin typeface="Cambria"/>
                <a:cs typeface="Cambria"/>
              </a:rPr>
              <a:t>enhance</a:t>
            </a:r>
            <a:r>
              <a:rPr sz="1600" b="0" spc="9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dirty="0">
                <a:solidFill>
                  <a:srgbClr val="000000"/>
                </a:solidFill>
                <a:latin typeface="Cambria"/>
                <a:cs typeface="Cambria"/>
              </a:rPr>
              <a:t>Data</a:t>
            </a:r>
            <a:r>
              <a:rPr sz="1600" b="0" spc="16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dirty="0">
                <a:solidFill>
                  <a:srgbClr val="000000"/>
                </a:solidFill>
                <a:latin typeface="Cambria"/>
                <a:cs typeface="Cambria"/>
              </a:rPr>
              <a:t>rate</a:t>
            </a:r>
            <a:r>
              <a:rPr sz="1600" b="0" spc="9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spc="100" dirty="0">
                <a:solidFill>
                  <a:srgbClr val="000000"/>
                </a:solidFill>
                <a:latin typeface="Cambria"/>
                <a:cs typeface="Cambria"/>
              </a:rPr>
              <a:t>GPRS</a:t>
            </a:r>
            <a:r>
              <a:rPr sz="1600" b="0" spc="1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dirty="0">
                <a:solidFill>
                  <a:srgbClr val="000000"/>
                </a:solidFill>
                <a:latin typeface="Cambria"/>
                <a:cs typeface="Cambria"/>
              </a:rPr>
              <a:t>networks</a:t>
            </a:r>
            <a:r>
              <a:rPr sz="1600" b="0" spc="7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spc="45" dirty="0">
                <a:solidFill>
                  <a:srgbClr val="000000"/>
                </a:solidFill>
                <a:latin typeface="Cambria"/>
                <a:cs typeface="Cambria"/>
              </a:rPr>
              <a:t>evolved </a:t>
            </a:r>
            <a:r>
              <a:rPr sz="1600" b="0" dirty="0">
                <a:solidFill>
                  <a:srgbClr val="000000"/>
                </a:solidFill>
                <a:latin typeface="Cambria"/>
                <a:cs typeface="Cambria"/>
              </a:rPr>
              <a:t>to</a:t>
            </a:r>
            <a:r>
              <a:rPr sz="1600" b="0" spc="9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dirty="0">
                <a:solidFill>
                  <a:srgbClr val="000000"/>
                </a:solidFill>
                <a:latin typeface="Cambria"/>
                <a:cs typeface="Cambria"/>
              </a:rPr>
              <a:t>Enhanced</a:t>
            </a:r>
            <a:r>
              <a:rPr sz="1600" b="0" spc="10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dirty="0">
                <a:solidFill>
                  <a:srgbClr val="000000"/>
                </a:solidFill>
                <a:latin typeface="Cambria"/>
                <a:cs typeface="Cambria"/>
              </a:rPr>
              <a:t>Data</a:t>
            </a:r>
            <a:r>
              <a:rPr sz="1600" b="0" spc="18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dirty="0">
                <a:solidFill>
                  <a:srgbClr val="000000"/>
                </a:solidFill>
                <a:latin typeface="Cambria"/>
                <a:cs typeface="Cambria"/>
              </a:rPr>
              <a:t>rates</a:t>
            </a:r>
            <a:r>
              <a:rPr sz="1600" b="0" spc="9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dirty="0">
                <a:solidFill>
                  <a:srgbClr val="000000"/>
                </a:solidFill>
                <a:latin typeface="Cambria"/>
                <a:cs typeface="Cambria"/>
              </a:rPr>
              <a:t>for</a:t>
            </a:r>
            <a:r>
              <a:rPr sz="1600" b="0" spc="4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spc="135" dirty="0">
                <a:solidFill>
                  <a:srgbClr val="000000"/>
                </a:solidFill>
                <a:latin typeface="Cambria"/>
                <a:cs typeface="Cambria"/>
              </a:rPr>
              <a:t>GSM</a:t>
            </a:r>
            <a:r>
              <a:rPr sz="1600" b="0" spc="16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spc="45" dirty="0">
                <a:solidFill>
                  <a:srgbClr val="000000"/>
                </a:solidFill>
                <a:latin typeface="Cambria"/>
                <a:cs typeface="Cambria"/>
              </a:rPr>
              <a:t>Evolution</a:t>
            </a:r>
            <a:r>
              <a:rPr sz="1600" b="0" spc="-7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spc="-10" dirty="0">
                <a:solidFill>
                  <a:srgbClr val="000000"/>
                </a:solidFill>
                <a:latin typeface="Cambria"/>
                <a:cs typeface="Cambria"/>
              </a:rPr>
              <a:t>(EDGE) networks</a:t>
            </a:r>
            <a:endParaRPr sz="1600" dirty="0">
              <a:latin typeface="Cambria"/>
              <a:cs typeface="Cambria"/>
            </a:endParaRPr>
          </a:p>
          <a:p>
            <a:pPr marL="488950" indent="-227965">
              <a:lnSpc>
                <a:spcPts val="1839"/>
              </a:lnSpc>
              <a:buFont typeface="Wingdings"/>
              <a:buChar char=""/>
              <a:tabLst>
                <a:tab pos="488950" algn="l"/>
              </a:tabLst>
            </a:pPr>
            <a:r>
              <a:rPr sz="1600" b="0" spc="65" dirty="0">
                <a:solidFill>
                  <a:srgbClr val="000000"/>
                </a:solidFill>
                <a:latin typeface="Cambria"/>
                <a:cs typeface="Cambria"/>
              </a:rPr>
              <a:t>Also</a:t>
            </a:r>
            <a:r>
              <a:rPr sz="1600" b="0" spc="15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dirty="0">
                <a:solidFill>
                  <a:srgbClr val="000000"/>
                </a:solidFill>
                <a:latin typeface="Cambria"/>
                <a:cs typeface="Cambria"/>
              </a:rPr>
              <a:t>known</a:t>
            </a:r>
            <a:r>
              <a:rPr sz="1600" b="0" spc="9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dirty="0">
                <a:solidFill>
                  <a:srgbClr val="000000"/>
                </a:solidFill>
                <a:latin typeface="Cambria"/>
                <a:cs typeface="Cambria"/>
              </a:rPr>
              <a:t>as</a:t>
            </a:r>
            <a:r>
              <a:rPr sz="1600" b="0" spc="14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dirty="0">
                <a:solidFill>
                  <a:srgbClr val="000000"/>
                </a:solidFill>
                <a:latin typeface="Cambria"/>
                <a:cs typeface="Cambria"/>
              </a:rPr>
              <a:t>Enhanced</a:t>
            </a:r>
            <a:r>
              <a:rPr sz="1600" b="0" spc="15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spc="100" dirty="0">
                <a:solidFill>
                  <a:srgbClr val="000000"/>
                </a:solidFill>
                <a:latin typeface="Cambria"/>
                <a:cs typeface="Cambria"/>
              </a:rPr>
              <a:t>GPRS</a:t>
            </a:r>
            <a:r>
              <a:rPr sz="1600" b="0" spc="7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spc="-10" dirty="0">
                <a:solidFill>
                  <a:srgbClr val="000000"/>
                </a:solidFill>
                <a:latin typeface="Cambria"/>
                <a:cs typeface="Cambria"/>
              </a:rPr>
              <a:t>(EGPRS)</a:t>
            </a:r>
            <a:endParaRPr sz="1600" dirty="0">
              <a:latin typeface="Cambria"/>
              <a:cs typeface="Cambria"/>
            </a:endParaRPr>
          </a:p>
          <a:p>
            <a:pPr marL="488950" indent="-227965">
              <a:lnSpc>
                <a:spcPts val="1910"/>
              </a:lnSpc>
              <a:spcBef>
                <a:spcPts val="80"/>
              </a:spcBef>
              <a:buFont typeface="Wingdings"/>
              <a:buChar char=""/>
              <a:tabLst>
                <a:tab pos="488950" algn="l"/>
              </a:tabLst>
            </a:pPr>
            <a:r>
              <a:rPr sz="1600" b="0" dirty="0">
                <a:solidFill>
                  <a:srgbClr val="000000"/>
                </a:solidFill>
                <a:latin typeface="Cambria"/>
                <a:cs typeface="Cambria"/>
              </a:rPr>
              <a:t>Data</a:t>
            </a:r>
            <a:r>
              <a:rPr sz="1600" b="0" spc="114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dirty="0">
                <a:solidFill>
                  <a:srgbClr val="000000"/>
                </a:solidFill>
                <a:latin typeface="Cambria"/>
                <a:cs typeface="Cambria"/>
              </a:rPr>
              <a:t>rate</a:t>
            </a:r>
            <a:r>
              <a:rPr sz="1600" b="0" spc="5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spc="-75" dirty="0">
                <a:solidFill>
                  <a:srgbClr val="000000"/>
                </a:solidFill>
                <a:latin typeface="Cambria"/>
                <a:cs typeface="Cambria"/>
              </a:rPr>
              <a:t>170</a:t>
            </a:r>
            <a:r>
              <a:rPr sz="1600" b="0" spc="2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spc="-20" dirty="0">
                <a:solidFill>
                  <a:srgbClr val="000000"/>
                </a:solidFill>
                <a:latin typeface="Cambria"/>
                <a:cs typeface="Cambria"/>
              </a:rPr>
              <a:t>kbps</a:t>
            </a:r>
            <a:endParaRPr sz="1600" dirty="0">
              <a:latin typeface="Cambria"/>
              <a:cs typeface="Cambria"/>
            </a:endParaRPr>
          </a:p>
          <a:p>
            <a:pPr marL="400685" marR="287020" indent="-139700">
              <a:lnSpc>
                <a:spcPts val="1900"/>
              </a:lnSpc>
              <a:spcBef>
                <a:spcPts val="70"/>
              </a:spcBef>
              <a:buFont typeface="Wingdings"/>
              <a:buChar char=""/>
              <a:tabLst>
                <a:tab pos="400685" algn="l"/>
                <a:tab pos="488950" algn="l"/>
              </a:tabLst>
            </a:pPr>
            <a:r>
              <a:rPr sz="1600" b="0" spc="114" dirty="0">
                <a:solidFill>
                  <a:srgbClr val="000000"/>
                </a:solidFill>
                <a:latin typeface="Cambria"/>
                <a:cs typeface="Cambria"/>
              </a:rPr>
              <a:t>	EDGE</a:t>
            </a:r>
            <a:r>
              <a:rPr sz="1600" b="0" spc="17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dirty="0">
                <a:solidFill>
                  <a:srgbClr val="000000"/>
                </a:solidFill>
                <a:latin typeface="Cambria"/>
                <a:cs typeface="Cambria"/>
              </a:rPr>
              <a:t>is</a:t>
            </a:r>
            <a:r>
              <a:rPr sz="1600" b="0" spc="16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dirty="0">
                <a:solidFill>
                  <a:srgbClr val="000000"/>
                </a:solidFill>
                <a:latin typeface="Cambria"/>
                <a:cs typeface="Cambria"/>
              </a:rPr>
              <a:t>considered</a:t>
            </a:r>
            <a:r>
              <a:rPr sz="1600" b="0" spc="5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dirty="0">
                <a:solidFill>
                  <a:srgbClr val="000000"/>
                </a:solidFill>
                <a:latin typeface="Cambria"/>
                <a:cs typeface="Cambria"/>
              </a:rPr>
              <a:t>a</a:t>
            </a:r>
            <a:r>
              <a:rPr sz="1600" b="0" spc="1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dirty="0">
                <a:solidFill>
                  <a:srgbClr val="000000"/>
                </a:solidFill>
                <a:latin typeface="Cambria"/>
                <a:cs typeface="Cambria"/>
              </a:rPr>
              <a:t>pre-</a:t>
            </a:r>
            <a:r>
              <a:rPr sz="1600" b="0" spc="70" dirty="0">
                <a:solidFill>
                  <a:srgbClr val="000000"/>
                </a:solidFill>
                <a:latin typeface="Cambria"/>
                <a:cs typeface="Cambria"/>
              </a:rPr>
              <a:t>3G</a:t>
            </a:r>
            <a:r>
              <a:rPr sz="1600" b="0" spc="24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dirty="0">
                <a:solidFill>
                  <a:srgbClr val="000000"/>
                </a:solidFill>
                <a:latin typeface="Cambria"/>
                <a:cs typeface="Cambria"/>
              </a:rPr>
              <a:t>radio</a:t>
            </a:r>
            <a:r>
              <a:rPr sz="1600" b="0" spc="5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dirty="0">
                <a:solidFill>
                  <a:srgbClr val="000000"/>
                </a:solidFill>
                <a:latin typeface="Cambria"/>
                <a:cs typeface="Cambria"/>
              </a:rPr>
              <a:t>technology</a:t>
            </a:r>
            <a:r>
              <a:rPr sz="1600" b="0" spc="15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dirty="0">
                <a:solidFill>
                  <a:srgbClr val="000000"/>
                </a:solidFill>
                <a:latin typeface="Cambria"/>
                <a:cs typeface="Cambria"/>
              </a:rPr>
              <a:t>and</a:t>
            </a:r>
            <a:r>
              <a:rPr sz="1600" b="0" spc="17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dirty="0">
                <a:solidFill>
                  <a:srgbClr val="000000"/>
                </a:solidFill>
                <a:latin typeface="Cambria"/>
                <a:cs typeface="Cambria"/>
              </a:rPr>
              <a:t>is</a:t>
            </a:r>
            <a:r>
              <a:rPr sz="1600" b="0" spc="4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spc="-20" dirty="0">
                <a:solidFill>
                  <a:srgbClr val="000000"/>
                </a:solidFill>
                <a:latin typeface="Cambria"/>
                <a:cs typeface="Cambria"/>
              </a:rPr>
              <a:t>part </a:t>
            </a:r>
            <a:r>
              <a:rPr sz="1600" b="0" dirty="0">
                <a:solidFill>
                  <a:srgbClr val="000000"/>
                </a:solidFill>
                <a:latin typeface="Cambria"/>
                <a:cs typeface="Cambria"/>
              </a:rPr>
              <a:t>of</a:t>
            </a:r>
            <a:r>
              <a:rPr sz="1600" b="0" spc="3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dirty="0"/>
              <a:t>ITU's</a:t>
            </a:r>
            <a:r>
              <a:rPr sz="1600" spc="10" dirty="0"/>
              <a:t> </a:t>
            </a:r>
            <a:r>
              <a:rPr sz="1600" b="0" spc="70" dirty="0">
                <a:solidFill>
                  <a:srgbClr val="000000"/>
                </a:solidFill>
                <a:latin typeface="Cambria"/>
                <a:cs typeface="Cambria"/>
              </a:rPr>
              <a:t>3G</a:t>
            </a:r>
            <a:r>
              <a:rPr sz="1600" b="0" spc="5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spc="-10" dirty="0">
                <a:solidFill>
                  <a:srgbClr val="000000"/>
                </a:solidFill>
                <a:latin typeface="Cambria"/>
                <a:cs typeface="Cambria"/>
              </a:rPr>
              <a:t>definition</a:t>
            </a:r>
            <a:endParaRPr sz="1600" dirty="0">
              <a:latin typeface="Cambria"/>
              <a:cs typeface="Cambria"/>
            </a:endParaRPr>
          </a:p>
          <a:p>
            <a:pPr marL="488950" indent="-227965">
              <a:lnSpc>
                <a:spcPts val="1839"/>
              </a:lnSpc>
              <a:buFont typeface="Wingdings"/>
              <a:buChar char=""/>
              <a:tabLst>
                <a:tab pos="488950" algn="l"/>
              </a:tabLst>
            </a:pPr>
            <a:r>
              <a:rPr sz="1600" b="0" spc="65" dirty="0">
                <a:solidFill>
                  <a:srgbClr val="000000"/>
                </a:solidFill>
                <a:latin typeface="Cambria"/>
                <a:cs typeface="Cambria"/>
              </a:rPr>
              <a:t>Also</a:t>
            </a:r>
            <a:r>
              <a:rPr sz="1600" b="0" spc="10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spc="10" dirty="0">
                <a:solidFill>
                  <a:srgbClr val="000000"/>
                </a:solidFill>
                <a:latin typeface="Cambria"/>
                <a:cs typeface="Cambria"/>
              </a:rPr>
              <a:t>standardized</a:t>
            </a:r>
            <a:r>
              <a:rPr sz="1600" b="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spc="10" dirty="0">
                <a:solidFill>
                  <a:srgbClr val="000000"/>
                </a:solidFill>
                <a:latin typeface="Cambria"/>
                <a:cs typeface="Cambria"/>
              </a:rPr>
              <a:t>also</a:t>
            </a:r>
            <a:r>
              <a:rPr sz="1600" b="0" spc="-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spc="10" dirty="0">
                <a:solidFill>
                  <a:srgbClr val="000000"/>
                </a:solidFill>
                <a:latin typeface="Cambria"/>
                <a:cs typeface="Cambria"/>
              </a:rPr>
              <a:t>by</a:t>
            </a:r>
            <a:r>
              <a:rPr sz="1600" b="0" spc="9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spc="60" dirty="0">
                <a:latin typeface="Cambria"/>
                <a:cs typeface="Cambria"/>
              </a:rPr>
              <a:t>3GPP</a:t>
            </a:r>
            <a:r>
              <a:rPr sz="1600" b="0" spc="114" dirty="0">
                <a:latin typeface="Cambria"/>
                <a:cs typeface="Cambria"/>
              </a:rPr>
              <a:t> </a:t>
            </a:r>
            <a:r>
              <a:rPr sz="1600" b="0" spc="10" dirty="0">
                <a:solidFill>
                  <a:srgbClr val="000000"/>
                </a:solidFill>
                <a:latin typeface="Cambria"/>
                <a:cs typeface="Cambria"/>
              </a:rPr>
              <a:t>as</a:t>
            </a:r>
            <a:r>
              <a:rPr sz="1600" b="0" spc="-1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spc="10" dirty="0">
                <a:solidFill>
                  <a:srgbClr val="000000"/>
                </a:solidFill>
                <a:latin typeface="Cambria"/>
                <a:cs typeface="Cambria"/>
              </a:rPr>
              <a:t>part</a:t>
            </a:r>
            <a:r>
              <a:rPr sz="1600" b="0" spc="16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spc="10" dirty="0">
                <a:solidFill>
                  <a:srgbClr val="000000"/>
                </a:solidFill>
                <a:latin typeface="Cambria"/>
                <a:cs typeface="Cambria"/>
              </a:rPr>
              <a:t>of</a:t>
            </a:r>
            <a:r>
              <a:rPr sz="1600" b="0" spc="4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spc="10" dirty="0">
                <a:solidFill>
                  <a:srgbClr val="000000"/>
                </a:solidFill>
                <a:latin typeface="Cambria"/>
                <a:cs typeface="Cambria"/>
              </a:rPr>
              <a:t>the</a:t>
            </a:r>
            <a:r>
              <a:rPr sz="1600" b="0" spc="114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spc="135" dirty="0">
                <a:solidFill>
                  <a:srgbClr val="000000"/>
                </a:solidFill>
                <a:latin typeface="Cambria"/>
                <a:cs typeface="Cambria"/>
              </a:rPr>
              <a:t>GSM</a:t>
            </a:r>
            <a:r>
              <a:rPr sz="1600" b="0" spc="17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600" b="0" spc="-10" dirty="0">
                <a:solidFill>
                  <a:srgbClr val="000000"/>
                </a:solidFill>
                <a:latin typeface="Cambria"/>
                <a:cs typeface="Cambria"/>
              </a:rPr>
              <a:t>family</a:t>
            </a:r>
            <a:endParaRPr sz="16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780"/>
              </a:spcBef>
              <a:tabLst>
                <a:tab pos="5485765" algn="l"/>
              </a:tabLst>
            </a:pPr>
            <a:r>
              <a:rPr sz="1400" spc="-10" dirty="0">
                <a:solidFill>
                  <a:srgbClr val="005599"/>
                </a:solidFill>
                <a:latin typeface="Times New Roman"/>
                <a:cs typeface="Times New Roman"/>
              </a:rPr>
              <a:t>CoICT</a:t>
            </a:r>
            <a:r>
              <a:rPr sz="1400" spc="-20" dirty="0">
                <a:solidFill>
                  <a:srgbClr val="005599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5599"/>
                </a:solidFill>
                <a:latin typeface="Times New Roman"/>
                <a:cs typeface="Times New Roman"/>
              </a:rPr>
              <a:t>–</a:t>
            </a:r>
            <a:r>
              <a:rPr sz="1400" spc="10" dirty="0">
                <a:solidFill>
                  <a:srgbClr val="005599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005599"/>
                </a:solidFill>
                <a:latin typeface="Times New Roman"/>
                <a:cs typeface="Times New Roman"/>
              </a:rPr>
              <a:t>ETE</a:t>
            </a:r>
            <a:r>
              <a:rPr sz="1400" dirty="0">
                <a:solidFill>
                  <a:srgbClr val="005599"/>
                </a:solidFill>
                <a:latin typeface="Times New Roman"/>
                <a:cs typeface="Times New Roman"/>
              </a:rPr>
              <a:t>	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42949" y="1492249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49299" y="5852587"/>
            <a:ext cx="607060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710" algn="ctr">
              <a:lnSpc>
                <a:spcPct val="100000"/>
              </a:lnSpc>
              <a:spcBef>
                <a:spcPts val="100"/>
              </a:spcBef>
            </a:pP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University</a:t>
            </a:r>
            <a:r>
              <a:rPr sz="2700" spc="-2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7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Dar</a:t>
            </a:r>
            <a:r>
              <a:rPr sz="27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es</a:t>
            </a:r>
            <a:r>
              <a:rPr sz="2700" spc="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spc="-10" dirty="0">
                <a:solidFill>
                  <a:srgbClr val="FFFFFF"/>
                </a:solidFill>
                <a:latin typeface="Times New Roman"/>
                <a:cs typeface="Times New Roman"/>
              </a:rPr>
              <a:t>Salaam</a:t>
            </a:r>
            <a:endParaRPr sz="2700">
              <a:latin typeface="Times New Roman"/>
              <a:cs typeface="Times New Roman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599" y="8902700"/>
            <a:ext cx="6096000" cy="76200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782319" y="6305551"/>
            <a:ext cx="5995035" cy="2870835"/>
          </a:xfrm>
          <a:prstGeom prst="rect">
            <a:avLst/>
          </a:prstGeom>
        </p:spPr>
        <p:txBody>
          <a:bodyPr vert="horz" wrap="square" lIns="0" tIns="168910" rIns="0" bIns="0" rtlCol="0">
            <a:spAutoFit/>
          </a:bodyPr>
          <a:lstStyle/>
          <a:p>
            <a:pPr marL="260985" algn="just">
              <a:lnSpc>
                <a:spcPct val="100000"/>
              </a:lnSpc>
              <a:spcBef>
                <a:spcPts val="1330"/>
              </a:spcBef>
            </a:pPr>
            <a:r>
              <a:rPr sz="2000" b="1" dirty="0">
                <a:solidFill>
                  <a:srgbClr val="FF0000"/>
                </a:solidFill>
                <a:latin typeface="Palatino Linotype"/>
                <a:cs typeface="Palatino Linotype"/>
              </a:rPr>
              <a:t>2.75 </a:t>
            </a:r>
            <a:r>
              <a:rPr sz="2000" b="1" spc="-10" dirty="0">
                <a:solidFill>
                  <a:srgbClr val="FF0000"/>
                </a:solidFill>
                <a:latin typeface="Palatino Linotype"/>
                <a:cs typeface="Palatino Linotype"/>
              </a:rPr>
              <a:t>Generation</a:t>
            </a:r>
            <a:endParaRPr sz="2000" dirty="0">
              <a:latin typeface="Palatino Linotype"/>
              <a:cs typeface="Palatino Linotype"/>
            </a:endParaRPr>
          </a:p>
          <a:p>
            <a:pPr marL="400685" marR="687070" indent="-139700" algn="just">
              <a:lnSpc>
                <a:spcPts val="1900"/>
              </a:lnSpc>
              <a:spcBef>
                <a:spcPts val="1070"/>
              </a:spcBef>
              <a:buFont typeface="Wingdings"/>
              <a:buChar char=""/>
              <a:tabLst>
                <a:tab pos="400685" algn="l"/>
                <a:tab pos="488950" algn="l"/>
              </a:tabLst>
            </a:pPr>
            <a:r>
              <a:rPr sz="1600" spc="10" dirty="0">
                <a:latin typeface="Cambria"/>
                <a:cs typeface="Cambria"/>
              </a:rPr>
              <a:t>	Implemented</a:t>
            </a:r>
            <a:r>
              <a:rPr sz="1600" spc="-10" dirty="0">
                <a:latin typeface="Cambria"/>
                <a:cs typeface="Cambria"/>
              </a:rPr>
              <a:t> </a:t>
            </a:r>
            <a:r>
              <a:rPr sz="1600" spc="10" dirty="0">
                <a:latin typeface="Cambria"/>
                <a:cs typeface="Cambria"/>
              </a:rPr>
              <a:t>as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10" dirty="0">
                <a:latin typeface="Cambria"/>
                <a:cs typeface="Cambria"/>
              </a:rPr>
              <a:t>a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10" dirty="0">
                <a:latin typeface="Cambria"/>
                <a:cs typeface="Cambria"/>
              </a:rPr>
              <a:t>enhancement</a:t>
            </a:r>
            <a:r>
              <a:rPr sz="1600" spc="165" dirty="0">
                <a:latin typeface="Cambria"/>
                <a:cs typeface="Cambria"/>
              </a:rPr>
              <a:t> </a:t>
            </a:r>
            <a:r>
              <a:rPr sz="1600" spc="10" dirty="0">
                <a:latin typeface="Cambria"/>
                <a:cs typeface="Cambria"/>
              </a:rPr>
              <a:t>for</a:t>
            </a:r>
            <a:r>
              <a:rPr sz="1600" spc="50" dirty="0">
                <a:latin typeface="Cambria"/>
                <a:cs typeface="Cambria"/>
              </a:rPr>
              <a:t> </a:t>
            </a:r>
            <a:r>
              <a:rPr sz="1600" u="sng" spc="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mbria"/>
                <a:cs typeface="Cambria"/>
              </a:rPr>
              <a:t>2.5G</a:t>
            </a:r>
            <a:r>
              <a:rPr sz="1600" spc="170" dirty="0">
                <a:solidFill>
                  <a:srgbClr val="0563C1"/>
                </a:solidFill>
                <a:latin typeface="Cambria"/>
                <a:cs typeface="Cambria"/>
              </a:rPr>
              <a:t> </a:t>
            </a:r>
            <a:r>
              <a:rPr sz="1600" spc="114" dirty="0">
                <a:latin typeface="Cambria"/>
                <a:cs typeface="Cambria"/>
              </a:rPr>
              <a:t>GSM/GPRS </a:t>
            </a:r>
            <a:r>
              <a:rPr sz="1600" dirty="0">
                <a:latin typeface="Cambria"/>
                <a:cs typeface="Cambria"/>
              </a:rPr>
              <a:t>networks,</a:t>
            </a:r>
            <a:r>
              <a:rPr sz="1600" spc="12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making</a:t>
            </a:r>
            <a:r>
              <a:rPr sz="1600" spc="1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it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easier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for</a:t>
            </a:r>
            <a:r>
              <a:rPr sz="1600" spc="204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existing</a:t>
            </a:r>
            <a:r>
              <a:rPr sz="1600" spc="15" dirty="0">
                <a:latin typeface="Cambria"/>
                <a:cs typeface="Cambria"/>
              </a:rPr>
              <a:t> </a:t>
            </a:r>
            <a:r>
              <a:rPr sz="1600" spc="135" dirty="0">
                <a:latin typeface="Cambria"/>
                <a:cs typeface="Cambria"/>
              </a:rPr>
              <a:t>GSM</a:t>
            </a:r>
            <a:r>
              <a:rPr sz="1600" spc="22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carriers</a:t>
            </a:r>
            <a:r>
              <a:rPr sz="1600" spc="145" dirty="0">
                <a:latin typeface="Cambria"/>
                <a:cs typeface="Cambria"/>
              </a:rPr>
              <a:t> </a:t>
            </a:r>
            <a:r>
              <a:rPr sz="1600" spc="-25" dirty="0">
                <a:latin typeface="Cambria"/>
                <a:cs typeface="Cambria"/>
              </a:rPr>
              <a:t>to </a:t>
            </a:r>
            <a:r>
              <a:rPr sz="1600" spc="50" dirty="0">
                <a:latin typeface="Cambria"/>
                <a:cs typeface="Cambria"/>
              </a:rPr>
              <a:t>upgrade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to</a:t>
            </a:r>
            <a:r>
              <a:rPr sz="1600" spc="55" dirty="0">
                <a:latin typeface="Cambria"/>
                <a:cs typeface="Cambria"/>
              </a:rPr>
              <a:t> </a:t>
            </a:r>
            <a:r>
              <a:rPr sz="1600" spc="-25" dirty="0">
                <a:latin typeface="Cambria"/>
                <a:cs typeface="Cambria"/>
              </a:rPr>
              <a:t>it</a:t>
            </a:r>
            <a:endParaRPr sz="1600" dirty="0">
              <a:latin typeface="Cambria"/>
              <a:cs typeface="Cambria"/>
            </a:endParaRPr>
          </a:p>
          <a:p>
            <a:pPr marL="488950" indent="-227965" algn="just">
              <a:lnSpc>
                <a:spcPts val="1839"/>
              </a:lnSpc>
              <a:buFont typeface="Wingdings"/>
              <a:buChar char=""/>
              <a:tabLst>
                <a:tab pos="488950" algn="l"/>
              </a:tabLst>
            </a:pPr>
            <a:r>
              <a:rPr sz="1600" spc="114" dirty="0">
                <a:latin typeface="Cambria"/>
                <a:cs typeface="Cambria"/>
              </a:rPr>
              <a:t>EDGE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requires</a:t>
            </a:r>
            <a:r>
              <a:rPr sz="1600" spc="-2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no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hardware</a:t>
            </a:r>
            <a:r>
              <a:rPr sz="1600" spc="20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or</a:t>
            </a:r>
            <a:r>
              <a:rPr sz="1600" spc="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software</a:t>
            </a:r>
            <a:r>
              <a:rPr sz="1600" spc="20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changes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to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-25" dirty="0">
                <a:latin typeface="Cambria"/>
                <a:cs typeface="Cambria"/>
              </a:rPr>
              <a:t>be</a:t>
            </a:r>
            <a:endParaRPr sz="1600" dirty="0">
              <a:latin typeface="Cambria"/>
              <a:cs typeface="Cambria"/>
            </a:endParaRPr>
          </a:p>
          <a:p>
            <a:pPr marL="400685" algn="just">
              <a:lnSpc>
                <a:spcPts val="1910"/>
              </a:lnSpc>
              <a:spcBef>
                <a:spcPts val="80"/>
              </a:spcBef>
            </a:pPr>
            <a:r>
              <a:rPr sz="1600" dirty="0">
                <a:latin typeface="Cambria"/>
                <a:cs typeface="Cambria"/>
              </a:rPr>
              <a:t>made</a:t>
            </a:r>
            <a:r>
              <a:rPr sz="1600" spc="1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in</a:t>
            </a:r>
            <a:r>
              <a:rPr sz="1600" spc="60" dirty="0">
                <a:latin typeface="Cambria"/>
                <a:cs typeface="Cambria"/>
              </a:rPr>
              <a:t> </a:t>
            </a:r>
            <a:r>
              <a:rPr sz="1600" spc="135" dirty="0">
                <a:latin typeface="Cambria"/>
                <a:cs typeface="Cambria"/>
              </a:rPr>
              <a:t>GSM</a:t>
            </a:r>
            <a:r>
              <a:rPr sz="1600" spc="8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core</a:t>
            </a:r>
            <a:r>
              <a:rPr sz="1600" spc="13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networks.</a:t>
            </a:r>
            <a:endParaRPr sz="1600" dirty="0">
              <a:latin typeface="Cambria"/>
              <a:cs typeface="Cambria"/>
            </a:endParaRPr>
          </a:p>
          <a:p>
            <a:pPr marL="400685" marR="185420" indent="-139700">
              <a:lnSpc>
                <a:spcPts val="1900"/>
              </a:lnSpc>
              <a:spcBef>
                <a:spcPts val="70"/>
              </a:spcBef>
              <a:buFont typeface="Wingdings"/>
              <a:buChar char=""/>
              <a:tabLst>
                <a:tab pos="400685" algn="l"/>
                <a:tab pos="488950" algn="l"/>
              </a:tabLst>
            </a:pPr>
            <a:r>
              <a:rPr sz="1600" spc="85" dirty="0">
                <a:latin typeface="Cambria"/>
                <a:cs typeface="Cambria"/>
              </a:rPr>
              <a:t>	EDGE-</a:t>
            </a:r>
            <a:r>
              <a:rPr sz="1600" dirty="0">
                <a:latin typeface="Cambria"/>
                <a:cs typeface="Cambria"/>
              </a:rPr>
              <a:t>compatible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transceiver</a:t>
            </a:r>
            <a:r>
              <a:rPr sz="1600" spc="1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units</a:t>
            </a:r>
            <a:r>
              <a:rPr sz="1600" spc="204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must</a:t>
            </a:r>
            <a:r>
              <a:rPr sz="1600" spc="15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be</a:t>
            </a:r>
            <a:r>
              <a:rPr sz="1600" spc="229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installed</a:t>
            </a:r>
            <a:r>
              <a:rPr sz="1600" spc="80" dirty="0">
                <a:latin typeface="Cambria"/>
                <a:cs typeface="Cambria"/>
              </a:rPr>
              <a:t> </a:t>
            </a:r>
            <a:r>
              <a:rPr sz="1600" spc="-25" dirty="0">
                <a:latin typeface="Cambria"/>
                <a:cs typeface="Cambria"/>
              </a:rPr>
              <a:t>and </a:t>
            </a:r>
            <a:r>
              <a:rPr sz="1600" dirty="0">
                <a:latin typeface="Cambria"/>
                <a:cs typeface="Cambria"/>
              </a:rPr>
              <a:t>the</a:t>
            </a:r>
            <a:r>
              <a:rPr sz="1600" spc="1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base</a:t>
            </a:r>
            <a:r>
              <a:rPr sz="1600" spc="1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station</a:t>
            </a:r>
            <a:r>
              <a:rPr sz="1600" spc="5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subsystem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needs to</a:t>
            </a:r>
            <a:r>
              <a:rPr sz="1600" spc="12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be</a:t>
            </a:r>
            <a:r>
              <a:rPr sz="1600" spc="20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upgraded</a:t>
            </a:r>
            <a:r>
              <a:rPr sz="1600" spc="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to</a:t>
            </a:r>
            <a:r>
              <a:rPr sz="1600" spc="12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support </a:t>
            </a:r>
            <a:r>
              <a:rPr sz="1600" spc="95" dirty="0">
                <a:latin typeface="Cambria"/>
                <a:cs typeface="Cambria"/>
              </a:rPr>
              <a:t>EDGE</a:t>
            </a:r>
            <a:endParaRPr sz="16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720"/>
              </a:spcBef>
              <a:tabLst>
                <a:tab pos="5485765" algn="l"/>
              </a:tabLst>
            </a:pPr>
            <a:r>
              <a:rPr sz="1400" b="1" spc="-10" dirty="0">
                <a:solidFill>
                  <a:srgbClr val="005599"/>
                </a:solidFill>
                <a:latin typeface="Times New Roman"/>
                <a:cs typeface="Times New Roman"/>
              </a:rPr>
              <a:t>CoICT</a:t>
            </a:r>
            <a:r>
              <a:rPr sz="1400" b="1" spc="-20" dirty="0">
                <a:solidFill>
                  <a:srgbClr val="005599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5599"/>
                </a:solidFill>
                <a:latin typeface="Times New Roman"/>
                <a:cs typeface="Times New Roman"/>
              </a:rPr>
              <a:t>–</a:t>
            </a:r>
            <a:r>
              <a:rPr sz="1400" b="1" spc="10" dirty="0">
                <a:solidFill>
                  <a:srgbClr val="005599"/>
                </a:solidFill>
                <a:latin typeface="Times New Roman"/>
                <a:cs typeface="Times New Roman"/>
              </a:rPr>
              <a:t> </a:t>
            </a:r>
            <a:r>
              <a:rPr sz="1400" b="1" spc="-25" dirty="0">
                <a:solidFill>
                  <a:srgbClr val="005599"/>
                </a:solidFill>
                <a:latin typeface="Times New Roman"/>
                <a:cs typeface="Times New Roman"/>
              </a:rPr>
              <a:t>ETE</a:t>
            </a:r>
            <a:r>
              <a:rPr sz="1400" b="1" dirty="0">
                <a:solidFill>
                  <a:srgbClr val="005599"/>
                </a:solidFill>
                <a:latin typeface="Times New Roman"/>
                <a:cs typeface="Times New Roman"/>
              </a:rPr>
              <a:t>	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42949" y="5759450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65111" y="455423"/>
            <a:ext cx="59690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latin typeface="Calibri"/>
                <a:cs typeface="Calibri"/>
              </a:rPr>
              <a:t>6/23/20</a:t>
            </a:r>
            <a:endParaRPr sz="13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599" y="4635499"/>
            <a:ext cx="6096000" cy="762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82319" y="4670107"/>
            <a:ext cx="10674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005599"/>
                </a:solidFill>
                <a:latin typeface="Times New Roman"/>
                <a:cs typeface="Times New Roman"/>
              </a:rPr>
              <a:t>CoICT</a:t>
            </a:r>
            <a:r>
              <a:rPr sz="1400" b="1" spc="-20" dirty="0">
                <a:solidFill>
                  <a:srgbClr val="005599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5599"/>
                </a:solidFill>
                <a:latin typeface="Times New Roman"/>
                <a:cs typeface="Times New Roman"/>
              </a:rPr>
              <a:t>–</a:t>
            </a:r>
            <a:r>
              <a:rPr sz="1400" b="1" spc="10" dirty="0">
                <a:solidFill>
                  <a:srgbClr val="005599"/>
                </a:solidFill>
                <a:latin typeface="Times New Roman"/>
                <a:cs typeface="Times New Roman"/>
              </a:rPr>
              <a:t> </a:t>
            </a:r>
            <a:r>
              <a:rPr sz="1400" b="1" spc="-25" dirty="0">
                <a:solidFill>
                  <a:srgbClr val="005599"/>
                </a:solidFill>
                <a:latin typeface="Times New Roman"/>
                <a:cs typeface="Times New Roman"/>
              </a:rPr>
              <a:t>ETE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18046" y="2038350"/>
            <a:ext cx="5063490" cy="1833880"/>
          </a:xfrm>
          <a:prstGeom prst="rect">
            <a:avLst/>
          </a:prstGeom>
        </p:spPr>
        <p:txBody>
          <a:bodyPr vert="horz" wrap="square" lIns="0" tIns="1689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30"/>
              </a:spcBef>
            </a:pPr>
            <a:r>
              <a:rPr sz="2000" b="1" dirty="0">
                <a:solidFill>
                  <a:srgbClr val="FF0000"/>
                </a:solidFill>
                <a:latin typeface="Palatino Linotype"/>
                <a:cs typeface="Palatino Linotype"/>
              </a:rPr>
              <a:t>3</a:t>
            </a:r>
            <a:r>
              <a:rPr sz="1950" b="1" baseline="25641" dirty="0">
                <a:solidFill>
                  <a:srgbClr val="FF0000"/>
                </a:solidFill>
                <a:latin typeface="Palatino Linotype"/>
                <a:cs typeface="Palatino Linotype"/>
              </a:rPr>
              <a:t>rd</a:t>
            </a:r>
            <a:r>
              <a:rPr sz="1950" b="1" spc="262" baseline="25641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b="1" dirty="0">
                <a:solidFill>
                  <a:srgbClr val="FF0000"/>
                </a:solidFill>
                <a:latin typeface="Palatino Linotype"/>
                <a:cs typeface="Palatino Linotype"/>
              </a:rPr>
              <a:t>Generation</a:t>
            </a:r>
            <a:r>
              <a:rPr sz="2000" b="1" spc="-30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b="1" dirty="0">
                <a:solidFill>
                  <a:srgbClr val="FF0000"/>
                </a:solidFill>
                <a:latin typeface="Palatino Linotype"/>
                <a:cs typeface="Palatino Linotype"/>
              </a:rPr>
              <a:t>Project</a:t>
            </a:r>
            <a:r>
              <a:rPr sz="2000" b="1" spc="-75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b="1" dirty="0">
                <a:solidFill>
                  <a:srgbClr val="FF0000"/>
                </a:solidFill>
                <a:latin typeface="Palatino Linotype"/>
                <a:cs typeface="Palatino Linotype"/>
              </a:rPr>
              <a:t>Partnership</a:t>
            </a:r>
            <a:r>
              <a:rPr sz="2000" b="1" spc="-30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Palatino Linotype"/>
                <a:cs typeface="Palatino Linotype"/>
              </a:rPr>
              <a:t>(3GPP)</a:t>
            </a:r>
            <a:endParaRPr sz="2000">
              <a:latin typeface="Palatino Linotype"/>
              <a:cs typeface="Palatino Linotype"/>
            </a:endParaRPr>
          </a:p>
          <a:p>
            <a:pPr marL="165100" marR="576580" indent="-139700">
              <a:lnSpc>
                <a:spcPts val="1900"/>
              </a:lnSpc>
              <a:spcBef>
                <a:spcPts val="1070"/>
              </a:spcBef>
              <a:buFont typeface="Wingdings"/>
              <a:buChar char=""/>
              <a:tabLst>
                <a:tab pos="165100" algn="l"/>
                <a:tab pos="253365" algn="l"/>
              </a:tabLst>
            </a:pPr>
            <a:r>
              <a:rPr sz="1600" spc="60" dirty="0">
                <a:latin typeface="Cambria"/>
                <a:cs typeface="Cambria"/>
              </a:rPr>
              <a:t>	3GPP</a:t>
            </a:r>
            <a:r>
              <a:rPr sz="1600" spc="1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is</a:t>
            </a:r>
            <a:r>
              <a:rPr sz="1600" spc="1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consortium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with</a:t>
            </a:r>
            <a:r>
              <a:rPr sz="1600" spc="7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national</a:t>
            </a:r>
            <a:r>
              <a:rPr sz="1600" spc="1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or</a:t>
            </a:r>
            <a:r>
              <a:rPr sz="1600" spc="18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regional </a:t>
            </a:r>
            <a:r>
              <a:rPr sz="1600" spc="10" dirty="0">
                <a:latin typeface="Cambria"/>
                <a:cs typeface="Cambria"/>
              </a:rPr>
              <a:t>telecommunication</a:t>
            </a:r>
            <a:r>
              <a:rPr sz="1600" spc="15" dirty="0">
                <a:latin typeface="Cambria"/>
                <a:cs typeface="Cambria"/>
              </a:rPr>
              <a:t> </a:t>
            </a:r>
            <a:r>
              <a:rPr sz="1600" spc="10" dirty="0">
                <a:latin typeface="Cambria"/>
                <a:cs typeface="Cambria"/>
              </a:rPr>
              <a:t>standards</a:t>
            </a:r>
            <a:r>
              <a:rPr sz="1600" spc="22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organizations</a:t>
            </a:r>
            <a:endParaRPr sz="1600">
              <a:latin typeface="Cambria"/>
              <a:cs typeface="Cambria"/>
            </a:endParaRPr>
          </a:p>
          <a:p>
            <a:pPr marL="253365" indent="-227965">
              <a:lnSpc>
                <a:spcPts val="1830"/>
              </a:lnSpc>
              <a:buFont typeface="Wingdings"/>
              <a:buChar char=""/>
              <a:tabLst>
                <a:tab pos="253365" algn="l"/>
              </a:tabLst>
            </a:pPr>
            <a:r>
              <a:rPr sz="1600" dirty="0">
                <a:latin typeface="Cambria"/>
                <a:cs typeface="Cambria"/>
              </a:rPr>
              <a:t>Established</a:t>
            </a:r>
            <a:r>
              <a:rPr sz="1600" spc="1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in</a:t>
            </a:r>
            <a:r>
              <a:rPr sz="1600" spc="204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December</a:t>
            </a:r>
            <a:r>
              <a:rPr sz="1600" spc="200" dirty="0">
                <a:latin typeface="Cambria"/>
                <a:cs typeface="Cambria"/>
              </a:rPr>
              <a:t> </a:t>
            </a:r>
            <a:r>
              <a:rPr sz="1600" spc="-20" dirty="0">
                <a:latin typeface="Cambria"/>
                <a:cs typeface="Cambria"/>
              </a:rPr>
              <a:t>1998</a:t>
            </a:r>
            <a:endParaRPr sz="1600">
              <a:latin typeface="Cambria"/>
              <a:cs typeface="Cambria"/>
            </a:endParaRPr>
          </a:p>
          <a:p>
            <a:pPr marL="253365" indent="-227965">
              <a:lnSpc>
                <a:spcPts val="1910"/>
              </a:lnSpc>
              <a:buFont typeface="Wingdings"/>
              <a:buChar char=""/>
              <a:tabLst>
                <a:tab pos="253365" algn="l"/>
              </a:tabLst>
            </a:pPr>
            <a:r>
              <a:rPr sz="1600" spc="10" dirty="0">
                <a:latin typeface="Cambria"/>
                <a:cs typeface="Cambria"/>
              </a:rPr>
              <a:t>It</a:t>
            </a:r>
            <a:r>
              <a:rPr sz="1600" spc="150" dirty="0">
                <a:latin typeface="Cambria"/>
                <a:cs typeface="Cambria"/>
              </a:rPr>
              <a:t> </a:t>
            </a:r>
            <a:r>
              <a:rPr sz="1600" spc="10" dirty="0">
                <a:latin typeface="Cambria"/>
                <a:cs typeface="Cambria"/>
              </a:rPr>
              <a:t>goal</a:t>
            </a:r>
            <a:r>
              <a:rPr sz="1600" spc="-5" dirty="0">
                <a:latin typeface="Cambria"/>
                <a:cs typeface="Cambria"/>
              </a:rPr>
              <a:t> </a:t>
            </a:r>
            <a:r>
              <a:rPr sz="1600" spc="10" dirty="0">
                <a:latin typeface="Cambria"/>
                <a:cs typeface="Cambria"/>
              </a:rPr>
              <a:t>was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10" dirty="0">
                <a:latin typeface="Cambria"/>
                <a:cs typeface="Cambria"/>
              </a:rPr>
              <a:t>to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develop</a:t>
            </a:r>
            <a:r>
              <a:rPr sz="1600" spc="5" dirty="0">
                <a:latin typeface="Cambria"/>
                <a:cs typeface="Cambria"/>
              </a:rPr>
              <a:t> </a:t>
            </a:r>
            <a:r>
              <a:rPr sz="1600" spc="10" dirty="0">
                <a:latin typeface="Cambria"/>
                <a:cs typeface="Cambria"/>
              </a:rPr>
              <a:t>a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spc="10" dirty="0">
                <a:latin typeface="Cambria"/>
                <a:cs typeface="Cambria"/>
              </a:rPr>
              <a:t>specification</a:t>
            </a:r>
            <a:r>
              <a:rPr sz="1600" spc="-70" dirty="0">
                <a:latin typeface="Cambria"/>
                <a:cs typeface="Cambria"/>
              </a:rPr>
              <a:t> </a:t>
            </a:r>
            <a:r>
              <a:rPr sz="1600" spc="10" dirty="0">
                <a:latin typeface="Cambria"/>
                <a:cs typeface="Cambria"/>
              </a:rPr>
              <a:t>for</a:t>
            </a:r>
            <a:r>
              <a:rPr sz="1600" spc="140" dirty="0">
                <a:latin typeface="Cambria"/>
                <a:cs typeface="Cambria"/>
              </a:rPr>
              <a:t> </a:t>
            </a:r>
            <a:r>
              <a:rPr sz="1600" spc="10" dirty="0">
                <a:latin typeface="Cambria"/>
                <a:cs typeface="Cambria"/>
              </a:rPr>
              <a:t>a</a:t>
            </a:r>
            <a:r>
              <a:rPr sz="1600" spc="65" dirty="0">
                <a:latin typeface="Cambria"/>
                <a:cs typeface="Cambria"/>
              </a:rPr>
              <a:t> </a:t>
            </a:r>
            <a:r>
              <a:rPr sz="1600" spc="70" dirty="0">
                <a:latin typeface="Cambria"/>
                <a:cs typeface="Cambria"/>
              </a:rPr>
              <a:t>3G</a:t>
            </a:r>
            <a:r>
              <a:rPr sz="1600" spc="4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mobile</a:t>
            </a:r>
            <a:endParaRPr sz="1600">
              <a:latin typeface="Cambria"/>
              <a:cs typeface="Cambria"/>
            </a:endParaRPr>
          </a:p>
          <a:p>
            <a:pPr marL="165100">
              <a:lnSpc>
                <a:spcPct val="100000"/>
              </a:lnSpc>
              <a:spcBef>
                <a:spcPts val="80"/>
              </a:spcBef>
            </a:pPr>
            <a:r>
              <a:rPr sz="1600" dirty="0">
                <a:latin typeface="Cambria"/>
                <a:cs typeface="Cambria"/>
              </a:rPr>
              <a:t>phone</a:t>
            </a:r>
            <a:r>
              <a:rPr sz="1600" spc="1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system</a:t>
            </a:r>
            <a:r>
              <a:rPr sz="1600" spc="-2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based</a:t>
            </a:r>
            <a:r>
              <a:rPr sz="1600" spc="2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on</a:t>
            </a:r>
            <a:r>
              <a:rPr sz="1600" spc="7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the</a:t>
            </a:r>
            <a:r>
              <a:rPr sz="1600" spc="260" dirty="0">
                <a:latin typeface="Cambria"/>
                <a:cs typeface="Cambria"/>
              </a:rPr>
              <a:t> </a:t>
            </a:r>
            <a:r>
              <a:rPr sz="1600" spc="70" dirty="0">
                <a:latin typeface="Cambria"/>
                <a:cs typeface="Cambria"/>
              </a:rPr>
              <a:t>2G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140" dirty="0">
                <a:latin typeface="Cambria"/>
                <a:cs typeface="Cambria"/>
              </a:rPr>
              <a:t>GSM</a:t>
            </a:r>
            <a:r>
              <a:rPr sz="1600" spc="21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system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42949" y="1492249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599" y="8902700"/>
            <a:ext cx="6096000" cy="76200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782319" y="6251270"/>
            <a:ext cx="5995035" cy="2924810"/>
          </a:xfrm>
          <a:prstGeom prst="rect">
            <a:avLst/>
          </a:prstGeom>
        </p:spPr>
        <p:txBody>
          <a:bodyPr vert="horz" wrap="square" lIns="0" tIns="173355" rIns="0" bIns="0" rtlCol="0">
            <a:spAutoFit/>
          </a:bodyPr>
          <a:lstStyle/>
          <a:p>
            <a:pPr marL="260985">
              <a:lnSpc>
                <a:spcPct val="100000"/>
              </a:lnSpc>
              <a:spcBef>
                <a:spcPts val="1365"/>
              </a:spcBef>
            </a:pPr>
            <a:r>
              <a:rPr sz="2000" b="1" dirty="0">
                <a:solidFill>
                  <a:srgbClr val="FF0000"/>
                </a:solidFill>
                <a:latin typeface="Palatino Linotype"/>
                <a:cs typeface="Palatino Linotype"/>
              </a:rPr>
              <a:t>Third</a:t>
            </a:r>
            <a:r>
              <a:rPr sz="2000" b="1" spc="-40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b="1" dirty="0">
                <a:solidFill>
                  <a:srgbClr val="FF0000"/>
                </a:solidFill>
                <a:latin typeface="Palatino Linotype"/>
                <a:cs typeface="Palatino Linotype"/>
              </a:rPr>
              <a:t>Generation</a:t>
            </a:r>
            <a:r>
              <a:rPr sz="2000" b="1" spc="-40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b="1" spc="-25" dirty="0">
                <a:solidFill>
                  <a:srgbClr val="FF0000"/>
                </a:solidFill>
                <a:latin typeface="Palatino Linotype"/>
                <a:cs typeface="Palatino Linotype"/>
              </a:rPr>
              <a:t>3G</a:t>
            </a:r>
            <a:endParaRPr sz="2000" dirty="0">
              <a:latin typeface="Palatino Linotype"/>
              <a:cs typeface="Palatino Linotype"/>
            </a:endParaRPr>
          </a:p>
          <a:p>
            <a:pPr marL="488950" indent="-227965">
              <a:lnSpc>
                <a:spcPts val="1910"/>
              </a:lnSpc>
              <a:spcBef>
                <a:spcPts val="1015"/>
              </a:spcBef>
              <a:buFont typeface="Wingdings"/>
              <a:buChar char=""/>
              <a:tabLst>
                <a:tab pos="488950" algn="l"/>
              </a:tabLst>
            </a:pPr>
            <a:r>
              <a:rPr sz="1600" dirty="0">
                <a:latin typeface="Cambria"/>
                <a:cs typeface="Cambria"/>
              </a:rPr>
              <a:t>Introduced</a:t>
            </a:r>
            <a:r>
              <a:rPr sz="1600" spc="19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in</a:t>
            </a:r>
            <a:r>
              <a:rPr sz="1600" spc="1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early</a:t>
            </a:r>
            <a:r>
              <a:rPr sz="1600" spc="18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2000s</a:t>
            </a:r>
            <a:endParaRPr sz="1600" dirty="0">
              <a:latin typeface="Cambria"/>
              <a:cs typeface="Cambria"/>
            </a:endParaRPr>
          </a:p>
          <a:p>
            <a:pPr marL="438150" indent="-193675">
              <a:lnSpc>
                <a:spcPts val="1900"/>
              </a:lnSpc>
              <a:buFont typeface="Wingdings"/>
              <a:buChar char=""/>
              <a:tabLst>
                <a:tab pos="438150" algn="l"/>
              </a:tabLst>
            </a:pPr>
            <a:r>
              <a:rPr sz="1600" dirty="0">
                <a:latin typeface="Cambria"/>
                <a:cs typeface="Cambria"/>
              </a:rPr>
              <a:t>Uses</a:t>
            </a:r>
            <a:r>
              <a:rPr sz="1600" spc="19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Universal</a:t>
            </a:r>
            <a:r>
              <a:rPr sz="1600" spc="215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Mobile</a:t>
            </a:r>
            <a:r>
              <a:rPr sz="1600" spc="8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Terrestrial</a:t>
            </a:r>
            <a:r>
              <a:rPr sz="1600" spc="8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System</a:t>
            </a:r>
            <a:r>
              <a:rPr sz="1600" spc="15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(UMTS)</a:t>
            </a:r>
            <a:endParaRPr sz="1600" dirty="0">
              <a:latin typeface="Cambria"/>
              <a:cs typeface="Cambria"/>
            </a:endParaRPr>
          </a:p>
          <a:p>
            <a:pPr marL="488950" indent="-227965">
              <a:lnSpc>
                <a:spcPts val="1900"/>
              </a:lnSpc>
              <a:buFont typeface="Wingdings"/>
              <a:buChar char=""/>
              <a:tabLst>
                <a:tab pos="488950" algn="l"/>
              </a:tabLst>
            </a:pPr>
            <a:r>
              <a:rPr sz="1600" dirty="0">
                <a:latin typeface="Cambria"/>
                <a:cs typeface="Cambria"/>
              </a:rPr>
              <a:t>Data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rate</a:t>
            </a:r>
            <a:r>
              <a:rPr sz="1600" spc="55" dirty="0">
                <a:latin typeface="Cambria"/>
                <a:cs typeface="Cambria"/>
              </a:rPr>
              <a:t> </a:t>
            </a:r>
            <a:r>
              <a:rPr sz="1600" spc="-75" dirty="0">
                <a:latin typeface="Cambria"/>
                <a:cs typeface="Cambria"/>
              </a:rPr>
              <a:t>384</a:t>
            </a:r>
            <a:r>
              <a:rPr sz="1600" spc="25" dirty="0">
                <a:latin typeface="Cambria"/>
                <a:cs typeface="Cambria"/>
              </a:rPr>
              <a:t> </a:t>
            </a:r>
            <a:r>
              <a:rPr sz="1600" spc="-20" dirty="0">
                <a:latin typeface="Cambria"/>
                <a:cs typeface="Cambria"/>
              </a:rPr>
              <a:t>kbps</a:t>
            </a:r>
            <a:endParaRPr sz="1600" dirty="0">
              <a:latin typeface="Cambria"/>
              <a:cs typeface="Cambria"/>
            </a:endParaRPr>
          </a:p>
          <a:p>
            <a:pPr marL="488950" indent="-227965">
              <a:lnSpc>
                <a:spcPts val="1910"/>
              </a:lnSpc>
              <a:buFont typeface="Wingdings"/>
              <a:buChar char=""/>
              <a:tabLst>
                <a:tab pos="488950" algn="l"/>
              </a:tabLst>
            </a:pPr>
            <a:r>
              <a:rPr sz="1600" dirty="0">
                <a:latin typeface="Cambria"/>
                <a:cs typeface="Cambria"/>
              </a:rPr>
              <a:t>Uses</a:t>
            </a:r>
            <a:r>
              <a:rPr sz="1600" spc="19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of</a:t>
            </a:r>
            <a:r>
              <a:rPr sz="1600" spc="12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packet</a:t>
            </a:r>
            <a:r>
              <a:rPr sz="1600" spc="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switching</a:t>
            </a:r>
            <a:r>
              <a:rPr sz="1600" spc="31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for</a:t>
            </a:r>
            <a:r>
              <a:rPr sz="1600" spc="12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data</a:t>
            </a:r>
            <a:r>
              <a:rPr sz="1600" spc="16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transmission.</a:t>
            </a:r>
            <a:endParaRPr sz="1600" dirty="0">
              <a:latin typeface="Cambria"/>
              <a:cs typeface="Cambria"/>
            </a:endParaRPr>
          </a:p>
          <a:p>
            <a:pPr marL="488950" indent="-227965">
              <a:lnSpc>
                <a:spcPts val="1910"/>
              </a:lnSpc>
              <a:spcBef>
                <a:spcPts val="80"/>
              </a:spcBef>
              <a:buFont typeface="Wingdings"/>
              <a:buChar char=""/>
              <a:tabLst>
                <a:tab pos="488950" algn="l"/>
              </a:tabLst>
            </a:pPr>
            <a:r>
              <a:rPr sz="1600" spc="90" dirty="0">
                <a:latin typeface="Cambria"/>
                <a:cs typeface="Cambria"/>
              </a:rPr>
              <a:t>High</a:t>
            </a:r>
            <a:r>
              <a:rPr sz="1600" spc="7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speed</a:t>
            </a:r>
            <a:r>
              <a:rPr sz="1600" spc="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web</a:t>
            </a:r>
            <a:r>
              <a:rPr sz="1600" spc="1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or</a:t>
            </a:r>
            <a:r>
              <a:rPr sz="1600" spc="8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more</a:t>
            </a:r>
            <a:r>
              <a:rPr sz="1600" spc="15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security</a:t>
            </a:r>
            <a:endParaRPr sz="1600" dirty="0">
              <a:latin typeface="Cambria"/>
              <a:cs typeface="Cambria"/>
            </a:endParaRPr>
          </a:p>
          <a:p>
            <a:pPr marL="400685" marR="573405" indent="-139700">
              <a:lnSpc>
                <a:spcPts val="1900"/>
              </a:lnSpc>
              <a:spcBef>
                <a:spcPts val="70"/>
              </a:spcBef>
              <a:buFont typeface="Wingdings"/>
              <a:buChar char=""/>
              <a:tabLst>
                <a:tab pos="400685" algn="l"/>
                <a:tab pos="488950" algn="l"/>
              </a:tabLst>
            </a:pPr>
            <a:r>
              <a:rPr sz="1600" spc="80" dirty="0">
                <a:latin typeface="Cambria"/>
                <a:cs typeface="Cambria"/>
              </a:rPr>
              <a:t>	Video</a:t>
            </a:r>
            <a:r>
              <a:rPr sz="1600" spc="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conferencing,</a:t>
            </a:r>
            <a:r>
              <a:rPr sz="1600" spc="1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3D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gaming,</a:t>
            </a:r>
            <a:r>
              <a:rPr sz="1600" spc="135" dirty="0">
                <a:latin typeface="Cambria"/>
                <a:cs typeface="Cambria"/>
              </a:rPr>
              <a:t> </a:t>
            </a:r>
            <a:r>
              <a:rPr sz="1600" spc="114" dirty="0">
                <a:latin typeface="Cambria"/>
                <a:cs typeface="Cambria"/>
              </a:rPr>
              <a:t>TV</a:t>
            </a:r>
            <a:r>
              <a:rPr sz="1600" spc="19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streaming,</a:t>
            </a:r>
            <a:r>
              <a:rPr sz="1600" spc="135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Mobile </a:t>
            </a:r>
            <a:r>
              <a:rPr sz="1600" spc="114" dirty="0">
                <a:latin typeface="Cambria"/>
                <a:cs typeface="Cambria"/>
              </a:rPr>
              <a:t>TV,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Video</a:t>
            </a:r>
            <a:r>
              <a:rPr sz="1600" dirty="0">
                <a:latin typeface="Cambria"/>
                <a:cs typeface="Cambria"/>
              </a:rPr>
              <a:t> calls,</a:t>
            </a:r>
            <a:r>
              <a:rPr sz="1600" spc="-2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etc.</a:t>
            </a:r>
            <a:r>
              <a:rPr sz="1600" spc="80" dirty="0">
                <a:latin typeface="Cambria"/>
                <a:cs typeface="Cambria"/>
              </a:rPr>
              <a:t> </a:t>
            </a:r>
            <a:r>
              <a:rPr sz="1600" spc="75" dirty="0">
                <a:latin typeface="Cambria"/>
                <a:cs typeface="Cambria"/>
              </a:rPr>
              <a:t>Know</a:t>
            </a:r>
            <a:r>
              <a:rPr sz="1600" spc="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as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smart</a:t>
            </a:r>
            <a:r>
              <a:rPr sz="1600" spc="17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phones</a:t>
            </a:r>
            <a:endParaRPr sz="1600" dirty="0">
              <a:latin typeface="Cambria"/>
              <a:cs typeface="Cambria"/>
            </a:endParaRPr>
          </a:p>
          <a:p>
            <a:pPr marL="438150" indent="-193675">
              <a:lnSpc>
                <a:spcPts val="1839"/>
              </a:lnSpc>
              <a:buFont typeface="Wingdings"/>
              <a:buChar char=""/>
              <a:tabLst>
                <a:tab pos="438150" algn="l"/>
              </a:tabLst>
            </a:pPr>
            <a:r>
              <a:rPr sz="1600" dirty="0">
                <a:latin typeface="Cambria"/>
                <a:cs typeface="Cambria"/>
              </a:rPr>
              <a:t>Uses</a:t>
            </a:r>
            <a:r>
              <a:rPr sz="1600" spc="26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WideBand-</a:t>
            </a:r>
            <a:r>
              <a:rPr sz="1600" spc="80" dirty="0">
                <a:latin typeface="Cambria"/>
                <a:cs typeface="Cambria"/>
              </a:rPr>
              <a:t>Code</a:t>
            </a:r>
            <a:r>
              <a:rPr sz="1600" spc="140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Division</a:t>
            </a:r>
            <a:r>
              <a:rPr sz="1600" spc="40" dirty="0">
                <a:latin typeface="Cambria"/>
                <a:cs typeface="Cambria"/>
              </a:rPr>
              <a:t> </a:t>
            </a:r>
            <a:r>
              <a:rPr sz="1600" spc="60" dirty="0">
                <a:latin typeface="Cambria"/>
                <a:cs typeface="Cambria"/>
              </a:rPr>
              <a:t>Multiple</a:t>
            </a:r>
            <a:r>
              <a:rPr sz="1600" spc="1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Access</a:t>
            </a:r>
            <a:r>
              <a:rPr sz="1600" spc="120" dirty="0">
                <a:latin typeface="Cambria"/>
                <a:cs typeface="Cambria"/>
              </a:rPr>
              <a:t> </a:t>
            </a:r>
            <a:r>
              <a:rPr sz="1600" spc="-25" dirty="0">
                <a:latin typeface="Cambria"/>
                <a:cs typeface="Cambria"/>
              </a:rPr>
              <a:t>(W-</a:t>
            </a:r>
            <a:r>
              <a:rPr sz="1600" spc="100" dirty="0">
                <a:latin typeface="Cambria"/>
                <a:cs typeface="Cambria"/>
              </a:rPr>
              <a:t>CDMA)</a:t>
            </a:r>
            <a:endParaRPr sz="16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150"/>
              </a:spcBef>
              <a:tabLst>
                <a:tab pos="5485765" algn="l"/>
              </a:tabLst>
            </a:pPr>
            <a:r>
              <a:rPr sz="1400" b="1" spc="-10" dirty="0">
                <a:solidFill>
                  <a:srgbClr val="005599"/>
                </a:solidFill>
                <a:latin typeface="Times New Roman"/>
                <a:cs typeface="Times New Roman"/>
              </a:rPr>
              <a:t>CoICT</a:t>
            </a:r>
            <a:r>
              <a:rPr sz="1400" b="1" spc="-20" dirty="0">
                <a:solidFill>
                  <a:srgbClr val="005599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5599"/>
                </a:solidFill>
                <a:latin typeface="Times New Roman"/>
                <a:cs typeface="Times New Roman"/>
              </a:rPr>
              <a:t>–</a:t>
            </a:r>
            <a:r>
              <a:rPr sz="1400" b="1" spc="10" dirty="0">
                <a:solidFill>
                  <a:srgbClr val="005599"/>
                </a:solidFill>
                <a:latin typeface="Times New Roman"/>
                <a:cs typeface="Times New Roman"/>
              </a:rPr>
              <a:t> </a:t>
            </a:r>
            <a:r>
              <a:rPr sz="1400" b="1" spc="-25" dirty="0">
                <a:solidFill>
                  <a:srgbClr val="005599"/>
                </a:solidFill>
                <a:latin typeface="Times New Roman"/>
                <a:cs typeface="Times New Roman"/>
              </a:rPr>
              <a:t>ETE</a:t>
            </a:r>
            <a:r>
              <a:rPr sz="1400" b="1" dirty="0">
                <a:solidFill>
                  <a:srgbClr val="005599"/>
                </a:solidFill>
                <a:latin typeface="Times New Roman"/>
                <a:cs typeface="Times New Roman"/>
              </a:rPr>
              <a:t>	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42949" y="5759450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65111" y="455423"/>
            <a:ext cx="59690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latin typeface="Calibri"/>
                <a:cs typeface="Calibri"/>
              </a:rPr>
              <a:t>6/23/20</a:t>
            </a:r>
            <a:endParaRPr sz="13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599" y="4635499"/>
            <a:ext cx="6096000" cy="762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49299" y="2147446"/>
            <a:ext cx="6070600" cy="2761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4005">
              <a:lnSpc>
                <a:spcPts val="2305"/>
              </a:lnSpc>
              <a:spcBef>
                <a:spcPts val="100"/>
              </a:spcBef>
            </a:pPr>
            <a:r>
              <a:rPr sz="2000" b="1" dirty="0">
                <a:solidFill>
                  <a:srgbClr val="FF0000"/>
                </a:solidFill>
                <a:latin typeface="Palatino Linotype"/>
                <a:cs typeface="Palatino Linotype"/>
              </a:rPr>
              <a:t>3.5G</a:t>
            </a:r>
            <a:r>
              <a:rPr sz="2000" b="1" spc="-5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b="1" dirty="0">
                <a:solidFill>
                  <a:srgbClr val="FF0000"/>
                </a:solidFill>
                <a:latin typeface="Palatino Linotype"/>
                <a:cs typeface="Palatino Linotype"/>
              </a:rPr>
              <a:t>and</a:t>
            </a:r>
            <a:r>
              <a:rPr sz="2000" b="1" spc="-50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b="1" spc="-20" dirty="0">
                <a:solidFill>
                  <a:srgbClr val="FF0000"/>
                </a:solidFill>
                <a:latin typeface="Palatino Linotype"/>
                <a:cs typeface="Palatino Linotype"/>
              </a:rPr>
              <a:t>3.75G</a:t>
            </a:r>
            <a:endParaRPr sz="2000" dirty="0">
              <a:latin typeface="Palatino Linotype"/>
              <a:cs typeface="Palatino Linotype"/>
            </a:endParaRPr>
          </a:p>
          <a:p>
            <a:pPr marL="544195" indent="-227965">
              <a:lnSpc>
                <a:spcPts val="1814"/>
              </a:lnSpc>
              <a:buFont typeface="Wingdings"/>
              <a:buChar char=""/>
              <a:tabLst>
                <a:tab pos="544195" algn="l"/>
              </a:tabLst>
            </a:pPr>
            <a:r>
              <a:rPr sz="1600" spc="65" dirty="0">
                <a:latin typeface="Cambria"/>
                <a:cs typeface="Cambria"/>
              </a:rPr>
              <a:t>Also</a:t>
            </a:r>
            <a:r>
              <a:rPr sz="1600" spc="1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know</a:t>
            </a:r>
            <a:r>
              <a:rPr sz="1600" spc="6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as</a:t>
            </a:r>
            <a:r>
              <a:rPr sz="1600" spc="125" dirty="0">
                <a:latin typeface="Cambria"/>
                <a:cs typeface="Cambria"/>
              </a:rPr>
              <a:t> </a:t>
            </a:r>
            <a:r>
              <a:rPr sz="1600" spc="65" dirty="0">
                <a:latin typeface="Cambria"/>
                <a:cs typeface="Cambria"/>
              </a:rPr>
              <a:t>3G+</a:t>
            </a:r>
            <a:r>
              <a:rPr sz="1600" spc="1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or</a:t>
            </a:r>
            <a:r>
              <a:rPr sz="1600" spc="7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Turbo</a:t>
            </a:r>
            <a:r>
              <a:rPr sz="1600" spc="15" dirty="0">
                <a:latin typeface="Cambria"/>
                <a:cs typeface="Cambria"/>
              </a:rPr>
              <a:t> </a:t>
            </a:r>
            <a:r>
              <a:rPr sz="1600" spc="40" dirty="0">
                <a:latin typeface="Cambria"/>
                <a:cs typeface="Cambria"/>
              </a:rPr>
              <a:t>3G</a:t>
            </a:r>
            <a:endParaRPr sz="1600" dirty="0">
              <a:latin typeface="Cambria"/>
              <a:cs typeface="Cambria"/>
            </a:endParaRPr>
          </a:p>
          <a:p>
            <a:pPr marL="455930" marR="597535" indent="-139700">
              <a:lnSpc>
                <a:spcPts val="1900"/>
              </a:lnSpc>
              <a:spcBef>
                <a:spcPts val="70"/>
              </a:spcBef>
              <a:buFont typeface="Wingdings"/>
              <a:buChar char=""/>
              <a:tabLst>
                <a:tab pos="455930" algn="l"/>
                <a:tab pos="544195" algn="l"/>
              </a:tabLst>
            </a:pPr>
            <a:r>
              <a:rPr sz="1600" dirty="0">
                <a:latin typeface="Cambria"/>
                <a:cs typeface="Cambria"/>
              </a:rPr>
              <a:t>	There</a:t>
            </a:r>
            <a:r>
              <a:rPr sz="1600" spc="1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was</a:t>
            </a:r>
            <a:r>
              <a:rPr sz="1600" spc="1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need</a:t>
            </a:r>
            <a:r>
              <a:rPr sz="1600" spc="2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improve</a:t>
            </a:r>
            <a:r>
              <a:rPr sz="1600" spc="1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the</a:t>
            </a:r>
            <a:r>
              <a:rPr sz="1600" spc="1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performance</a:t>
            </a:r>
            <a:r>
              <a:rPr sz="1600" spc="1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of</a:t>
            </a:r>
            <a:r>
              <a:rPr sz="1600" spc="65" dirty="0">
                <a:latin typeface="Cambria"/>
                <a:cs typeface="Cambria"/>
              </a:rPr>
              <a:t> </a:t>
            </a:r>
            <a:r>
              <a:rPr sz="1600" spc="70" dirty="0">
                <a:latin typeface="Cambria"/>
                <a:cs typeface="Cambria"/>
              </a:rPr>
              <a:t>3G</a:t>
            </a:r>
            <a:r>
              <a:rPr sz="1600" spc="85" dirty="0">
                <a:latin typeface="Cambria"/>
                <a:cs typeface="Cambria"/>
              </a:rPr>
              <a:t> UMTS </a:t>
            </a:r>
            <a:r>
              <a:rPr sz="1600" dirty="0">
                <a:latin typeface="Cambria"/>
                <a:cs typeface="Cambria"/>
              </a:rPr>
              <a:t>based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system</a:t>
            </a:r>
            <a:endParaRPr sz="1600" dirty="0">
              <a:latin typeface="Cambria"/>
              <a:cs typeface="Cambria"/>
            </a:endParaRPr>
          </a:p>
          <a:p>
            <a:pPr marL="544195" indent="-227965">
              <a:lnSpc>
                <a:spcPts val="1839"/>
              </a:lnSpc>
              <a:buFont typeface="Wingdings"/>
              <a:buChar char=""/>
              <a:tabLst>
                <a:tab pos="544195" algn="l"/>
              </a:tabLst>
            </a:pPr>
            <a:r>
              <a:rPr sz="1600" spc="55" dirty="0">
                <a:latin typeface="Cambria"/>
                <a:cs typeface="Cambria"/>
              </a:rPr>
              <a:t>High-</a:t>
            </a:r>
            <a:r>
              <a:rPr sz="1600" dirty="0">
                <a:latin typeface="Cambria"/>
                <a:cs typeface="Cambria"/>
              </a:rPr>
              <a:t>Speed</a:t>
            </a:r>
            <a:r>
              <a:rPr sz="1600" spc="22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Packet</a:t>
            </a:r>
            <a:r>
              <a:rPr sz="1600" spc="2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Access</a:t>
            </a:r>
            <a:r>
              <a:rPr sz="1600" spc="215" dirty="0"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FF0000"/>
                </a:solidFill>
                <a:latin typeface="Palatino Linotype"/>
                <a:cs typeface="Palatino Linotype"/>
              </a:rPr>
              <a:t>(HSPA)</a:t>
            </a:r>
            <a:r>
              <a:rPr sz="1600" b="1" spc="235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1600" dirty="0">
                <a:latin typeface="Cambria"/>
                <a:cs typeface="Cambria"/>
              </a:rPr>
              <a:t>technology</a:t>
            </a:r>
            <a:r>
              <a:rPr sz="1600" spc="200" dirty="0">
                <a:latin typeface="Cambria"/>
                <a:cs typeface="Cambria"/>
              </a:rPr>
              <a:t> </a:t>
            </a:r>
            <a:r>
              <a:rPr sz="1600" spc="-25" dirty="0">
                <a:latin typeface="Cambria"/>
                <a:cs typeface="Cambria"/>
              </a:rPr>
              <a:t>was</a:t>
            </a:r>
            <a:endParaRPr sz="1600" dirty="0">
              <a:latin typeface="Cambria"/>
              <a:cs typeface="Cambria"/>
            </a:endParaRPr>
          </a:p>
          <a:p>
            <a:pPr marL="455930">
              <a:lnSpc>
                <a:spcPts val="1910"/>
              </a:lnSpc>
              <a:spcBef>
                <a:spcPts val="80"/>
              </a:spcBef>
            </a:pPr>
            <a:r>
              <a:rPr sz="1600" dirty="0">
                <a:latin typeface="Cambria"/>
                <a:cs typeface="Cambria"/>
              </a:rPr>
              <a:t>introduced</a:t>
            </a:r>
            <a:r>
              <a:rPr sz="1600" spc="7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204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hence</a:t>
            </a:r>
            <a:r>
              <a:rPr sz="1600" spc="220" dirty="0">
                <a:latin typeface="Cambria"/>
                <a:cs typeface="Cambria"/>
              </a:rPr>
              <a:t> </a:t>
            </a:r>
            <a:r>
              <a:rPr sz="1600" b="1" spc="-20" dirty="0">
                <a:solidFill>
                  <a:srgbClr val="FF0000"/>
                </a:solidFill>
                <a:latin typeface="Palatino Linotype"/>
                <a:cs typeface="Palatino Linotype"/>
              </a:rPr>
              <a:t>3.5G</a:t>
            </a:r>
            <a:endParaRPr sz="1600" dirty="0">
              <a:latin typeface="Palatino Linotype"/>
              <a:cs typeface="Palatino Linotype"/>
            </a:endParaRPr>
          </a:p>
          <a:p>
            <a:pPr marL="455930" marR="631190" indent="-139700">
              <a:lnSpc>
                <a:spcPts val="1900"/>
              </a:lnSpc>
              <a:spcBef>
                <a:spcPts val="70"/>
              </a:spcBef>
              <a:buFont typeface="Wingdings"/>
              <a:buChar char=""/>
              <a:tabLst>
                <a:tab pos="455930" algn="l"/>
                <a:tab pos="544195" algn="l"/>
              </a:tabLst>
            </a:pPr>
            <a:r>
              <a:rPr sz="1600" spc="240" dirty="0">
                <a:latin typeface="Cambria"/>
                <a:cs typeface="Cambria"/>
              </a:rPr>
              <a:t>	A</a:t>
            </a:r>
            <a:r>
              <a:rPr sz="1600" spc="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further</a:t>
            </a:r>
            <a:r>
              <a:rPr sz="1600" spc="160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improved</a:t>
            </a:r>
            <a:r>
              <a:rPr sz="1600" dirty="0">
                <a:latin typeface="Cambria"/>
                <a:cs typeface="Cambria"/>
              </a:rPr>
              <a:t> resulted</a:t>
            </a:r>
            <a:r>
              <a:rPr sz="1600" spc="-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into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60" dirty="0">
                <a:solidFill>
                  <a:srgbClr val="FF0000"/>
                </a:solidFill>
                <a:latin typeface="Cambria"/>
                <a:cs typeface="Cambria"/>
              </a:rPr>
              <a:t>Evolved</a:t>
            </a:r>
            <a:r>
              <a:rPr sz="160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spc="90" dirty="0">
                <a:solidFill>
                  <a:srgbClr val="FF0000"/>
                </a:solidFill>
                <a:latin typeface="Cambria"/>
                <a:cs typeface="Cambria"/>
              </a:rPr>
              <a:t>High</a:t>
            </a:r>
            <a:r>
              <a:rPr sz="1600" spc="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mbria"/>
                <a:cs typeface="Cambria"/>
              </a:rPr>
              <a:t>Speed </a:t>
            </a:r>
            <a:r>
              <a:rPr sz="1600" dirty="0">
                <a:solidFill>
                  <a:srgbClr val="FF0000"/>
                </a:solidFill>
                <a:latin typeface="Cambria"/>
                <a:cs typeface="Cambria"/>
              </a:rPr>
              <a:t>Packet</a:t>
            </a:r>
            <a:r>
              <a:rPr sz="1600" spc="1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FF0000"/>
                </a:solidFill>
                <a:latin typeface="Cambria"/>
                <a:cs typeface="Cambria"/>
              </a:rPr>
              <a:t>Access</a:t>
            </a:r>
            <a:r>
              <a:rPr sz="1600" spc="1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also</a:t>
            </a:r>
            <a:r>
              <a:rPr sz="1600" spc="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known</a:t>
            </a:r>
            <a:r>
              <a:rPr sz="1600" spc="22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as</a:t>
            </a:r>
            <a:r>
              <a:rPr sz="1600" spc="40" dirty="0">
                <a:latin typeface="Cambria"/>
                <a:cs typeface="Cambria"/>
              </a:rPr>
              <a:t> </a:t>
            </a:r>
            <a:r>
              <a:rPr sz="1600" spc="105" dirty="0">
                <a:solidFill>
                  <a:srgbClr val="FF0000"/>
                </a:solidFill>
                <a:latin typeface="Cambria"/>
                <a:cs typeface="Cambria"/>
              </a:rPr>
              <a:t>HSPA+</a:t>
            </a:r>
            <a:r>
              <a:rPr sz="1600" spc="30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which</a:t>
            </a:r>
            <a:r>
              <a:rPr sz="1600" spc="22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is</a:t>
            </a:r>
            <a:r>
              <a:rPr sz="1600" spc="40" dirty="0">
                <a:latin typeface="Cambria"/>
                <a:cs typeface="Cambria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mbria"/>
                <a:cs typeface="Cambria"/>
              </a:rPr>
              <a:t>3.75G</a:t>
            </a:r>
            <a:endParaRPr sz="1600" dirty="0">
              <a:latin typeface="Cambria"/>
              <a:cs typeface="Cambria"/>
            </a:endParaRPr>
          </a:p>
          <a:p>
            <a:pPr marL="455930" marR="821690" indent="-156210">
              <a:lnSpc>
                <a:spcPts val="1900"/>
              </a:lnSpc>
              <a:buFont typeface="Wingdings"/>
              <a:buChar char=""/>
              <a:tabLst>
                <a:tab pos="455930" algn="l"/>
                <a:tab pos="493395" algn="l"/>
              </a:tabLst>
            </a:pPr>
            <a:r>
              <a:rPr sz="1600" spc="-10" dirty="0">
                <a:latin typeface="Cambria"/>
                <a:cs typeface="Cambria"/>
              </a:rPr>
              <a:t>	Bit-</a:t>
            </a:r>
            <a:r>
              <a:rPr sz="1600" dirty="0">
                <a:latin typeface="Cambria"/>
                <a:cs typeface="Cambria"/>
              </a:rPr>
              <a:t>rates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as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high</a:t>
            </a:r>
            <a:r>
              <a:rPr sz="1600" spc="6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as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spc="-75" dirty="0">
                <a:latin typeface="Cambria"/>
                <a:cs typeface="Cambria"/>
              </a:rPr>
              <a:t>337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75" dirty="0">
                <a:latin typeface="Cambria"/>
                <a:cs typeface="Cambria"/>
              </a:rPr>
              <a:t>Mbps</a:t>
            </a:r>
            <a:r>
              <a:rPr sz="1600" spc="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downlink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125" dirty="0">
                <a:latin typeface="Cambria"/>
                <a:cs typeface="Cambria"/>
              </a:rPr>
              <a:t> </a:t>
            </a:r>
            <a:r>
              <a:rPr sz="1600" spc="-50" dirty="0">
                <a:latin typeface="Cambria"/>
                <a:cs typeface="Cambria"/>
              </a:rPr>
              <a:t>34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Mbps </a:t>
            </a:r>
            <a:r>
              <a:rPr sz="1600" spc="50" dirty="0">
                <a:latin typeface="Cambria"/>
                <a:cs typeface="Cambria"/>
              </a:rPr>
              <a:t>uplink</a:t>
            </a:r>
            <a:endParaRPr sz="1600" dirty="0">
              <a:latin typeface="Cambria"/>
              <a:cs typeface="Cambria"/>
            </a:endParaRPr>
          </a:p>
          <a:p>
            <a:pPr marL="33020">
              <a:lnSpc>
                <a:spcPct val="100000"/>
              </a:lnSpc>
              <a:spcBef>
                <a:spcPts val="375"/>
              </a:spcBef>
              <a:tabLst>
                <a:tab pos="5518785" algn="l"/>
              </a:tabLst>
            </a:pPr>
            <a:r>
              <a:rPr sz="1400" b="1" spc="-10" dirty="0">
                <a:solidFill>
                  <a:srgbClr val="005599"/>
                </a:solidFill>
                <a:latin typeface="Times New Roman"/>
                <a:cs typeface="Times New Roman"/>
              </a:rPr>
              <a:t>CoICT</a:t>
            </a:r>
            <a:r>
              <a:rPr sz="1400" b="1" spc="-20" dirty="0">
                <a:solidFill>
                  <a:srgbClr val="005599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5599"/>
                </a:solidFill>
                <a:latin typeface="Times New Roman"/>
                <a:cs typeface="Times New Roman"/>
              </a:rPr>
              <a:t>–</a:t>
            </a:r>
            <a:r>
              <a:rPr sz="1400" b="1" spc="10" dirty="0">
                <a:solidFill>
                  <a:srgbClr val="005599"/>
                </a:solidFill>
                <a:latin typeface="Times New Roman"/>
                <a:cs typeface="Times New Roman"/>
              </a:rPr>
              <a:t> </a:t>
            </a:r>
            <a:r>
              <a:rPr sz="1400" b="1" spc="-25" dirty="0">
                <a:solidFill>
                  <a:srgbClr val="005599"/>
                </a:solidFill>
                <a:latin typeface="Times New Roman"/>
                <a:cs typeface="Times New Roman"/>
              </a:rPr>
              <a:t>ETE</a:t>
            </a:r>
            <a:r>
              <a:rPr sz="1400" b="1" dirty="0">
                <a:solidFill>
                  <a:srgbClr val="005599"/>
                </a:solidFill>
                <a:latin typeface="Times New Roman"/>
                <a:cs typeface="Times New Roman"/>
              </a:rPr>
              <a:t>	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42949" y="1492249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599" y="8902700"/>
            <a:ext cx="6096000" cy="76200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782319" y="8937307"/>
            <a:ext cx="10674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005599"/>
                </a:solidFill>
                <a:latin typeface="Times New Roman"/>
                <a:cs typeface="Times New Roman"/>
              </a:rPr>
              <a:t>CoICT</a:t>
            </a:r>
            <a:r>
              <a:rPr sz="1400" b="1" spc="-20" dirty="0">
                <a:solidFill>
                  <a:srgbClr val="005599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5599"/>
                </a:solidFill>
                <a:latin typeface="Times New Roman"/>
                <a:cs typeface="Times New Roman"/>
              </a:rPr>
              <a:t>–</a:t>
            </a:r>
            <a:r>
              <a:rPr sz="1400" b="1" spc="10" dirty="0">
                <a:solidFill>
                  <a:srgbClr val="005599"/>
                </a:solidFill>
                <a:latin typeface="Times New Roman"/>
                <a:cs typeface="Times New Roman"/>
              </a:rPr>
              <a:t> </a:t>
            </a:r>
            <a:r>
              <a:rPr sz="1400" b="1" spc="-25" dirty="0">
                <a:solidFill>
                  <a:srgbClr val="005599"/>
                </a:solidFill>
                <a:latin typeface="Times New Roman"/>
                <a:cs typeface="Times New Roman"/>
              </a:rPr>
              <a:t>ETE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43446" y="6328247"/>
            <a:ext cx="5487670" cy="2275840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55"/>
              </a:spcBef>
            </a:pPr>
            <a:r>
              <a:rPr sz="2000" b="1" spc="-10" dirty="0">
                <a:solidFill>
                  <a:srgbClr val="FF0000"/>
                </a:solidFill>
                <a:latin typeface="Palatino Linotype"/>
                <a:cs typeface="Palatino Linotype"/>
              </a:rPr>
              <a:t>3.95G</a:t>
            </a:r>
            <a:endParaRPr sz="2000">
              <a:latin typeface="Palatino Linotype"/>
              <a:cs typeface="Palatino Linotype"/>
            </a:endParaRPr>
          </a:p>
          <a:p>
            <a:pPr marL="288290" indent="-227965">
              <a:lnSpc>
                <a:spcPts val="1910"/>
              </a:lnSpc>
              <a:spcBef>
                <a:spcPts val="840"/>
              </a:spcBef>
              <a:buFont typeface="Wingdings"/>
              <a:buChar char=""/>
              <a:tabLst>
                <a:tab pos="288290" algn="l"/>
              </a:tabLst>
            </a:pPr>
            <a:r>
              <a:rPr sz="1600" dirty="0">
                <a:latin typeface="Cambria"/>
                <a:cs typeface="Cambria"/>
              </a:rPr>
              <a:t>This</a:t>
            </a:r>
            <a:r>
              <a:rPr sz="1600" spc="1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project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is</a:t>
            </a:r>
            <a:r>
              <a:rPr sz="1600" spc="1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known</a:t>
            </a:r>
            <a:r>
              <a:rPr sz="1600" spc="7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as</a:t>
            </a:r>
            <a:r>
              <a:rPr sz="1600" spc="130" dirty="0">
                <a:latin typeface="Cambria"/>
                <a:cs typeface="Cambria"/>
              </a:rPr>
              <a:t> </a:t>
            </a:r>
            <a:r>
              <a:rPr sz="1600" spc="65" dirty="0">
                <a:latin typeface="Cambria"/>
                <a:cs typeface="Cambria"/>
              </a:rPr>
              <a:t>Long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Term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Evolution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(</a:t>
            </a:r>
            <a:r>
              <a:rPr sz="1600" b="1" spc="-10" dirty="0">
                <a:latin typeface="Palatino Linotype"/>
                <a:cs typeface="Palatino Linotype"/>
              </a:rPr>
              <a:t>LTE</a:t>
            </a:r>
            <a:r>
              <a:rPr sz="1600" spc="-10" dirty="0">
                <a:latin typeface="Cambria"/>
                <a:cs typeface="Cambria"/>
              </a:rPr>
              <a:t>)</a:t>
            </a:r>
            <a:endParaRPr sz="1600">
              <a:latin typeface="Cambria"/>
              <a:cs typeface="Cambria"/>
            </a:endParaRPr>
          </a:p>
          <a:p>
            <a:pPr marL="200025" marR="593090" indent="-139700">
              <a:lnSpc>
                <a:spcPts val="1900"/>
              </a:lnSpc>
              <a:spcBef>
                <a:spcPts val="70"/>
              </a:spcBef>
              <a:buFont typeface="Wingdings"/>
              <a:buChar char=""/>
              <a:tabLst>
                <a:tab pos="200025" algn="l"/>
                <a:tab pos="288290" algn="l"/>
              </a:tabLst>
            </a:pPr>
            <a:r>
              <a:rPr sz="1600" dirty="0">
                <a:latin typeface="Cambria"/>
                <a:cs typeface="Cambria"/>
              </a:rPr>
              <a:t>	Uses</a:t>
            </a:r>
            <a:r>
              <a:rPr sz="1600" spc="31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Orthogonal</a:t>
            </a:r>
            <a:r>
              <a:rPr sz="1600" spc="3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Frequency-</a:t>
            </a:r>
            <a:r>
              <a:rPr sz="1600" spc="55" dirty="0">
                <a:latin typeface="Cambria"/>
                <a:cs typeface="Cambria"/>
              </a:rPr>
              <a:t>Division</a:t>
            </a:r>
            <a:r>
              <a:rPr sz="1600" spc="70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Multiplexing </a:t>
            </a:r>
            <a:r>
              <a:rPr sz="1600" dirty="0">
                <a:latin typeface="Cambria"/>
                <a:cs typeface="Cambria"/>
              </a:rPr>
              <a:t>Access</a:t>
            </a:r>
            <a:r>
              <a:rPr sz="1600" spc="36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(</a:t>
            </a:r>
            <a:r>
              <a:rPr sz="1600" dirty="0">
                <a:solidFill>
                  <a:srgbClr val="FF0000"/>
                </a:solidFill>
                <a:latin typeface="Cambria"/>
                <a:cs typeface="Cambria"/>
              </a:rPr>
              <a:t>OF-</a:t>
            </a:r>
            <a:r>
              <a:rPr sz="1600" spc="85" dirty="0">
                <a:solidFill>
                  <a:srgbClr val="FF0000"/>
                </a:solidFill>
                <a:latin typeface="Cambria"/>
                <a:cs typeface="Cambria"/>
              </a:rPr>
              <a:t>DMA</a:t>
            </a:r>
            <a:r>
              <a:rPr sz="1600" spc="85" dirty="0">
                <a:latin typeface="Cambria"/>
                <a:cs typeface="Cambria"/>
              </a:rPr>
              <a:t>)</a:t>
            </a:r>
            <a:endParaRPr sz="1600">
              <a:latin typeface="Cambria"/>
              <a:cs typeface="Cambria"/>
            </a:endParaRPr>
          </a:p>
          <a:p>
            <a:pPr marL="288290" indent="-227965">
              <a:lnSpc>
                <a:spcPts val="1839"/>
              </a:lnSpc>
              <a:buFont typeface="Wingdings"/>
              <a:buChar char=""/>
              <a:tabLst>
                <a:tab pos="288290" algn="l"/>
              </a:tabLst>
            </a:pPr>
            <a:r>
              <a:rPr sz="1600" spc="65" dirty="0">
                <a:latin typeface="Cambria"/>
                <a:cs typeface="Cambria"/>
              </a:rPr>
              <a:t>Long</a:t>
            </a:r>
            <a:r>
              <a:rPr sz="1600" spc="12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Term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Evolution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in</a:t>
            </a:r>
            <a:r>
              <a:rPr sz="1600" spc="8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preparation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to</a:t>
            </a:r>
            <a:r>
              <a:rPr sz="1600" spc="1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achieve</a:t>
            </a:r>
            <a:r>
              <a:rPr sz="1600" spc="155" dirty="0">
                <a:latin typeface="Cambria"/>
                <a:cs typeface="Cambria"/>
              </a:rPr>
              <a:t> </a:t>
            </a:r>
            <a:r>
              <a:rPr sz="1600" spc="40" dirty="0">
                <a:latin typeface="Cambria"/>
                <a:cs typeface="Cambria"/>
              </a:rPr>
              <a:t>4G</a:t>
            </a:r>
            <a:endParaRPr sz="1600">
              <a:latin typeface="Cambria"/>
              <a:cs typeface="Cambria"/>
            </a:endParaRPr>
          </a:p>
          <a:p>
            <a:pPr marL="288290" indent="-227965">
              <a:lnSpc>
                <a:spcPts val="1910"/>
              </a:lnSpc>
              <a:spcBef>
                <a:spcPts val="80"/>
              </a:spcBef>
              <a:buFont typeface="Wingdings"/>
              <a:buChar char=""/>
              <a:tabLst>
                <a:tab pos="288290" algn="l"/>
              </a:tabLst>
            </a:pPr>
            <a:r>
              <a:rPr sz="1600" spc="65" dirty="0">
                <a:latin typeface="Cambria"/>
                <a:cs typeface="Cambria"/>
              </a:rPr>
              <a:t>Also</a:t>
            </a:r>
            <a:r>
              <a:rPr sz="1600" spc="12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known</a:t>
            </a:r>
            <a:r>
              <a:rPr sz="1600" spc="6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as</a:t>
            </a:r>
            <a:r>
              <a:rPr sz="1600" spc="120" dirty="0">
                <a:latin typeface="Cambria"/>
                <a:cs typeface="Cambria"/>
              </a:rPr>
              <a:t> </a:t>
            </a:r>
            <a:r>
              <a:rPr sz="1600" spc="70" dirty="0">
                <a:latin typeface="Cambria"/>
                <a:cs typeface="Cambria"/>
              </a:rPr>
              <a:t>4G</a:t>
            </a:r>
            <a:r>
              <a:rPr sz="1600" spc="75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LTE</a:t>
            </a:r>
            <a:endParaRPr sz="1600">
              <a:latin typeface="Cambria"/>
              <a:cs typeface="Cambria"/>
            </a:endParaRPr>
          </a:p>
          <a:p>
            <a:pPr marL="200025" marR="5080" indent="-139700">
              <a:lnSpc>
                <a:spcPts val="1900"/>
              </a:lnSpc>
              <a:spcBef>
                <a:spcPts val="70"/>
              </a:spcBef>
              <a:buFont typeface="Wingdings"/>
              <a:buChar char=""/>
              <a:tabLst>
                <a:tab pos="200025" algn="l"/>
                <a:tab pos="288290" algn="l"/>
              </a:tabLst>
            </a:pPr>
            <a:r>
              <a:rPr sz="1600" dirty="0">
                <a:latin typeface="Cambria"/>
                <a:cs typeface="Cambria"/>
              </a:rPr>
              <a:t>	Offers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data</a:t>
            </a:r>
            <a:r>
              <a:rPr sz="1600" spc="7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rate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at</a:t>
            </a:r>
            <a:r>
              <a:rPr sz="1600" spc="160" dirty="0">
                <a:latin typeface="Cambria"/>
                <a:cs typeface="Cambria"/>
              </a:rPr>
              <a:t> </a:t>
            </a:r>
            <a:r>
              <a:rPr sz="1600" spc="-75" dirty="0">
                <a:latin typeface="Cambria"/>
                <a:cs typeface="Cambria"/>
              </a:rPr>
              <a:t>170</a:t>
            </a:r>
            <a:r>
              <a:rPr sz="1600" spc="70" dirty="0">
                <a:latin typeface="Cambria"/>
                <a:cs typeface="Cambria"/>
              </a:rPr>
              <a:t> </a:t>
            </a:r>
            <a:r>
              <a:rPr sz="1600" spc="75" dirty="0">
                <a:latin typeface="Cambria"/>
                <a:cs typeface="Cambria"/>
              </a:rPr>
              <a:t>Mbps</a:t>
            </a:r>
            <a:r>
              <a:rPr sz="1600" spc="-1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for</a:t>
            </a:r>
            <a:r>
              <a:rPr sz="1600" spc="40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up-</a:t>
            </a:r>
            <a:r>
              <a:rPr sz="1600" dirty="0">
                <a:latin typeface="Cambria"/>
                <a:cs typeface="Cambria"/>
              </a:rPr>
              <a:t>link</a:t>
            </a:r>
            <a:r>
              <a:rPr sz="1600" spc="-2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204" dirty="0">
                <a:latin typeface="Cambria"/>
                <a:cs typeface="Cambria"/>
              </a:rPr>
              <a:t> </a:t>
            </a:r>
            <a:r>
              <a:rPr sz="1600" spc="-75" dirty="0">
                <a:latin typeface="Cambria"/>
                <a:cs typeface="Cambria"/>
              </a:rPr>
              <a:t>320</a:t>
            </a:r>
            <a:r>
              <a:rPr sz="1600" spc="75" dirty="0">
                <a:latin typeface="Cambria"/>
                <a:cs typeface="Cambria"/>
              </a:rPr>
              <a:t> Mbps</a:t>
            </a:r>
            <a:r>
              <a:rPr sz="1600" spc="-10" dirty="0">
                <a:latin typeface="Cambria"/>
                <a:cs typeface="Cambria"/>
              </a:rPr>
              <a:t> </a:t>
            </a:r>
            <a:r>
              <a:rPr sz="1600" spc="-25" dirty="0">
                <a:latin typeface="Cambria"/>
                <a:cs typeface="Cambria"/>
              </a:rPr>
              <a:t>for </a:t>
            </a:r>
            <a:r>
              <a:rPr sz="1600" dirty="0">
                <a:latin typeface="Cambria"/>
                <a:cs typeface="Cambria"/>
              </a:rPr>
              <a:t>down-</a:t>
            </a:r>
            <a:r>
              <a:rPr sz="1600" spc="-10" dirty="0">
                <a:latin typeface="Cambria"/>
                <a:cs typeface="Cambria"/>
              </a:rPr>
              <a:t>link.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42949" y="5759450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65111" y="455423"/>
            <a:ext cx="59690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latin typeface="Calibri"/>
                <a:cs typeface="Calibri"/>
              </a:rPr>
              <a:t>6/23/20</a:t>
            </a:r>
            <a:endParaRPr sz="13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599" y="4635499"/>
            <a:ext cx="6096000" cy="762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69619" y="1971574"/>
            <a:ext cx="3020695" cy="2937510"/>
          </a:xfrm>
          <a:prstGeom prst="rect">
            <a:avLst/>
          </a:prstGeom>
        </p:spPr>
        <p:txBody>
          <a:bodyPr vert="horz" wrap="square" lIns="0" tIns="178435" rIns="0" bIns="0" rtlCol="0">
            <a:spAutoFit/>
          </a:bodyPr>
          <a:lstStyle/>
          <a:p>
            <a:pPr marL="229235">
              <a:lnSpc>
                <a:spcPct val="100000"/>
              </a:lnSpc>
              <a:spcBef>
                <a:spcPts val="1405"/>
              </a:spcBef>
            </a:pPr>
            <a:r>
              <a:rPr sz="2000" b="1" dirty="0">
                <a:solidFill>
                  <a:srgbClr val="FF0000"/>
                </a:solidFill>
                <a:latin typeface="Palatino Linotype"/>
                <a:cs typeface="Palatino Linotype"/>
              </a:rPr>
              <a:t>Fourth</a:t>
            </a:r>
            <a:r>
              <a:rPr sz="2000" b="1" spc="-55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b="1" dirty="0">
                <a:solidFill>
                  <a:srgbClr val="FF0000"/>
                </a:solidFill>
                <a:latin typeface="Palatino Linotype"/>
                <a:cs typeface="Palatino Linotype"/>
              </a:rPr>
              <a:t>Generation,</a:t>
            </a:r>
            <a:r>
              <a:rPr sz="2000" b="1" spc="-30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b="1" spc="-25" dirty="0">
                <a:solidFill>
                  <a:srgbClr val="FF0000"/>
                </a:solidFill>
                <a:latin typeface="Palatino Linotype"/>
                <a:cs typeface="Palatino Linotype"/>
              </a:rPr>
              <a:t>4G</a:t>
            </a:r>
            <a:endParaRPr sz="2000">
              <a:latin typeface="Palatino Linotype"/>
              <a:cs typeface="Palatino Linotype"/>
            </a:endParaRPr>
          </a:p>
          <a:p>
            <a:pPr marL="457200" indent="-227965">
              <a:lnSpc>
                <a:spcPts val="1910"/>
              </a:lnSpc>
              <a:spcBef>
                <a:spcPts val="1045"/>
              </a:spcBef>
              <a:buFont typeface="Wingdings"/>
              <a:buChar char=""/>
              <a:tabLst>
                <a:tab pos="457200" algn="l"/>
              </a:tabLst>
            </a:pPr>
            <a:r>
              <a:rPr sz="1600" dirty="0">
                <a:latin typeface="Cambria"/>
                <a:cs typeface="Cambria"/>
              </a:rPr>
              <a:t>Data</a:t>
            </a:r>
            <a:r>
              <a:rPr sz="1600" spc="1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rate</a:t>
            </a:r>
            <a:r>
              <a:rPr sz="1600" spc="7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100Mbps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to</a:t>
            </a:r>
            <a:r>
              <a:rPr sz="1600" spc="60" dirty="0">
                <a:latin typeface="Cambria"/>
                <a:cs typeface="Cambria"/>
              </a:rPr>
              <a:t> </a:t>
            </a:r>
            <a:r>
              <a:rPr sz="1600" spc="-20" dirty="0">
                <a:latin typeface="Cambria"/>
                <a:cs typeface="Cambria"/>
              </a:rPr>
              <a:t>1Gbps</a:t>
            </a:r>
            <a:endParaRPr sz="1600">
              <a:latin typeface="Cambria"/>
              <a:cs typeface="Cambria"/>
            </a:endParaRPr>
          </a:p>
          <a:p>
            <a:pPr marL="406400" indent="-193675">
              <a:lnSpc>
                <a:spcPts val="1900"/>
              </a:lnSpc>
              <a:buFont typeface="Wingdings"/>
              <a:buChar char=""/>
              <a:tabLst>
                <a:tab pos="406400" algn="l"/>
              </a:tabLst>
            </a:pPr>
            <a:r>
              <a:rPr sz="1600" spc="10" dirty="0">
                <a:latin typeface="Cambria"/>
                <a:cs typeface="Cambria"/>
              </a:rPr>
              <a:t>Technology:</a:t>
            </a:r>
            <a:r>
              <a:rPr sz="1600" spc="55" dirty="0">
                <a:latin typeface="Cambria"/>
                <a:cs typeface="Cambria"/>
              </a:rPr>
              <a:t> </a:t>
            </a:r>
            <a:r>
              <a:rPr sz="1600" spc="75" dirty="0">
                <a:latin typeface="Cambria"/>
                <a:cs typeface="Cambria"/>
              </a:rPr>
              <a:t>LTE,</a:t>
            </a:r>
            <a:r>
              <a:rPr sz="1600" spc="195" dirty="0">
                <a:latin typeface="Cambria"/>
                <a:cs typeface="Cambria"/>
              </a:rPr>
              <a:t> </a:t>
            </a:r>
            <a:r>
              <a:rPr sz="1600" spc="30" dirty="0">
                <a:latin typeface="Cambria"/>
                <a:cs typeface="Cambria"/>
              </a:rPr>
              <a:t>WiFi</a:t>
            </a:r>
            <a:endParaRPr sz="1600">
              <a:latin typeface="Cambria"/>
              <a:cs typeface="Cambria"/>
            </a:endParaRPr>
          </a:p>
          <a:p>
            <a:pPr marL="457200" indent="-227965">
              <a:lnSpc>
                <a:spcPts val="1900"/>
              </a:lnSpc>
              <a:buFont typeface="Wingdings"/>
              <a:buChar char=""/>
              <a:tabLst>
                <a:tab pos="457200" algn="l"/>
              </a:tabLst>
            </a:pPr>
            <a:r>
              <a:rPr sz="1600" dirty="0">
                <a:latin typeface="Cambria"/>
                <a:cs typeface="Cambria"/>
              </a:rPr>
              <a:t>Frequency: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2</a:t>
            </a:r>
            <a:r>
              <a:rPr sz="1600" spc="7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–</a:t>
            </a:r>
            <a:r>
              <a:rPr sz="1600" spc="75" dirty="0">
                <a:latin typeface="Cambria"/>
                <a:cs typeface="Cambria"/>
              </a:rPr>
              <a:t> 8GHz</a:t>
            </a:r>
            <a:endParaRPr sz="1600">
              <a:latin typeface="Cambria"/>
              <a:cs typeface="Cambria"/>
            </a:endParaRPr>
          </a:p>
          <a:p>
            <a:pPr marL="457200" indent="-227965">
              <a:lnSpc>
                <a:spcPts val="1910"/>
              </a:lnSpc>
              <a:buFont typeface="Wingdings"/>
              <a:buChar char=""/>
              <a:tabLst>
                <a:tab pos="457200" algn="l"/>
              </a:tabLst>
            </a:pPr>
            <a:r>
              <a:rPr sz="1600" dirty="0">
                <a:latin typeface="Cambria"/>
                <a:cs typeface="Cambria"/>
              </a:rPr>
              <a:t>Characteristic:</a:t>
            </a:r>
            <a:r>
              <a:rPr sz="1600" spc="190" dirty="0">
                <a:latin typeface="Cambria"/>
                <a:cs typeface="Cambria"/>
              </a:rPr>
              <a:t> </a:t>
            </a:r>
            <a:r>
              <a:rPr sz="1600" spc="90" dirty="0">
                <a:latin typeface="Cambria"/>
                <a:cs typeface="Cambria"/>
              </a:rPr>
              <a:t>High</a:t>
            </a:r>
            <a:r>
              <a:rPr sz="1600" spc="45" dirty="0">
                <a:latin typeface="Cambria"/>
                <a:cs typeface="Cambria"/>
              </a:rPr>
              <a:t> </a:t>
            </a:r>
            <a:r>
              <a:rPr sz="1600" spc="40" dirty="0">
                <a:latin typeface="Cambria"/>
                <a:cs typeface="Cambria"/>
              </a:rPr>
              <a:t>speed,</a:t>
            </a:r>
            <a:endParaRPr sz="1600">
              <a:latin typeface="Cambria"/>
              <a:cs typeface="Cambria"/>
            </a:endParaRPr>
          </a:p>
          <a:p>
            <a:pPr marL="368935">
              <a:lnSpc>
                <a:spcPts val="1910"/>
              </a:lnSpc>
              <a:spcBef>
                <a:spcPts val="80"/>
              </a:spcBef>
            </a:pPr>
            <a:r>
              <a:rPr sz="1600" spc="90" dirty="0">
                <a:latin typeface="Cambria"/>
                <a:cs typeface="Cambria"/>
              </a:rPr>
              <a:t>All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-25" dirty="0">
                <a:latin typeface="Cambria"/>
                <a:cs typeface="Cambria"/>
              </a:rPr>
              <a:t>IP</a:t>
            </a:r>
            <a:endParaRPr sz="1600">
              <a:latin typeface="Cambria"/>
              <a:cs typeface="Cambria"/>
            </a:endParaRPr>
          </a:p>
          <a:p>
            <a:pPr marL="368935" marR="561975" indent="-139700">
              <a:lnSpc>
                <a:spcPts val="1900"/>
              </a:lnSpc>
              <a:spcBef>
                <a:spcPts val="70"/>
              </a:spcBef>
              <a:buFont typeface="Wingdings"/>
              <a:buChar char=""/>
              <a:tabLst>
                <a:tab pos="368935" algn="l"/>
                <a:tab pos="457200" algn="l"/>
              </a:tabLst>
            </a:pPr>
            <a:r>
              <a:rPr sz="1600" spc="90" dirty="0">
                <a:latin typeface="Cambria"/>
                <a:cs typeface="Cambria"/>
              </a:rPr>
              <a:t>	High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Security</a:t>
            </a:r>
            <a:r>
              <a:rPr sz="1600" spc="1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155" dirty="0">
                <a:latin typeface="Cambria"/>
                <a:cs typeface="Cambria"/>
              </a:rPr>
              <a:t> </a:t>
            </a:r>
            <a:r>
              <a:rPr sz="1600" spc="25" dirty="0">
                <a:latin typeface="Cambria"/>
                <a:cs typeface="Cambria"/>
              </a:rPr>
              <a:t>Big </a:t>
            </a:r>
            <a:r>
              <a:rPr sz="1600" dirty="0">
                <a:latin typeface="Cambria"/>
                <a:cs typeface="Cambria"/>
              </a:rPr>
              <a:t>battery</a:t>
            </a:r>
            <a:r>
              <a:rPr sz="1600" spc="5" dirty="0">
                <a:latin typeface="Cambria"/>
                <a:cs typeface="Cambria"/>
              </a:rPr>
              <a:t> </a:t>
            </a:r>
            <a:r>
              <a:rPr sz="1600" spc="-20" dirty="0">
                <a:latin typeface="Cambria"/>
                <a:cs typeface="Cambria"/>
              </a:rPr>
              <a:t>usage</a:t>
            </a:r>
            <a:endParaRPr sz="1600">
              <a:latin typeface="Cambria"/>
              <a:cs typeface="Cambria"/>
            </a:endParaRPr>
          </a:p>
          <a:p>
            <a:pPr marL="457200" indent="-227965">
              <a:lnSpc>
                <a:spcPts val="1839"/>
              </a:lnSpc>
              <a:buFont typeface="Wingdings"/>
              <a:buChar char=""/>
              <a:tabLst>
                <a:tab pos="457200" algn="l"/>
              </a:tabLst>
            </a:pPr>
            <a:r>
              <a:rPr sz="1600" dirty="0">
                <a:latin typeface="Cambria"/>
                <a:cs typeface="Cambria"/>
              </a:rPr>
              <a:t>Supports</a:t>
            </a:r>
            <a:r>
              <a:rPr sz="1600" spc="1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high</a:t>
            </a:r>
            <a:r>
              <a:rPr sz="1600" spc="36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mobility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1400" b="1" spc="-10" dirty="0">
                <a:solidFill>
                  <a:srgbClr val="005599"/>
                </a:solidFill>
                <a:latin typeface="Times New Roman"/>
                <a:cs typeface="Times New Roman"/>
              </a:rPr>
              <a:t>CoICT</a:t>
            </a:r>
            <a:r>
              <a:rPr sz="1400" b="1" spc="-20" dirty="0">
                <a:solidFill>
                  <a:srgbClr val="005599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5599"/>
                </a:solidFill>
                <a:latin typeface="Times New Roman"/>
                <a:cs typeface="Times New Roman"/>
              </a:rPr>
              <a:t>–</a:t>
            </a:r>
            <a:r>
              <a:rPr sz="1400" b="1" spc="10" dirty="0">
                <a:solidFill>
                  <a:srgbClr val="005599"/>
                </a:solidFill>
                <a:latin typeface="Times New Roman"/>
                <a:cs typeface="Times New Roman"/>
              </a:rPr>
              <a:t> </a:t>
            </a:r>
            <a:r>
              <a:rPr sz="1400" b="1" spc="-25" dirty="0">
                <a:solidFill>
                  <a:srgbClr val="005599"/>
                </a:solidFill>
                <a:latin typeface="Times New Roman"/>
                <a:cs typeface="Times New Roman"/>
              </a:rPr>
              <a:t>ETE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39870" y="2912062"/>
            <a:ext cx="2491740" cy="1248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0000"/>
                </a:solidFill>
                <a:latin typeface="Verdana"/>
                <a:cs typeface="Verdana"/>
              </a:rPr>
              <a:t>4G</a:t>
            </a:r>
            <a:r>
              <a:rPr sz="1200" spc="-10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FF0000"/>
                </a:solidFill>
                <a:latin typeface="Verdana"/>
                <a:cs typeface="Verdana"/>
              </a:rPr>
              <a:t>technology</a:t>
            </a:r>
            <a:r>
              <a:rPr sz="1200" spc="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FF0000"/>
                </a:solidFill>
                <a:latin typeface="Verdana"/>
                <a:cs typeface="Verdana"/>
              </a:rPr>
              <a:t>is</a:t>
            </a:r>
            <a:r>
              <a:rPr sz="1200" spc="-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FF0000"/>
                </a:solidFill>
                <a:latin typeface="Verdana"/>
                <a:cs typeface="Verdana"/>
              </a:rPr>
              <a:t>Described</a:t>
            </a:r>
            <a:r>
              <a:rPr sz="1200" spc="15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200" spc="-25" dirty="0">
                <a:solidFill>
                  <a:srgbClr val="FF0000"/>
                </a:solidFill>
                <a:latin typeface="Verdana"/>
                <a:cs typeface="Verdana"/>
              </a:rPr>
              <a:t>as: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ts val="1420"/>
              </a:lnSpc>
              <a:spcBef>
                <a:spcPts val="1045"/>
              </a:spcBef>
            </a:pPr>
            <a:r>
              <a:rPr sz="1200" b="1" dirty="0">
                <a:solidFill>
                  <a:srgbClr val="FF0000"/>
                </a:solidFill>
                <a:latin typeface="Verdana"/>
                <a:cs typeface="Verdana"/>
              </a:rPr>
              <a:t>M</a:t>
            </a:r>
            <a:r>
              <a:rPr sz="1200" b="1" spc="-1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-</a:t>
            </a:r>
            <a:r>
              <a:rPr sz="1200" spc="-11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Mobile</a:t>
            </a:r>
            <a:r>
              <a:rPr sz="1200" spc="9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multiedia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ts val="1400"/>
              </a:lnSpc>
            </a:pPr>
            <a:r>
              <a:rPr sz="1200" b="1" dirty="0">
                <a:solidFill>
                  <a:srgbClr val="FF0000"/>
                </a:solidFill>
                <a:latin typeface="Verdana"/>
                <a:cs typeface="Verdana"/>
              </a:rPr>
              <a:t>A</a:t>
            </a:r>
            <a:r>
              <a:rPr sz="1200" b="1" spc="-5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-</a:t>
            </a:r>
            <a:r>
              <a:rPr sz="1200" spc="2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Anytime</a:t>
            </a:r>
            <a:r>
              <a:rPr sz="1200" spc="-4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anywhere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ts val="1420"/>
              </a:lnSpc>
            </a:pPr>
            <a:r>
              <a:rPr sz="1200" b="1" dirty="0">
                <a:solidFill>
                  <a:srgbClr val="FF0000"/>
                </a:solidFill>
                <a:latin typeface="Verdana"/>
                <a:cs typeface="Verdana"/>
              </a:rPr>
              <a:t>G</a:t>
            </a:r>
            <a:r>
              <a:rPr sz="1200" b="1" spc="-6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-</a:t>
            </a:r>
            <a:r>
              <a:rPr sz="1200" spc="-4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Global</a:t>
            </a:r>
            <a:r>
              <a:rPr sz="1200" spc="5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mobility</a:t>
            </a:r>
            <a:r>
              <a:rPr sz="1200" spc="-1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support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ts val="1420"/>
              </a:lnSpc>
              <a:spcBef>
                <a:spcPts val="60"/>
              </a:spcBef>
            </a:pPr>
            <a:r>
              <a:rPr sz="1200" b="1" dirty="0">
                <a:solidFill>
                  <a:srgbClr val="FF0000"/>
                </a:solidFill>
                <a:latin typeface="Verdana"/>
                <a:cs typeface="Verdana"/>
              </a:rPr>
              <a:t>I </a:t>
            </a:r>
            <a:r>
              <a:rPr sz="1200" dirty="0">
                <a:latin typeface="Verdana"/>
                <a:cs typeface="Verdana"/>
              </a:rPr>
              <a:t>-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Integrated</a:t>
            </a:r>
            <a:r>
              <a:rPr sz="1200" spc="-9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wireless</a:t>
            </a:r>
            <a:r>
              <a:rPr sz="1200" spc="114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solution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ts val="1420"/>
              </a:lnSpc>
            </a:pPr>
            <a:r>
              <a:rPr sz="1200" b="1" dirty="0">
                <a:solidFill>
                  <a:srgbClr val="FF0000"/>
                </a:solidFill>
                <a:latin typeface="Verdana"/>
                <a:cs typeface="Verdana"/>
              </a:rPr>
              <a:t>C</a:t>
            </a:r>
            <a:r>
              <a:rPr sz="1200" b="1" spc="-4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-</a:t>
            </a:r>
            <a:r>
              <a:rPr sz="1200" spc="-3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Customized</a:t>
            </a:r>
            <a:r>
              <a:rPr sz="1200" spc="-3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personal</a:t>
            </a:r>
            <a:r>
              <a:rPr sz="1200" spc="7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service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42949" y="1492249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599" y="8902700"/>
            <a:ext cx="6096000" cy="76200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782319" y="8937307"/>
            <a:ext cx="10674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005599"/>
                </a:solidFill>
                <a:latin typeface="Times New Roman"/>
                <a:cs typeface="Times New Roman"/>
              </a:rPr>
              <a:t>CoICT</a:t>
            </a:r>
            <a:r>
              <a:rPr sz="1400" b="1" spc="-20" dirty="0">
                <a:solidFill>
                  <a:srgbClr val="005599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5599"/>
                </a:solidFill>
                <a:latin typeface="Times New Roman"/>
                <a:cs typeface="Times New Roman"/>
              </a:rPr>
              <a:t>–</a:t>
            </a:r>
            <a:r>
              <a:rPr sz="1400" b="1" spc="10" dirty="0">
                <a:solidFill>
                  <a:srgbClr val="005599"/>
                </a:solidFill>
                <a:latin typeface="Times New Roman"/>
                <a:cs typeface="Times New Roman"/>
              </a:rPr>
              <a:t> </a:t>
            </a:r>
            <a:r>
              <a:rPr sz="1400" b="1" spc="-25" dirty="0">
                <a:solidFill>
                  <a:srgbClr val="005599"/>
                </a:solidFill>
                <a:latin typeface="Times New Roman"/>
                <a:cs typeface="Times New Roman"/>
              </a:rPr>
              <a:t>ETE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98996" y="6238773"/>
            <a:ext cx="5270500" cy="2332990"/>
          </a:xfrm>
          <a:prstGeom prst="rect">
            <a:avLst/>
          </a:prstGeom>
        </p:spPr>
        <p:txBody>
          <a:bodyPr vert="horz" wrap="square" lIns="0" tIns="1784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05"/>
              </a:spcBef>
            </a:pPr>
            <a:r>
              <a:rPr sz="2000" b="1" dirty="0">
                <a:solidFill>
                  <a:srgbClr val="FF0000"/>
                </a:solidFill>
                <a:latin typeface="Palatino Linotype"/>
                <a:cs typeface="Palatino Linotype"/>
              </a:rPr>
              <a:t>Fourth</a:t>
            </a:r>
            <a:r>
              <a:rPr sz="2000" b="1" spc="-55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b="1" dirty="0">
                <a:solidFill>
                  <a:srgbClr val="FF0000"/>
                </a:solidFill>
                <a:latin typeface="Palatino Linotype"/>
                <a:cs typeface="Palatino Linotype"/>
              </a:rPr>
              <a:t>Generation,</a:t>
            </a:r>
            <a:r>
              <a:rPr sz="2000" b="1" spc="-30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b="1" spc="-25" dirty="0">
                <a:solidFill>
                  <a:srgbClr val="FF0000"/>
                </a:solidFill>
                <a:latin typeface="Palatino Linotype"/>
                <a:cs typeface="Palatino Linotype"/>
              </a:rPr>
              <a:t>4G</a:t>
            </a:r>
            <a:endParaRPr sz="2000">
              <a:latin typeface="Palatino Linotype"/>
              <a:cs typeface="Palatino Linotype"/>
            </a:endParaRPr>
          </a:p>
          <a:p>
            <a:pPr marL="139700" marR="220979" indent="-139700">
              <a:lnSpc>
                <a:spcPts val="1900"/>
              </a:lnSpc>
              <a:spcBef>
                <a:spcPts val="1125"/>
              </a:spcBef>
              <a:buSzPct val="90625"/>
              <a:buFont typeface="Wingdings"/>
              <a:buChar char=""/>
              <a:tabLst>
                <a:tab pos="139700" algn="l"/>
                <a:tab pos="227965" algn="l"/>
              </a:tabLst>
            </a:pPr>
            <a:r>
              <a:rPr sz="1600" spc="75" dirty="0">
                <a:latin typeface="Cambria"/>
                <a:cs typeface="Cambria"/>
              </a:rPr>
              <a:t>	LTE</a:t>
            </a:r>
            <a:r>
              <a:rPr sz="1600" spc="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is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standard</a:t>
            </a:r>
            <a:r>
              <a:rPr sz="1600" spc="12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for</a:t>
            </a:r>
            <a:r>
              <a:rPr sz="1600" spc="6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wireless</a:t>
            </a:r>
            <a:r>
              <a:rPr sz="1600" spc="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broadband </a:t>
            </a:r>
            <a:r>
              <a:rPr sz="1600" dirty="0">
                <a:latin typeface="Cambria"/>
                <a:cs typeface="Cambria"/>
              </a:rPr>
              <a:t>communication</a:t>
            </a:r>
            <a:r>
              <a:rPr sz="1600" spc="17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for</a:t>
            </a:r>
            <a:r>
              <a:rPr sz="1600" spc="18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mobile</a:t>
            </a:r>
            <a:r>
              <a:rPr sz="1600" spc="1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devices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26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data</a:t>
            </a:r>
            <a:r>
              <a:rPr sz="1600" spc="22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terminals, </a:t>
            </a:r>
            <a:r>
              <a:rPr sz="1600" dirty="0">
                <a:latin typeface="Cambria"/>
                <a:cs typeface="Cambria"/>
              </a:rPr>
              <a:t>based</a:t>
            </a:r>
            <a:r>
              <a:rPr sz="1600" spc="1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on</a:t>
            </a:r>
            <a:r>
              <a:rPr sz="1600" spc="6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the</a:t>
            </a:r>
            <a:r>
              <a:rPr sz="1600" spc="145" dirty="0">
                <a:latin typeface="Cambria"/>
                <a:cs typeface="Cambria"/>
              </a:rPr>
              <a:t> </a:t>
            </a:r>
            <a:r>
              <a:rPr sz="1600" spc="130" dirty="0">
                <a:latin typeface="Cambria"/>
                <a:cs typeface="Cambria"/>
              </a:rPr>
              <a:t>GSM/EDGE</a:t>
            </a:r>
            <a:r>
              <a:rPr sz="1600" spc="2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130" dirty="0">
                <a:latin typeface="Cambria"/>
                <a:cs typeface="Cambria"/>
              </a:rPr>
              <a:t> </a:t>
            </a:r>
            <a:r>
              <a:rPr sz="1600" spc="110" dirty="0">
                <a:latin typeface="Cambria"/>
                <a:cs typeface="Cambria"/>
              </a:rPr>
              <a:t>UMTS/HSPA </a:t>
            </a:r>
            <a:r>
              <a:rPr sz="1600" spc="-10" dirty="0">
                <a:latin typeface="Cambria"/>
                <a:cs typeface="Cambria"/>
              </a:rPr>
              <a:t>technologies</a:t>
            </a:r>
            <a:endParaRPr sz="1600">
              <a:latin typeface="Cambria"/>
              <a:cs typeface="Cambria"/>
            </a:endParaRPr>
          </a:p>
          <a:p>
            <a:pPr marL="139700" marR="5080" indent="-139700">
              <a:lnSpc>
                <a:spcPts val="1900"/>
              </a:lnSpc>
              <a:spcBef>
                <a:spcPts val="100"/>
              </a:spcBef>
              <a:buSzPct val="90625"/>
              <a:buFont typeface="Wingdings"/>
              <a:buChar char=""/>
              <a:tabLst>
                <a:tab pos="139700" algn="l"/>
                <a:tab pos="177165" algn="l"/>
              </a:tabLst>
            </a:pPr>
            <a:r>
              <a:rPr sz="1600" spc="70" dirty="0">
                <a:latin typeface="Cambria"/>
                <a:cs typeface="Cambria"/>
              </a:rPr>
              <a:t>	LTE</a:t>
            </a:r>
            <a:r>
              <a:rPr sz="1600" spc="1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has</a:t>
            </a:r>
            <a:r>
              <a:rPr sz="1600" spc="12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been</a:t>
            </a:r>
            <a:r>
              <a:rPr sz="1600" spc="7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marketed</a:t>
            </a:r>
            <a:r>
              <a:rPr sz="1600" spc="1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both</a:t>
            </a:r>
            <a:r>
              <a:rPr sz="1600" spc="6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as</a:t>
            </a:r>
            <a:r>
              <a:rPr sz="1600" spc="1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"4G</a:t>
            </a:r>
            <a:r>
              <a:rPr sz="1600" spc="80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LTE"</a:t>
            </a:r>
            <a:r>
              <a:rPr sz="1600" spc="-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130" dirty="0">
                <a:latin typeface="Cambria"/>
                <a:cs typeface="Cambria"/>
              </a:rPr>
              <a:t> </a:t>
            </a:r>
            <a:r>
              <a:rPr sz="1600" spc="-25" dirty="0">
                <a:latin typeface="Cambria"/>
                <a:cs typeface="Cambria"/>
              </a:rPr>
              <a:t>as </a:t>
            </a:r>
            <a:r>
              <a:rPr sz="1600" spc="50" dirty="0">
                <a:latin typeface="Cambria"/>
                <a:cs typeface="Cambria"/>
              </a:rPr>
              <a:t>"Advanced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spc="105" dirty="0">
                <a:latin typeface="Cambria"/>
                <a:cs typeface="Cambria"/>
              </a:rPr>
              <a:t>4G”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but</a:t>
            </a:r>
            <a:r>
              <a:rPr sz="1600" spc="6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it</a:t>
            </a:r>
            <a:r>
              <a:rPr sz="1600" spc="7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does not</a:t>
            </a:r>
            <a:r>
              <a:rPr sz="1600" spc="6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meet</a:t>
            </a:r>
            <a:r>
              <a:rPr sz="1600" spc="6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the</a:t>
            </a:r>
            <a:r>
              <a:rPr sz="1600" spc="12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technical</a:t>
            </a:r>
            <a:r>
              <a:rPr sz="1600" spc="13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criteria </a:t>
            </a:r>
            <a:r>
              <a:rPr sz="1600" dirty="0">
                <a:latin typeface="Cambria"/>
                <a:cs typeface="Cambria"/>
              </a:rPr>
              <a:t>of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</a:t>
            </a:r>
            <a:r>
              <a:rPr sz="1600" spc="150" dirty="0">
                <a:latin typeface="Cambria"/>
                <a:cs typeface="Cambria"/>
              </a:rPr>
              <a:t> </a:t>
            </a:r>
            <a:r>
              <a:rPr sz="1600" u="sng" spc="7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mbria"/>
                <a:cs typeface="Cambria"/>
              </a:rPr>
              <a:t>4G</a:t>
            </a:r>
            <a:r>
              <a:rPr sz="1600" spc="125" dirty="0">
                <a:solidFill>
                  <a:srgbClr val="0563C1"/>
                </a:solidFill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wireless</a:t>
            </a:r>
            <a:r>
              <a:rPr sz="1600" spc="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service,</a:t>
            </a:r>
            <a:r>
              <a:rPr sz="1600" spc="1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as</a:t>
            </a:r>
            <a:r>
              <a:rPr sz="1600" spc="18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specified</a:t>
            </a:r>
            <a:r>
              <a:rPr sz="1600" spc="5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by</a:t>
            </a:r>
            <a:r>
              <a:rPr sz="1600" spc="35" dirty="0">
                <a:latin typeface="Cambria"/>
                <a:cs typeface="Cambria"/>
              </a:rPr>
              <a:t> </a:t>
            </a:r>
            <a:r>
              <a:rPr sz="1600" spc="40" dirty="0">
                <a:latin typeface="Cambria"/>
                <a:cs typeface="Cambria"/>
              </a:rPr>
              <a:t>3GPP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42949" y="5759450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65111" y="455423"/>
            <a:ext cx="59690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latin typeface="Calibri"/>
                <a:cs typeface="Calibri"/>
              </a:rPr>
              <a:t>6/23/20</a:t>
            </a:r>
            <a:endParaRPr sz="13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599" y="4635499"/>
            <a:ext cx="6096000" cy="762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82319" y="4670107"/>
            <a:ext cx="10674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005599"/>
                </a:solidFill>
                <a:latin typeface="Times New Roman"/>
                <a:cs typeface="Times New Roman"/>
              </a:rPr>
              <a:t>CoICT</a:t>
            </a:r>
            <a:r>
              <a:rPr sz="1400" b="1" spc="-20" dirty="0">
                <a:solidFill>
                  <a:srgbClr val="005599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5599"/>
                </a:solidFill>
                <a:latin typeface="Times New Roman"/>
                <a:cs typeface="Times New Roman"/>
              </a:rPr>
              <a:t>–</a:t>
            </a:r>
            <a:r>
              <a:rPr sz="1400" b="1" spc="10" dirty="0">
                <a:solidFill>
                  <a:srgbClr val="005599"/>
                </a:solidFill>
                <a:latin typeface="Times New Roman"/>
                <a:cs typeface="Times New Roman"/>
              </a:rPr>
              <a:t> </a:t>
            </a:r>
            <a:r>
              <a:rPr sz="1400" b="1" spc="-25" dirty="0">
                <a:solidFill>
                  <a:srgbClr val="005599"/>
                </a:solidFill>
                <a:latin typeface="Times New Roman"/>
                <a:cs typeface="Times New Roman"/>
              </a:rPr>
              <a:t>ETE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43446" y="2061047"/>
            <a:ext cx="5428615" cy="2275840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55"/>
              </a:spcBef>
            </a:pPr>
            <a:r>
              <a:rPr sz="2000" b="1" dirty="0">
                <a:solidFill>
                  <a:srgbClr val="FF0000"/>
                </a:solidFill>
                <a:latin typeface="Palatino Linotype"/>
                <a:cs typeface="Palatino Linotype"/>
              </a:rPr>
              <a:t>Fifth</a:t>
            </a:r>
            <a:r>
              <a:rPr sz="2000" b="1" spc="5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b="1" dirty="0">
                <a:solidFill>
                  <a:srgbClr val="FF0000"/>
                </a:solidFill>
                <a:latin typeface="Palatino Linotype"/>
                <a:cs typeface="Palatino Linotype"/>
              </a:rPr>
              <a:t>Generation</a:t>
            </a:r>
            <a:r>
              <a:rPr sz="2000" b="1" spc="-95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b="1" spc="-25" dirty="0">
                <a:solidFill>
                  <a:srgbClr val="FF0000"/>
                </a:solidFill>
                <a:latin typeface="Palatino Linotype"/>
                <a:cs typeface="Palatino Linotype"/>
              </a:rPr>
              <a:t>5G</a:t>
            </a:r>
            <a:endParaRPr sz="2000">
              <a:latin typeface="Palatino Linotype"/>
              <a:cs typeface="Palatino Linotype"/>
            </a:endParaRPr>
          </a:p>
          <a:p>
            <a:pPr marL="200025" marR="224790" indent="-139700">
              <a:lnSpc>
                <a:spcPts val="1900"/>
              </a:lnSpc>
              <a:spcBef>
                <a:spcPts val="919"/>
              </a:spcBef>
              <a:buFont typeface="Wingdings"/>
              <a:buChar char=""/>
              <a:tabLst>
                <a:tab pos="200025" algn="l"/>
                <a:tab pos="288290" algn="l"/>
              </a:tabLst>
            </a:pPr>
            <a:r>
              <a:rPr sz="1600" spc="70" dirty="0">
                <a:latin typeface="Cambria"/>
                <a:cs typeface="Cambria"/>
              </a:rPr>
              <a:t>	5G</a:t>
            </a:r>
            <a:r>
              <a:rPr sz="1600" spc="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will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be</a:t>
            </a:r>
            <a:r>
              <a:rPr sz="1600" spc="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able to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performs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Internet</a:t>
            </a:r>
            <a:r>
              <a:rPr sz="1600" spc="26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of</a:t>
            </a:r>
            <a:r>
              <a:rPr sz="1600" spc="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Things</a:t>
            </a:r>
            <a:r>
              <a:rPr sz="1600" spc="-1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(IoT)</a:t>
            </a:r>
            <a:r>
              <a:rPr sz="1600" spc="145" dirty="0">
                <a:latin typeface="Cambria"/>
                <a:cs typeface="Cambria"/>
              </a:rPr>
              <a:t> </a:t>
            </a:r>
            <a:r>
              <a:rPr sz="1600" spc="-25" dirty="0">
                <a:latin typeface="Cambria"/>
                <a:cs typeface="Cambria"/>
              </a:rPr>
              <a:t>for </a:t>
            </a:r>
            <a:r>
              <a:rPr sz="1600" dirty="0">
                <a:latin typeface="Cambria"/>
                <a:cs typeface="Cambria"/>
              </a:rPr>
              <a:t>smart</a:t>
            </a:r>
            <a:r>
              <a:rPr sz="1600" spc="17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home</a:t>
            </a:r>
            <a:r>
              <a:rPr sz="1600" spc="1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smart</a:t>
            </a:r>
            <a:r>
              <a:rPr sz="1600" spc="17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city,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connected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cars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-20" dirty="0">
                <a:latin typeface="Cambria"/>
                <a:cs typeface="Cambria"/>
              </a:rPr>
              <a:t>etc.</a:t>
            </a:r>
            <a:endParaRPr sz="1600">
              <a:latin typeface="Cambria"/>
              <a:cs typeface="Cambria"/>
            </a:endParaRPr>
          </a:p>
          <a:p>
            <a:pPr marL="288290" indent="-227965">
              <a:lnSpc>
                <a:spcPts val="1830"/>
              </a:lnSpc>
              <a:buFont typeface="Wingdings"/>
              <a:buChar char=""/>
              <a:tabLst>
                <a:tab pos="288290" algn="l"/>
              </a:tabLst>
            </a:pPr>
            <a:r>
              <a:rPr sz="1600" spc="60" dirty="0">
                <a:latin typeface="Cambria"/>
                <a:cs typeface="Cambria"/>
              </a:rPr>
              <a:t>Will</a:t>
            </a:r>
            <a:r>
              <a:rPr sz="1600" spc="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be</a:t>
            </a:r>
            <a:r>
              <a:rPr sz="1600" spc="16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based</a:t>
            </a:r>
            <a:r>
              <a:rPr sz="1600" spc="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on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lower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-20" dirty="0">
                <a:latin typeface="Cambria"/>
                <a:cs typeface="Cambria"/>
              </a:rPr>
              <a:t>cost,</a:t>
            </a:r>
            <a:endParaRPr sz="1600">
              <a:latin typeface="Cambria"/>
              <a:cs typeface="Cambria"/>
            </a:endParaRPr>
          </a:p>
          <a:p>
            <a:pPr marL="288290" indent="-227965">
              <a:lnSpc>
                <a:spcPts val="1910"/>
              </a:lnSpc>
              <a:buFont typeface="Wingdings"/>
              <a:buChar char=""/>
              <a:tabLst>
                <a:tab pos="288290" algn="l"/>
              </a:tabLst>
            </a:pPr>
            <a:r>
              <a:rPr sz="1600" spc="85" dirty="0">
                <a:latin typeface="Cambria"/>
                <a:cs typeface="Cambria"/>
              </a:rPr>
              <a:t>Low</a:t>
            </a:r>
            <a:r>
              <a:rPr sz="1600" spc="-1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battery</a:t>
            </a:r>
            <a:r>
              <a:rPr sz="1600" spc="3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consumption</a:t>
            </a:r>
            <a:endParaRPr sz="1600">
              <a:latin typeface="Cambria"/>
              <a:cs typeface="Cambria"/>
            </a:endParaRPr>
          </a:p>
          <a:p>
            <a:pPr marL="288290" indent="-227965">
              <a:lnSpc>
                <a:spcPts val="1910"/>
              </a:lnSpc>
              <a:spcBef>
                <a:spcPts val="80"/>
              </a:spcBef>
              <a:buFont typeface="Wingdings"/>
              <a:buChar char=""/>
              <a:tabLst>
                <a:tab pos="288290" algn="l"/>
              </a:tabLst>
            </a:pPr>
            <a:r>
              <a:rPr sz="1600" dirty="0">
                <a:latin typeface="Cambria"/>
                <a:cs typeface="Cambria"/>
              </a:rPr>
              <a:t>Lower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latency</a:t>
            </a:r>
            <a:r>
              <a:rPr sz="1600" spc="1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than</a:t>
            </a:r>
            <a:r>
              <a:rPr sz="1600" spc="204" dirty="0">
                <a:latin typeface="Cambria"/>
                <a:cs typeface="Cambria"/>
              </a:rPr>
              <a:t> </a:t>
            </a:r>
            <a:r>
              <a:rPr sz="1600" spc="70" dirty="0">
                <a:latin typeface="Cambria"/>
                <a:cs typeface="Cambria"/>
              </a:rPr>
              <a:t>4G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equipment.</a:t>
            </a:r>
            <a:endParaRPr sz="1600">
              <a:latin typeface="Cambria"/>
              <a:cs typeface="Cambria"/>
            </a:endParaRPr>
          </a:p>
          <a:p>
            <a:pPr marL="200025" marR="5080" indent="-139700">
              <a:lnSpc>
                <a:spcPts val="1900"/>
              </a:lnSpc>
              <a:spcBef>
                <a:spcPts val="70"/>
              </a:spcBef>
              <a:buFont typeface="Wingdings"/>
              <a:buChar char=""/>
              <a:tabLst>
                <a:tab pos="200025" algn="l"/>
                <a:tab pos="288290" algn="l"/>
              </a:tabLst>
            </a:pPr>
            <a:r>
              <a:rPr sz="1600" dirty="0">
                <a:latin typeface="Cambria"/>
                <a:cs typeface="Cambria"/>
              </a:rPr>
              <a:t>	There</a:t>
            </a:r>
            <a:r>
              <a:rPr sz="1600" spc="1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will</a:t>
            </a:r>
            <a:r>
              <a:rPr sz="1600" spc="1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be</a:t>
            </a:r>
            <a:r>
              <a:rPr sz="1600" spc="1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much</a:t>
            </a:r>
            <a:r>
              <a:rPr sz="1600" spc="6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faster</a:t>
            </a:r>
            <a:r>
              <a:rPr sz="1600" spc="5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transmission</a:t>
            </a:r>
            <a:r>
              <a:rPr sz="1600" spc="6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rate</a:t>
            </a:r>
            <a:r>
              <a:rPr sz="1600" spc="2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of</a:t>
            </a:r>
            <a:r>
              <a:rPr sz="1600" spc="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data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to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spc="-25" dirty="0">
                <a:latin typeface="Cambria"/>
                <a:cs typeface="Cambria"/>
              </a:rPr>
              <a:t>the </a:t>
            </a:r>
            <a:r>
              <a:rPr sz="1600" dirty="0">
                <a:latin typeface="Cambria"/>
                <a:cs typeface="Cambria"/>
              </a:rPr>
              <a:t>previous</a:t>
            </a:r>
            <a:r>
              <a:rPr sz="1600" spc="7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versions.</a:t>
            </a:r>
            <a:r>
              <a:rPr sz="1600" spc="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Thus</a:t>
            </a:r>
            <a:r>
              <a:rPr sz="1600" spc="20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the</a:t>
            </a:r>
            <a:r>
              <a:rPr sz="1600" spc="22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speed</a:t>
            </a:r>
            <a:r>
              <a:rPr sz="1600" spc="8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of</a:t>
            </a:r>
            <a:r>
              <a:rPr sz="1600" spc="-5" dirty="0">
                <a:latin typeface="Cambria"/>
                <a:cs typeface="Cambria"/>
              </a:rPr>
              <a:t> </a:t>
            </a:r>
            <a:r>
              <a:rPr sz="1600" spc="70" dirty="0">
                <a:latin typeface="Cambria"/>
                <a:cs typeface="Cambria"/>
              </a:rPr>
              <a:t>5G</a:t>
            </a:r>
            <a:r>
              <a:rPr sz="1600" spc="28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will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be</a:t>
            </a:r>
            <a:r>
              <a:rPr sz="1600" spc="225" dirty="0">
                <a:latin typeface="Cambria"/>
                <a:cs typeface="Cambria"/>
              </a:rPr>
              <a:t> </a:t>
            </a:r>
            <a:r>
              <a:rPr sz="1600" spc="40" dirty="0">
                <a:latin typeface="Cambria"/>
                <a:cs typeface="Cambria"/>
              </a:rPr>
              <a:t>1Gbit/s.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42949" y="1492249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599" y="8902700"/>
            <a:ext cx="6096000" cy="76200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782319" y="8937307"/>
            <a:ext cx="10674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005599"/>
                </a:solidFill>
                <a:latin typeface="Times New Roman"/>
                <a:cs typeface="Times New Roman"/>
              </a:rPr>
              <a:t>CoICT</a:t>
            </a:r>
            <a:r>
              <a:rPr sz="1400" b="1" spc="-20" dirty="0">
                <a:solidFill>
                  <a:srgbClr val="005599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5599"/>
                </a:solidFill>
                <a:latin typeface="Times New Roman"/>
                <a:cs typeface="Times New Roman"/>
              </a:rPr>
              <a:t>–</a:t>
            </a:r>
            <a:r>
              <a:rPr sz="1400" b="1" spc="10" dirty="0">
                <a:solidFill>
                  <a:srgbClr val="005599"/>
                </a:solidFill>
                <a:latin typeface="Times New Roman"/>
                <a:cs typeface="Times New Roman"/>
              </a:rPr>
              <a:t> </a:t>
            </a:r>
            <a:r>
              <a:rPr sz="1400" b="1" spc="-25" dirty="0">
                <a:solidFill>
                  <a:srgbClr val="005599"/>
                </a:solidFill>
                <a:latin typeface="Times New Roman"/>
                <a:cs typeface="Times New Roman"/>
              </a:rPr>
              <a:t>ETE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36599" y="5753100"/>
            <a:ext cx="6096000" cy="3429000"/>
            <a:chOff x="736599" y="5753100"/>
            <a:chExt cx="6096000" cy="3429000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24299" y="6502400"/>
              <a:ext cx="2463800" cy="24257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84300" y="6502400"/>
              <a:ext cx="2184400" cy="236220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742949" y="5759450"/>
              <a:ext cx="6083300" cy="3416300"/>
            </a:xfrm>
            <a:custGeom>
              <a:avLst/>
              <a:gdLst/>
              <a:ahLst/>
              <a:cxnLst/>
              <a:rect l="l" t="t" r="r" b="b"/>
              <a:pathLst>
                <a:path w="6083300" h="3416300">
                  <a:moveTo>
                    <a:pt x="0" y="0"/>
                  </a:moveTo>
                  <a:lnTo>
                    <a:pt x="6083300" y="0"/>
                  </a:lnTo>
                  <a:lnTo>
                    <a:pt x="6083300" y="3416300"/>
                  </a:lnTo>
                  <a:lnTo>
                    <a:pt x="0" y="34163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65111" y="455423"/>
            <a:ext cx="59690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latin typeface="Calibri"/>
                <a:cs typeface="Calibri"/>
              </a:rPr>
              <a:t>6/23/20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782319" y="4670107"/>
            <a:ext cx="10674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005599"/>
                </a:solidFill>
                <a:latin typeface="Times New Roman"/>
                <a:cs typeface="Times New Roman"/>
              </a:rPr>
              <a:t>CoICT</a:t>
            </a:r>
            <a:r>
              <a:rPr sz="1400" b="1" spc="-20" dirty="0">
                <a:solidFill>
                  <a:srgbClr val="005599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5599"/>
                </a:solidFill>
                <a:latin typeface="Times New Roman"/>
                <a:cs typeface="Times New Roman"/>
              </a:rPr>
              <a:t>–</a:t>
            </a:r>
            <a:r>
              <a:rPr sz="1400" b="1" spc="10" dirty="0">
                <a:solidFill>
                  <a:srgbClr val="005599"/>
                </a:solidFill>
                <a:latin typeface="Times New Roman"/>
                <a:cs typeface="Times New Roman"/>
              </a:rPr>
              <a:t> </a:t>
            </a:r>
            <a:r>
              <a:rPr sz="1400" b="1" spc="-25" dirty="0">
                <a:solidFill>
                  <a:srgbClr val="005599"/>
                </a:solidFill>
                <a:latin typeface="Times New Roman"/>
                <a:cs typeface="Times New Roman"/>
              </a:rPr>
              <a:t>ETE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35481" y="2296997"/>
            <a:ext cx="1144905" cy="1763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solidFill>
                  <a:srgbClr val="FF0000"/>
                </a:solidFill>
                <a:latin typeface="Palatino Linotype"/>
                <a:cs typeface="Palatino Linotype"/>
              </a:rPr>
              <a:t>Summary</a:t>
            </a:r>
            <a:endParaRPr sz="2000">
              <a:latin typeface="Palatino Linotype"/>
              <a:cs typeface="Palatino Linotype"/>
            </a:endParaRPr>
          </a:p>
          <a:p>
            <a:pPr marL="611505" indent="-227965">
              <a:lnSpc>
                <a:spcPts val="1910"/>
              </a:lnSpc>
              <a:spcBef>
                <a:spcPts val="1665"/>
              </a:spcBef>
              <a:buFont typeface="Wingdings"/>
              <a:buChar char=""/>
              <a:tabLst>
                <a:tab pos="611505" algn="l"/>
              </a:tabLst>
            </a:pPr>
            <a:r>
              <a:rPr sz="1600" spc="40" dirty="0">
                <a:latin typeface="Cambria"/>
                <a:cs typeface="Cambria"/>
              </a:rPr>
              <a:t>1G</a:t>
            </a:r>
            <a:endParaRPr sz="1600">
              <a:latin typeface="Cambria"/>
              <a:cs typeface="Cambria"/>
            </a:endParaRPr>
          </a:p>
          <a:p>
            <a:pPr marL="611505" indent="-227965">
              <a:lnSpc>
                <a:spcPts val="1900"/>
              </a:lnSpc>
              <a:buFont typeface="Wingdings"/>
              <a:buChar char=""/>
              <a:tabLst>
                <a:tab pos="611505" algn="l"/>
              </a:tabLst>
            </a:pPr>
            <a:r>
              <a:rPr sz="1600" spc="40" dirty="0">
                <a:latin typeface="Cambria"/>
                <a:cs typeface="Cambria"/>
              </a:rPr>
              <a:t>2G</a:t>
            </a:r>
            <a:endParaRPr sz="1600">
              <a:latin typeface="Cambria"/>
              <a:cs typeface="Cambria"/>
            </a:endParaRPr>
          </a:p>
          <a:p>
            <a:pPr marL="611505" indent="-227965">
              <a:lnSpc>
                <a:spcPts val="1900"/>
              </a:lnSpc>
              <a:buFont typeface="Wingdings"/>
              <a:buChar char=""/>
              <a:tabLst>
                <a:tab pos="611505" algn="l"/>
              </a:tabLst>
            </a:pPr>
            <a:r>
              <a:rPr sz="1600" spc="40" dirty="0">
                <a:latin typeface="Cambria"/>
                <a:cs typeface="Cambria"/>
              </a:rPr>
              <a:t>3G</a:t>
            </a:r>
            <a:endParaRPr sz="1600">
              <a:latin typeface="Cambria"/>
              <a:cs typeface="Cambria"/>
            </a:endParaRPr>
          </a:p>
          <a:p>
            <a:pPr marL="611505" indent="-227965">
              <a:lnSpc>
                <a:spcPts val="1910"/>
              </a:lnSpc>
              <a:buFont typeface="Wingdings"/>
              <a:buChar char=""/>
              <a:tabLst>
                <a:tab pos="611505" algn="l"/>
              </a:tabLst>
            </a:pPr>
            <a:r>
              <a:rPr sz="1600" spc="40" dirty="0">
                <a:latin typeface="Cambria"/>
                <a:cs typeface="Cambria"/>
              </a:rPr>
              <a:t>4G</a:t>
            </a:r>
            <a:endParaRPr sz="1600">
              <a:latin typeface="Cambria"/>
              <a:cs typeface="Cambria"/>
            </a:endParaRPr>
          </a:p>
          <a:p>
            <a:pPr marL="611505" indent="-227965">
              <a:lnSpc>
                <a:spcPct val="100000"/>
              </a:lnSpc>
              <a:spcBef>
                <a:spcPts val="80"/>
              </a:spcBef>
              <a:buFont typeface="Wingdings"/>
              <a:buChar char=""/>
              <a:tabLst>
                <a:tab pos="611505" algn="l"/>
              </a:tabLst>
            </a:pPr>
            <a:r>
              <a:rPr sz="1600" spc="40" dirty="0">
                <a:latin typeface="Cambria"/>
                <a:cs typeface="Cambria"/>
              </a:rPr>
              <a:t>5G</a:t>
            </a:r>
            <a:endParaRPr sz="1600">
              <a:latin typeface="Cambria"/>
              <a:cs typeface="Cambri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36599" y="1485899"/>
            <a:ext cx="6096000" cy="3429000"/>
            <a:chOff x="736599" y="1485899"/>
            <a:chExt cx="6096000" cy="342900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24100" y="2209798"/>
              <a:ext cx="4432300" cy="23748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42949" y="1492249"/>
              <a:ext cx="6083300" cy="3416300"/>
            </a:xfrm>
            <a:custGeom>
              <a:avLst/>
              <a:gdLst/>
              <a:ahLst/>
              <a:cxnLst/>
              <a:rect l="l" t="t" r="r" b="b"/>
              <a:pathLst>
                <a:path w="6083300" h="3416300">
                  <a:moveTo>
                    <a:pt x="0" y="0"/>
                  </a:moveTo>
                  <a:lnTo>
                    <a:pt x="6083300" y="0"/>
                  </a:lnTo>
                  <a:lnTo>
                    <a:pt x="6083300" y="3416300"/>
                  </a:lnTo>
                  <a:lnTo>
                    <a:pt x="0" y="34163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8" name="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6599" y="8902700"/>
            <a:ext cx="6096000" cy="76200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782319" y="8937307"/>
            <a:ext cx="10674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005599"/>
                </a:solidFill>
                <a:latin typeface="Times New Roman"/>
                <a:cs typeface="Times New Roman"/>
              </a:rPr>
              <a:t>CoICT</a:t>
            </a:r>
            <a:r>
              <a:rPr sz="1400" b="1" spc="-20" dirty="0">
                <a:solidFill>
                  <a:srgbClr val="005599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5599"/>
                </a:solidFill>
                <a:latin typeface="Times New Roman"/>
                <a:cs typeface="Times New Roman"/>
              </a:rPr>
              <a:t>–</a:t>
            </a:r>
            <a:r>
              <a:rPr sz="1400" b="1" spc="10" dirty="0">
                <a:solidFill>
                  <a:srgbClr val="005599"/>
                </a:solidFill>
                <a:latin typeface="Times New Roman"/>
                <a:cs typeface="Times New Roman"/>
              </a:rPr>
              <a:t> </a:t>
            </a:r>
            <a:r>
              <a:rPr sz="1400" b="1" spc="-25" dirty="0">
                <a:solidFill>
                  <a:srgbClr val="005599"/>
                </a:solidFill>
                <a:latin typeface="Times New Roman"/>
                <a:cs typeface="Times New Roman"/>
              </a:rPr>
              <a:t>ETE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736599" y="5753100"/>
            <a:ext cx="6096000" cy="3429000"/>
            <a:chOff x="736599" y="5753100"/>
            <a:chExt cx="6096000" cy="3429000"/>
          </a:xfrm>
        </p:grpSpPr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90700" y="6426200"/>
              <a:ext cx="3251200" cy="2387600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742949" y="5759450"/>
              <a:ext cx="6083300" cy="3416300"/>
            </a:xfrm>
            <a:custGeom>
              <a:avLst/>
              <a:gdLst/>
              <a:ahLst/>
              <a:cxnLst/>
              <a:rect l="l" t="t" r="r" b="b"/>
              <a:pathLst>
                <a:path w="6083300" h="3416300">
                  <a:moveTo>
                    <a:pt x="0" y="0"/>
                  </a:moveTo>
                  <a:lnTo>
                    <a:pt x="6083300" y="0"/>
                  </a:lnTo>
                  <a:lnTo>
                    <a:pt x="6083300" y="3416300"/>
                  </a:lnTo>
                  <a:lnTo>
                    <a:pt x="0" y="34163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65111" y="455423"/>
            <a:ext cx="59690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latin typeface="Calibri"/>
                <a:cs typeface="Calibri"/>
              </a:rPr>
              <a:t>6/23/20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2319" y="4670107"/>
            <a:ext cx="10674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005599"/>
                </a:solidFill>
                <a:latin typeface="Times New Roman"/>
                <a:cs typeface="Times New Roman"/>
              </a:rPr>
              <a:t>CoICT</a:t>
            </a:r>
            <a:r>
              <a:rPr sz="1400" b="1" spc="-20" dirty="0">
                <a:solidFill>
                  <a:srgbClr val="005599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5599"/>
                </a:solidFill>
                <a:latin typeface="Times New Roman"/>
                <a:cs typeface="Times New Roman"/>
              </a:rPr>
              <a:t>–</a:t>
            </a:r>
            <a:r>
              <a:rPr sz="1400" b="1" spc="10" dirty="0">
                <a:solidFill>
                  <a:srgbClr val="005599"/>
                </a:solidFill>
                <a:latin typeface="Times New Roman"/>
                <a:cs typeface="Times New Roman"/>
              </a:rPr>
              <a:t> </a:t>
            </a:r>
            <a:r>
              <a:rPr sz="1400" b="1" spc="-25" dirty="0">
                <a:solidFill>
                  <a:srgbClr val="005599"/>
                </a:solidFill>
                <a:latin typeface="Times New Roman"/>
                <a:cs typeface="Times New Roman"/>
              </a:rPr>
              <a:t>ETE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68720" y="4670107"/>
            <a:ext cx="508634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spc="-10" dirty="0" smtClean="0">
                <a:solidFill>
                  <a:srgbClr val="005599"/>
                </a:solidFill>
                <a:latin typeface="Times New Roman"/>
                <a:cs typeface="Times New Roman"/>
              </a:rPr>
              <a:t>T</a:t>
            </a:r>
            <a:endParaRPr sz="1400" dirty="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36599" y="1485899"/>
            <a:ext cx="6096000" cy="3429000"/>
            <a:chOff x="736599" y="1485899"/>
            <a:chExt cx="6096000" cy="342900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35100" y="2222498"/>
              <a:ext cx="4470400" cy="233958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742949" y="1492249"/>
              <a:ext cx="6083300" cy="3416300"/>
            </a:xfrm>
            <a:custGeom>
              <a:avLst/>
              <a:gdLst/>
              <a:ahLst/>
              <a:cxnLst/>
              <a:rect l="l" t="t" r="r" b="b"/>
              <a:pathLst>
                <a:path w="6083300" h="3416300">
                  <a:moveTo>
                    <a:pt x="0" y="0"/>
                  </a:moveTo>
                  <a:lnTo>
                    <a:pt x="6083300" y="0"/>
                  </a:lnTo>
                  <a:lnTo>
                    <a:pt x="6083300" y="3416300"/>
                  </a:lnTo>
                  <a:lnTo>
                    <a:pt x="0" y="34163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6599" y="8902700"/>
            <a:ext cx="6096000" cy="76200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782319" y="8937307"/>
            <a:ext cx="10674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005599"/>
                </a:solidFill>
                <a:latin typeface="Times New Roman"/>
                <a:cs typeface="Times New Roman"/>
              </a:rPr>
              <a:t>CoICT</a:t>
            </a:r>
            <a:r>
              <a:rPr sz="1400" b="1" spc="-20" dirty="0">
                <a:solidFill>
                  <a:srgbClr val="005599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5599"/>
                </a:solidFill>
                <a:latin typeface="Times New Roman"/>
                <a:cs typeface="Times New Roman"/>
              </a:rPr>
              <a:t>–</a:t>
            </a:r>
            <a:r>
              <a:rPr sz="1400" b="1" spc="10" dirty="0">
                <a:solidFill>
                  <a:srgbClr val="005599"/>
                </a:solidFill>
                <a:latin typeface="Times New Roman"/>
                <a:cs typeface="Times New Roman"/>
              </a:rPr>
              <a:t> </a:t>
            </a:r>
            <a:r>
              <a:rPr sz="1400" b="1" spc="-25" dirty="0">
                <a:solidFill>
                  <a:srgbClr val="005599"/>
                </a:solidFill>
                <a:latin typeface="Times New Roman"/>
                <a:cs typeface="Times New Roman"/>
              </a:rPr>
              <a:t>ETE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36599" y="5753100"/>
            <a:ext cx="6096000" cy="3429000"/>
            <a:chOff x="736599" y="5753100"/>
            <a:chExt cx="6096000" cy="3429000"/>
          </a:xfrm>
        </p:grpSpPr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5567" y="6791585"/>
              <a:ext cx="5370089" cy="1791602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742949" y="5759450"/>
              <a:ext cx="6083300" cy="3416300"/>
            </a:xfrm>
            <a:custGeom>
              <a:avLst/>
              <a:gdLst/>
              <a:ahLst/>
              <a:cxnLst/>
              <a:rect l="l" t="t" r="r" b="b"/>
              <a:pathLst>
                <a:path w="6083300" h="3416300">
                  <a:moveTo>
                    <a:pt x="0" y="0"/>
                  </a:moveTo>
                  <a:lnTo>
                    <a:pt x="6083300" y="0"/>
                  </a:lnTo>
                  <a:lnTo>
                    <a:pt x="6083300" y="3416300"/>
                  </a:lnTo>
                  <a:lnTo>
                    <a:pt x="0" y="34163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65111" y="455423"/>
            <a:ext cx="59690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latin typeface="Calibri"/>
                <a:cs typeface="Calibri"/>
              </a:rPr>
              <a:t>6/23/20</a:t>
            </a:r>
            <a:endParaRPr sz="13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599" y="4635499"/>
            <a:ext cx="6096000" cy="762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82319" y="4670107"/>
            <a:ext cx="10674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005599"/>
                </a:solidFill>
                <a:latin typeface="Times New Roman"/>
                <a:cs typeface="Times New Roman"/>
              </a:rPr>
              <a:t>CoICT</a:t>
            </a:r>
            <a:r>
              <a:rPr sz="1400" b="1" spc="-20" dirty="0">
                <a:solidFill>
                  <a:srgbClr val="005599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5599"/>
                </a:solidFill>
                <a:latin typeface="Times New Roman"/>
                <a:cs typeface="Times New Roman"/>
              </a:rPr>
              <a:t>–</a:t>
            </a:r>
            <a:r>
              <a:rPr sz="1400" b="1" spc="10" dirty="0">
                <a:solidFill>
                  <a:srgbClr val="005599"/>
                </a:solidFill>
                <a:latin typeface="Times New Roman"/>
                <a:cs typeface="Times New Roman"/>
              </a:rPr>
              <a:t> </a:t>
            </a:r>
            <a:r>
              <a:rPr sz="1400" b="1" spc="-25" dirty="0">
                <a:solidFill>
                  <a:srgbClr val="005599"/>
                </a:solidFill>
                <a:latin typeface="Times New Roman"/>
                <a:cs typeface="Times New Roman"/>
              </a:rPr>
              <a:t>ETE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68720" y="4670107"/>
            <a:ext cx="508634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endParaRPr sz="1400" dirty="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36599" y="1485899"/>
            <a:ext cx="6096000" cy="3429000"/>
            <a:chOff x="736599" y="1485899"/>
            <a:chExt cx="6096000" cy="342900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7099" y="2171698"/>
              <a:ext cx="5542191" cy="243839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742949" y="1492249"/>
              <a:ext cx="6083300" cy="3416300"/>
            </a:xfrm>
            <a:custGeom>
              <a:avLst/>
              <a:gdLst/>
              <a:ahLst/>
              <a:cxnLst/>
              <a:rect l="l" t="t" r="r" b="b"/>
              <a:pathLst>
                <a:path w="6083300" h="3416300">
                  <a:moveTo>
                    <a:pt x="0" y="0"/>
                  </a:moveTo>
                  <a:lnTo>
                    <a:pt x="6083300" y="0"/>
                  </a:lnTo>
                  <a:lnTo>
                    <a:pt x="6083300" y="3416300"/>
                  </a:lnTo>
                  <a:lnTo>
                    <a:pt x="0" y="34163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599" y="8902700"/>
            <a:ext cx="6096000" cy="76200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782319" y="6292384"/>
            <a:ext cx="5995035" cy="2884170"/>
          </a:xfrm>
          <a:prstGeom prst="rect">
            <a:avLst/>
          </a:prstGeom>
        </p:spPr>
        <p:txBody>
          <a:bodyPr vert="horz" wrap="square" lIns="0" tIns="182245" rIns="0" bIns="0" rtlCol="0">
            <a:spAutoFit/>
          </a:bodyPr>
          <a:lstStyle/>
          <a:p>
            <a:pPr marL="260985">
              <a:lnSpc>
                <a:spcPct val="100000"/>
              </a:lnSpc>
              <a:spcBef>
                <a:spcPts val="1435"/>
              </a:spcBef>
            </a:pPr>
            <a:r>
              <a:rPr sz="2000" b="1" dirty="0">
                <a:solidFill>
                  <a:srgbClr val="FF0000"/>
                </a:solidFill>
                <a:latin typeface="Palatino Linotype"/>
                <a:cs typeface="Palatino Linotype"/>
              </a:rPr>
              <a:t>Future</a:t>
            </a:r>
            <a:r>
              <a:rPr sz="2000" b="1" spc="-55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Palatino Linotype"/>
                <a:cs typeface="Palatino Linotype"/>
              </a:rPr>
              <a:t>Generations</a:t>
            </a:r>
            <a:endParaRPr sz="2000" dirty="0">
              <a:latin typeface="Palatino Linotype"/>
              <a:cs typeface="Palatino Linotype"/>
            </a:endParaRPr>
          </a:p>
          <a:p>
            <a:pPr marL="544195" indent="-193675">
              <a:lnSpc>
                <a:spcPts val="1910"/>
              </a:lnSpc>
              <a:spcBef>
                <a:spcPts val="1070"/>
              </a:spcBef>
              <a:buSzPct val="93750"/>
              <a:buFont typeface="Wingdings"/>
              <a:buChar char=""/>
              <a:tabLst>
                <a:tab pos="544195" algn="l"/>
              </a:tabLst>
            </a:pPr>
            <a:r>
              <a:rPr sz="1600" b="1" spc="-25" dirty="0">
                <a:solidFill>
                  <a:srgbClr val="FF0000"/>
                </a:solidFill>
                <a:latin typeface="Palatino Linotype"/>
                <a:cs typeface="Palatino Linotype"/>
              </a:rPr>
              <a:t>6G:</a:t>
            </a:r>
            <a:endParaRPr sz="1600" dirty="0">
              <a:latin typeface="Palatino Linotype"/>
              <a:cs typeface="Palatino Linotype"/>
            </a:endParaRPr>
          </a:p>
          <a:p>
            <a:pPr marL="823594" lvl="1" indent="-227965">
              <a:lnSpc>
                <a:spcPts val="1900"/>
              </a:lnSpc>
              <a:buFont typeface="Wingdings"/>
              <a:buChar char=""/>
              <a:tabLst>
                <a:tab pos="823594" algn="l"/>
              </a:tabLst>
            </a:pPr>
            <a:r>
              <a:rPr sz="1600" dirty="0">
                <a:latin typeface="Cambria"/>
                <a:cs typeface="Cambria"/>
              </a:rPr>
              <a:t>Integrate</a:t>
            </a:r>
            <a:r>
              <a:rPr sz="1600" spc="250" dirty="0">
                <a:latin typeface="Cambria"/>
                <a:cs typeface="Cambria"/>
              </a:rPr>
              <a:t> </a:t>
            </a:r>
            <a:r>
              <a:rPr sz="1600" spc="70" dirty="0">
                <a:latin typeface="Cambria"/>
                <a:cs typeface="Cambria"/>
              </a:rPr>
              <a:t>5G</a:t>
            </a:r>
            <a:r>
              <a:rPr sz="1600" spc="8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with</a:t>
            </a:r>
            <a:r>
              <a:rPr sz="1600" spc="18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satellite</a:t>
            </a:r>
            <a:r>
              <a:rPr sz="1600" spc="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network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for</a:t>
            </a:r>
            <a:r>
              <a:rPr sz="1600" spc="7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global</a:t>
            </a:r>
            <a:r>
              <a:rPr sz="1600" spc="3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coverage</a:t>
            </a:r>
            <a:endParaRPr sz="1600" dirty="0">
              <a:latin typeface="Cambria"/>
              <a:cs typeface="Cambria"/>
            </a:endParaRPr>
          </a:p>
          <a:p>
            <a:pPr marL="823594" lvl="1" indent="-227965">
              <a:lnSpc>
                <a:spcPts val="1900"/>
              </a:lnSpc>
              <a:buFont typeface="Wingdings"/>
              <a:buChar char=""/>
              <a:tabLst>
                <a:tab pos="823594" algn="l"/>
              </a:tabLst>
            </a:pPr>
            <a:r>
              <a:rPr sz="1600" dirty="0">
                <a:latin typeface="Cambria"/>
                <a:cs typeface="Cambria"/>
              </a:rPr>
              <a:t>Ultra</a:t>
            </a:r>
            <a:r>
              <a:rPr sz="1600" spc="1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fast</a:t>
            </a:r>
            <a:r>
              <a:rPr sz="1600" spc="2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Internet</a:t>
            </a:r>
            <a:r>
              <a:rPr sz="1600" spc="12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access</a:t>
            </a:r>
            <a:endParaRPr sz="1600" dirty="0">
              <a:latin typeface="Cambria"/>
              <a:cs typeface="Cambria"/>
            </a:endParaRPr>
          </a:p>
          <a:p>
            <a:pPr marL="823594" lvl="1" indent="-227965">
              <a:lnSpc>
                <a:spcPts val="1910"/>
              </a:lnSpc>
              <a:buFont typeface="Wingdings"/>
              <a:buChar char=""/>
              <a:tabLst>
                <a:tab pos="823594" algn="l"/>
              </a:tabLst>
            </a:pPr>
            <a:r>
              <a:rPr sz="1600" dirty="0">
                <a:latin typeface="Cambria"/>
                <a:cs typeface="Cambria"/>
              </a:rPr>
              <a:t>Smart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home/cities</a:t>
            </a:r>
            <a:endParaRPr sz="1600" dirty="0">
              <a:latin typeface="Cambria"/>
              <a:cs typeface="Cambria"/>
            </a:endParaRPr>
          </a:p>
          <a:p>
            <a:pPr marL="594995" indent="-227965">
              <a:lnSpc>
                <a:spcPts val="1910"/>
              </a:lnSpc>
              <a:spcBef>
                <a:spcPts val="80"/>
              </a:spcBef>
              <a:buClr>
                <a:srgbClr val="000000"/>
              </a:buClr>
              <a:buFont typeface="Wingdings"/>
              <a:buChar char=""/>
              <a:tabLst>
                <a:tab pos="594995" algn="l"/>
              </a:tabLst>
            </a:pPr>
            <a:r>
              <a:rPr sz="1600" b="1" spc="-25" dirty="0">
                <a:solidFill>
                  <a:srgbClr val="FF0000"/>
                </a:solidFill>
                <a:latin typeface="Palatino Linotype"/>
                <a:cs typeface="Palatino Linotype"/>
              </a:rPr>
              <a:t>7G:</a:t>
            </a:r>
            <a:endParaRPr sz="1600" dirty="0">
              <a:latin typeface="Palatino Linotype"/>
              <a:cs typeface="Palatino Linotype"/>
            </a:endParaRPr>
          </a:p>
          <a:p>
            <a:pPr marL="823594" lvl="1" indent="-227965">
              <a:lnSpc>
                <a:spcPts val="1900"/>
              </a:lnSpc>
              <a:buFont typeface="Wingdings"/>
              <a:buChar char=""/>
              <a:tabLst>
                <a:tab pos="823594" algn="l"/>
              </a:tabLst>
            </a:pPr>
            <a:r>
              <a:rPr sz="1600" dirty="0">
                <a:latin typeface="Cambria"/>
                <a:cs typeface="Cambria"/>
              </a:rPr>
              <a:t>Space</a:t>
            </a:r>
            <a:r>
              <a:rPr sz="1600" spc="16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roaming</a:t>
            </a:r>
            <a:endParaRPr sz="1600" dirty="0">
              <a:latin typeface="Cambria"/>
              <a:cs typeface="Cambria"/>
            </a:endParaRPr>
          </a:p>
          <a:p>
            <a:pPr marL="823594" lvl="1" indent="-227965">
              <a:lnSpc>
                <a:spcPts val="1910"/>
              </a:lnSpc>
              <a:buFont typeface="Wingdings"/>
              <a:buChar char=""/>
              <a:tabLst>
                <a:tab pos="823594" algn="l"/>
              </a:tabLst>
            </a:pPr>
            <a:r>
              <a:rPr sz="1600" spc="10" dirty="0">
                <a:latin typeface="Cambria"/>
                <a:cs typeface="Cambria"/>
              </a:rPr>
              <a:t>World</a:t>
            </a:r>
            <a:r>
              <a:rPr sz="1600" spc="335" dirty="0">
                <a:latin typeface="Cambria"/>
                <a:cs typeface="Cambria"/>
              </a:rPr>
              <a:t> </a:t>
            </a:r>
            <a:r>
              <a:rPr sz="1600" spc="10" dirty="0">
                <a:latin typeface="Cambria"/>
                <a:cs typeface="Cambria"/>
              </a:rPr>
              <a:t>completely</a:t>
            </a:r>
            <a:r>
              <a:rPr sz="1600" spc="15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wireless</a:t>
            </a:r>
            <a:endParaRPr sz="16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16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tabLst>
                <a:tab pos="5485765" algn="l"/>
              </a:tabLst>
            </a:pPr>
            <a:r>
              <a:rPr sz="1400" b="1" spc="-10" dirty="0">
                <a:solidFill>
                  <a:srgbClr val="005599"/>
                </a:solidFill>
                <a:latin typeface="Times New Roman"/>
                <a:cs typeface="Times New Roman"/>
              </a:rPr>
              <a:t>CoICT</a:t>
            </a:r>
            <a:r>
              <a:rPr sz="1400" b="1" spc="-20" dirty="0">
                <a:solidFill>
                  <a:srgbClr val="005599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5599"/>
                </a:solidFill>
                <a:latin typeface="Times New Roman"/>
                <a:cs typeface="Times New Roman"/>
              </a:rPr>
              <a:t>–</a:t>
            </a:r>
            <a:r>
              <a:rPr sz="1400" b="1" spc="10" dirty="0">
                <a:solidFill>
                  <a:srgbClr val="005599"/>
                </a:solidFill>
                <a:latin typeface="Times New Roman"/>
                <a:cs typeface="Times New Roman"/>
              </a:rPr>
              <a:t> </a:t>
            </a:r>
            <a:r>
              <a:rPr sz="1400" b="1" spc="-25" dirty="0">
                <a:solidFill>
                  <a:srgbClr val="005599"/>
                </a:solidFill>
                <a:latin typeface="Times New Roman"/>
                <a:cs typeface="Times New Roman"/>
              </a:rPr>
              <a:t>ETE</a:t>
            </a:r>
            <a:r>
              <a:rPr sz="1400" b="1">
                <a:solidFill>
                  <a:srgbClr val="005599"/>
                </a:solidFill>
                <a:latin typeface="Times New Roman"/>
                <a:cs typeface="Times New Roman"/>
              </a:rPr>
              <a:t>	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42949" y="5759450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</TotalTime>
  <Words>1444</Words>
  <Application>Microsoft Office PowerPoint</Application>
  <PresentationFormat>Custom</PresentationFormat>
  <Paragraphs>251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Calibri</vt:lpstr>
      <vt:lpstr>Cambria</vt:lpstr>
      <vt:lpstr>Palatino Linotype</vt:lpstr>
      <vt:lpstr>Times New Roman</vt:lpstr>
      <vt:lpstr>Verdana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University of Dar es Salaam</vt:lpstr>
      <vt:lpstr>PowerPoint Presentation</vt:lpstr>
      <vt:lpstr>PowerPoint Presentation</vt:lpstr>
      <vt:lpstr>PowerPoint Presentation</vt:lpstr>
      <vt:lpstr>University of Dar es Salaam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of Dar es Salaam</dc:title>
  <cp:lastModifiedBy>USER</cp:lastModifiedBy>
  <cp:revision>7</cp:revision>
  <dcterms:created xsi:type="dcterms:W3CDTF">2024-11-07T09:14:55Z</dcterms:created>
  <dcterms:modified xsi:type="dcterms:W3CDTF">2024-11-07T09:54:22Z</dcterms:modified>
</cp:coreProperties>
</file>