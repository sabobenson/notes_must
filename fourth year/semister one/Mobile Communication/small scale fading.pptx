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image" Target="../media/image1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0FEE7-1962-4B6B-9F11-8962E73460C9}"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5EB4B3-1FAE-49E8-B232-B03EF1920E0A}" type="slidenum">
              <a:rPr lang="en-US" smtClean="0"/>
              <a:t>‹#›</a:t>
            </a:fld>
            <a:endParaRPr lang="en-US"/>
          </a:p>
        </p:txBody>
      </p:sp>
    </p:spTree>
    <p:extLst>
      <p:ext uri="{BB962C8B-B14F-4D97-AF65-F5344CB8AC3E}">
        <p14:creationId xmlns:p14="http://schemas.microsoft.com/office/powerpoint/2010/main" val="1182858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7C2C038-5207-45D3-96EF-177CE395C124}" type="slidenum">
              <a:rPr lang="en-US" altLang="en-US" sz="1200"/>
              <a:pPr/>
              <a:t>15</a:t>
            </a:fld>
            <a:endParaRPr lang="en-US" altLang="en-US" sz="1200"/>
          </a:p>
        </p:txBody>
      </p:sp>
      <p:sp>
        <p:nvSpPr>
          <p:cNvPr id="16387" name="Rectangle 2"/>
          <p:cNvSpPr>
            <a:spLocks noChangeArrowheads="1" noTextEdit="1"/>
          </p:cNvSpPr>
          <p:nvPr>
            <p:ph type="sldImg"/>
          </p:nvPr>
        </p:nvSpPr>
        <p:spPr>
          <a:xfrm>
            <a:off x="196850" y="0"/>
            <a:ext cx="4776788" cy="2687638"/>
          </a:xfrm>
          <a:ln/>
        </p:spPr>
      </p:sp>
      <p:sp>
        <p:nvSpPr>
          <p:cNvPr id="16388" name="Rectangle 3"/>
          <p:cNvSpPr>
            <a:spLocks noGrp="1" noChangeArrowheads="1"/>
          </p:cNvSpPr>
          <p:nvPr>
            <p:ph type="body" idx="1"/>
          </p:nvPr>
        </p:nvSpPr>
        <p:spPr>
          <a:xfrm>
            <a:off x="0" y="2770188"/>
            <a:ext cx="6645275" cy="6272212"/>
          </a:xfrm>
          <a:noFill/>
        </p:spPr>
        <p:txBody>
          <a:bodyPr/>
          <a:lstStyle/>
          <a:p>
            <a:pPr eaLnBrk="1" hangingPunct="1"/>
            <a:r>
              <a:rPr lang="en-US" altLang="en-US" smtClean="0"/>
              <a:t>In order to compare the different multipath channels and to develop some general design guidelines for wireless systems, parameters which</a:t>
            </a:r>
            <a:r>
              <a:rPr lang="en-GB" altLang="en-US" smtClean="0"/>
              <a:t> </a:t>
            </a:r>
            <a:r>
              <a:rPr lang="en-US" altLang="en-US" smtClean="0"/>
              <a:t>grossly quantify the multipath channels are used.</a:t>
            </a:r>
          </a:p>
          <a:p>
            <a:pPr eaLnBrk="1" hangingPunct="1"/>
            <a:endParaRPr lang="en-US" altLang="en-US" smtClean="0"/>
          </a:p>
        </p:txBody>
      </p:sp>
    </p:spTree>
    <p:extLst>
      <p:ext uri="{BB962C8B-B14F-4D97-AF65-F5344CB8AC3E}">
        <p14:creationId xmlns:p14="http://schemas.microsoft.com/office/powerpoint/2010/main" val="2344931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BBF3F46-4BCC-4DA7-BA09-1C74FBA49B68}" type="slidenum">
              <a:rPr lang="en-US" altLang="en-US" sz="1200"/>
              <a:pPr/>
              <a:t>16</a:t>
            </a:fld>
            <a:endParaRPr lang="en-US" altLang="en-US" sz="1200"/>
          </a:p>
        </p:txBody>
      </p:sp>
      <p:sp>
        <p:nvSpPr>
          <p:cNvPr id="18435" name="Rectangle 2"/>
          <p:cNvSpPr>
            <a:spLocks noChangeArrowheads="1" noTextEdit="1"/>
          </p:cNvSpPr>
          <p:nvPr>
            <p:ph type="sldImg"/>
          </p:nvPr>
        </p:nvSpPr>
        <p:spPr>
          <a:xfrm>
            <a:off x="196850" y="0"/>
            <a:ext cx="4776788" cy="2687638"/>
          </a:xfrm>
          <a:ln/>
        </p:spPr>
      </p:sp>
      <p:sp>
        <p:nvSpPr>
          <p:cNvPr id="18436" name="Rectangle 3"/>
          <p:cNvSpPr>
            <a:spLocks noGrp="1" noChangeArrowheads="1"/>
          </p:cNvSpPr>
          <p:nvPr>
            <p:ph type="body" idx="1"/>
          </p:nvPr>
        </p:nvSpPr>
        <p:spPr>
          <a:xfrm>
            <a:off x="0" y="2770188"/>
            <a:ext cx="6645275" cy="6272212"/>
          </a:xfrm>
          <a:noFill/>
        </p:spPr>
        <p:txBody>
          <a:bodyPr/>
          <a:lstStyle/>
          <a:p>
            <a:pPr eaLnBrk="1" hangingPunct="1"/>
            <a:r>
              <a:rPr lang="en-GB" altLang="en-US" smtClean="0"/>
              <a:t>Excess delay: is the relative delay of the i</a:t>
            </a:r>
            <a:r>
              <a:rPr lang="en-GB" altLang="en-US" baseline="30000" smtClean="0"/>
              <a:t>th</a:t>
            </a:r>
            <a:r>
              <a:rPr lang="en-GB" altLang="en-US" smtClean="0"/>
              <a:t> multipath component as compared to the first arriving component and is given by </a:t>
            </a:r>
            <a:r>
              <a:rPr lang="en-GB" altLang="en-US" smtClean="0">
                <a:sym typeface="Symbol" panose="05050102010706020507" pitchFamily="18" charset="2"/>
              </a:rPr>
              <a:t></a:t>
            </a:r>
            <a:r>
              <a:rPr lang="en-GB" altLang="en-US" baseline="-25000" smtClean="0">
                <a:sym typeface="Symbol" panose="05050102010706020507" pitchFamily="18" charset="2"/>
              </a:rPr>
              <a:t>i</a:t>
            </a:r>
            <a:r>
              <a:rPr lang="en-GB" altLang="en-US" smtClean="0">
                <a:sym typeface="Symbol" panose="05050102010706020507" pitchFamily="18" charset="2"/>
              </a:rPr>
              <a:t>.</a:t>
            </a:r>
          </a:p>
          <a:p>
            <a:pPr eaLnBrk="1" hangingPunct="1"/>
            <a:endParaRPr lang="en-GB" altLang="en-US" smtClean="0">
              <a:sym typeface="Symbol" panose="05050102010706020507" pitchFamily="18" charset="2"/>
            </a:endParaRPr>
          </a:p>
          <a:p>
            <a:pPr eaLnBrk="1" hangingPunct="1">
              <a:buFont typeface="Wingdings" panose="05000000000000000000" pitchFamily="2" charset="2"/>
              <a:buNone/>
            </a:pPr>
            <a:r>
              <a:rPr lang="en-US" altLang="en-US" smtClean="0"/>
              <a:t>These delays are measured relative to the first detectable signal arriving at the receiver at </a:t>
            </a:r>
            <a:r>
              <a:rPr lang="en-US" altLang="en-US" smtClean="0">
                <a:cs typeface="Times New Roman" panose="02020603050405020304" pitchFamily="18" charset="0"/>
              </a:rPr>
              <a:t>τ</a:t>
            </a:r>
            <a:r>
              <a:rPr lang="en-US" altLang="en-US" baseline="-25000" smtClean="0">
                <a:cs typeface="Times New Roman" panose="02020603050405020304" pitchFamily="18" charset="0"/>
              </a:rPr>
              <a:t>0</a:t>
            </a:r>
            <a:r>
              <a:rPr lang="en-US" altLang="en-US" smtClean="0">
                <a:cs typeface="Times New Roman" panose="02020603050405020304" pitchFamily="18" charset="0"/>
              </a:rPr>
              <a:t> = 0</a:t>
            </a:r>
          </a:p>
          <a:p>
            <a:pPr eaLnBrk="1" hangingPunct="1">
              <a:buFont typeface="Wingdings" panose="05000000000000000000" pitchFamily="2" charset="2"/>
              <a:buNone/>
            </a:pPr>
            <a:r>
              <a:rPr lang="en-US" altLang="en-US" smtClean="0">
                <a:cs typeface="Times New Roman" panose="02020603050405020304" pitchFamily="18" charset="0"/>
              </a:rPr>
              <a:t>The RMS delay spread and Mean excess delay spread are defined from a single power delay profile which is the temporal or spatial average of consecutive impulse response measurements collected and averaged over a local area</a:t>
            </a:r>
            <a:r>
              <a:rPr lang="en-GB" altLang="en-US" smtClean="0">
                <a:cs typeface="Times New Roman" panose="02020603050405020304" pitchFamily="18" charset="0"/>
              </a:rPr>
              <a:t>.</a:t>
            </a:r>
          </a:p>
          <a:p>
            <a:pPr eaLnBrk="1" hangingPunct="1">
              <a:buFont typeface="Wingdings" panose="05000000000000000000" pitchFamily="2" charset="2"/>
              <a:buNone/>
            </a:pPr>
            <a:r>
              <a:rPr lang="en-GB" altLang="en-US" b="1" u="sng" smtClean="0">
                <a:cs typeface="Times New Roman" panose="02020603050405020304" pitchFamily="18" charset="0"/>
              </a:rPr>
              <a:t>Typical values of rms delay spread are on the order of microseconds in outdoor moble channels and on the order of nanoseconds in indoor radio channels.</a:t>
            </a:r>
            <a:endParaRPr lang="en-US" altLang="en-US" b="1" u="sng" smtClean="0">
              <a:cs typeface="Times New Roman" panose="02020603050405020304" pitchFamily="18" charset="0"/>
            </a:endParaRPr>
          </a:p>
          <a:p>
            <a:pPr eaLnBrk="1" hangingPunct="1">
              <a:buFont typeface="Wingdings" panose="05000000000000000000" pitchFamily="2" charset="2"/>
              <a:buNone/>
            </a:pPr>
            <a:r>
              <a:rPr lang="en-US" altLang="en-US" smtClean="0">
                <a:cs typeface="Times New Roman" panose="02020603050405020304" pitchFamily="18" charset="0"/>
              </a:rPr>
              <a:t>The maximum excess delay (X dB) of the power delay profile is defined to be the time delay during which multipath energy falls to X dB below the maximum</a:t>
            </a:r>
            <a:r>
              <a:rPr lang="en-GB" altLang="en-US" smtClean="0">
                <a:cs typeface="Times New Roman" panose="02020603050405020304" pitchFamily="18" charset="0"/>
              </a:rPr>
              <a:t>. </a:t>
            </a:r>
            <a:r>
              <a:rPr lang="en-US" altLang="en-US" smtClean="0"/>
              <a:t>It also defines the temporal extent of the multipath that is above a particular threshold.</a:t>
            </a:r>
          </a:p>
          <a:p>
            <a:pPr eaLnBrk="1" hangingPunct="1">
              <a:buFont typeface="Wingdings" panose="05000000000000000000" pitchFamily="2" charset="2"/>
              <a:buNone/>
            </a:pPr>
            <a:r>
              <a:rPr lang="en-US" altLang="en-US" smtClean="0"/>
              <a:t>In practice, values for </a:t>
            </a:r>
            <a:r>
              <a:rPr lang="en-US" altLang="en-US" smtClean="0">
                <a:cs typeface="Times New Roman" panose="02020603050405020304" pitchFamily="18" charset="0"/>
              </a:rPr>
              <a:t>τ , τ</a:t>
            </a:r>
            <a:r>
              <a:rPr lang="en-US" altLang="en-US" baseline="30000" smtClean="0">
                <a:cs typeface="Times New Roman" panose="02020603050405020304" pitchFamily="18" charset="0"/>
              </a:rPr>
              <a:t>2</a:t>
            </a:r>
            <a:r>
              <a:rPr lang="en-US" altLang="en-US" smtClean="0">
                <a:cs typeface="Times New Roman" panose="02020603050405020304" pitchFamily="18" charset="0"/>
              </a:rPr>
              <a:t>, σ</a:t>
            </a:r>
            <a:r>
              <a:rPr lang="en-US" altLang="en-US" baseline="-25000" smtClean="0">
                <a:cs typeface="Times New Roman" panose="02020603050405020304" pitchFamily="18" charset="0"/>
              </a:rPr>
              <a:t>τ</a:t>
            </a:r>
            <a:r>
              <a:rPr lang="en-US" altLang="en-US" smtClean="0">
                <a:cs typeface="Times New Roman" panose="02020603050405020304" pitchFamily="18" charset="0"/>
              </a:rPr>
              <a:t> depend on the choice of noise threshold used to process P(τ ).</a:t>
            </a:r>
          </a:p>
          <a:p>
            <a:pPr eaLnBrk="1" hangingPunct="1">
              <a:buFont typeface="Wingdings" panose="05000000000000000000" pitchFamily="2" charset="2"/>
              <a:buNone/>
            </a:pPr>
            <a:r>
              <a:rPr lang="en-US" altLang="en-US" smtClean="0">
                <a:cs typeface="Times New Roman" panose="02020603050405020304" pitchFamily="18" charset="0"/>
              </a:rPr>
              <a:t>The noise threshold is used to differentiate between received multipath components and thermal noise.</a:t>
            </a:r>
          </a:p>
          <a:p>
            <a:pPr eaLnBrk="1" hangingPunct="1">
              <a:buFont typeface="Wingdings" panose="05000000000000000000" pitchFamily="2" charset="2"/>
              <a:buNone/>
            </a:pPr>
            <a:r>
              <a:rPr lang="en-US" altLang="en-US" smtClean="0">
                <a:cs typeface="Times New Roman" panose="02020603050405020304" pitchFamily="18" charset="0"/>
              </a:rPr>
              <a:t>If the thermal noise is set low, then noise is processed as multipath, thus giving values that are artificially high</a:t>
            </a:r>
            <a:r>
              <a:rPr lang="en-GB" altLang="en-US" smtClean="0">
                <a:cs typeface="Times New Roman" panose="02020603050405020304" pitchFamily="18" charset="0"/>
              </a:rPr>
              <a:t>.</a:t>
            </a:r>
            <a:endParaRPr lang="en-US" altLang="en-US" smtClean="0">
              <a:cs typeface="Times New Roman" panose="02020603050405020304" pitchFamily="18" charset="0"/>
            </a:endParaRPr>
          </a:p>
          <a:p>
            <a:pPr lvl="4" eaLnBrk="1" hangingPunct="1">
              <a:buFont typeface="Wingdings" panose="05000000000000000000" pitchFamily="2" charset="2"/>
              <a:buNone/>
            </a:pPr>
            <a:endParaRPr lang="en-US" altLang="en-US" smtClean="0">
              <a:cs typeface="Times New Roman" panose="02020603050405020304" pitchFamily="18" charset="0"/>
            </a:endParaRPr>
          </a:p>
          <a:p>
            <a:pPr eaLnBrk="1" hangingPunct="1"/>
            <a:endParaRPr lang="en-US" altLang="en-US" smtClean="0"/>
          </a:p>
        </p:txBody>
      </p:sp>
    </p:spTree>
    <p:extLst>
      <p:ext uri="{BB962C8B-B14F-4D97-AF65-F5344CB8AC3E}">
        <p14:creationId xmlns:p14="http://schemas.microsoft.com/office/powerpoint/2010/main" val="556919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96A97BF-7EBE-4979-B997-2A188B368234}" type="slidenum">
              <a:rPr lang="en-US" altLang="en-US" sz="1200"/>
              <a:pPr/>
              <a:t>18</a:t>
            </a:fld>
            <a:endParaRPr lang="en-US" altLang="en-US" sz="1200"/>
          </a:p>
        </p:txBody>
      </p:sp>
      <p:sp>
        <p:nvSpPr>
          <p:cNvPr id="21507" name="Rectangle 2"/>
          <p:cNvSpPr>
            <a:spLocks noChangeArrowheads="1" noTextEdit="1"/>
          </p:cNvSpPr>
          <p:nvPr>
            <p:ph type="sldImg"/>
          </p:nvPr>
        </p:nvSpPr>
        <p:spPr>
          <a:xfrm>
            <a:off x="196850" y="0"/>
            <a:ext cx="4776788" cy="2687638"/>
          </a:xfrm>
          <a:ln/>
        </p:spPr>
      </p:sp>
      <p:sp>
        <p:nvSpPr>
          <p:cNvPr id="21508" name="Rectangle 3"/>
          <p:cNvSpPr>
            <a:spLocks noGrp="1" noChangeArrowheads="1"/>
          </p:cNvSpPr>
          <p:nvPr>
            <p:ph type="body" idx="1"/>
          </p:nvPr>
        </p:nvSpPr>
        <p:spPr>
          <a:xfrm>
            <a:off x="0" y="2770188"/>
            <a:ext cx="6645275" cy="6272212"/>
          </a:xfrm>
          <a:noFill/>
        </p:spPr>
        <p:txBody>
          <a:bodyPr/>
          <a:lstStyle/>
          <a:p>
            <a:pPr eaLnBrk="1" hangingPunct="1">
              <a:buFont typeface="Wingdings" panose="05000000000000000000" pitchFamily="2" charset="2"/>
              <a:buNone/>
            </a:pPr>
            <a:r>
              <a:rPr lang="en-US" altLang="en-US" sz="800" smtClean="0"/>
              <a:t>Analogous to the delay spread parameters in the time domain, coherence bandwidth is used to characterize the channel in the frequency domain</a:t>
            </a:r>
          </a:p>
          <a:p>
            <a:pPr eaLnBrk="1" hangingPunct="1"/>
            <a:r>
              <a:rPr lang="en-US" altLang="en-US" sz="800" smtClean="0"/>
              <a:t>While the delay spread is a natural phenomenon caused by the reflected and scattered propagation paths in the radio channel, the coherence bandwidth, B</a:t>
            </a:r>
            <a:r>
              <a:rPr lang="en-US" altLang="en-US" sz="800" baseline="-25000" smtClean="0"/>
              <a:t>C</a:t>
            </a:r>
            <a:r>
              <a:rPr lang="en-US" altLang="en-US" sz="800" smtClean="0"/>
              <a:t>, is a defined relation derived from the RMS delay spread</a:t>
            </a:r>
          </a:p>
        </p:txBody>
      </p:sp>
    </p:spTree>
    <p:extLst>
      <p:ext uri="{BB962C8B-B14F-4D97-AF65-F5344CB8AC3E}">
        <p14:creationId xmlns:p14="http://schemas.microsoft.com/office/powerpoint/2010/main" val="2626626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0808483-C09F-4AEC-A6ED-94F7AA2B17EB}" type="slidenum">
              <a:rPr lang="en-US" altLang="en-US" sz="1200"/>
              <a:pPr/>
              <a:t>19</a:t>
            </a:fld>
            <a:endParaRPr lang="en-US" altLang="en-US" sz="1200"/>
          </a:p>
        </p:txBody>
      </p:sp>
      <p:sp>
        <p:nvSpPr>
          <p:cNvPr id="23555" name="Rectangle 2"/>
          <p:cNvSpPr>
            <a:spLocks noChangeArrowheads="1" noTextEdit="1"/>
          </p:cNvSpPr>
          <p:nvPr>
            <p:ph type="sldImg"/>
          </p:nvPr>
        </p:nvSpPr>
        <p:spPr>
          <a:xfrm>
            <a:off x="196850" y="0"/>
            <a:ext cx="4776788" cy="2687638"/>
          </a:xfrm>
          <a:ln/>
        </p:spPr>
      </p:sp>
      <p:sp>
        <p:nvSpPr>
          <p:cNvPr id="23556" name="Rectangle 3"/>
          <p:cNvSpPr>
            <a:spLocks noGrp="1" noChangeArrowheads="1"/>
          </p:cNvSpPr>
          <p:nvPr>
            <p:ph type="body" idx="1"/>
          </p:nvPr>
        </p:nvSpPr>
        <p:spPr>
          <a:xfrm>
            <a:off x="0" y="2770188"/>
            <a:ext cx="6645275" cy="6272212"/>
          </a:xfrm>
          <a:noFill/>
        </p:spPr>
        <p:txBody>
          <a:bodyPr/>
          <a:lstStyle/>
          <a:p>
            <a:pPr eaLnBrk="1" hangingPunct="1">
              <a:buFont typeface="Wingdings" panose="05000000000000000000" pitchFamily="2" charset="2"/>
              <a:buNone/>
            </a:pPr>
            <a:r>
              <a:rPr lang="en-US" altLang="en-US" smtClean="0"/>
              <a:t>Delay spread and coherence bandwidth are the parameters which describe the time dispersive nature of the channel in a local area.</a:t>
            </a:r>
          </a:p>
          <a:p>
            <a:pPr lvl="4" eaLnBrk="1" hangingPunct="1">
              <a:buFont typeface="Wingdings" panose="05000000000000000000" pitchFamily="2" charset="2"/>
              <a:buNone/>
            </a:pPr>
            <a:r>
              <a:rPr lang="en-US" altLang="en-US" smtClean="0"/>
              <a:t>They do not offer information about the time varying nature of the channel caused by either relative motion between the mobile and base station or by the movements of the objects in the channel</a:t>
            </a:r>
          </a:p>
          <a:p>
            <a:pPr eaLnBrk="1" hangingPunct="1">
              <a:buFont typeface="Wingdings" panose="05000000000000000000" pitchFamily="2" charset="2"/>
              <a:buNone/>
            </a:pPr>
            <a:r>
              <a:rPr lang="en-US" altLang="en-US" smtClean="0"/>
              <a:t>Doppler spread and coherence time are the parameters which describe the time varying nature of the channel in a small - scale region</a:t>
            </a:r>
          </a:p>
          <a:p>
            <a:pPr lvl="4" eaLnBrk="1" hangingPunct="1">
              <a:buFont typeface="Wingdings" panose="05000000000000000000" pitchFamily="2" charset="2"/>
              <a:buChar char="Ø"/>
            </a:pPr>
            <a:r>
              <a:rPr lang="en-US" altLang="en-US" smtClean="0"/>
              <a:t>The amount of spectral broadening depends on f</a:t>
            </a:r>
            <a:r>
              <a:rPr lang="en-US" altLang="en-US" baseline="-25000" smtClean="0"/>
              <a:t>d</a:t>
            </a:r>
            <a:r>
              <a:rPr lang="en-US" altLang="en-US" smtClean="0"/>
              <a:t> which is a function of the relative velocity of the mobile and the direction of arrival of the scattered waves. </a:t>
            </a:r>
          </a:p>
          <a:p>
            <a:pPr lvl="4" eaLnBrk="1" hangingPunct="1">
              <a:buFont typeface="Wingdings" panose="05000000000000000000" pitchFamily="2" charset="2"/>
              <a:buChar char="Ø"/>
            </a:pPr>
            <a:r>
              <a:rPr lang="en-US" altLang="en-US" smtClean="0"/>
              <a:t>Consider a pure sinusoidal tone of frequency f</a:t>
            </a:r>
            <a:r>
              <a:rPr lang="en-US" altLang="en-US" baseline="-25000" smtClean="0"/>
              <a:t>c</a:t>
            </a:r>
            <a:r>
              <a:rPr lang="en-US" altLang="en-US" smtClean="0"/>
              <a:t> be transmitted, the received spectrum called the Doppler spectrum, will have components in the range of f</a:t>
            </a:r>
            <a:r>
              <a:rPr lang="en-US" altLang="en-US" baseline="-25000" smtClean="0"/>
              <a:t>c </a:t>
            </a:r>
            <a:r>
              <a:rPr lang="en-US" altLang="en-US" smtClean="0"/>
              <a:t>- f</a:t>
            </a:r>
            <a:r>
              <a:rPr lang="en-US" altLang="en-US" baseline="-25000" smtClean="0"/>
              <a:t>d</a:t>
            </a:r>
            <a:r>
              <a:rPr lang="en-US" altLang="en-US" smtClean="0"/>
              <a:t> to f</a:t>
            </a:r>
            <a:r>
              <a:rPr lang="en-US" altLang="en-US" baseline="-25000" smtClean="0"/>
              <a:t>c </a:t>
            </a:r>
            <a:r>
              <a:rPr lang="en-US" altLang="en-US" smtClean="0"/>
              <a:t>+ f</a:t>
            </a:r>
            <a:r>
              <a:rPr lang="en-US" altLang="en-US" baseline="-25000" smtClean="0"/>
              <a:t>d </a:t>
            </a:r>
            <a:r>
              <a:rPr lang="en-US" altLang="en-US" smtClean="0"/>
              <a:t>, where f</a:t>
            </a:r>
            <a:r>
              <a:rPr lang="en-US" altLang="en-US" baseline="-25000" smtClean="0"/>
              <a:t>d</a:t>
            </a:r>
            <a:r>
              <a:rPr lang="en-US" altLang="en-US" smtClean="0"/>
              <a:t> is the Doppler shift.</a:t>
            </a:r>
          </a:p>
          <a:p>
            <a:pPr lvl="4" eaLnBrk="1" hangingPunct="1">
              <a:buFont typeface="Wingdings" panose="05000000000000000000" pitchFamily="2" charset="2"/>
              <a:buChar char="Ø"/>
            </a:pPr>
            <a:r>
              <a:rPr lang="en-US" altLang="en-US" smtClean="0"/>
              <a:t>If the baseband signal bandwidth is much greater than B</a:t>
            </a:r>
            <a:r>
              <a:rPr lang="en-US" altLang="en-US" baseline="-25000" smtClean="0"/>
              <a:t>D</a:t>
            </a:r>
            <a:r>
              <a:rPr lang="en-US" altLang="en-US" smtClean="0"/>
              <a:t>, the effects of Doppler spread are negligible at the receiver. This is a Slow fading channel.</a:t>
            </a:r>
          </a:p>
          <a:p>
            <a:pPr eaLnBrk="1" hangingPunct="1"/>
            <a:endParaRPr lang="en-US" altLang="en-US" smtClean="0"/>
          </a:p>
        </p:txBody>
      </p:sp>
    </p:spTree>
    <p:extLst>
      <p:ext uri="{BB962C8B-B14F-4D97-AF65-F5344CB8AC3E}">
        <p14:creationId xmlns:p14="http://schemas.microsoft.com/office/powerpoint/2010/main" val="1138710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FD083CD-5FA7-4BC5-9000-9CC9EC23AA27}" type="slidenum">
              <a:rPr lang="en-US" altLang="en-US" sz="1200"/>
              <a:pPr/>
              <a:t>22</a:t>
            </a:fld>
            <a:endParaRPr lang="en-US" altLang="en-US" sz="1200"/>
          </a:p>
        </p:txBody>
      </p:sp>
      <p:sp>
        <p:nvSpPr>
          <p:cNvPr id="27651" name="Rectangle 2"/>
          <p:cNvSpPr>
            <a:spLocks noChangeArrowheads="1" noTextEdit="1"/>
          </p:cNvSpPr>
          <p:nvPr>
            <p:ph type="sldImg"/>
          </p:nvPr>
        </p:nvSpPr>
        <p:spPr>
          <a:xfrm>
            <a:off x="420688" y="0"/>
            <a:ext cx="5065712" cy="2851150"/>
          </a:xfrm>
          <a:ln/>
        </p:spPr>
      </p:sp>
      <p:sp>
        <p:nvSpPr>
          <p:cNvPr id="27652" name="Rectangle 3"/>
          <p:cNvSpPr>
            <a:spLocks noGrp="1" noChangeArrowheads="1"/>
          </p:cNvSpPr>
          <p:nvPr>
            <p:ph type="body" idx="1"/>
          </p:nvPr>
        </p:nvSpPr>
        <p:spPr>
          <a:xfrm>
            <a:off x="0" y="3016250"/>
            <a:ext cx="6645275" cy="6189663"/>
          </a:xfrm>
          <a:noFill/>
        </p:spPr>
        <p:txBody>
          <a:bodyPr/>
          <a:lstStyle/>
          <a:p>
            <a:pPr eaLnBrk="1" hangingPunct="1"/>
            <a:r>
              <a:rPr lang="en-US" altLang="en-US" smtClean="0"/>
              <a:t>Topics:</a:t>
            </a:r>
            <a:endParaRPr lang="en-GB" altLang="en-US" b="1" i="1" smtClean="0">
              <a:cs typeface="Courier New" panose="02070309020205020404" pitchFamily="49" charset="0"/>
            </a:endParaRPr>
          </a:p>
          <a:p>
            <a:pPr eaLnBrk="1" hangingPunct="1"/>
            <a:r>
              <a:rPr lang="en-US" altLang="en-US" smtClean="0"/>
              <a:t>Small – Scale Fading:</a:t>
            </a:r>
          </a:p>
          <a:p>
            <a:pPr lvl="1" eaLnBrk="1" hangingPunct="1"/>
            <a:r>
              <a:rPr lang="en-US" altLang="en-US" smtClean="0"/>
              <a:t>Fading Effects due to Multipath Time Delay</a:t>
            </a:r>
          </a:p>
          <a:p>
            <a:pPr lvl="1" eaLnBrk="1" hangingPunct="1"/>
            <a:r>
              <a:rPr lang="en-US" altLang="en-US" smtClean="0"/>
              <a:t>Fading Effects due to Doppler Spread</a:t>
            </a:r>
          </a:p>
          <a:p>
            <a:pPr eaLnBrk="1" hangingPunct="1"/>
            <a:r>
              <a:rPr lang="en-US" altLang="en-US" smtClean="0"/>
              <a:t>Rayleigh and Ricean Distributions</a:t>
            </a:r>
          </a:p>
          <a:p>
            <a:pPr eaLnBrk="1" hangingPunct="1"/>
            <a:endParaRPr lang="en-GB" altLang="en-US" b="1" i="1" smtClean="0">
              <a:cs typeface="Courier New" panose="02070309020205020404" pitchFamily="49" charset="0"/>
            </a:endParaRPr>
          </a:p>
          <a:p>
            <a:pPr eaLnBrk="1" hangingPunct="1"/>
            <a:r>
              <a:rPr lang="en-US" altLang="en-US" b="1" i="1" smtClean="0">
                <a:cs typeface="Courier New" panose="02070309020205020404" pitchFamily="49" charset="0"/>
              </a:rPr>
              <a:t>Large Scale Fading</a:t>
            </a:r>
            <a:r>
              <a:rPr lang="en-US" altLang="en-US" smtClean="0">
                <a:cs typeface="Courier New" panose="02070309020205020404" pitchFamily="49" charset="0"/>
              </a:rPr>
              <a:t> :</a:t>
            </a:r>
          </a:p>
          <a:p>
            <a:pPr eaLnBrk="1" hangingPunct="1"/>
            <a:r>
              <a:rPr lang="en-US" altLang="en-US" smtClean="0">
                <a:cs typeface="Courier New" panose="02070309020205020404" pitchFamily="49" charset="0"/>
              </a:rPr>
              <a:t>    			This is the </a:t>
            </a:r>
            <a:r>
              <a:rPr lang="en-US" altLang="en-US" i="1" smtClean="0">
                <a:cs typeface="Courier New" panose="02070309020205020404" pitchFamily="49" charset="0"/>
              </a:rPr>
              <a:t>loss </a:t>
            </a:r>
            <a:r>
              <a:rPr lang="en-US" altLang="en-US" smtClean="0">
                <a:cs typeface="Courier New" panose="02070309020205020404" pitchFamily="49" charset="0"/>
              </a:rPr>
              <a:t>that propagation models try to account for mostly dependant on the distance from the transmitter to the receiver also known as </a:t>
            </a:r>
            <a:r>
              <a:rPr lang="en-US" altLang="en-US" i="1" smtClean="0">
                <a:cs typeface="Courier New" panose="02070309020205020404" pitchFamily="49" charset="0"/>
              </a:rPr>
              <a:t>Large Scale Path</a:t>
            </a:r>
            <a:r>
              <a:rPr lang="en-US" altLang="en-US" smtClean="0">
                <a:cs typeface="Courier New" panose="02070309020205020404" pitchFamily="49" charset="0"/>
              </a:rPr>
              <a:t> </a:t>
            </a:r>
            <a:r>
              <a:rPr lang="en-US" altLang="en-US" i="1" smtClean="0">
                <a:cs typeface="Courier New" panose="02070309020205020404" pitchFamily="49" charset="0"/>
              </a:rPr>
              <a:t>Loss, Log-Normal Fading or Shadowing</a:t>
            </a:r>
            <a:r>
              <a:rPr lang="en-US" altLang="en-US" smtClean="0">
                <a:cs typeface="Courier New" panose="02070309020205020404" pitchFamily="49" charset="0"/>
              </a:rPr>
              <a:t> </a:t>
            </a:r>
          </a:p>
          <a:p>
            <a:pPr eaLnBrk="1" hangingPunct="1"/>
            <a:r>
              <a:rPr lang="en-US" altLang="en-US" smtClean="0">
                <a:cs typeface="Courier New" panose="02070309020205020404" pitchFamily="49" charset="0"/>
              </a:rPr>
              <a:t> </a:t>
            </a:r>
            <a:r>
              <a:rPr lang="en-US" altLang="en-US" b="1" smtClean="0">
                <a:cs typeface="Courier New" panose="02070309020205020404" pitchFamily="49" charset="0"/>
              </a:rPr>
              <a:t>Small Scale Fading :</a:t>
            </a:r>
          </a:p>
          <a:p>
            <a:pPr eaLnBrk="1" hangingPunct="1"/>
            <a:r>
              <a:rPr lang="en-US" altLang="en-US" smtClean="0">
                <a:cs typeface="Courier New" panose="02070309020205020404" pitchFamily="49" charset="0"/>
              </a:rPr>
              <a:t> 			 Could be 20-30 dB over a fraction of a wavelength.It is </a:t>
            </a:r>
            <a:r>
              <a:rPr lang="en-GB" altLang="en-US" smtClean="0">
                <a:cs typeface="Courier New" panose="02070309020205020404" pitchFamily="49" charset="0"/>
              </a:rPr>
              <a:t>c</a:t>
            </a:r>
            <a:r>
              <a:rPr lang="en-US" altLang="en-US" smtClean="0">
                <a:cs typeface="Courier New" panose="02070309020205020404" pitchFamily="49" charset="0"/>
              </a:rPr>
              <a:t>aused by the superposition or cancellation of multipath propagation signals, the speed of the transmitter or receiver or the bandwidth of the transmitted signal.It is also known as </a:t>
            </a:r>
            <a:r>
              <a:rPr lang="en-US" altLang="en-US" i="1" smtClean="0">
                <a:cs typeface="Courier New" panose="02070309020205020404" pitchFamily="49" charset="0"/>
              </a:rPr>
              <a:t>Multipath Fading or</a:t>
            </a:r>
            <a:r>
              <a:rPr lang="en-US" altLang="en-US" smtClean="0">
                <a:cs typeface="Courier New" panose="02070309020205020404" pitchFamily="49" charset="0"/>
              </a:rPr>
              <a:t> </a:t>
            </a:r>
            <a:r>
              <a:rPr lang="en-US" altLang="en-US" i="1" smtClean="0">
                <a:cs typeface="Courier New" panose="02070309020205020404" pitchFamily="49" charset="0"/>
              </a:rPr>
              <a:t>Rayleigh Fading</a:t>
            </a:r>
            <a:endParaRPr lang="en-US" altLang="en-US" smtClean="0"/>
          </a:p>
          <a:p>
            <a:pPr eaLnBrk="1" hangingPunct="1"/>
            <a:endParaRPr lang="en-US" altLang="en-US" smtClean="0"/>
          </a:p>
        </p:txBody>
      </p:sp>
    </p:spTree>
    <p:extLst>
      <p:ext uri="{BB962C8B-B14F-4D97-AF65-F5344CB8AC3E}">
        <p14:creationId xmlns:p14="http://schemas.microsoft.com/office/powerpoint/2010/main" val="2234310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9FA63DC-9FE5-461B-804B-4CFDA970387D}" type="slidenum">
              <a:rPr lang="en-US" altLang="en-US" sz="1200"/>
              <a:pPr/>
              <a:t>24</a:t>
            </a:fld>
            <a:endParaRPr lang="en-US" altLang="en-US" sz="1200"/>
          </a:p>
        </p:txBody>
      </p:sp>
      <p:sp>
        <p:nvSpPr>
          <p:cNvPr id="30723" name="Rectangle 2"/>
          <p:cNvSpPr>
            <a:spLocks noChangeArrowheads="1" noTextEdit="1"/>
          </p:cNvSpPr>
          <p:nvPr>
            <p:ph type="sldImg"/>
          </p:nvPr>
        </p:nvSpPr>
        <p:spPr>
          <a:xfrm>
            <a:off x="420688" y="0"/>
            <a:ext cx="5065712" cy="2851150"/>
          </a:xfrm>
          <a:ln/>
        </p:spPr>
      </p:sp>
      <p:sp>
        <p:nvSpPr>
          <p:cNvPr id="30724" name="Rectangle 3"/>
          <p:cNvSpPr>
            <a:spLocks noGrp="1" noChangeArrowheads="1"/>
          </p:cNvSpPr>
          <p:nvPr>
            <p:ph type="body" idx="1"/>
          </p:nvPr>
        </p:nvSpPr>
        <p:spPr>
          <a:xfrm>
            <a:off x="0" y="3016250"/>
            <a:ext cx="6645275" cy="6189663"/>
          </a:xfrm>
          <a:noFill/>
        </p:spPr>
        <p:txBody>
          <a:bodyPr/>
          <a:lstStyle/>
          <a:p>
            <a:pPr eaLnBrk="1" hangingPunct="1">
              <a:buFont typeface="Wingdings" panose="05000000000000000000" pitchFamily="2" charset="2"/>
              <a:buNone/>
            </a:pPr>
            <a:r>
              <a:rPr lang="en-GB" altLang="en-US" smtClean="0"/>
              <a:t>B</a:t>
            </a:r>
            <a:r>
              <a:rPr lang="en-GB" altLang="en-US" baseline="-25000" smtClean="0"/>
              <a:t>s</a:t>
            </a:r>
            <a:r>
              <a:rPr lang="en-GB" altLang="en-US" smtClean="0"/>
              <a:t>&lt;&lt; B</a:t>
            </a:r>
            <a:r>
              <a:rPr lang="en-GB" altLang="en-US" baseline="-25000" smtClean="0"/>
              <a:t>c </a:t>
            </a:r>
            <a:endParaRPr lang="en-GB" altLang="en-US" smtClean="0"/>
          </a:p>
          <a:p>
            <a:pPr eaLnBrk="1" hangingPunct="1">
              <a:buFont typeface="Wingdings" panose="05000000000000000000" pitchFamily="2" charset="2"/>
              <a:buNone/>
            </a:pPr>
            <a:endParaRPr lang="en-GB" altLang="en-US" smtClean="0"/>
          </a:p>
          <a:p>
            <a:pPr eaLnBrk="1" hangingPunct="1">
              <a:buFont typeface="Wingdings" panose="05000000000000000000" pitchFamily="2" charset="2"/>
              <a:buNone/>
            </a:pPr>
            <a:r>
              <a:rPr lang="en-US" altLang="en-US" smtClean="0"/>
              <a:t>From the figure we can note that if the channel gain varies with time, a change of amplitude of the received signal occurs.</a:t>
            </a:r>
          </a:p>
          <a:p>
            <a:pPr eaLnBrk="1" hangingPunct="1">
              <a:buFont typeface="Wingdings" panose="05000000000000000000" pitchFamily="2" charset="2"/>
              <a:buNone/>
            </a:pPr>
            <a:r>
              <a:rPr lang="en-US" altLang="en-US" smtClean="0"/>
              <a:t>From the figure we can note that the spectrum of the received signal r(t) is preserved even though there is a change in gain.</a:t>
            </a:r>
            <a:endParaRPr lang="en-GB" altLang="en-US" smtClean="0"/>
          </a:p>
          <a:p>
            <a:pPr eaLnBrk="1" hangingPunct="1">
              <a:buFont typeface="Wingdings" panose="05000000000000000000" pitchFamily="2" charset="2"/>
              <a:buNone/>
            </a:pPr>
            <a:endParaRPr lang="en-GB" altLang="en-US" smtClean="0"/>
          </a:p>
          <a:p>
            <a:pPr eaLnBrk="1" hangingPunct="1">
              <a:spcBef>
                <a:spcPct val="20000"/>
              </a:spcBef>
              <a:buClr>
                <a:srgbClr val="A50021"/>
              </a:buClr>
              <a:buSzPct val="75000"/>
              <a:buFont typeface="Wingdings" panose="05000000000000000000" pitchFamily="2" charset="2"/>
              <a:buNone/>
            </a:pPr>
            <a:r>
              <a:rPr lang="en-US" altLang="en-US" smtClean="0">
                <a:cs typeface="Times New Roman" panose="02020603050405020304" pitchFamily="18" charset="0"/>
              </a:rPr>
              <a:t>Flat fading channels are also referred as </a:t>
            </a:r>
            <a:r>
              <a:rPr lang="en-US" altLang="en-US" i="1" smtClean="0">
                <a:cs typeface="Times New Roman" panose="02020603050405020304" pitchFamily="18" charset="0"/>
              </a:rPr>
              <a:t>amplitude varying channels</a:t>
            </a:r>
            <a:r>
              <a:rPr lang="en-US" altLang="en-US" smtClean="0">
                <a:cs typeface="Times New Roman" panose="02020603050405020304" pitchFamily="18" charset="0"/>
              </a:rPr>
              <a:t> or </a:t>
            </a:r>
            <a:r>
              <a:rPr lang="en-US" altLang="en-US" i="1" smtClean="0">
                <a:cs typeface="Times New Roman" panose="02020603050405020304" pitchFamily="18" charset="0"/>
              </a:rPr>
              <a:t>narrow band channels</a:t>
            </a:r>
            <a:r>
              <a:rPr lang="en-US" altLang="en-US" smtClean="0">
                <a:cs typeface="Times New Roman" panose="02020603050405020304" pitchFamily="18" charset="0"/>
              </a:rPr>
              <a:t>, since the bandwidth of the applied signal is narrow as compared to the channel flat fading bandwidth.</a:t>
            </a:r>
            <a:endParaRPr lang="en-US" altLang="en-US" smtClean="0"/>
          </a:p>
          <a:p>
            <a:pPr eaLnBrk="1" hangingPunct="1">
              <a:spcBef>
                <a:spcPct val="0"/>
              </a:spcBef>
            </a:pPr>
            <a:endParaRPr lang="en-US" altLang="en-US" smtClean="0"/>
          </a:p>
          <a:p>
            <a:pPr eaLnBrk="1" hangingPunct="1"/>
            <a:r>
              <a:rPr lang="en-US" altLang="en-US" smtClean="0">
                <a:cs typeface="Times New Roman" panose="02020603050405020304" pitchFamily="18" charset="0"/>
              </a:rPr>
              <a:t>Typical Flat fading channels cause deep fades </a:t>
            </a:r>
          </a:p>
          <a:p>
            <a:pPr lvl="1" eaLnBrk="1" hangingPunct="1"/>
            <a:r>
              <a:rPr lang="en-US" altLang="en-US" smtClean="0">
                <a:cs typeface="Times New Roman" panose="02020603050405020304" pitchFamily="18" charset="0"/>
              </a:rPr>
              <a:t>To achieve low bit error rates during times of deep fades, Flat fading channels operate at  20 to 30dB more transmitter power compared to the systems operating over non-fading channels.</a:t>
            </a:r>
          </a:p>
          <a:p>
            <a:pPr eaLnBrk="1" hangingPunct="1"/>
            <a:r>
              <a:rPr lang="en-US" altLang="en-US" smtClean="0">
                <a:cs typeface="Times New Roman" panose="02020603050405020304" pitchFamily="18" charset="0"/>
              </a:rPr>
              <a:t>For designing Radio links, the distribution of the instantaneous gain of flat fading channels is important. </a:t>
            </a:r>
          </a:p>
          <a:p>
            <a:pPr eaLnBrk="1" hangingPunct="1"/>
            <a:r>
              <a:rPr lang="en-US" altLang="en-US" smtClean="0">
                <a:cs typeface="Times New Roman" panose="02020603050405020304" pitchFamily="18" charset="0"/>
              </a:rPr>
              <a:t>Rayleigh distribution is the most common amplitude distribution.</a:t>
            </a:r>
          </a:p>
          <a:p>
            <a:pPr lvl="1" eaLnBrk="1" hangingPunct="1"/>
            <a:r>
              <a:rPr lang="en-US" altLang="en-US" smtClean="0">
                <a:cs typeface="Times New Roman" panose="02020603050405020304" pitchFamily="18" charset="0"/>
              </a:rPr>
              <a:t>According to this distribution, Rayleigh Flat fading channel model assumes that the channel induces an amplitude which varies in time.</a:t>
            </a:r>
            <a:endParaRPr lang="en-US" altLang="en-US" smtClean="0"/>
          </a:p>
          <a:p>
            <a:pPr eaLnBrk="1" hangingPunct="1"/>
            <a:r>
              <a:rPr lang="en-US" altLang="en-US" sz="1100" smtClean="0">
                <a:cs typeface="Times New Roman" panose="02020603050405020304" pitchFamily="18" charset="0"/>
              </a:rPr>
              <a:t>Signal undergoes Flat Fading if:</a:t>
            </a:r>
          </a:p>
          <a:p>
            <a:pPr eaLnBrk="1" hangingPunct="1"/>
            <a:r>
              <a:rPr lang="en-US" altLang="en-US" sz="1100" smtClean="0">
                <a:cs typeface="Times New Roman" panose="02020603050405020304" pitchFamily="18" charset="0"/>
              </a:rPr>
              <a:t>B</a:t>
            </a:r>
            <a:r>
              <a:rPr lang="en-US" altLang="en-US" sz="1100" baseline="-25000" smtClean="0">
                <a:cs typeface="Times New Roman" panose="02020603050405020304" pitchFamily="18" charset="0"/>
              </a:rPr>
              <a:t>s</a:t>
            </a:r>
            <a:r>
              <a:rPr lang="en-US" altLang="en-US" sz="1100" smtClean="0">
                <a:cs typeface="Times New Roman" panose="02020603050405020304" pitchFamily="18" charset="0"/>
              </a:rPr>
              <a:t>&lt;&lt;B</a:t>
            </a:r>
            <a:r>
              <a:rPr lang="en-US" altLang="en-US" sz="1100" baseline="-25000" smtClean="0">
                <a:cs typeface="Times New Roman" panose="02020603050405020304" pitchFamily="18" charset="0"/>
              </a:rPr>
              <a:t>c </a:t>
            </a:r>
            <a:r>
              <a:rPr lang="en-US" altLang="en-US" sz="1100" smtClean="0">
                <a:cs typeface="Times New Roman" panose="02020603050405020304" pitchFamily="18" charset="0"/>
              </a:rPr>
              <a:t> </a:t>
            </a:r>
          </a:p>
          <a:p>
            <a:pPr eaLnBrk="1" hangingPunct="1"/>
            <a:r>
              <a:rPr lang="en-US" altLang="en-US" sz="1100" smtClean="0">
                <a:cs typeface="Times New Roman" panose="02020603050405020304" pitchFamily="18" charset="0"/>
              </a:rPr>
              <a:t>			where </a:t>
            </a:r>
          </a:p>
          <a:p>
            <a:pPr eaLnBrk="1" hangingPunct="1"/>
            <a:r>
              <a:rPr lang="en-US" altLang="en-US" sz="1100" smtClean="0">
                <a:cs typeface="Times New Roman" panose="02020603050405020304" pitchFamily="18" charset="0"/>
              </a:rPr>
              <a:t>		B</a:t>
            </a:r>
            <a:r>
              <a:rPr lang="en-US" altLang="en-US" sz="1100" baseline="-25000" smtClean="0">
                <a:cs typeface="Times New Roman" panose="02020603050405020304" pitchFamily="18" charset="0"/>
              </a:rPr>
              <a:t>s</a:t>
            </a:r>
            <a:r>
              <a:rPr lang="en-US" altLang="en-US" sz="1100" smtClean="0">
                <a:cs typeface="Times New Roman" panose="02020603050405020304" pitchFamily="18" charset="0"/>
              </a:rPr>
              <a:t> is bandwidth and </a:t>
            </a:r>
          </a:p>
          <a:p>
            <a:pPr eaLnBrk="1" hangingPunct="1"/>
            <a:r>
              <a:rPr lang="en-US" altLang="en-US" sz="1100" smtClean="0">
                <a:cs typeface="Times New Roman" panose="02020603050405020304" pitchFamily="18" charset="0"/>
              </a:rPr>
              <a:t>		B</a:t>
            </a:r>
            <a:r>
              <a:rPr lang="en-US" altLang="en-US" sz="1100" baseline="-25000" smtClean="0">
                <a:cs typeface="Times New Roman" panose="02020603050405020304" pitchFamily="18" charset="0"/>
              </a:rPr>
              <a:t>c</a:t>
            </a:r>
            <a:r>
              <a:rPr lang="en-US" altLang="en-US" sz="1100" smtClean="0">
                <a:cs typeface="Times New Roman" panose="02020603050405020304" pitchFamily="18" charset="0"/>
              </a:rPr>
              <a:t> is the coherence bandwidth of the channel</a:t>
            </a:r>
          </a:p>
          <a:p>
            <a:pPr eaLnBrk="1" hangingPunct="1"/>
            <a:r>
              <a:rPr lang="en-US" altLang="en-US" sz="1100" smtClean="0">
                <a:cs typeface="Times New Roman" panose="02020603050405020304" pitchFamily="18" charset="0"/>
              </a:rPr>
              <a:t>And</a:t>
            </a:r>
          </a:p>
          <a:p>
            <a:pPr eaLnBrk="1" hangingPunct="1"/>
            <a:r>
              <a:rPr lang="en-US" altLang="en-US" sz="1100" smtClean="0">
                <a:cs typeface="Times New Roman" panose="02020603050405020304" pitchFamily="18" charset="0"/>
              </a:rPr>
              <a:t>T</a:t>
            </a:r>
            <a:r>
              <a:rPr lang="en-US" altLang="en-US" sz="1100" baseline="-25000" smtClean="0">
                <a:cs typeface="Times New Roman" panose="02020603050405020304" pitchFamily="18" charset="0"/>
              </a:rPr>
              <a:t>s</a:t>
            </a:r>
            <a:r>
              <a:rPr lang="en-US" altLang="en-US" sz="1100" smtClean="0">
                <a:cs typeface="Times New Roman" panose="02020603050405020304" pitchFamily="18" charset="0"/>
              </a:rPr>
              <a:t>&gt;&gt;</a:t>
            </a:r>
            <a:r>
              <a:rPr lang="en-US" altLang="en-US" sz="1100" smtClean="0">
                <a:cs typeface="Times New Roman" panose="02020603050405020304" pitchFamily="18" charset="0"/>
                <a:sym typeface="Symbol" panose="05050102010706020507" pitchFamily="18" charset="2"/>
              </a:rPr>
              <a:t></a:t>
            </a:r>
            <a:r>
              <a:rPr lang="en-US" altLang="en-US" sz="1100" baseline="-25000" smtClean="0">
                <a:cs typeface="Times New Roman" panose="02020603050405020304" pitchFamily="18" charset="0"/>
                <a:sym typeface="Symbol" panose="05050102010706020507" pitchFamily="18" charset="2"/>
              </a:rPr>
              <a:t></a:t>
            </a:r>
            <a:r>
              <a:rPr lang="en-US" altLang="en-US" sz="1100" smtClean="0">
                <a:cs typeface="Times New Roman" panose="02020603050405020304" pitchFamily="18" charset="0"/>
              </a:rPr>
              <a:t/>
            </a:r>
            <a:br>
              <a:rPr lang="en-US" altLang="en-US" sz="1100" smtClean="0">
                <a:cs typeface="Times New Roman" panose="02020603050405020304" pitchFamily="18" charset="0"/>
              </a:rPr>
            </a:br>
            <a:r>
              <a:rPr lang="en-US" altLang="en-US" sz="1100" smtClean="0">
                <a:cs typeface="Times New Roman" panose="02020603050405020304" pitchFamily="18" charset="0"/>
              </a:rPr>
              <a:t>		where</a:t>
            </a:r>
          </a:p>
          <a:p>
            <a:pPr eaLnBrk="1" hangingPunct="1"/>
            <a:r>
              <a:rPr lang="en-US" altLang="en-US" sz="1100" smtClean="0">
                <a:cs typeface="Times New Roman" panose="02020603050405020304" pitchFamily="18" charset="0"/>
              </a:rPr>
              <a:t>		 T</a:t>
            </a:r>
            <a:r>
              <a:rPr lang="en-US" altLang="en-US" sz="1100" baseline="-25000" smtClean="0">
                <a:cs typeface="Times New Roman" panose="02020603050405020304" pitchFamily="18" charset="0"/>
              </a:rPr>
              <a:t>s</a:t>
            </a:r>
            <a:r>
              <a:rPr lang="en-US" altLang="en-US" sz="1100" smtClean="0">
                <a:cs typeface="Times New Roman" panose="02020603050405020304" pitchFamily="18" charset="0"/>
              </a:rPr>
              <a:t> is the reciprocal bandwidth and </a:t>
            </a:r>
          </a:p>
          <a:p>
            <a:pPr eaLnBrk="1" hangingPunct="1"/>
            <a:r>
              <a:rPr lang="en-US" altLang="en-US" sz="1100" smtClean="0">
                <a:cs typeface="Times New Roman" panose="02020603050405020304" pitchFamily="18" charset="0"/>
                <a:sym typeface="Symbol" panose="05050102010706020507" pitchFamily="18" charset="2"/>
              </a:rPr>
              <a:t>		 </a:t>
            </a:r>
            <a:r>
              <a:rPr lang="en-US" altLang="en-US" sz="1100" baseline="-25000" smtClean="0">
                <a:cs typeface="Times New Roman" panose="02020603050405020304" pitchFamily="18" charset="0"/>
                <a:sym typeface="Symbol" panose="05050102010706020507" pitchFamily="18" charset="2"/>
              </a:rPr>
              <a:t></a:t>
            </a:r>
            <a:r>
              <a:rPr lang="en-US" altLang="en-US" sz="1100" smtClean="0">
                <a:cs typeface="Times New Roman" panose="02020603050405020304" pitchFamily="18" charset="0"/>
                <a:sym typeface="Symbol" panose="05050102010706020507" pitchFamily="18" charset="2"/>
              </a:rPr>
              <a:t> </a:t>
            </a:r>
            <a:r>
              <a:rPr lang="en-US" altLang="en-US" sz="1100" smtClean="0">
                <a:cs typeface="Times New Roman" panose="02020603050405020304" pitchFamily="18" charset="0"/>
              </a:rPr>
              <a:t>rms delay spread.</a:t>
            </a:r>
          </a:p>
          <a:p>
            <a:pPr eaLnBrk="1" hangingPunct="1">
              <a:buFont typeface="Wingdings" panose="05000000000000000000" pitchFamily="2" charset="2"/>
              <a:buNone/>
            </a:pPr>
            <a:endParaRPr lang="en-US" altLang="en-US" smtClean="0"/>
          </a:p>
        </p:txBody>
      </p:sp>
    </p:spTree>
    <p:extLst>
      <p:ext uri="{BB962C8B-B14F-4D97-AF65-F5344CB8AC3E}">
        <p14:creationId xmlns:p14="http://schemas.microsoft.com/office/powerpoint/2010/main" val="9972241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0D2AE88-0B97-4A15-BCD7-F9BF143DFA7C}" type="slidenum">
              <a:rPr lang="en-US" altLang="en-US" sz="1200"/>
              <a:pPr/>
              <a:t>25</a:t>
            </a:fld>
            <a:endParaRPr lang="en-US" altLang="en-US" sz="1200"/>
          </a:p>
        </p:txBody>
      </p:sp>
      <p:sp>
        <p:nvSpPr>
          <p:cNvPr id="32771" name="Rectangle 2"/>
          <p:cNvSpPr>
            <a:spLocks noChangeArrowheads="1" noTextEdit="1"/>
          </p:cNvSpPr>
          <p:nvPr>
            <p:ph type="sldImg"/>
          </p:nvPr>
        </p:nvSpPr>
        <p:spPr>
          <a:xfrm>
            <a:off x="420688" y="0"/>
            <a:ext cx="5065712" cy="2851150"/>
          </a:xfrm>
          <a:ln/>
        </p:spPr>
      </p:sp>
      <p:sp>
        <p:nvSpPr>
          <p:cNvPr id="32772" name="Rectangle 3"/>
          <p:cNvSpPr>
            <a:spLocks noGrp="1" noChangeArrowheads="1"/>
          </p:cNvSpPr>
          <p:nvPr>
            <p:ph type="body" idx="1"/>
          </p:nvPr>
        </p:nvSpPr>
        <p:spPr>
          <a:xfrm>
            <a:off x="0" y="3016250"/>
            <a:ext cx="6645275" cy="6189663"/>
          </a:xfrm>
          <a:noFill/>
        </p:spPr>
        <p:txBody>
          <a:bodyPr/>
          <a:lstStyle/>
          <a:p>
            <a:pPr eaLnBrk="1" hangingPunct="1"/>
            <a:r>
              <a:rPr lang="en-US" altLang="en-US" smtClean="0">
                <a:cs typeface="Times New Roman" panose="02020603050405020304" pitchFamily="18" charset="0"/>
              </a:rPr>
              <a:t>Under these conditions the channel impulse response has a multipath delay spread which is greater than the reciprocal bandwidth of the transmitted message waveform</a:t>
            </a:r>
          </a:p>
          <a:p>
            <a:pPr eaLnBrk="1" hangingPunct="1"/>
            <a:r>
              <a:rPr lang="en-US" altLang="en-US" smtClean="0">
                <a:cs typeface="Times New Roman" panose="02020603050405020304" pitchFamily="18" charset="0"/>
              </a:rPr>
              <a:t> So the received signal includes multiple versions of the transmitted waveform, which are attenuated and delayed in time, and hence the received signal is distorted.</a:t>
            </a:r>
            <a:endParaRPr lang="en-US" altLang="en-US" smtClean="0"/>
          </a:p>
          <a:p>
            <a:pPr eaLnBrk="1" hangingPunct="1"/>
            <a:r>
              <a:rPr lang="en-US" altLang="en-US" smtClean="0"/>
              <a:t>Frequency selective fading is much difficult to model than flat fading channels because each multipath signal must be modeled and the channel must be considered to be a linear filter</a:t>
            </a:r>
          </a:p>
          <a:p>
            <a:pPr eaLnBrk="1" hangingPunct="1"/>
            <a:r>
              <a:rPr lang="en-US" altLang="en-US" smtClean="0"/>
              <a:t>It is for this reason that wideband multipath measurements are made and models are developed from these measurements</a:t>
            </a:r>
          </a:p>
          <a:p>
            <a:pPr eaLnBrk="1" hangingPunct="1"/>
            <a:r>
              <a:rPr lang="en-US" altLang="en-US" smtClean="0"/>
              <a:t>When analyzing mobile communication systems, statistical impulse response models such as the </a:t>
            </a:r>
            <a:r>
              <a:rPr lang="en-US" altLang="en-US" i="1" smtClean="0"/>
              <a:t>2-ray Rayleigh model</a:t>
            </a:r>
            <a:r>
              <a:rPr lang="en-US" altLang="en-US" smtClean="0"/>
              <a:t> or computer generated or measured impulse responses are generally used for analyzing frequency selective small-scale fading.</a:t>
            </a:r>
          </a:p>
          <a:p>
            <a:pPr eaLnBrk="1" hangingPunct="1"/>
            <a:r>
              <a:rPr lang="en-US" altLang="en-US" smtClean="0"/>
              <a:t>For frequency selective fading, the spectrum S(f) of the transmitted signal has a bandwidth which is greater than the coherence bandwidth B</a:t>
            </a:r>
            <a:r>
              <a:rPr lang="en-US" altLang="en-US" baseline="-25000" smtClean="0"/>
              <a:t>c</a:t>
            </a:r>
            <a:r>
              <a:rPr lang="en-US" altLang="en-US" smtClean="0"/>
              <a:t> of the channel</a:t>
            </a:r>
          </a:p>
          <a:p>
            <a:pPr eaLnBrk="1" hangingPunct="1"/>
            <a:r>
              <a:rPr lang="en-US" altLang="en-US" smtClean="0"/>
              <a:t>Frequency selective fading is caused by multipath delays which approach or exceed the symbol period of the transmitted symbol</a:t>
            </a:r>
          </a:p>
          <a:p>
            <a:pPr eaLnBrk="1" hangingPunct="1"/>
            <a:r>
              <a:rPr lang="en-US" altLang="en-US" smtClean="0"/>
              <a:t>These channels are also known as wideband channels since the bandwidth of the signal s(t) is wider than the bandwidth of the channel impulse response</a:t>
            </a:r>
          </a:p>
          <a:p>
            <a:pPr eaLnBrk="1" hangingPunct="1"/>
            <a:r>
              <a:rPr lang="en-US" altLang="en-US" smtClean="0"/>
              <a:t>As time varies, the channel varies in gain and phase across the spectrum of s(t),resulting in time varying distortion in the received signal r(t)</a:t>
            </a:r>
            <a:endParaRPr lang="en-US" altLang="en-US" baseline="-25000" smtClean="0"/>
          </a:p>
          <a:p>
            <a:pPr eaLnBrk="1" hangingPunct="1">
              <a:spcBef>
                <a:spcPct val="50000"/>
              </a:spcBef>
            </a:pPr>
            <a:r>
              <a:rPr lang="en-US" altLang="en-US" smtClean="0">
                <a:solidFill>
                  <a:schemeClr val="tx2"/>
                </a:solidFill>
              </a:rPr>
              <a:t>Summary</a:t>
            </a:r>
          </a:p>
          <a:p>
            <a:pPr eaLnBrk="1" hangingPunct="1">
              <a:spcBef>
                <a:spcPct val="50000"/>
              </a:spcBef>
            </a:pPr>
            <a:r>
              <a:rPr lang="en-US" altLang="en-US" smtClean="0">
                <a:cs typeface="Times New Roman" panose="02020603050405020304" pitchFamily="18" charset="0"/>
              </a:rPr>
              <a:t>Signal undergoes Frequency Selective Fading if:</a:t>
            </a:r>
          </a:p>
          <a:p>
            <a:pPr eaLnBrk="1" hangingPunct="1">
              <a:lnSpc>
                <a:spcPct val="90000"/>
              </a:lnSpc>
              <a:spcBef>
                <a:spcPct val="50000"/>
              </a:spcBef>
              <a:buClr>
                <a:srgbClr val="A50021"/>
              </a:buClr>
              <a:buSzPct val="75000"/>
              <a:buFont typeface="Wingdings" panose="05000000000000000000" pitchFamily="2" charset="2"/>
              <a:buChar char="n"/>
            </a:pPr>
            <a:r>
              <a:rPr lang="en-US" altLang="en-US" smtClean="0">
                <a:cs typeface="Times New Roman" panose="02020603050405020304" pitchFamily="18" charset="0"/>
              </a:rPr>
              <a:t> B</a:t>
            </a:r>
            <a:r>
              <a:rPr lang="en-US" altLang="en-US" baseline="-25000" smtClean="0">
                <a:cs typeface="Times New Roman" panose="02020603050405020304" pitchFamily="18" charset="0"/>
              </a:rPr>
              <a:t>s</a:t>
            </a:r>
            <a:r>
              <a:rPr lang="en-US" altLang="en-US" smtClean="0">
                <a:cs typeface="Times New Roman" panose="02020603050405020304" pitchFamily="18" charset="0"/>
              </a:rPr>
              <a:t>&gt;B</a:t>
            </a:r>
            <a:r>
              <a:rPr lang="en-US" altLang="en-US" baseline="-25000" smtClean="0">
                <a:cs typeface="Times New Roman" panose="02020603050405020304" pitchFamily="18" charset="0"/>
              </a:rPr>
              <a:t>c </a:t>
            </a:r>
            <a:r>
              <a:rPr lang="en-US" altLang="en-US" smtClean="0">
                <a:cs typeface="Times New Roman" panose="02020603050405020304" pitchFamily="18" charset="0"/>
              </a:rPr>
              <a:t> </a:t>
            </a:r>
          </a:p>
          <a:p>
            <a:pPr eaLnBrk="1" hangingPunct="1">
              <a:lnSpc>
                <a:spcPct val="90000"/>
              </a:lnSpc>
              <a:spcBef>
                <a:spcPct val="50000"/>
              </a:spcBef>
              <a:buClr>
                <a:srgbClr val="A50021"/>
              </a:buClr>
              <a:buSzPct val="75000"/>
              <a:buFont typeface="Wingdings" panose="05000000000000000000" pitchFamily="2" charset="2"/>
              <a:buNone/>
            </a:pPr>
            <a:r>
              <a:rPr lang="en-US" altLang="en-US" smtClean="0">
                <a:cs typeface="Times New Roman" panose="02020603050405020304" pitchFamily="18" charset="0"/>
              </a:rPr>
              <a:t>	           B</a:t>
            </a:r>
            <a:r>
              <a:rPr lang="en-US" altLang="en-US" baseline="-25000" smtClean="0">
                <a:cs typeface="Times New Roman" panose="02020603050405020304" pitchFamily="18" charset="0"/>
              </a:rPr>
              <a:t>s</a:t>
            </a:r>
            <a:r>
              <a:rPr lang="en-US" altLang="en-US" smtClean="0">
                <a:cs typeface="Times New Roman" panose="02020603050405020304" pitchFamily="18" charset="0"/>
              </a:rPr>
              <a:t> is bandwidth and </a:t>
            </a:r>
          </a:p>
          <a:p>
            <a:pPr eaLnBrk="1" hangingPunct="1">
              <a:lnSpc>
                <a:spcPct val="90000"/>
              </a:lnSpc>
              <a:spcBef>
                <a:spcPct val="50000"/>
              </a:spcBef>
              <a:buClr>
                <a:srgbClr val="A50021"/>
              </a:buClr>
              <a:buSzPct val="75000"/>
              <a:buFont typeface="Wingdings" panose="05000000000000000000" pitchFamily="2" charset="2"/>
              <a:buNone/>
            </a:pPr>
            <a:r>
              <a:rPr lang="en-US" altLang="en-US" smtClean="0">
                <a:cs typeface="Times New Roman" panose="02020603050405020304" pitchFamily="18" charset="0"/>
              </a:rPr>
              <a:t>		B</a:t>
            </a:r>
            <a:r>
              <a:rPr lang="en-US" altLang="en-US" baseline="-25000" smtClean="0">
                <a:cs typeface="Times New Roman" panose="02020603050405020304" pitchFamily="18" charset="0"/>
              </a:rPr>
              <a:t>c</a:t>
            </a:r>
            <a:r>
              <a:rPr lang="en-US" altLang="en-US" smtClean="0">
                <a:cs typeface="Times New Roman" panose="02020603050405020304" pitchFamily="18" charset="0"/>
              </a:rPr>
              <a:t> is the coherence bandwidth of the channel</a:t>
            </a:r>
          </a:p>
          <a:p>
            <a:pPr eaLnBrk="1" hangingPunct="1">
              <a:lnSpc>
                <a:spcPct val="90000"/>
              </a:lnSpc>
              <a:spcBef>
                <a:spcPct val="50000"/>
              </a:spcBef>
              <a:buClr>
                <a:srgbClr val="A50021"/>
              </a:buClr>
              <a:buSzPct val="75000"/>
              <a:buFont typeface="Wingdings" panose="05000000000000000000" pitchFamily="2" charset="2"/>
              <a:buNone/>
            </a:pPr>
            <a:r>
              <a:rPr lang="en-US" altLang="en-US" smtClean="0">
                <a:cs typeface="Times New Roman" panose="02020603050405020304" pitchFamily="18" charset="0"/>
              </a:rPr>
              <a:t>T</a:t>
            </a:r>
            <a:r>
              <a:rPr lang="en-US" altLang="en-US" baseline="-25000" smtClean="0">
                <a:cs typeface="Times New Roman" panose="02020603050405020304" pitchFamily="18" charset="0"/>
              </a:rPr>
              <a:t>s</a:t>
            </a:r>
            <a:r>
              <a:rPr lang="en-US" altLang="en-US" smtClean="0">
                <a:cs typeface="Times New Roman" panose="02020603050405020304" pitchFamily="18" charset="0"/>
              </a:rPr>
              <a:t>&lt;</a:t>
            </a:r>
            <a:r>
              <a:rPr lang="en-US" altLang="en-US" smtClean="0">
                <a:cs typeface="Times New Roman" panose="02020603050405020304" pitchFamily="18" charset="0"/>
                <a:sym typeface="Symbol" panose="05050102010706020507" pitchFamily="18" charset="2"/>
              </a:rPr>
              <a:t></a:t>
            </a:r>
            <a:r>
              <a:rPr lang="en-US" altLang="en-US" baseline="-25000" smtClean="0">
                <a:cs typeface="Times New Roman" panose="02020603050405020304" pitchFamily="18" charset="0"/>
                <a:sym typeface="Symbol" panose="05050102010706020507" pitchFamily="18" charset="2"/>
              </a:rPr>
              <a:t></a:t>
            </a:r>
            <a:r>
              <a:rPr lang="en-US" altLang="en-US" smtClean="0">
                <a:cs typeface="Times New Roman" panose="02020603050405020304" pitchFamily="18" charset="0"/>
              </a:rPr>
              <a:t/>
            </a:r>
            <a:br>
              <a:rPr lang="en-US" altLang="en-US" smtClean="0">
                <a:cs typeface="Times New Roman" panose="02020603050405020304" pitchFamily="18" charset="0"/>
              </a:rPr>
            </a:br>
            <a:r>
              <a:rPr lang="en-US" altLang="en-US" smtClean="0">
                <a:cs typeface="Times New Roman" panose="02020603050405020304" pitchFamily="18" charset="0"/>
              </a:rPr>
              <a:t>		T</a:t>
            </a:r>
            <a:r>
              <a:rPr lang="en-US" altLang="en-US" baseline="-25000" smtClean="0">
                <a:cs typeface="Times New Roman" panose="02020603050405020304" pitchFamily="18" charset="0"/>
              </a:rPr>
              <a:t>s</a:t>
            </a:r>
            <a:r>
              <a:rPr lang="en-US" altLang="en-US" smtClean="0">
                <a:cs typeface="Times New Roman" panose="02020603050405020304" pitchFamily="18" charset="0"/>
              </a:rPr>
              <a:t> is the reciprocal bandwidth and </a:t>
            </a:r>
          </a:p>
          <a:p>
            <a:pPr eaLnBrk="1" hangingPunct="1">
              <a:lnSpc>
                <a:spcPct val="90000"/>
              </a:lnSpc>
              <a:spcBef>
                <a:spcPct val="50000"/>
              </a:spcBef>
              <a:buClr>
                <a:srgbClr val="A50021"/>
              </a:buClr>
              <a:buSzPct val="75000"/>
              <a:buFont typeface="Wingdings" panose="05000000000000000000" pitchFamily="2" charset="2"/>
              <a:buNone/>
            </a:pPr>
            <a:r>
              <a:rPr lang="en-US" altLang="en-US" smtClean="0">
                <a:cs typeface="Times New Roman" panose="02020603050405020304" pitchFamily="18" charset="0"/>
              </a:rPr>
              <a:t>	</a:t>
            </a:r>
            <a:r>
              <a:rPr lang="en-US" altLang="en-US" smtClean="0">
                <a:cs typeface="Times New Roman" panose="02020603050405020304" pitchFamily="18" charset="0"/>
                <a:sym typeface="Symbol" panose="05050102010706020507" pitchFamily="18" charset="2"/>
              </a:rPr>
              <a:t>	</a:t>
            </a:r>
            <a:r>
              <a:rPr lang="en-US" altLang="en-US" baseline="-25000" smtClean="0">
                <a:cs typeface="Times New Roman" panose="02020603050405020304" pitchFamily="18" charset="0"/>
                <a:sym typeface="Symbol" panose="05050102010706020507" pitchFamily="18" charset="2"/>
              </a:rPr>
              <a:t></a:t>
            </a:r>
            <a:r>
              <a:rPr lang="en-US" altLang="en-US" smtClean="0">
                <a:cs typeface="Times New Roman" panose="02020603050405020304" pitchFamily="18" charset="0"/>
              </a:rPr>
              <a:t> rms delay spread.</a:t>
            </a:r>
          </a:p>
          <a:p>
            <a:pPr eaLnBrk="1" hangingPunct="1"/>
            <a:endParaRPr lang="en-US" altLang="en-US" smtClean="0"/>
          </a:p>
        </p:txBody>
      </p:sp>
    </p:spTree>
    <p:extLst>
      <p:ext uri="{BB962C8B-B14F-4D97-AF65-F5344CB8AC3E}">
        <p14:creationId xmlns:p14="http://schemas.microsoft.com/office/powerpoint/2010/main" val="2578358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E8CBFD3-3165-4431-868A-06A3982FD342}" type="slidenum">
              <a:rPr lang="en-US" altLang="en-US" sz="1200"/>
              <a:pPr/>
              <a:t>26</a:t>
            </a:fld>
            <a:endParaRPr lang="en-US" altLang="en-US" sz="1200"/>
          </a:p>
        </p:txBody>
      </p:sp>
      <p:sp>
        <p:nvSpPr>
          <p:cNvPr id="34819" name="Rectangle 2"/>
          <p:cNvSpPr>
            <a:spLocks noChangeArrowheads="1" noTextEdit="1"/>
          </p:cNvSpPr>
          <p:nvPr>
            <p:ph type="sldImg"/>
          </p:nvPr>
        </p:nvSpPr>
        <p:spPr>
          <a:xfrm>
            <a:off x="420688" y="0"/>
            <a:ext cx="5065712" cy="2851150"/>
          </a:xfrm>
          <a:ln/>
        </p:spPr>
      </p:sp>
      <p:sp>
        <p:nvSpPr>
          <p:cNvPr id="34820" name="Rectangle 3"/>
          <p:cNvSpPr>
            <a:spLocks noGrp="1" noChangeArrowheads="1"/>
          </p:cNvSpPr>
          <p:nvPr>
            <p:ph type="body" idx="1"/>
          </p:nvPr>
        </p:nvSpPr>
        <p:spPr>
          <a:xfrm>
            <a:off x="0" y="3016250"/>
            <a:ext cx="6645275" cy="6189663"/>
          </a:xfrm>
          <a:noFill/>
        </p:spPr>
        <p:txBody>
          <a:bodyPr/>
          <a:lstStyle/>
          <a:p>
            <a:pPr eaLnBrk="1" hangingPunct="1"/>
            <a:r>
              <a:rPr lang="en-US" altLang="en-US" b="1" smtClean="0">
                <a:cs typeface="Times New Roman" panose="02020603050405020304" pitchFamily="18" charset="0"/>
              </a:rPr>
              <a:t>Fading Effects Due to Doppler Spread:</a:t>
            </a:r>
            <a:endParaRPr lang="en-GB" altLang="en-US" smtClean="0">
              <a:cs typeface="Times New Roman" panose="02020603050405020304" pitchFamily="18" charset="0"/>
            </a:endParaRPr>
          </a:p>
          <a:p>
            <a:pPr eaLnBrk="1" hangingPunct="1"/>
            <a:r>
              <a:rPr lang="en-US" altLang="en-US" smtClean="0">
                <a:cs typeface="Times New Roman" panose="02020603050405020304" pitchFamily="18" charset="0"/>
              </a:rPr>
              <a:t>Channels are also classified depending upon how rapidly the transmitted baseband signal changes compared to the rate of change of channel. </a:t>
            </a:r>
          </a:p>
          <a:p>
            <a:pPr eaLnBrk="1" hangingPunct="1"/>
            <a:r>
              <a:rPr lang="en-US" altLang="en-US" smtClean="0">
                <a:cs typeface="Times New Roman" panose="02020603050405020304" pitchFamily="18" charset="0"/>
              </a:rPr>
              <a:t>It is either Fast Fading or Slow Fading channel.</a:t>
            </a:r>
          </a:p>
          <a:p>
            <a:pPr eaLnBrk="1" hangingPunct="1"/>
            <a:r>
              <a:rPr lang="en-US" altLang="en-US" smtClean="0">
                <a:cs typeface="Times New Roman" panose="02020603050405020304" pitchFamily="18" charset="0"/>
              </a:rPr>
              <a:t>The velocity of the mobile (or the velocity of the objects in the channels) and the baseband signaling determines whether a signal undergoes fast or slow fading.</a:t>
            </a:r>
          </a:p>
          <a:p>
            <a:pPr eaLnBrk="1" hangingPunct="1"/>
            <a:endParaRPr lang="en-GB" altLang="en-US" smtClean="0"/>
          </a:p>
          <a:p>
            <a:pPr eaLnBrk="1" hangingPunct="1"/>
            <a:r>
              <a:rPr lang="en-US" altLang="en-US" smtClean="0">
                <a:cs typeface="Times New Roman" panose="02020603050405020304" pitchFamily="18" charset="0"/>
              </a:rPr>
              <a:t>In Fast Fading channel</a:t>
            </a:r>
            <a:r>
              <a:rPr lang="en-GB" altLang="en-US" smtClean="0">
                <a:cs typeface="Times New Roman" panose="02020603050405020304" pitchFamily="18" charset="0"/>
              </a:rPr>
              <a:t>,</a:t>
            </a:r>
            <a:r>
              <a:rPr lang="en-US" altLang="en-US" smtClean="0">
                <a:cs typeface="Times New Roman" panose="02020603050405020304" pitchFamily="18" charset="0"/>
              </a:rPr>
              <a:t> the channel impulse response changes at a rate much faster than the transmitted baseband signal. </a:t>
            </a:r>
          </a:p>
          <a:p>
            <a:pPr eaLnBrk="1" hangingPunct="1"/>
            <a:r>
              <a:rPr lang="en-US" altLang="en-US" smtClean="0">
                <a:cs typeface="Times New Roman" panose="02020603050405020304" pitchFamily="18" charset="0"/>
              </a:rPr>
              <a:t> In other words the coherence time of the channel is smaller than the symbol period of the transmitted signal.</a:t>
            </a:r>
          </a:p>
          <a:p>
            <a:pPr eaLnBrk="1" hangingPunct="1"/>
            <a:r>
              <a:rPr lang="en-US" altLang="en-US" smtClean="0">
                <a:cs typeface="Times New Roman" panose="02020603050405020304" pitchFamily="18" charset="0"/>
              </a:rPr>
              <a:t> This causes frequency dispersion due to Doppler spreading, which leads to signal distortion. </a:t>
            </a:r>
          </a:p>
          <a:p>
            <a:pPr eaLnBrk="1" hangingPunct="1"/>
            <a:r>
              <a:rPr lang="en-US" altLang="en-US" smtClean="0">
                <a:cs typeface="Times New Roman" panose="02020603050405020304" pitchFamily="18" charset="0"/>
              </a:rPr>
              <a:t> When viewed in frequency domain, signal distortion due to fast fading increases with increasing Doppler spread relative to the bandwidth of the transmitted signal.</a:t>
            </a:r>
          </a:p>
          <a:p>
            <a:pPr eaLnBrk="1" hangingPunct="1">
              <a:spcBef>
                <a:spcPct val="0"/>
              </a:spcBef>
            </a:pPr>
            <a:r>
              <a:rPr lang="en-US" altLang="en-US" i="1" smtClean="0">
                <a:cs typeface="Times New Roman" panose="02020603050405020304" pitchFamily="18" charset="0"/>
              </a:rPr>
              <a:t>When a channel is specified as Fast or Slow fading channel, it does not specify whether the channel is flat fading or frequency selective in nature </a:t>
            </a:r>
          </a:p>
          <a:p>
            <a:pPr eaLnBrk="1" hangingPunct="1"/>
            <a:endParaRPr lang="en-GB" altLang="en-US" smtClean="0"/>
          </a:p>
          <a:p>
            <a:pPr eaLnBrk="1" hangingPunct="1"/>
            <a:r>
              <a:rPr lang="en-US" altLang="en-US" smtClean="0">
                <a:cs typeface="Times New Roman" panose="02020603050405020304" pitchFamily="18" charset="0"/>
              </a:rPr>
              <a:t>In the case of flat fading channel, we can approximate the impulse response to be a delta function without the time delay.</a:t>
            </a:r>
          </a:p>
          <a:p>
            <a:pPr lvl="1" eaLnBrk="1" hangingPunct="1"/>
            <a:r>
              <a:rPr lang="en-US" altLang="en-US" smtClean="0">
                <a:cs typeface="Times New Roman" panose="02020603050405020304" pitchFamily="18" charset="0"/>
              </a:rPr>
              <a:t>Hence, a flat fading, fast fading channel is a channel in which the amplitude of the delta function varies faster than the rate of change of the baseband transmitted signal</a:t>
            </a:r>
          </a:p>
          <a:p>
            <a:pPr lvl="1" eaLnBrk="1" hangingPunct="1"/>
            <a:r>
              <a:rPr lang="en-US" altLang="en-US" smtClean="0">
                <a:cs typeface="Times New Roman" panose="02020603050405020304" pitchFamily="18" charset="0"/>
              </a:rPr>
              <a:t>A frequency selective, fast fading channel, the amplitudes, phases, and the time delays of any one of the multipath components vary faster than the rate of change of transmitted signal</a:t>
            </a:r>
          </a:p>
          <a:p>
            <a:pPr eaLnBrk="1" hangingPunct="1"/>
            <a:endParaRPr lang="en-US" altLang="en-US" smtClean="0"/>
          </a:p>
        </p:txBody>
      </p:sp>
    </p:spTree>
    <p:extLst>
      <p:ext uri="{BB962C8B-B14F-4D97-AF65-F5344CB8AC3E}">
        <p14:creationId xmlns:p14="http://schemas.microsoft.com/office/powerpoint/2010/main" val="4114993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53F4055-CFEF-46A6-BA9E-C59A3912E4CC}" type="slidenum">
              <a:rPr lang="en-US" altLang="en-US" sz="1200"/>
              <a:pPr/>
              <a:t>27</a:t>
            </a:fld>
            <a:endParaRPr lang="en-US" altLang="en-US" sz="1200"/>
          </a:p>
        </p:txBody>
      </p:sp>
      <p:sp>
        <p:nvSpPr>
          <p:cNvPr id="36867" name="Rectangle 2"/>
          <p:cNvSpPr>
            <a:spLocks noChangeArrowheads="1" noTextEdit="1"/>
          </p:cNvSpPr>
          <p:nvPr>
            <p:ph type="sldImg"/>
          </p:nvPr>
        </p:nvSpPr>
        <p:spPr>
          <a:xfrm>
            <a:off x="420688" y="0"/>
            <a:ext cx="5065712" cy="2851150"/>
          </a:xfrm>
          <a:ln/>
        </p:spPr>
      </p:sp>
      <p:sp>
        <p:nvSpPr>
          <p:cNvPr id="36868" name="Rectangle 3"/>
          <p:cNvSpPr>
            <a:spLocks noGrp="1" noChangeArrowheads="1"/>
          </p:cNvSpPr>
          <p:nvPr>
            <p:ph type="body" idx="1"/>
          </p:nvPr>
        </p:nvSpPr>
        <p:spPr>
          <a:xfrm>
            <a:off x="0" y="3016250"/>
            <a:ext cx="6645275" cy="6189663"/>
          </a:xfrm>
          <a:noFill/>
        </p:spPr>
        <p:txBody>
          <a:bodyPr/>
          <a:lstStyle/>
          <a:p>
            <a:pPr eaLnBrk="1" hangingPunct="1"/>
            <a:r>
              <a:rPr lang="en-US" altLang="en-US" smtClean="0">
                <a:cs typeface="Times New Roman" panose="02020603050405020304" pitchFamily="18" charset="0"/>
              </a:rPr>
              <a:t>In Slow Fading channel the channel impulse response changes at a rate much slower than the transmitted baseband signal</a:t>
            </a:r>
          </a:p>
          <a:p>
            <a:pPr eaLnBrk="1" hangingPunct="1"/>
            <a:r>
              <a:rPr lang="en-US" altLang="en-US" smtClean="0">
                <a:cs typeface="Times New Roman" panose="02020603050405020304" pitchFamily="18" charset="0"/>
              </a:rPr>
              <a:t>  Here the channel may be assumed static over one or several bandwidth intervals.</a:t>
            </a:r>
          </a:p>
          <a:p>
            <a:pPr eaLnBrk="1" hangingPunct="1"/>
            <a:r>
              <a:rPr lang="en-US" altLang="en-US" smtClean="0">
                <a:cs typeface="Times New Roman" panose="02020603050405020304" pitchFamily="18" charset="0"/>
              </a:rPr>
              <a:t>  In the frequency domain, this implies that the Doppler spread of the channel is much less than the bandwidth of the baseband channel.</a:t>
            </a:r>
            <a:endParaRPr lang="en-US" altLang="en-US" smtClean="0"/>
          </a:p>
          <a:p>
            <a:pPr eaLnBrk="1" hangingPunct="1"/>
            <a:r>
              <a:rPr lang="en-GB" altLang="en-US" smtClean="0"/>
              <a:t>The velocity of the mobile and the baseband signaling determine whether a signal undergoes fast fading or slow fading.</a:t>
            </a:r>
            <a:endParaRPr lang="en-US" altLang="en-US" smtClean="0"/>
          </a:p>
        </p:txBody>
      </p:sp>
    </p:spTree>
    <p:extLst>
      <p:ext uri="{BB962C8B-B14F-4D97-AF65-F5344CB8AC3E}">
        <p14:creationId xmlns:p14="http://schemas.microsoft.com/office/powerpoint/2010/main" val="1319252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C47D140-1BD9-4409-AF93-EDFBFD33CC27}" type="slidenum">
              <a:rPr lang="en-US" altLang="en-US" sz="1200"/>
              <a:pPr/>
              <a:t>28</a:t>
            </a:fld>
            <a:endParaRPr lang="en-US" altLang="en-US" sz="1200"/>
          </a:p>
        </p:txBody>
      </p:sp>
      <p:sp>
        <p:nvSpPr>
          <p:cNvPr id="38915" name="Rectangle 2"/>
          <p:cNvSpPr>
            <a:spLocks noChangeArrowheads="1" noTextEdit="1"/>
          </p:cNvSpPr>
          <p:nvPr>
            <p:ph type="sldImg"/>
          </p:nvPr>
        </p:nvSpPr>
        <p:spPr>
          <a:xfrm>
            <a:off x="420688" y="0"/>
            <a:ext cx="5065712" cy="2851150"/>
          </a:xfrm>
          <a:ln/>
        </p:spPr>
      </p:sp>
      <p:sp>
        <p:nvSpPr>
          <p:cNvPr id="38916" name="Rectangle 3"/>
          <p:cNvSpPr>
            <a:spLocks noGrp="1" noChangeArrowheads="1"/>
          </p:cNvSpPr>
          <p:nvPr>
            <p:ph type="body" idx="1"/>
          </p:nvPr>
        </p:nvSpPr>
        <p:spPr>
          <a:xfrm>
            <a:off x="0" y="3016250"/>
            <a:ext cx="6645275" cy="6189663"/>
          </a:xfrm>
          <a:noFill/>
        </p:spPr>
        <p:txBody>
          <a:bodyPr/>
          <a:lstStyle/>
          <a:p>
            <a:pPr eaLnBrk="1" hangingPunct="1">
              <a:spcBef>
                <a:spcPct val="0"/>
              </a:spcBef>
            </a:pPr>
            <a:r>
              <a:rPr lang="en-US" altLang="en-US" sz="2200" smtClean="0">
                <a:cs typeface="Times New Roman" panose="02020603050405020304" pitchFamily="18" charset="0"/>
              </a:rPr>
              <a:t>where </a:t>
            </a:r>
          </a:p>
          <a:p>
            <a:pPr>
              <a:spcBef>
                <a:spcPct val="0"/>
              </a:spcBef>
            </a:pPr>
            <a:r>
              <a:rPr lang="en-US" altLang="en-US" sz="2200" smtClean="0">
                <a:cs typeface="Times New Roman" panose="02020603050405020304" pitchFamily="18" charset="0"/>
                <a:sym typeface="Symbol" panose="05050102010706020507" pitchFamily="18" charset="2"/>
              </a:rPr>
              <a:t></a:t>
            </a:r>
            <a:r>
              <a:rPr lang="en-GB" altLang="en-US" sz="2200" smtClean="0">
                <a:cs typeface="Times New Roman" panose="02020603050405020304" pitchFamily="18" charset="0"/>
                <a:sym typeface="Symbol" panose="05050102010706020507" pitchFamily="18" charset="2"/>
              </a:rPr>
              <a:t> </a:t>
            </a:r>
            <a:r>
              <a:rPr lang="en-US" altLang="en-US" sz="2200" smtClean="0">
                <a:cs typeface="Times New Roman" panose="02020603050405020304" pitchFamily="18" charset="0"/>
              </a:rPr>
              <a:t>is the rms value of the received voltage signal before envelope detection,</a:t>
            </a:r>
          </a:p>
          <a:p>
            <a:pPr>
              <a:spcBef>
                <a:spcPct val="0"/>
              </a:spcBef>
            </a:pPr>
            <a:r>
              <a:rPr lang="en-US" altLang="en-US" sz="2200" smtClean="0">
                <a:cs typeface="Times New Roman" panose="02020603050405020304" pitchFamily="18" charset="0"/>
                <a:sym typeface="Symbol" panose="05050102010706020507" pitchFamily="18" charset="2"/>
              </a:rPr>
              <a:t></a:t>
            </a:r>
            <a:r>
              <a:rPr lang="en-GB" altLang="en-US" sz="2200" baseline="30000" smtClean="0">
                <a:cs typeface="Times New Roman" panose="02020603050405020304" pitchFamily="18" charset="0"/>
                <a:sym typeface="Symbol" panose="05050102010706020507" pitchFamily="18" charset="2"/>
              </a:rPr>
              <a:t>2</a:t>
            </a:r>
            <a:r>
              <a:rPr lang="en-US" altLang="en-US" sz="2200" smtClean="0">
                <a:cs typeface="Times New Roman" panose="02020603050405020304" pitchFamily="18" charset="0"/>
              </a:rPr>
              <a:t> is the time-average power of the received signal before envelope detection.</a:t>
            </a:r>
          </a:p>
          <a:p>
            <a:pPr>
              <a:spcBef>
                <a:spcPct val="0"/>
              </a:spcBef>
            </a:pPr>
            <a:endParaRPr lang="en-US" altLang="en-US" sz="2200" smtClean="0"/>
          </a:p>
          <a:p>
            <a:pPr eaLnBrk="1" hangingPunct="1"/>
            <a:r>
              <a:rPr lang="en-US" altLang="en-US" sz="1100" smtClean="0">
                <a:cs typeface="Times New Roman" panose="02020603050405020304" pitchFamily="18" charset="0"/>
              </a:rPr>
              <a:t>The probability that the envelope of the received signal does not exceed a specified value R is given by the corresponding cumulative distribution function(CDF)</a:t>
            </a:r>
            <a:endParaRPr lang="en-US" altLang="en-US" sz="1100" smtClean="0"/>
          </a:p>
          <a:p>
            <a:pPr eaLnBrk="1" hangingPunct="1"/>
            <a:endParaRPr lang="en-US" altLang="en-US" smtClean="0"/>
          </a:p>
        </p:txBody>
      </p:sp>
    </p:spTree>
    <p:extLst>
      <p:ext uri="{BB962C8B-B14F-4D97-AF65-F5344CB8AC3E}">
        <p14:creationId xmlns:p14="http://schemas.microsoft.com/office/powerpoint/2010/main" val="3383639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52D8079-03CE-4F05-BB7B-BF928A1A936B}" type="slidenum">
              <a:rPr lang="en-US" altLang="en-US" sz="1200"/>
              <a:pPr/>
              <a:t>29</a:t>
            </a:fld>
            <a:endParaRPr lang="en-US" altLang="en-US" sz="1200"/>
          </a:p>
        </p:txBody>
      </p:sp>
      <p:sp>
        <p:nvSpPr>
          <p:cNvPr id="40963" name="Rectangle 2"/>
          <p:cNvSpPr>
            <a:spLocks noChangeArrowheads="1" noTextEdit="1"/>
          </p:cNvSpPr>
          <p:nvPr>
            <p:ph type="sldImg"/>
          </p:nvPr>
        </p:nvSpPr>
        <p:spPr>
          <a:xfrm>
            <a:off x="420688" y="0"/>
            <a:ext cx="5065712" cy="2851150"/>
          </a:xfrm>
          <a:ln/>
        </p:spPr>
      </p:sp>
      <p:sp>
        <p:nvSpPr>
          <p:cNvPr id="40964" name="Rectangle 3"/>
          <p:cNvSpPr>
            <a:spLocks noGrp="1" noChangeArrowheads="1"/>
          </p:cNvSpPr>
          <p:nvPr>
            <p:ph type="body" idx="1"/>
          </p:nvPr>
        </p:nvSpPr>
        <p:spPr>
          <a:xfrm>
            <a:off x="0" y="3016250"/>
            <a:ext cx="6645275" cy="6189663"/>
          </a:xfrm>
          <a:noFill/>
        </p:spPr>
        <p:txBody>
          <a:bodyPr/>
          <a:lstStyle/>
          <a:p>
            <a:pPr eaLnBrk="1" hangingPunct="1"/>
            <a:r>
              <a:rPr lang="en-US" altLang="en-US" sz="2400" smtClean="0">
                <a:cs typeface="Times New Roman" panose="02020603050405020304" pitchFamily="18" charset="0"/>
              </a:rPr>
              <a:t>which represents the ac power in the signal envelope.</a:t>
            </a:r>
            <a:endParaRPr lang="en-GB" altLang="en-US" sz="2400" smtClean="0">
              <a:cs typeface="Times New Roman" panose="02020603050405020304" pitchFamily="18" charset="0"/>
            </a:endParaRPr>
          </a:p>
          <a:p>
            <a:pPr eaLnBrk="1" hangingPunct="1"/>
            <a:endParaRPr lang="en-GB" altLang="en-US" sz="2400" smtClean="0">
              <a:cs typeface="Times New Roman" panose="02020603050405020304" pitchFamily="18" charset="0"/>
            </a:endParaRPr>
          </a:p>
          <a:p>
            <a:pPr eaLnBrk="1" hangingPunct="1">
              <a:spcBef>
                <a:spcPct val="0"/>
              </a:spcBef>
            </a:pPr>
            <a:r>
              <a:rPr lang="en-US" altLang="en-US" sz="2400" i="1" smtClean="0">
                <a:cs typeface="Times New Roman" panose="02020603050405020304" pitchFamily="18" charset="0"/>
              </a:rPr>
              <a:t>It is customary to use median values instead of the mean values, since fading data are usually measured in the field and a particular distribution cannot be assumed.</a:t>
            </a:r>
          </a:p>
          <a:p>
            <a:pPr eaLnBrk="1" hangingPunct="1">
              <a:spcBef>
                <a:spcPct val="0"/>
              </a:spcBef>
            </a:pPr>
            <a:r>
              <a:rPr lang="en-US" altLang="en-US" sz="2400" i="1" smtClean="0">
                <a:latin typeface="Symbol" panose="05050102010706020507" pitchFamily="18" charset="2"/>
                <a:cs typeface="Times New Roman" panose="02020603050405020304" pitchFamily="18" charset="0"/>
              </a:rPr>
              <a:t>·</a:t>
            </a:r>
            <a:r>
              <a:rPr lang="en-US" altLang="en-US" sz="2400" i="1" smtClean="0">
                <a:cs typeface="Times New Roman" panose="02020603050405020304" pitchFamily="18" charset="0"/>
              </a:rPr>
              <a:t>        By using median values instead of mean values it is easier to compare different fading distributions which have widely varying means</a:t>
            </a:r>
          </a:p>
          <a:p>
            <a:pPr eaLnBrk="1" hangingPunct="1">
              <a:spcBef>
                <a:spcPct val="0"/>
              </a:spcBef>
            </a:pPr>
            <a:endParaRPr lang="en-US" altLang="en-US" sz="2400" i="1" smtClean="0"/>
          </a:p>
          <a:p>
            <a:pPr eaLnBrk="1" hangingPunct="1"/>
            <a:endParaRPr lang="en-US" altLang="en-US" sz="2400" smtClean="0">
              <a:cs typeface="Times New Roman" panose="02020603050405020304" pitchFamily="18" charset="0"/>
            </a:endParaRPr>
          </a:p>
        </p:txBody>
      </p:sp>
    </p:spTree>
    <p:extLst>
      <p:ext uri="{BB962C8B-B14F-4D97-AF65-F5344CB8AC3E}">
        <p14:creationId xmlns:p14="http://schemas.microsoft.com/office/powerpoint/2010/main" val="295413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3FE5F6D-B72A-4E07-AC91-4E8E2CEB5923}" type="slidenum">
              <a:rPr lang="en-US" altLang="en-US" sz="1200"/>
              <a:pPr/>
              <a:t>30</a:t>
            </a:fld>
            <a:endParaRPr lang="en-US" altLang="en-US" sz="1200"/>
          </a:p>
        </p:txBody>
      </p:sp>
      <p:sp>
        <p:nvSpPr>
          <p:cNvPr id="43011" name="Rectangle 2"/>
          <p:cNvSpPr>
            <a:spLocks noChangeArrowheads="1" noTextEdit="1"/>
          </p:cNvSpPr>
          <p:nvPr>
            <p:ph type="sldImg"/>
          </p:nvPr>
        </p:nvSpPr>
        <p:spPr>
          <a:xfrm>
            <a:off x="420688" y="0"/>
            <a:ext cx="5065712" cy="2851150"/>
          </a:xfrm>
          <a:ln/>
        </p:spPr>
      </p:sp>
      <p:sp>
        <p:nvSpPr>
          <p:cNvPr id="43012" name="Rectangle 3"/>
          <p:cNvSpPr>
            <a:spLocks noGrp="1" noChangeArrowheads="1"/>
          </p:cNvSpPr>
          <p:nvPr>
            <p:ph type="body" idx="1"/>
          </p:nvPr>
        </p:nvSpPr>
        <p:spPr>
          <a:xfrm>
            <a:off x="0" y="3016250"/>
            <a:ext cx="6645275" cy="6189663"/>
          </a:xfrm>
          <a:noFill/>
        </p:spPr>
        <p:txBody>
          <a:bodyPr/>
          <a:lstStyle/>
          <a:p>
            <a:pPr eaLnBrk="1" hangingPunct="1"/>
            <a:r>
              <a:rPr lang="en-US" altLang="en-US" smtClean="0">
                <a:cs typeface="Times New Roman" panose="02020603050405020304" pitchFamily="18" charset="0"/>
              </a:rPr>
              <a:t>Random multipath components arriving at different angles are superimposed on a stationary dominant signal</a:t>
            </a:r>
          </a:p>
          <a:p>
            <a:pPr eaLnBrk="1" hangingPunct="1"/>
            <a:r>
              <a:rPr lang="en-US" altLang="en-US" smtClean="0">
                <a:cs typeface="Times New Roman" panose="02020603050405020304" pitchFamily="18" charset="0"/>
              </a:rPr>
              <a:t>At the output of an envelope detector this has the effect of adding a dc component to the random multipath</a:t>
            </a:r>
          </a:p>
          <a:p>
            <a:pPr eaLnBrk="1" hangingPunct="1"/>
            <a:r>
              <a:rPr lang="en-US" altLang="en-US" smtClean="0"/>
              <a:t>The effect of a dominant signal arriving with many weaker multipath signals gives rise to Ricean distribution</a:t>
            </a:r>
          </a:p>
          <a:p>
            <a:pPr eaLnBrk="1" hangingPunct="1"/>
            <a:endParaRPr lang="en-US" altLang="en-US" smtClean="0"/>
          </a:p>
          <a:p>
            <a:pPr eaLnBrk="1" hangingPunct="1"/>
            <a:r>
              <a:rPr lang="en-US" altLang="en-US" smtClean="0"/>
              <a:t>As the dominant signal becomes weaker, the composite signal gives resembles a noise signal which has an envelope that is Rayleigh</a:t>
            </a:r>
          </a:p>
          <a:p>
            <a:pPr eaLnBrk="1" hangingPunct="1"/>
            <a:r>
              <a:rPr lang="en-US" altLang="en-US" smtClean="0"/>
              <a:t>Ricean Factor K completes determines the Ricean distribution.</a:t>
            </a:r>
          </a:p>
          <a:p>
            <a:pPr eaLnBrk="1" hangingPunct="1"/>
            <a:r>
              <a:rPr lang="en-US" altLang="en-US" smtClean="0"/>
              <a:t>As A</a:t>
            </a:r>
            <a:r>
              <a:rPr lang="en-GB" altLang="en-US" smtClean="0">
                <a:sym typeface="Wingdings" panose="05000000000000000000" pitchFamily="2" charset="2"/>
              </a:rPr>
              <a:t></a:t>
            </a:r>
            <a:r>
              <a:rPr lang="en-US" altLang="en-US" smtClean="0"/>
              <a:t> 0, K </a:t>
            </a:r>
            <a:r>
              <a:rPr lang="en-GB" altLang="en-US" smtClean="0">
                <a:sym typeface="Wingdings" panose="05000000000000000000" pitchFamily="2" charset="2"/>
              </a:rPr>
              <a:t>- </a:t>
            </a:r>
            <a:r>
              <a:rPr lang="en-GB" altLang="en-US" smtClean="0">
                <a:sym typeface="Symbol" panose="05050102010706020507" pitchFamily="18" charset="2"/>
              </a:rPr>
              <a:t></a:t>
            </a:r>
            <a:r>
              <a:rPr lang="en-US" altLang="en-US" smtClean="0"/>
              <a:t> dB, and as the dominant path decreases in amplitude, the Ricean distribution degenerates to Rayleigh distribution</a:t>
            </a:r>
          </a:p>
          <a:p>
            <a:pPr eaLnBrk="1" hangingPunct="1"/>
            <a:endParaRPr lang="en-US" altLang="en-US" smtClean="0"/>
          </a:p>
          <a:p>
            <a:pPr eaLnBrk="1" hangingPunct="1"/>
            <a:r>
              <a:rPr lang="en-US" altLang="en-US" smtClean="0"/>
              <a:t>Thus, the Ricean distribution degenerates to a Rayleigh distribution when the dominant component fades away</a:t>
            </a:r>
          </a:p>
          <a:p>
            <a:pPr eaLnBrk="1" hangingPunct="1"/>
            <a:endParaRPr lang="en-US" altLang="en-US" smtClean="0"/>
          </a:p>
          <a:p>
            <a:pPr eaLnBrk="1" hangingPunct="1">
              <a:spcBef>
                <a:spcPct val="0"/>
              </a:spcBef>
            </a:pPr>
            <a:r>
              <a:rPr lang="en-US" altLang="en-US" sz="2600" smtClean="0"/>
              <a:t>Where K is defined as the ratio between the deterministic signal power and the variance of the multipath.</a:t>
            </a:r>
          </a:p>
          <a:p>
            <a:pPr eaLnBrk="1" hangingPunct="1"/>
            <a:endParaRPr lang="en-US" altLang="en-US" smtClean="0"/>
          </a:p>
        </p:txBody>
      </p:sp>
    </p:spTree>
    <p:extLst>
      <p:ext uri="{BB962C8B-B14F-4D97-AF65-F5344CB8AC3E}">
        <p14:creationId xmlns:p14="http://schemas.microsoft.com/office/powerpoint/2010/main" val="3969597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631E210-D91B-44A4-900B-74566112568E}" type="slidenum">
              <a:rPr lang="en-US" altLang="en-US" sz="1200"/>
              <a:pPr/>
              <a:t>31</a:t>
            </a:fld>
            <a:endParaRPr lang="en-US" altLang="en-US" sz="1200"/>
          </a:p>
        </p:txBody>
      </p:sp>
      <p:sp>
        <p:nvSpPr>
          <p:cNvPr id="45059" name="Rectangle 2"/>
          <p:cNvSpPr>
            <a:spLocks noChangeArrowheads="1" noTextEdit="1"/>
          </p:cNvSpPr>
          <p:nvPr>
            <p:ph type="sldImg"/>
          </p:nvPr>
        </p:nvSpPr>
        <p:spPr>
          <a:xfrm>
            <a:off x="55563" y="0"/>
            <a:ext cx="5502275" cy="3095625"/>
          </a:xfrm>
          <a:ln/>
        </p:spPr>
      </p:sp>
      <p:sp>
        <p:nvSpPr>
          <p:cNvPr id="45060" name="Rectangle 3"/>
          <p:cNvSpPr>
            <a:spLocks noGrp="1" noChangeArrowheads="1"/>
          </p:cNvSpPr>
          <p:nvPr>
            <p:ph type="body" idx="1"/>
          </p:nvPr>
        </p:nvSpPr>
        <p:spPr>
          <a:xfrm>
            <a:off x="0" y="3176588"/>
            <a:ext cx="6645275" cy="5865812"/>
          </a:xfrm>
          <a:noFill/>
        </p:spPr>
        <p:txBody>
          <a:bodyPr/>
          <a:lstStyle/>
          <a:p>
            <a:pPr eaLnBrk="1" hangingPunct="1"/>
            <a:endParaRPr lang="en-GB" altLang="en-US" smtClean="0"/>
          </a:p>
        </p:txBody>
      </p:sp>
    </p:spTree>
    <p:extLst>
      <p:ext uri="{BB962C8B-B14F-4D97-AF65-F5344CB8AC3E}">
        <p14:creationId xmlns:p14="http://schemas.microsoft.com/office/powerpoint/2010/main" val="1151276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6FB1B9D-EC32-4609-9386-23BCACDB5490}"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404872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6FB1B9D-EC32-4609-9386-23BCACDB5490}"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2270149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6FB1B9D-EC32-4609-9386-23BCACDB5490}"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1483030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6FB1B9D-EC32-4609-9386-23BCACDB5490}"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409714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6FB1B9D-EC32-4609-9386-23BCACDB5490}"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4241702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6FB1B9D-EC32-4609-9386-23BCACDB5490}"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2430612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B1B9D-EC32-4609-9386-23BCACDB5490}" type="datetimeFigureOut">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4287806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6FB1B9D-EC32-4609-9386-23BCACDB5490}"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4038761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6FB1B9D-EC32-4609-9386-23BCACDB5490}"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3218291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6FB1B9D-EC32-4609-9386-23BCACDB5490}"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4226184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6FB1B9D-EC32-4609-9386-23BCACDB5490}"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89B162-889A-450C-BC82-C7955529EFAA}" type="slidenum">
              <a:rPr lang="en-US" smtClean="0"/>
              <a:t>‹#›</a:t>
            </a:fld>
            <a:endParaRPr lang="en-US"/>
          </a:p>
        </p:txBody>
      </p:sp>
    </p:spTree>
    <p:extLst>
      <p:ext uri="{BB962C8B-B14F-4D97-AF65-F5344CB8AC3E}">
        <p14:creationId xmlns:p14="http://schemas.microsoft.com/office/powerpoint/2010/main" val="235718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FB1B9D-EC32-4609-9386-23BCACDB5490}" type="datetimeFigureOut">
              <a:rPr lang="en-US" smtClean="0"/>
              <a:t>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89B162-889A-450C-BC82-C7955529EFAA}" type="slidenum">
              <a:rPr lang="en-US" smtClean="0"/>
              <a:t>‹#›</a:t>
            </a:fld>
            <a:endParaRPr lang="en-US"/>
          </a:p>
        </p:txBody>
      </p:sp>
    </p:spTree>
    <p:extLst>
      <p:ext uri="{BB962C8B-B14F-4D97-AF65-F5344CB8AC3E}">
        <p14:creationId xmlns:p14="http://schemas.microsoft.com/office/powerpoint/2010/main" val="1288381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notesSlide" Target="../notesSlides/notesSlide2.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1.bin"/><Relationship Id="rId10" Type="http://schemas.openxmlformats.org/officeDocument/2006/relationships/image" Target="../media/image9.wmf"/><Relationship Id="rId4" Type="http://schemas.openxmlformats.org/officeDocument/2006/relationships/image" Target="../media/image6.png"/><Relationship Id="rId9"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11.png"/><Relationship Id="rId4"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3.png"/><Relationship Id="rId5" Type="http://schemas.openxmlformats.org/officeDocument/2006/relationships/oleObject" Target="../embeddings/oleObject6.bin"/><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notesSlide" Target="../notesSlides/notesSlide8.xml"/><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5.wmf"/><Relationship Id="rId5" Type="http://schemas.openxmlformats.org/officeDocument/2006/relationships/oleObject" Target="../embeddings/oleObject7.bin"/><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notesSlide" Target="../notesSlides/notesSlide9.xml"/><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9.bin"/><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notesSlide" Target="../notesSlides/notesSlide10.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11.bin"/><Relationship Id="rId4" Type="http://schemas.openxmlformats.org/officeDocument/2006/relationships/image" Target="../media/image6.png"/><Relationship Id="rId9" Type="http://schemas.openxmlformats.org/officeDocument/2006/relationships/image" Target="../media/image20.wmf"/></Relationships>
</file>

<file path=ppt/slides/_rels/slide29.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17.bin"/><Relationship Id="rId18" Type="http://schemas.openxmlformats.org/officeDocument/2006/relationships/image" Target="../media/image28.wmf"/><Relationship Id="rId3" Type="http://schemas.openxmlformats.org/officeDocument/2006/relationships/notesSlide" Target="../notesSlides/notesSlide11.xml"/><Relationship Id="rId7" Type="http://schemas.openxmlformats.org/officeDocument/2006/relationships/oleObject" Target="../embeddings/oleObject14.bin"/><Relationship Id="rId12" Type="http://schemas.openxmlformats.org/officeDocument/2006/relationships/image" Target="../media/image25.wmf"/><Relationship Id="rId17" Type="http://schemas.openxmlformats.org/officeDocument/2006/relationships/oleObject" Target="../embeddings/oleObject19.bin"/><Relationship Id="rId2" Type="http://schemas.openxmlformats.org/officeDocument/2006/relationships/slideLayout" Target="../slideLayouts/slideLayout2.xml"/><Relationship Id="rId16" Type="http://schemas.openxmlformats.org/officeDocument/2006/relationships/image" Target="../media/image27.wmf"/><Relationship Id="rId1" Type="http://schemas.openxmlformats.org/officeDocument/2006/relationships/vmlDrawing" Target="../drawings/vmlDrawing7.vml"/><Relationship Id="rId6" Type="http://schemas.openxmlformats.org/officeDocument/2006/relationships/image" Target="../media/image22.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24.wmf"/><Relationship Id="rId4" Type="http://schemas.openxmlformats.org/officeDocument/2006/relationships/image" Target="../media/image6.png"/><Relationship Id="rId9" Type="http://schemas.openxmlformats.org/officeDocument/2006/relationships/oleObject" Target="../embeddings/oleObject15.bin"/><Relationship Id="rId14" Type="http://schemas.openxmlformats.org/officeDocument/2006/relationships/image" Target="../media/image26.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notesSlide" Target="../notesSlides/notesSlide12.xml"/><Relationship Id="rId7"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9.wmf"/><Relationship Id="rId5" Type="http://schemas.openxmlformats.org/officeDocument/2006/relationships/oleObject" Target="../embeddings/oleObject20.bin"/><Relationship Id="rId4" Type="http://schemas.openxmlformats.org/officeDocument/2006/relationships/image" Target="../media/image6.png"/><Relationship Id="rId9" Type="http://schemas.openxmlformats.org/officeDocument/2006/relationships/image" Target="../media/image30.wmf"/></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Mobile Radio Propagation: Small scale Fading and multipath</a:t>
            </a:r>
            <a:endParaRPr lang="en-US" sz="4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7076296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9000"/>
            <a:ext cx="10515600" cy="1325563"/>
          </a:xfrm>
        </p:spPr>
        <p:txBody>
          <a:bodyPr/>
          <a:lstStyle/>
          <a:p>
            <a:r>
              <a:rPr lang="en-US" dirty="0" smtClean="0">
                <a:latin typeface="Times New Roman" panose="02020603050405020304" pitchFamily="18" charset="0"/>
                <a:cs typeface="Times New Roman" panose="02020603050405020304" pitchFamily="18" charset="0"/>
              </a:rPr>
              <a:t>Small scale fading</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Is used to describe the rapid fluctuation of the amplitude of a radio signal over a short period of time or travel distance, so that large-scale path loss effects may be ignored.</a:t>
            </a:r>
          </a:p>
          <a:p>
            <a:r>
              <a:rPr lang="en-US" dirty="0" smtClean="0">
                <a:latin typeface="Times New Roman" panose="02020603050405020304" pitchFamily="18" charset="0"/>
                <a:cs typeface="Times New Roman" panose="02020603050405020304" pitchFamily="18" charset="0"/>
              </a:rPr>
              <a:t>Fading is caused by interference between two or more versions of the transmitter signal which arrive at the receiver at slightly different times.</a:t>
            </a:r>
          </a:p>
          <a:p>
            <a:r>
              <a:rPr lang="en-US" dirty="0" smtClean="0">
                <a:latin typeface="Times New Roman" panose="02020603050405020304" pitchFamily="18" charset="0"/>
                <a:cs typeface="Times New Roman" panose="02020603050405020304" pitchFamily="18" charset="0"/>
              </a:rPr>
              <a:t>These are called </a:t>
            </a:r>
            <a:r>
              <a:rPr lang="en-US" dirty="0" smtClean="0">
                <a:solidFill>
                  <a:srgbClr val="FF0000"/>
                </a:solidFill>
                <a:latin typeface="Times New Roman" panose="02020603050405020304" pitchFamily="18" charset="0"/>
                <a:cs typeface="Times New Roman" panose="02020603050405020304" pitchFamily="18" charset="0"/>
              </a:rPr>
              <a:t>Multipath waves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66802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Small scale fading…</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Small scale multipath propagation causes the following small-scale fading effects;</a:t>
            </a:r>
          </a:p>
          <a:p>
            <a:endParaRPr lang="en-US" dirty="0">
              <a:latin typeface="Times New Roman" panose="02020603050405020304" pitchFamily="18" charset="0"/>
              <a:cs typeface="Times New Roman" panose="02020603050405020304" pitchFamily="18" charset="0"/>
            </a:endParaRPr>
          </a:p>
          <a:p>
            <a:pPr marL="1028700" lvl="1" indent="-571500">
              <a:buFont typeface="+mj-lt"/>
              <a:buAutoNum type="romanLcPeriod"/>
            </a:pPr>
            <a:r>
              <a:rPr lang="en-US" sz="2800" dirty="0" smtClean="0">
                <a:latin typeface="Times New Roman" panose="02020603050405020304" pitchFamily="18" charset="0"/>
                <a:cs typeface="Times New Roman" panose="02020603050405020304" pitchFamily="18" charset="0"/>
              </a:rPr>
              <a:t>Rapid changes in signal strength over a small travel distance or time interval.</a:t>
            </a:r>
          </a:p>
          <a:p>
            <a:pPr marL="1028700" lvl="1" indent="-571500">
              <a:buFont typeface="+mj-lt"/>
              <a:buAutoNum type="romanLcPeriod"/>
            </a:pPr>
            <a:r>
              <a:rPr lang="en-US" sz="2800" dirty="0" smtClean="0">
                <a:latin typeface="Times New Roman" panose="02020603050405020304" pitchFamily="18" charset="0"/>
                <a:cs typeface="Times New Roman" panose="02020603050405020304" pitchFamily="18" charset="0"/>
              </a:rPr>
              <a:t>Random frequency modulation due to varying doppler shifts on different multipath signals.</a:t>
            </a:r>
          </a:p>
          <a:p>
            <a:pPr marL="1028700" lvl="1" indent="-571500">
              <a:buFont typeface="+mj-lt"/>
              <a:buAutoNum type="romanLcPeriod"/>
            </a:pPr>
            <a:r>
              <a:rPr lang="en-US" sz="2800" dirty="0" smtClean="0">
                <a:latin typeface="Times New Roman" panose="02020603050405020304" pitchFamily="18" charset="0"/>
                <a:cs typeface="Times New Roman" panose="02020603050405020304" pitchFamily="18" charset="0"/>
              </a:rPr>
              <a:t>Time dispersion (echoes) caused by multipath propagation delays.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9739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panose="02020603050405020304" pitchFamily="18" charset="0"/>
                <a:cs typeface="Times New Roman" panose="02020603050405020304" pitchFamily="18" charset="0"/>
              </a:rPr>
              <a:t>Small scale fading…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In built-up urban areas fading occurs because the height of the mobile antennas are well below the height of surrounding structures, so there is no single line-of-sight path to the base station.</a:t>
            </a:r>
          </a:p>
          <a:p>
            <a:r>
              <a:rPr lang="en-US" dirty="0" smtClean="0">
                <a:latin typeface="Times New Roman" panose="02020603050405020304" pitchFamily="18" charset="0"/>
                <a:cs typeface="Times New Roman" panose="02020603050405020304" pitchFamily="18" charset="0"/>
              </a:rPr>
              <a:t>If there is no Line-Of-Sight, multipath still occurs due to reflections from the ground and surrounding structures.</a:t>
            </a:r>
          </a:p>
          <a:p>
            <a:r>
              <a:rPr lang="en-US" dirty="0" smtClean="0">
                <a:latin typeface="Times New Roman" panose="02020603050405020304" pitchFamily="18" charset="0"/>
                <a:cs typeface="Times New Roman" panose="02020603050405020304" pitchFamily="18" charset="0"/>
              </a:rPr>
              <a:t>Incoming radio waves arrive from different directions with different propagation delays.</a:t>
            </a:r>
          </a:p>
          <a:p>
            <a:r>
              <a:rPr lang="en-US" dirty="0" smtClean="0">
                <a:latin typeface="Times New Roman" panose="02020603050405020304" pitchFamily="18" charset="0"/>
                <a:cs typeface="Times New Roman" panose="02020603050405020304" pitchFamily="18" charset="0"/>
              </a:rPr>
              <a:t>If objects are static in the radio channel, motion considered is only that of the mobile hence fading is purely a spatial phenomenon.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2056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Factors influencing small scale fading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latin typeface="Times New Roman" panose="02020603050405020304" pitchFamily="18" charset="0"/>
                <a:cs typeface="Times New Roman" panose="02020603050405020304" pitchFamily="18" charset="0"/>
              </a:rPr>
              <a:t>Multipath propagation</a:t>
            </a:r>
          </a:p>
          <a:p>
            <a:pPr>
              <a:buFontTx/>
              <a:buChar char="-"/>
            </a:pPr>
            <a:r>
              <a:rPr lang="en-US" dirty="0" smtClean="0">
                <a:latin typeface="Times New Roman" panose="02020603050405020304" pitchFamily="18" charset="0"/>
                <a:cs typeface="Times New Roman" panose="02020603050405020304" pitchFamily="18" charset="0"/>
              </a:rPr>
              <a:t>Occurs due to the presence of reflecting objects and </a:t>
            </a:r>
            <a:r>
              <a:rPr lang="en-US" dirty="0" err="1" smtClean="0">
                <a:latin typeface="Times New Roman" panose="02020603050405020304" pitchFamily="18" charset="0"/>
                <a:cs typeface="Times New Roman" panose="02020603050405020304" pitchFamily="18" charset="0"/>
              </a:rPr>
              <a:t>scatterers</a:t>
            </a:r>
            <a:r>
              <a:rPr lang="en-US" dirty="0" smtClean="0">
                <a:latin typeface="Times New Roman" panose="02020603050405020304" pitchFamily="18" charset="0"/>
                <a:cs typeface="Times New Roman" panose="02020603050405020304" pitchFamily="18" charset="0"/>
              </a:rPr>
              <a:t>.</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2. Speed of the mobile</a:t>
            </a:r>
          </a:p>
          <a:p>
            <a:pPr marL="0" indent="0">
              <a:buNone/>
            </a:pPr>
            <a:r>
              <a:rPr lang="en-US" dirty="0" smtClean="0">
                <a:latin typeface="Times New Roman" panose="02020603050405020304" pitchFamily="18" charset="0"/>
                <a:cs typeface="Times New Roman" panose="02020603050405020304" pitchFamily="18" charset="0"/>
              </a:rPr>
              <a:t>- Relative motion between base station and mobile results in random frequency modulation, due to different doppler shifts on each of the multipath components.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0548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Factors influencing small scale fading…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3. Speed of surrounding objects</a:t>
            </a:r>
          </a:p>
          <a:p>
            <a:pPr>
              <a:buFontTx/>
              <a:buChar char="-"/>
            </a:pPr>
            <a:r>
              <a:rPr lang="en-US" dirty="0" smtClean="0">
                <a:latin typeface="Times New Roman" panose="02020603050405020304" pitchFamily="18" charset="0"/>
                <a:cs typeface="Times New Roman" panose="02020603050405020304" pitchFamily="18" charset="0"/>
              </a:rPr>
              <a:t>This movement induce a time varying doppler shift on multipath components. If surrounding objects move at a greater rate than the mobile, this effect dominates the small-scale fading.</a:t>
            </a:r>
          </a:p>
          <a:p>
            <a:pPr>
              <a:buFontTx/>
              <a:buChar char="-"/>
            </a:pP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4. Transmitted Bandwidth of the signal</a:t>
            </a:r>
          </a:p>
          <a:p>
            <a:pPr marL="0" indent="0">
              <a:buNone/>
            </a:pPr>
            <a:r>
              <a:rPr lang="en-US" dirty="0" smtClean="0">
                <a:latin typeface="Times New Roman" panose="02020603050405020304" pitchFamily="18" charset="0"/>
                <a:cs typeface="Times New Roman" panose="02020603050405020304" pitchFamily="18" charset="0"/>
              </a:rPr>
              <a:t>- If transmitted radio signal bandwidth is greater than the bandwidth of the multipath channel, the received signal will be distorted.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1592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Doppler Shift</a:t>
            </a:r>
            <a:endParaRPr lang="en-US"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1737360" y="1690688"/>
            <a:ext cx="7589520" cy="4406183"/>
          </a:xfrm>
          <a:prstGeom prst="rect">
            <a:avLst/>
          </a:prstGeom>
        </p:spPr>
      </p:pic>
    </p:spTree>
    <p:extLst>
      <p:ext uri="{BB962C8B-B14F-4D97-AF65-F5344CB8AC3E}">
        <p14:creationId xmlns:p14="http://schemas.microsoft.com/office/powerpoint/2010/main" val="1507568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Doppler Shift</a:t>
            </a:r>
            <a:endParaRPr lang="en-US"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838200" y="1907177"/>
            <a:ext cx="10709366" cy="1497909"/>
          </a:xfrm>
          <a:prstGeom prst="rect">
            <a:avLst/>
          </a:prstGeom>
        </p:spPr>
      </p:pic>
    </p:spTree>
    <p:extLst>
      <p:ext uri="{BB962C8B-B14F-4D97-AF65-F5344CB8AC3E}">
        <p14:creationId xmlns:p14="http://schemas.microsoft.com/office/powerpoint/2010/main" val="33337891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Doppler Shift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86436"/>
            <a:ext cx="10515600" cy="4351338"/>
          </a:xfrm>
        </p:spPr>
        <p:txBody>
          <a:bodyPr/>
          <a:lstStyle/>
          <a:p>
            <a:endParaRPr lang="en-US" dirty="0"/>
          </a:p>
        </p:txBody>
      </p:sp>
      <p:pic>
        <p:nvPicPr>
          <p:cNvPr id="4" name="Picture 3"/>
          <p:cNvPicPr>
            <a:picLocks noChangeAspect="1"/>
          </p:cNvPicPr>
          <p:nvPr/>
        </p:nvPicPr>
        <p:blipFill>
          <a:blip r:embed="rId2"/>
          <a:stretch>
            <a:fillRect/>
          </a:stretch>
        </p:blipFill>
        <p:spPr>
          <a:xfrm>
            <a:off x="2076994" y="1428695"/>
            <a:ext cx="7001691" cy="5429305"/>
          </a:xfrm>
          <a:prstGeom prst="rect">
            <a:avLst/>
          </a:prstGeom>
        </p:spPr>
      </p:pic>
    </p:spTree>
    <p:extLst>
      <p:ext uri="{BB962C8B-B14F-4D97-AF65-F5344CB8AC3E}">
        <p14:creationId xmlns:p14="http://schemas.microsoft.com/office/powerpoint/2010/main" val="22104570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Impulse response model of a multipath channel</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Small scale variations of a mobile radio signal is directly proportional to the impulse response of a mobile radio channel.</a:t>
            </a:r>
          </a:p>
          <a:p>
            <a:pPr marL="457200" lvl="1" indent="0" algn="just">
              <a:buNone/>
            </a:pPr>
            <a:r>
              <a:rPr lang="en-US" sz="2800" dirty="0" smtClean="0">
                <a:latin typeface="Times New Roman" panose="02020603050405020304" pitchFamily="18" charset="0"/>
                <a:cs typeface="Times New Roman" panose="02020603050405020304" pitchFamily="18" charset="0"/>
              </a:rPr>
              <a:t>Impulse response- is a wide-band channel characterization and contains all information necessary to simulate or analyze any type of radio transmission through the channel.</a:t>
            </a:r>
          </a:p>
          <a:p>
            <a:pPr algn="just"/>
            <a:r>
              <a:rPr lang="en-US" dirty="0" smtClean="0">
                <a:latin typeface="Times New Roman" panose="02020603050405020304" pitchFamily="18" charset="0"/>
                <a:cs typeface="Times New Roman" panose="02020603050405020304" pitchFamily="18" charset="0"/>
              </a:rPr>
              <a:t>This stems from the fact that a mobile channel may be modeled as a linear filter with a time varying impulse response.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269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Impulse response model of a multipath channel</a:t>
            </a:r>
          </a:p>
        </p:txBody>
      </p:sp>
      <p:sp>
        <p:nvSpPr>
          <p:cNvPr id="3" name="Content Placeholder 2"/>
          <p:cNvSpPr>
            <a:spLocks noGrp="1"/>
          </p:cNvSpPr>
          <p:nvPr>
            <p:ph idx="1"/>
          </p:nvPr>
        </p:nvSpPr>
        <p:spPr>
          <a:xfrm>
            <a:off x="838200" y="1528354"/>
            <a:ext cx="10515600" cy="4648609"/>
          </a:xfrm>
        </p:spPr>
        <p:txBody>
          <a:bodyPr/>
          <a:lstStyle/>
          <a:p>
            <a:pPr marL="0" indent="0" algn="ctr">
              <a:buNone/>
            </a:pPr>
            <a:r>
              <a:rPr lang="en-US" sz="4000" b="1" dirty="0" smtClean="0">
                <a:latin typeface="Times New Roman" panose="02020603050405020304" pitchFamily="18" charset="0"/>
                <a:cs typeface="Times New Roman" panose="02020603050405020304" pitchFamily="18" charset="0"/>
              </a:rPr>
              <a:t>Calculations</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2207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15481"/>
          </a:xfrm>
        </p:spPr>
        <p:txBody>
          <a:bodyPr/>
          <a:lstStyle/>
          <a:p>
            <a:r>
              <a:rPr lang="en-US" sz="3200" b="1" dirty="0" smtClean="0">
                <a:latin typeface="Times New Roman" panose="02020603050405020304" pitchFamily="18" charset="0"/>
                <a:cs typeface="Times New Roman" panose="02020603050405020304" pitchFamily="18" charset="0"/>
              </a:rPr>
              <a:t>Small scale multipath measurements</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Techniques of determining multipath structure</a:t>
            </a:r>
          </a:p>
          <a:p>
            <a:pPr marL="1028700" lvl="1" indent="-571500">
              <a:buFont typeface="+mj-lt"/>
              <a:buAutoNum type="romanLcPeriod"/>
            </a:pPr>
            <a:r>
              <a:rPr lang="en-US" sz="2800" dirty="0" smtClean="0">
                <a:latin typeface="Times New Roman" panose="02020603050405020304" pitchFamily="18" charset="0"/>
                <a:cs typeface="Times New Roman" panose="02020603050405020304" pitchFamily="18" charset="0"/>
              </a:rPr>
              <a:t>Direct pulse measurement</a:t>
            </a:r>
          </a:p>
          <a:p>
            <a:pPr marL="1028700" lvl="1" indent="-571500">
              <a:buFont typeface="+mj-lt"/>
              <a:buAutoNum type="romanLcPeriod"/>
            </a:pPr>
            <a:r>
              <a:rPr lang="en-US" sz="2800" dirty="0" smtClean="0">
                <a:latin typeface="Times New Roman" panose="02020603050405020304" pitchFamily="18" charset="0"/>
                <a:cs typeface="Times New Roman" panose="02020603050405020304" pitchFamily="18" charset="0"/>
              </a:rPr>
              <a:t>Spread spectrum sliding correlator measurements</a:t>
            </a:r>
          </a:p>
          <a:p>
            <a:pPr marL="1028700" lvl="1" indent="-571500">
              <a:buFont typeface="+mj-lt"/>
              <a:buAutoNum type="romanLcPeriod"/>
            </a:pPr>
            <a:r>
              <a:rPr lang="en-US" sz="2800" dirty="0" smtClean="0">
                <a:latin typeface="Times New Roman" panose="02020603050405020304" pitchFamily="18" charset="0"/>
                <a:cs typeface="Times New Roman" panose="02020603050405020304" pitchFamily="18" charset="0"/>
              </a:rPr>
              <a:t>Swept frequency measurements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9967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9880"/>
            <a:ext cx="10515600" cy="1215481"/>
          </a:xfrm>
        </p:spPr>
        <p:txBody>
          <a:bodyPr/>
          <a:lstStyle/>
          <a:p>
            <a:r>
              <a:rPr lang="en-US" sz="3200" b="1" dirty="0" smtClean="0">
                <a:latin typeface="Times New Roman" panose="02020603050405020304" pitchFamily="18" charset="0"/>
                <a:cs typeface="Times New Roman" panose="02020603050405020304" pitchFamily="18" charset="0"/>
              </a:rPr>
              <a:t>Direct RF pulse System</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55361"/>
            <a:ext cx="10515600" cy="5097689"/>
          </a:xfrm>
        </p:spPr>
        <p:txBody>
          <a:bodyPr/>
          <a:lstStyle/>
          <a:p>
            <a:pPr marL="0" indent="0">
              <a:buNone/>
            </a:pPr>
            <a:r>
              <a:rPr lang="en-US" sz="2800" dirty="0" smtClean="0">
                <a:latin typeface="Times New Roman" panose="02020603050405020304" pitchFamily="18" charset="0"/>
                <a:cs typeface="Times New Roman" panose="02020603050405020304" pitchFamily="18" charset="0"/>
              </a:rPr>
              <a:t>This is a simple channel sounding approach is the direct RF pulse system; this allows to determine rapidly the power delay profile of any channel.</a:t>
            </a:r>
          </a:p>
          <a:p>
            <a:pPr marL="0" indent="0">
              <a:buNone/>
            </a:pPr>
            <a:endParaRPr lang="en-US"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660037" y="2521974"/>
            <a:ext cx="6209643" cy="3931076"/>
          </a:xfrm>
          <a:prstGeom prst="rect">
            <a:avLst/>
          </a:prstGeom>
        </p:spPr>
      </p:pic>
    </p:spTree>
    <p:extLst>
      <p:ext uri="{BB962C8B-B14F-4D97-AF65-F5344CB8AC3E}">
        <p14:creationId xmlns:p14="http://schemas.microsoft.com/office/powerpoint/2010/main" val="2940749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anose="02020603050405020304" pitchFamily="18" charset="0"/>
                <a:cs typeface="Times New Roman" panose="02020603050405020304" pitchFamily="18" charset="0"/>
              </a:rPr>
              <a:t>Spread spectrum Sliding correlator measurements</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Here signal is spread over a large bandwidth by mixing it with a binary pseudo-noise (PN) sequence.</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764588" y="2717074"/>
            <a:ext cx="6444725" cy="3722915"/>
          </a:xfrm>
          <a:prstGeom prst="rect">
            <a:avLst/>
          </a:prstGeom>
        </p:spPr>
      </p:pic>
    </p:spTree>
    <p:extLst>
      <p:ext uri="{BB962C8B-B14F-4D97-AF65-F5344CB8AC3E}">
        <p14:creationId xmlns:p14="http://schemas.microsoft.com/office/powerpoint/2010/main" val="2475903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28F4AF2-93A9-45FB-B60F-BD4C8E66ED4F}" type="slidenum">
              <a:rPr lang="en-US" altLang="en-US" sz="1400"/>
              <a:pPr/>
              <a:t>15</a:t>
            </a:fld>
            <a:endParaRPr lang="en-US" altLang="en-US" sz="1400"/>
          </a:p>
        </p:txBody>
      </p:sp>
      <p:pic>
        <p:nvPicPr>
          <p:cNvPr id="15363" name="Picture 4"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4" name="Rectangle 2"/>
          <p:cNvSpPr>
            <a:spLocks noGrp="1" noChangeArrowheads="1"/>
          </p:cNvSpPr>
          <p:nvPr>
            <p:ph type="title"/>
          </p:nvPr>
        </p:nvSpPr>
        <p:spPr/>
        <p:txBody>
          <a:bodyPr/>
          <a:lstStyle/>
          <a:p>
            <a:pPr eaLnBrk="1" hangingPunct="1"/>
            <a:r>
              <a:rPr lang="en-US" altLang="en-US" sz="2800" u="sng"/>
              <a:t>Parameters of Mobile Multipath Channels</a:t>
            </a:r>
          </a:p>
        </p:txBody>
      </p:sp>
      <p:sp>
        <p:nvSpPr>
          <p:cNvPr id="15365" name="Rectangle 3"/>
          <p:cNvSpPr>
            <a:spLocks noGrp="1" noChangeArrowheads="1"/>
          </p:cNvSpPr>
          <p:nvPr>
            <p:ph type="body" idx="1"/>
          </p:nvPr>
        </p:nvSpPr>
        <p:spPr>
          <a:xfrm>
            <a:off x="1524000" y="838200"/>
            <a:ext cx="8991600" cy="2205038"/>
          </a:xfrm>
        </p:spPr>
        <p:txBody>
          <a:bodyPr/>
          <a:lstStyle/>
          <a:p>
            <a:pPr eaLnBrk="1" hangingPunct="1">
              <a:buFont typeface="Wingdings" panose="05000000000000000000" pitchFamily="2" charset="2"/>
              <a:buNone/>
            </a:pPr>
            <a:endParaRPr lang="en-US" altLang="en-US" sz="2400"/>
          </a:p>
          <a:p>
            <a:pPr lvl="4" eaLnBrk="1" hangingPunct="1">
              <a:buFont typeface="Wingdings" panose="05000000000000000000" pitchFamily="2" charset="2"/>
              <a:buChar char="Ø"/>
            </a:pPr>
            <a:r>
              <a:rPr lang="en-US" altLang="en-US" sz="2400"/>
              <a:t>Time dispersion parameter</a:t>
            </a:r>
          </a:p>
          <a:p>
            <a:pPr lvl="4" eaLnBrk="1" hangingPunct="1">
              <a:buFont typeface="Wingdings" panose="05000000000000000000" pitchFamily="2" charset="2"/>
              <a:buChar char="Ø"/>
            </a:pPr>
            <a:r>
              <a:rPr lang="en-US" altLang="en-US" sz="2400"/>
              <a:t>Coherence bandwidth</a:t>
            </a:r>
          </a:p>
          <a:p>
            <a:pPr lvl="4" eaLnBrk="1" hangingPunct="1">
              <a:buFont typeface="Wingdings" panose="05000000000000000000" pitchFamily="2" charset="2"/>
              <a:buChar char="Ø"/>
            </a:pPr>
            <a:r>
              <a:rPr lang="en-US" altLang="en-US" sz="2400"/>
              <a:t>Doppler spread and Coherence time</a:t>
            </a:r>
          </a:p>
        </p:txBody>
      </p:sp>
    </p:spTree>
    <p:extLst>
      <p:ext uri="{BB962C8B-B14F-4D97-AF65-F5344CB8AC3E}">
        <p14:creationId xmlns:p14="http://schemas.microsoft.com/office/powerpoint/2010/main" val="111480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AC89ABD-4994-4E28-AEB3-6A7A6D451093}" type="slidenum">
              <a:rPr lang="en-US" altLang="en-US" sz="1400"/>
              <a:pPr/>
              <a:t>16</a:t>
            </a:fld>
            <a:endParaRPr lang="en-US" altLang="en-US" sz="1400"/>
          </a:p>
        </p:txBody>
      </p:sp>
      <p:pic>
        <p:nvPicPr>
          <p:cNvPr id="17411" name="Picture 10" descr="magi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2" name="Rectangle 2"/>
          <p:cNvSpPr>
            <a:spLocks noGrp="1" noChangeArrowheads="1"/>
          </p:cNvSpPr>
          <p:nvPr>
            <p:ph type="title"/>
          </p:nvPr>
        </p:nvSpPr>
        <p:spPr/>
        <p:txBody>
          <a:bodyPr/>
          <a:lstStyle/>
          <a:p>
            <a:pPr eaLnBrk="1" hangingPunct="1"/>
            <a:r>
              <a:rPr lang="en-US" altLang="en-US" sz="2800" u="sng" dirty="0"/>
              <a:t>Time dispersion parameters</a:t>
            </a:r>
          </a:p>
        </p:txBody>
      </p:sp>
      <p:sp>
        <p:nvSpPr>
          <p:cNvPr id="17413" name="Rectangle 3"/>
          <p:cNvSpPr>
            <a:spLocks noGrp="1" noChangeArrowheads="1"/>
          </p:cNvSpPr>
          <p:nvPr>
            <p:ph type="body" idx="1"/>
          </p:nvPr>
        </p:nvSpPr>
        <p:spPr>
          <a:xfrm>
            <a:off x="1524000" y="1312478"/>
            <a:ext cx="8305800" cy="1295400"/>
          </a:xfrm>
        </p:spPr>
        <p:txBody>
          <a:bodyPr>
            <a:normAutofit fontScale="85000" lnSpcReduction="10000"/>
          </a:bodyPr>
          <a:lstStyle/>
          <a:p>
            <a:pPr eaLnBrk="1" hangingPunct="1">
              <a:lnSpc>
                <a:spcPct val="90000"/>
              </a:lnSpc>
              <a:buClr>
                <a:schemeClr val="tx1"/>
              </a:buClr>
              <a:buFont typeface="Wingdings" panose="05000000000000000000" pitchFamily="2" charset="2"/>
              <a:buChar char="Ø"/>
            </a:pPr>
            <a:r>
              <a:rPr lang="en-US" altLang="en-US" sz="2400"/>
              <a:t>Mean excess delay, RMS delay and Excess delay spread (X dB) are multipath channel parameters that can be determined from a power delay profile</a:t>
            </a:r>
          </a:p>
          <a:p>
            <a:pPr eaLnBrk="1" hangingPunct="1">
              <a:lnSpc>
                <a:spcPct val="90000"/>
              </a:lnSpc>
              <a:buClr>
                <a:schemeClr val="tx1"/>
              </a:buClr>
              <a:buFont typeface="Wingdings" panose="05000000000000000000" pitchFamily="2" charset="2"/>
              <a:buChar char="Ø"/>
            </a:pPr>
            <a:r>
              <a:rPr lang="en-US" altLang="en-US" sz="2400"/>
              <a:t>The </a:t>
            </a:r>
            <a:r>
              <a:rPr lang="en-US" altLang="en-US" sz="2400" i="1"/>
              <a:t>Mean excess delay</a:t>
            </a:r>
            <a:r>
              <a:rPr lang="en-US" altLang="en-US" sz="2400"/>
              <a:t> is the first moment of the power delay profile and is defined to be,</a:t>
            </a:r>
          </a:p>
          <a:p>
            <a:pPr algn="ctr" eaLnBrk="1" hangingPunct="1">
              <a:lnSpc>
                <a:spcPct val="90000"/>
              </a:lnSpc>
              <a:buClr>
                <a:schemeClr val="tx1"/>
              </a:buClr>
              <a:buFont typeface="Wingdings" panose="05000000000000000000" pitchFamily="2" charset="2"/>
              <a:buNone/>
            </a:pPr>
            <a:endParaRPr lang="en-US" altLang="en-US" sz="2400">
              <a:cs typeface="Times New Roman" panose="02020603050405020304" pitchFamily="18" charset="0"/>
            </a:endParaRPr>
          </a:p>
          <a:p>
            <a:pPr algn="ctr" eaLnBrk="1" hangingPunct="1">
              <a:lnSpc>
                <a:spcPct val="90000"/>
              </a:lnSpc>
              <a:buClr>
                <a:schemeClr val="tx1"/>
              </a:buClr>
              <a:buFont typeface="Wingdings" panose="05000000000000000000" pitchFamily="2" charset="2"/>
              <a:buNone/>
            </a:pPr>
            <a:endParaRPr lang="en-US" altLang="en-US" sz="1600">
              <a:cs typeface="Times New Roman" panose="02020603050405020304" pitchFamily="18" charset="0"/>
            </a:endParaRPr>
          </a:p>
        </p:txBody>
      </p:sp>
      <p:graphicFrame>
        <p:nvGraphicFramePr>
          <p:cNvPr id="17414" name="Object 4"/>
          <p:cNvGraphicFramePr>
            <a:graphicFrameLocks noChangeAspect="1"/>
          </p:cNvGraphicFramePr>
          <p:nvPr/>
        </p:nvGraphicFramePr>
        <p:xfrm>
          <a:off x="5943600" y="2590800"/>
          <a:ext cx="3352800" cy="1201738"/>
        </p:xfrm>
        <a:graphic>
          <a:graphicData uri="http://schemas.openxmlformats.org/presentationml/2006/ole">
            <mc:AlternateContent xmlns:mc="http://schemas.openxmlformats.org/markup-compatibility/2006">
              <mc:Choice xmlns:v="urn:schemas-microsoft-com:vml" Requires="v">
                <p:oleObj spid="_x0000_s1029" name="Equation" r:id="rId5" imgW="1841500" imgH="660400" progId="Equation.3">
                  <p:embed/>
                </p:oleObj>
              </mc:Choice>
              <mc:Fallback>
                <p:oleObj name="Equation" r:id="rId5" imgW="1841500" imgH="660400" progId="Equation.3">
                  <p:embed/>
                  <p:pic>
                    <p:nvPicPr>
                      <p:cNvPr id="1741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2590800"/>
                        <a:ext cx="3352800" cy="1201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5" name="Rectangle 5"/>
          <p:cNvSpPr>
            <a:spLocks noChangeArrowheads="1"/>
          </p:cNvSpPr>
          <p:nvPr/>
        </p:nvSpPr>
        <p:spPr bwMode="auto">
          <a:xfrm>
            <a:off x="1524000" y="4343401"/>
            <a:ext cx="8915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762000">
              <a:defRPr sz="2400">
                <a:solidFill>
                  <a:schemeClr val="tx1"/>
                </a:solidFill>
                <a:latin typeface="Times New Roman" panose="02020603050405020304" pitchFamily="18" charset="0"/>
              </a:defRPr>
            </a:lvl5pPr>
            <a:lvl6pPr marL="1219200" eaLnBrk="0" fontAlgn="base" hangingPunct="0">
              <a:spcBef>
                <a:spcPct val="0"/>
              </a:spcBef>
              <a:spcAft>
                <a:spcPct val="0"/>
              </a:spcAft>
              <a:defRPr sz="2400">
                <a:solidFill>
                  <a:schemeClr val="tx1"/>
                </a:solidFill>
                <a:latin typeface="Times New Roman" panose="02020603050405020304" pitchFamily="18" charset="0"/>
              </a:defRPr>
            </a:lvl6pPr>
            <a:lvl7pPr marL="1676400" eaLnBrk="0" fontAlgn="base" hangingPunct="0">
              <a:spcBef>
                <a:spcPct val="0"/>
              </a:spcBef>
              <a:spcAft>
                <a:spcPct val="0"/>
              </a:spcAft>
              <a:defRPr sz="2400">
                <a:solidFill>
                  <a:schemeClr val="tx1"/>
                </a:solidFill>
                <a:latin typeface="Times New Roman" panose="02020603050405020304" pitchFamily="18" charset="0"/>
              </a:defRPr>
            </a:lvl7pPr>
            <a:lvl8pPr marL="2133600" eaLnBrk="0" fontAlgn="base" hangingPunct="0">
              <a:spcBef>
                <a:spcPct val="0"/>
              </a:spcBef>
              <a:spcAft>
                <a:spcPct val="0"/>
              </a:spcAft>
              <a:defRPr sz="2400">
                <a:solidFill>
                  <a:schemeClr val="tx1"/>
                </a:solidFill>
                <a:latin typeface="Times New Roman" panose="02020603050405020304" pitchFamily="18" charset="0"/>
              </a:defRPr>
            </a:lvl8pPr>
            <a:lvl9pPr marL="2590800" eaLnBrk="0" fontAlgn="base" hangingPunct="0">
              <a:spcBef>
                <a:spcPct val="0"/>
              </a:spcBef>
              <a:spcAft>
                <a:spcPct val="0"/>
              </a:spcAft>
              <a:defRPr sz="2400">
                <a:solidFill>
                  <a:schemeClr val="tx1"/>
                </a:solidFill>
                <a:latin typeface="Times New Roman" panose="02020603050405020304" pitchFamily="18" charset="0"/>
              </a:defRPr>
            </a:lvl9pPr>
          </a:lstStyle>
          <a:p>
            <a:pPr lvl="4" eaLnBrk="1" hangingPunct="1">
              <a:spcBef>
                <a:spcPct val="20000"/>
              </a:spcBef>
              <a:buFont typeface="Wingdings" panose="05000000000000000000" pitchFamily="2" charset="2"/>
              <a:buNone/>
            </a:pPr>
            <a:r>
              <a:rPr lang="en-US" altLang="en-US">
                <a:cs typeface="Times New Roman" panose="02020603050405020304" pitchFamily="18" charset="0"/>
              </a:rPr>
              <a:t>The </a:t>
            </a:r>
            <a:r>
              <a:rPr lang="en-US" altLang="en-US" i="1">
                <a:cs typeface="Times New Roman" panose="02020603050405020304" pitchFamily="18" charset="0"/>
              </a:rPr>
              <a:t>RMS delay spread</a:t>
            </a:r>
            <a:r>
              <a:rPr lang="en-US" altLang="en-US">
                <a:cs typeface="Times New Roman" panose="02020603050405020304" pitchFamily="18" charset="0"/>
              </a:rPr>
              <a:t> is the square root of the second central moment of the power delay profile and is defined to be,</a:t>
            </a:r>
          </a:p>
        </p:txBody>
      </p:sp>
      <p:sp>
        <p:nvSpPr>
          <p:cNvPr id="17416" name="Rectangle 6"/>
          <p:cNvSpPr>
            <a:spLocks noChangeArrowheads="1"/>
          </p:cNvSpPr>
          <p:nvPr/>
        </p:nvSpPr>
        <p:spPr bwMode="auto">
          <a:xfrm>
            <a:off x="2286001" y="3886201"/>
            <a:ext cx="5305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Font typeface="Wingdings" panose="05000000000000000000" pitchFamily="2" charset="2"/>
              <a:buNone/>
            </a:pPr>
            <a:r>
              <a:rPr lang="en-US" altLang="en-US" sz="1800">
                <a:cs typeface="Times New Roman" panose="02020603050405020304" pitchFamily="18" charset="0"/>
              </a:rPr>
              <a:t>Where a and τ are the real amplitudes and excess delays</a:t>
            </a:r>
          </a:p>
        </p:txBody>
      </p:sp>
      <p:graphicFrame>
        <p:nvGraphicFramePr>
          <p:cNvPr id="17417" name="Object 7"/>
          <p:cNvGraphicFramePr>
            <a:graphicFrameLocks noChangeAspect="1"/>
          </p:cNvGraphicFramePr>
          <p:nvPr/>
        </p:nvGraphicFramePr>
        <p:xfrm>
          <a:off x="2362200" y="5410200"/>
          <a:ext cx="2514600" cy="763588"/>
        </p:xfrm>
        <a:graphic>
          <a:graphicData uri="http://schemas.openxmlformats.org/presentationml/2006/ole">
            <mc:AlternateContent xmlns:mc="http://schemas.openxmlformats.org/markup-compatibility/2006">
              <mc:Choice xmlns:v="urn:schemas-microsoft-com:vml" Requires="v">
                <p:oleObj spid="_x0000_s1030" name="Equation" r:id="rId7" imgW="1002865" imgH="304668" progId="Equation.3">
                  <p:embed/>
                </p:oleObj>
              </mc:Choice>
              <mc:Fallback>
                <p:oleObj name="Equation" r:id="rId7" imgW="1002865" imgH="304668" progId="Equation.3">
                  <p:embed/>
                  <p:pic>
                    <p:nvPicPr>
                      <p:cNvPr id="17417"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5410200"/>
                        <a:ext cx="2514600" cy="763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8" name="Text Box 8"/>
          <p:cNvSpPr txBox="1">
            <a:spLocks noChangeArrowheads="1"/>
          </p:cNvSpPr>
          <p:nvPr/>
        </p:nvSpPr>
        <p:spPr bwMode="auto">
          <a:xfrm>
            <a:off x="5105400" y="54864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a:t>where</a:t>
            </a:r>
            <a:endParaRPr lang="en-US" altLang="en-US"/>
          </a:p>
        </p:txBody>
      </p:sp>
      <p:graphicFrame>
        <p:nvGraphicFramePr>
          <p:cNvPr id="17419" name="Object 9"/>
          <p:cNvGraphicFramePr>
            <a:graphicFrameLocks noChangeAspect="1"/>
          </p:cNvGraphicFramePr>
          <p:nvPr/>
        </p:nvGraphicFramePr>
        <p:xfrm>
          <a:off x="6324600" y="5334000"/>
          <a:ext cx="2895600" cy="1003300"/>
        </p:xfrm>
        <a:graphic>
          <a:graphicData uri="http://schemas.openxmlformats.org/presentationml/2006/ole">
            <mc:AlternateContent xmlns:mc="http://schemas.openxmlformats.org/markup-compatibility/2006">
              <mc:Choice xmlns:v="urn:schemas-microsoft-com:vml" Requires="v">
                <p:oleObj spid="_x0000_s1031" name="Equation" r:id="rId9" imgW="1905000" imgH="660400" progId="Equation.3">
                  <p:embed/>
                </p:oleObj>
              </mc:Choice>
              <mc:Fallback>
                <p:oleObj name="Equation" r:id="rId9" imgW="1905000" imgH="660400" progId="Equation.3">
                  <p:embed/>
                  <p:pic>
                    <p:nvPicPr>
                      <p:cNvPr id="17419"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24600" y="5334000"/>
                        <a:ext cx="289560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907876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4E0FFAC-1E74-48D1-8015-43FFEE41C778}" type="slidenum">
              <a:rPr lang="en-US" altLang="en-US" sz="1400"/>
              <a:pPr/>
              <a:t>17</a:t>
            </a:fld>
            <a:endParaRPr lang="en-US" altLang="en-US" sz="1400"/>
          </a:p>
        </p:txBody>
      </p:sp>
      <p:pic>
        <p:nvPicPr>
          <p:cNvPr id="19459" name="Picture 3" descr="magi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
            <a:ext cx="8504238" cy="587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29498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F35DD18-D216-49DD-9D79-DB343C243DFE}" type="slidenum">
              <a:rPr lang="en-US" altLang="en-US" sz="1400"/>
              <a:pPr/>
              <a:t>18</a:t>
            </a:fld>
            <a:endParaRPr lang="en-US" altLang="en-US" sz="1400"/>
          </a:p>
        </p:txBody>
      </p:sp>
      <p:pic>
        <p:nvPicPr>
          <p:cNvPr id="20483" name="Picture 4"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4" name="Rectangle 2"/>
          <p:cNvSpPr>
            <a:spLocks noGrp="1" noChangeArrowheads="1"/>
          </p:cNvSpPr>
          <p:nvPr>
            <p:ph type="title"/>
          </p:nvPr>
        </p:nvSpPr>
        <p:spPr>
          <a:xfrm>
            <a:off x="2133600" y="0"/>
            <a:ext cx="7772400" cy="838200"/>
          </a:xfrm>
        </p:spPr>
        <p:txBody>
          <a:bodyPr/>
          <a:lstStyle/>
          <a:p>
            <a:pPr eaLnBrk="1" hangingPunct="1"/>
            <a:r>
              <a:rPr lang="en-US" altLang="en-US" sz="3200" u="sng"/>
              <a:t>Coherence Bandwidth</a:t>
            </a:r>
          </a:p>
        </p:txBody>
      </p:sp>
      <p:sp>
        <p:nvSpPr>
          <p:cNvPr id="20485" name="Rectangle 3"/>
          <p:cNvSpPr>
            <a:spLocks noGrp="1" noChangeArrowheads="1"/>
          </p:cNvSpPr>
          <p:nvPr>
            <p:ph type="body" idx="1"/>
          </p:nvPr>
        </p:nvSpPr>
        <p:spPr>
          <a:xfrm>
            <a:off x="1981200" y="762000"/>
            <a:ext cx="7772400" cy="4495800"/>
          </a:xfrm>
        </p:spPr>
        <p:txBody>
          <a:bodyPr>
            <a:normAutofit fontScale="85000" lnSpcReduction="20000"/>
          </a:bodyPr>
          <a:lstStyle/>
          <a:p>
            <a:pPr eaLnBrk="1" hangingPunct="1">
              <a:lnSpc>
                <a:spcPct val="90000"/>
              </a:lnSpc>
              <a:buClr>
                <a:schemeClr val="tx1"/>
              </a:buClr>
              <a:buFont typeface="Wingdings" panose="05000000000000000000" pitchFamily="2" charset="2"/>
              <a:buChar char="Ø"/>
            </a:pPr>
            <a:endParaRPr lang="en-US" altLang="en-US" sz="1800"/>
          </a:p>
          <a:p>
            <a:pPr eaLnBrk="1" hangingPunct="1">
              <a:lnSpc>
                <a:spcPct val="90000"/>
              </a:lnSpc>
              <a:buClr>
                <a:schemeClr val="tx1"/>
              </a:buClr>
              <a:buFont typeface="Wingdings" panose="05000000000000000000" pitchFamily="2" charset="2"/>
              <a:buChar char="Ø"/>
            </a:pPr>
            <a:r>
              <a:rPr lang="en-US" altLang="en-US" sz="2400"/>
              <a:t>Coherence bandwidth is a range of frequencies over which the channel can be considered “flat” I.e., a channel which passes all spectral components with approximately equal gain and linear phase.</a:t>
            </a:r>
          </a:p>
          <a:p>
            <a:pPr eaLnBrk="1" hangingPunct="1">
              <a:lnSpc>
                <a:spcPct val="90000"/>
              </a:lnSpc>
              <a:buClr>
                <a:schemeClr val="tx1"/>
              </a:buClr>
              <a:buFont typeface="Wingdings" panose="05000000000000000000" pitchFamily="2" charset="2"/>
              <a:buNone/>
            </a:pPr>
            <a:endParaRPr lang="en-US" altLang="en-US" sz="2400"/>
          </a:p>
          <a:p>
            <a:pPr marL="1352550" lvl="3" indent="-209550">
              <a:buFont typeface="Wingdings" panose="05000000000000000000" pitchFamily="2" charset="2"/>
              <a:buChar char="Ø"/>
            </a:pPr>
            <a:r>
              <a:rPr lang="en-US" altLang="en-US" sz="2400"/>
              <a:t>I.e., it is the range of frequencies over which two frequency components have a strong potential for amplitude correlation</a:t>
            </a:r>
          </a:p>
          <a:p>
            <a:pPr algn="ctr" eaLnBrk="1" hangingPunct="1">
              <a:lnSpc>
                <a:spcPct val="90000"/>
              </a:lnSpc>
              <a:buClr>
                <a:schemeClr val="tx1"/>
              </a:buClr>
              <a:buFont typeface="Wingdings" panose="05000000000000000000" pitchFamily="2" charset="2"/>
              <a:buNone/>
            </a:pPr>
            <a:r>
              <a:rPr lang="en-US" altLang="en-US" sz="2400"/>
              <a:t>For Example: If the coherence bandwidth is defined as the bandwidth over which the frequency correlation function is above 0.9, then the coherence bandwidth is approximately,</a:t>
            </a:r>
          </a:p>
          <a:p>
            <a:pPr algn="ctr" eaLnBrk="1" hangingPunct="1">
              <a:lnSpc>
                <a:spcPct val="90000"/>
              </a:lnSpc>
              <a:buClr>
                <a:schemeClr val="tx1"/>
              </a:buClr>
              <a:buFont typeface="Wingdings" panose="05000000000000000000" pitchFamily="2" charset="2"/>
              <a:buNone/>
            </a:pPr>
            <a:r>
              <a:rPr lang="en-US" altLang="en-US" sz="2400"/>
              <a:t>B</a:t>
            </a:r>
            <a:r>
              <a:rPr lang="en-US" altLang="en-US" sz="2400" baseline="-25000"/>
              <a:t>C</a:t>
            </a:r>
            <a:r>
              <a:rPr lang="en-US" altLang="en-US" sz="2400"/>
              <a:t> </a:t>
            </a:r>
            <a:r>
              <a:rPr lang="en-US" altLang="en-US" sz="2400">
                <a:cs typeface="Times New Roman" panose="02020603050405020304" pitchFamily="18" charset="0"/>
              </a:rPr>
              <a:t>≈ 1/ 50 σ</a:t>
            </a:r>
            <a:r>
              <a:rPr lang="en-US" altLang="en-US" sz="2400" baseline="-25000">
                <a:cs typeface="Times New Roman" panose="02020603050405020304" pitchFamily="18" charset="0"/>
              </a:rPr>
              <a:t>τ</a:t>
            </a:r>
          </a:p>
          <a:p>
            <a:pPr eaLnBrk="1" hangingPunct="1">
              <a:lnSpc>
                <a:spcPct val="90000"/>
              </a:lnSpc>
              <a:buClr>
                <a:schemeClr val="tx1"/>
              </a:buClr>
              <a:buFont typeface="Wingdings" panose="05000000000000000000" pitchFamily="2" charset="2"/>
              <a:buNone/>
            </a:pPr>
            <a:r>
              <a:rPr lang="en-US" altLang="en-US" sz="2400"/>
              <a:t>If the definition is relaxed so that the frequency correlation function is above 0.5, then the coherence bandwidth is approximately,</a:t>
            </a:r>
          </a:p>
          <a:p>
            <a:pPr algn="ctr" eaLnBrk="1" hangingPunct="1">
              <a:lnSpc>
                <a:spcPct val="90000"/>
              </a:lnSpc>
              <a:buClr>
                <a:schemeClr val="tx1"/>
              </a:buClr>
              <a:buFont typeface="Wingdings" panose="05000000000000000000" pitchFamily="2" charset="2"/>
              <a:buNone/>
            </a:pPr>
            <a:r>
              <a:rPr lang="en-US" altLang="en-US" sz="2400"/>
              <a:t>B</a:t>
            </a:r>
            <a:r>
              <a:rPr lang="en-US" altLang="en-US" sz="2400" baseline="-25000"/>
              <a:t>C</a:t>
            </a:r>
            <a:r>
              <a:rPr lang="en-US" altLang="en-US" sz="2400"/>
              <a:t> </a:t>
            </a:r>
            <a:r>
              <a:rPr lang="en-US" altLang="en-US" sz="2400">
                <a:cs typeface="Times New Roman" panose="02020603050405020304" pitchFamily="18" charset="0"/>
              </a:rPr>
              <a:t>≈ 1/ 5 σ</a:t>
            </a:r>
            <a:r>
              <a:rPr lang="en-US" altLang="en-US" sz="2400" baseline="-25000">
                <a:cs typeface="Times New Roman" panose="02020603050405020304" pitchFamily="18" charset="0"/>
              </a:rPr>
              <a:t>τ</a:t>
            </a:r>
          </a:p>
        </p:txBody>
      </p:sp>
    </p:spTree>
    <p:extLst>
      <p:ext uri="{BB962C8B-B14F-4D97-AF65-F5344CB8AC3E}">
        <p14:creationId xmlns:p14="http://schemas.microsoft.com/office/powerpoint/2010/main" val="7806566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94C4D76-4F81-4466-A787-062116F3E1FC}" type="slidenum">
              <a:rPr lang="en-US" altLang="en-US" sz="1400"/>
              <a:pPr/>
              <a:t>19</a:t>
            </a:fld>
            <a:endParaRPr lang="en-US" altLang="en-US" sz="1400"/>
          </a:p>
        </p:txBody>
      </p:sp>
      <p:pic>
        <p:nvPicPr>
          <p:cNvPr id="22531" name="Picture 4"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2" name="Rectangle 2"/>
          <p:cNvSpPr>
            <a:spLocks noGrp="1" noChangeArrowheads="1"/>
          </p:cNvSpPr>
          <p:nvPr>
            <p:ph type="title"/>
          </p:nvPr>
        </p:nvSpPr>
        <p:spPr/>
        <p:txBody>
          <a:bodyPr/>
          <a:lstStyle/>
          <a:p>
            <a:pPr eaLnBrk="1" hangingPunct="1"/>
            <a:r>
              <a:rPr lang="en-US" altLang="en-US" sz="2800" u="sng"/>
              <a:t>Doppler Spread &amp; Coherence Time</a:t>
            </a:r>
          </a:p>
        </p:txBody>
      </p:sp>
      <p:sp>
        <p:nvSpPr>
          <p:cNvPr id="22533" name="Rectangle 3"/>
          <p:cNvSpPr>
            <a:spLocks noGrp="1" noChangeArrowheads="1"/>
          </p:cNvSpPr>
          <p:nvPr>
            <p:ph type="body" idx="1"/>
          </p:nvPr>
        </p:nvSpPr>
        <p:spPr/>
        <p:txBody>
          <a:bodyPr/>
          <a:lstStyle/>
          <a:p>
            <a:pPr eaLnBrk="1" hangingPunct="1">
              <a:buClr>
                <a:schemeClr val="tx1"/>
              </a:buClr>
              <a:buFont typeface="Wingdings" panose="05000000000000000000" pitchFamily="2" charset="2"/>
              <a:buChar char="Ø"/>
            </a:pPr>
            <a:r>
              <a:rPr lang="en-US" altLang="en-US" sz="2400"/>
              <a:t>Doppler spread B</a:t>
            </a:r>
            <a:r>
              <a:rPr lang="en-US" altLang="en-US" sz="2400" baseline="-25000"/>
              <a:t>D</a:t>
            </a:r>
            <a:r>
              <a:rPr lang="en-US" altLang="en-US" sz="2400"/>
              <a:t> is a measure of the spectral broadening caused by the time rate change of the mobile radio channel and is defined as the range of frequencies over which the received Doppler spectrum is essentially non-zero</a:t>
            </a:r>
            <a:r>
              <a:rPr lang="en-GB" altLang="en-US" sz="2400"/>
              <a:t>.</a:t>
            </a:r>
            <a:endParaRPr lang="en-US" altLang="en-US" sz="2400"/>
          </a:p>
        </p:txBody>
      </p:sp>
    </p:spTree>
    <p:extLst>
      <p:ext uri="{BB962C8B-B14F-4D97-AF65-F5344CB8AC3E}">
        <p14:creationId xmlns:p14="http://schemas.microsoft.com/office/powerpoint/2010/main" val="29169629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B19F592-4AA5-47AB-B61B-DB7C8CBD2267}" type="slidenum">
              <a:rPr lang="en-US" altLang="en-US" sz="1400"/>
              <a:pPr/>
              <a:t>20</a:t>
            </a:fld>
            <a:endParaRPr lang="en-US" altLang="en-US" sz="1400"/>
          </a:p>
        </p:txBody>
      </p:sp>
      <p:pic>
        <p:nvPicPr>
          <p:cNvPr id="24579" name="Picture 4" descr="magi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0" name="Rectangle 2"/>
          <p:cNvSpPr>
            <a:spLocks noGrp="1" noChangeArrowheads="1"/>
          </p:cNvSpPr>
          <p:nvPr>
            <p:ph type="body" idx="1"/>
          </p:nvPr>
        </p:nvSpPr>
        <p:spPr>
          <a:xfrm>
            <a:off x="2209800" y="914400"/>
            <a:ext cx="7772400" cy="5181600"/>
          </a:xfrm>
        </p:spPr>
        <p:txBody>
          <a:bodyPr/>
          <a:lstStyle/>
          <a:p>
            <a:pPr eaLnBrk="1" hangingPunct="1">
              <a:buClr>
                <a:schemeClr val="tx1"/>
              </a:buClr>
              <a:buFont typeface="Wingdings" panose="05000000000000000000" pitchFamily="2" charset="2"/>
              <a:buChar char="Ø"/>
            </a:pPr>
            <a:r>
              <a:rPr lang="en-US" altLang="en-US" sz="2000"/>
              <a:t>Coherence time T</a:t>
            </a:r>
            <a:r>
              <a:rPr lang="en-US" altLang="en-US" sz="2000" baseline="-25000"/>
              <a:t>C</a:t>
            </a:r>
            <a:r>
              <a:rPr lang="en-US" altLang="en-US" sz="2000"/>
              <a:t> is the time domain dual of Doppler spread and is used to characterize the time varying nature of the frequency dispersiveness of the channel in the time domain.</a:t>
            </a:r>
          </a:p>
          <a:p>
            <a:pPr lvl="4" eaLnBrk="1" hangingPunct="1">
              <a:buFont typeface="Wingdings" panose="05000000000000000000" pitchFamily="2" charset="2"/>
              <a:buChar char="Ø"/>
            </a:pPr>
            <a:r>
              <a:rPr lang="en-US" altLang="en-US" sz="1400"/>
              <a:t>The Doppler spread and Coherence time are inversely proportional to one another, I.e.,  T</a:t>
            </a:r>
            <a:r>
              <a:rPr lang="en-US" altLang="en-US" sz="1400" baseline="-25000"/>
              <a:t>C</a:t>
            </a:r>
            <a:r>
              <a:rPr lang="en-US" altLang="en-US" sz="1400"/>
              <a:t> </a:t>
            </a:r>
            <a:r>
              <a:rPr lang="en-US" altLang="en-US" sz="1400">
                <a:cs typeface="Times New Roman" panose="02020603050405020304" pitchFamily="18" charset="0"/>
              </a:rPr>
              <a:t>≈ 1 / f</a:t>
            </a:r>
            <a:r>
              <a:rPr lang="en-US" altLang="en-US" sz="1400" baseline="-25000">
                <a:cs typeface="Times New Roman" panose="02020603050405020304" pitchFamily="18" charset="0"/>
              </a:rPr>
              <a:t>m</a:t>
            </a:r>
            <a:r>
              <a:rPr lang="en-US" altLang="en-US" sz="1400">
                <a:cs typeface="Times New Roman" panose="02020603050405020304" pitchFamily="18" charset="0"/>
              </a:rPr>
              <a:t> </a:t>
            </a:r>
            <a:r>
              <a:rPr lang="en-US" altLang="en-US" sz="1400">
                <a:cs typeface="Times New Roman" panose="02020603050405020304" pitchFamily="18" charset="0"/>
                <a:sym typeface="Wingdings" panose="05000000000000000000" pitchFamily="2" charset="2"/>
              </a:rPr>
              <a:t> eq. (2)</a:t>
            </a:r>
            <a:endParaRPr lang="en-US" altLang="en-US" sz="1400" baseline="-25000">
              <a:cs typeface="Times New Roman" panose="02020603050405020304" pitchFamily="18" charset="0"/>
            </a:endParaRPr>
          </a:p>
          <a:p>
            <a:pPr lvl="4" eaLnBrk="1" hangingPunct="1">
              <a:buFont typeface="Wingdings" panose="05000000000000000000" pitchFamily="2" charset="2"/>
              <a:buNone/>
            </a:pPr>
            <a:endParaRPr lang="en-US" altLang="en-US" sz="1400">
              <a:cs typeface="Times New Roman" panose="02020603050405020304" pitchFamily="18" charset="0"/>
            </a:endParaRPr>
          </a:p>
          <a:p>
            <a:pPr eaLnBrk="1" hangingPunct="1">
              <a:buClr>
                <a:schemeClr val="tx1"/>
              </a:buClr>
              <a:buFont typeface="Wingdings" panose="05000000000000000000" pitchFamily="2" charset="2"/>
              <a:buChar char="Ø"/>
            </a:pPr>
            <a:r>
              <a:rPr lang="en-US" altLang="en-US" sz="2000"/>
              <a:t>Coherence time is actually a statistical measure of the time duration over which the channel impulse response is essentially invariant and quantifies the similarity of the channel response at different times.</a:t>
            </a:r>
          </a:p>
          <a:p>
            <a:pPr lvl="4" eaLnBrk="1" hangingPunct="1">
              <a:buFont typeface="Wingdings" panose="05000000000000000000" pitchFamily="2" charset="2"/>
              <a:buChar char="Ø"/>
            </a:pPr>
            <a:r>
              <a:rPr lang="en-US" altLang="en-US" sz="1400"/>
              <a:t>Coherence time is the duration over which two received signals have a strong potential for amplitude correlation</a:t>
            </a:r>
          </a:p>
          <a:p>
            <a:pPr lvl="4" eaLnBrk="1" hangingPunct="1">
              <a:buFont typeface="Wingdings" panose="05000000000000000000" pitchFamily="2" charset="2"/>
              <a:buNone/>
            </a:pPr>
            <a:endParaRPr lang="en-US" altLang="en-US" sz="1400"/>
          </a:p>
          <a:p>
            <a:pPr eaLnBrk="1" hangingPunct="1">
              <a:buClr>
                <a:schemeClr val="tx1"/>
              </a:buClr>
              <a:buFont typeface="Wingdings" panose="05000000000000000000" pitchFamily="2" charset="2"/>
              <a:buChar char="Ø"/>
            </a:pPr>
            <a:r>
              <a:rPr lang="en-US" altLang="en-US" sz="2000"/>
              <a:t>If the reciprocal bandwidth of the baseband signal is greater than the coherence time of the channel, then the channel will change during the transmission of the baseband message, thus causing distortion at the receiver</a:t>
            </a:r>
          </a:p>
        </p:txBody>
      </p:sp>
      <p:sp>
        <p:nvSpPr>
          <p:cNvPr id="24581" name="Text Box 3"/>
          <p:cNvSpPr txBox="1">
            <a:spLocks noChangeArrowheads="1"/>
          </p:cNvSpPr>
          <p:nvPr/>
        </p:nvSpPr>
        <p:spPr bwMode="auto">
          <a:xfrm>
            <a:off x="6400801" y="228600"/>
            <a:ext cx="3749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400"/>
              <a:t>Doppler Spread &amp; Coherence Time (2)</a:t>
            </a:r>
          </a:p>
        </p:txBody>
      </p:sp>
    </p:spTree>
    <p:extLst>
      <p:ext uri="{BB962C8B-B14F-4D97-AF65-F5344CB8AC3E}">
        <p14:creationId xmlns:p14="http://schemas.microsoft.com/office/powerpoint/2010/main" val="10641527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5BEEA9C-0F66-4A0E-8781-B6C61D88A8DC}" type="slidenum">
              <a:rPr lang="en-US" altLang="en-US" sz="1400"/>
              <a:pPr/>
              <a:t>21</a:t>
            </a:fld>
            <a:endParaRPr lang="en-US" altLang="en-US" sz="1400"/>
          </a:p>
        </p:txBody>
      </p:sp>
      <p:pic>
        <p:nvPicPr>
          <p:cNvPr id="25603" name="Picture 5" descr="magi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4" name="Rectangle 2"/>
          <p:cNvSpPr>
            <a:spLocks noGrp="1" noChangeArrowheads="1"/>
          </p:cNvSpPr>
          <p:nvPr>
            <p:ph type="body" idx="1"/>
          </p:nvPr>
        </p:nvSpPr>
        <p:spPr>
          <a:xfrm>
            <a:off x="2209800" y="1143000"/>
            <a:ext cx="7772400" cy="4953000"/>
          </a:xfrm>
        </p:spPr>
        <p:txBody>
          <a:bodyPr/>
          <a:lstStyle/>
          <a:p>
            <a:pPr eaLnBrk="1" hangingPunct="1">
              <a:buClr>
                <a:schemeClr val="tx1"/>
              </a:buClr>
              <a:buFont typeface="Wingdings" panose="05000000000000000000" pitchFamily="2" charset="2"/>
              <a:buChar char="Ø"/>
            </a:pPr>
            <a:r>
              <a:rPr lang="en-US" altLang="en-US" sz="2000"/>
              <a:t>If the coherence time is defined as the time over which the time correlation function is above 0.5, then the coherence time is approximately,</a:t>
            </a:r>
          </a:p>
          <a:p>
            <a:pPr algn="ctr" eaLnBrk="1" hangingPunct="1">
              <a:buClr>
                <a:schemeClr val="tx1"/>
              </a:buClr>
              <a:buFont typeface="Wingdings" panose="05000000000000000000" pitchFamily="2" charset="2"/>
              <a:buNone/>
            </a:pPr>
            <a:r>
              <a:rPr lang="en-US" altLang="en-US" sz="2000"/>
              <a:t>T</a:t>
            </a:r>
            <a:r>
              <a:rPr lang="en-US" altLang="en-US" sz="2000" baseline="-25000"/>
              <a:t>C</a:t>
            </a:r>
            <a:r>
              <a:rPr lang="en-US" altLang="en-US" sz="2000"/>
              <a:t> </a:t>
            </a:r>
            <a:r>
              <a:rPr lang="en-US" altLang="en-US" sz="2000">
                <a:cs typeface="Times New Roman" panose="02020603050405020304" pitchFamily="18" charset="0"/>
              </a:rPr>
              <a:t>≈ 9 / 16Π f</a:t>
            </a:r>
            <a:r>
              <a:rPr lang="en-US" altLang="en-US" sz="2000" baseline="-25000">
                <a:cs typeface="Times New Roman" panose="02020603050405020304" pitchFamily="18" charset="0"/>
              </a:rPr>
              <a:t>m	</a:t>
            </a:r>
            <a:r>
              <a:rPr lang="en-US" altLang="en-US" sz="2000">
                <a:cs typeface="Times New Roman" panose="02020603050405020304" pitchFamily="18" charset="0"/>
                <a:sym typeface="Wingdings" panose="05000000000000000000" pitchFamily="2" charset="2"/>
              </a:rPr>
              <a:t> eq. (1)</a:t>
            </a:r>
            <a:endParaRPr lang="en-US" altLang="en-US" sz="2000" baseline="-25000">
              <a:cs typeface="Times New Roman" panose="02020603050405020304" pitchFamily="18" charset="0"/>
            </a:endParaRPr>
          </a:p>
          <a:p>
            <a:pPr eaLnBrk="1" hangingPunct="1">
              <a:buClr>
                <a:schemeClr val="tx1"/>
              </a:buClr>
              <a:buFont typeface="Wingdings" panose="05000000000000000000" pitchFamily="2" charset="2"/>
              <a:buNone/>
            </a:pPr>
            <a:r>
              <a:rPr lang="en-US" altLang="en-US" sz="2000">
                <a:cs typeface="Times New Roman" panose="02020603050405020304" pitchFamily="18" charset="0"/>
              </a:rPr>
              <a:t>Where f</a:t>
            </a:r>
            <a:r>
              <a:rPr lang="en-US" altLang="en-US" sz="2000" baseline="-25000">
                <a:cs typeface="Times New Roman" panose="02020603050405020304" pitchFamily="18" charset="0"/>
              </a:rPr>
              <a:t>m </a:t>
            </a:r>
            <a:r>
              <a:rPr lang="en-US" altLang="en-US" sz="2000">
                <a:cs typeface="Times New Roman" panose="02020603050405020304" pitchFamily="18" charset="0"/>
              </a:rPr>
              <a:t>is the maximum Doppler shift given by, f</a:t>
            </a:r>
            <a:r>
              <a:rPr lang="en-US" altLang="en-US" sz="2000" baseline="-25000">
                <a:cs typeface="Times New Roman" panose="02020603050405020304" pitchFamily="18" charset="0"/>
              </a:rPr>
              <a:t>m</a:t>
            </a:r>
            <a:r>
              <a:rPr lang="en-US" altLang="en-US" sz="2000">
                <a:cs typeface="Times New Roman" panose="02020603050405020304" pitchFamily="18" charset="0"/>
              </a:rPr>
              <a:t> =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 </a:t>
            </a:r>
            <a:r>
              <a:rPr lang="en-US" altLang="en-US" sz="2000">
                <a:cs typeface="Times New Roman" panose="02020603050405020304" pitchFamily="18" charset="0"/>
                <a:sym typeface="Symbol" panose="05050102010706020507" pitchFamily="18" charset="2"/>
              </a:rPr>
              <a:t></a:t>
            </a:r>
            <a:endParaRPr lang="en-US" altLang="en-US" sz="2000">
              <a:cs typeface="Times New Roman" panose="02020603050405020304" pitchFamily="18" charset="0"/>
            </a:endParaRPr>
          </a:p>
          <a:p>
            <a:pPr eaLnBrk="1" hangingPunct="1">
              <a:buClr>
                <a:schemeClr val="tx1"/>
              </a:buClr>
              <a:buFont typeface="Wingdings" panose="05000000000000000000" pitchFamily="2" charset="2"/>
              <a:buChar char="Ø"/>
            </a:pPr>
            <a:r>
              <a:rPr lang="en-US" altLang="en-US" sz="2000">
                <a:cs typeface="Times New Roman" panose="02020603050405020304" pitchFamily="18" charset="0"/>
              </a:rPr>
              <a:t>A popular thumb rule for </a:t>
            </a:r>
            <a:r>
              <a:rPr lang="en-US" altLang="en-US" sz="2000" b="1">
                <a:cs typeface="Times New Roman" panose="02020603050405020304" pitchFamily="18" charset="0"/>
              </a:rPr>
              <a:t>modern digital communications</a:t>
            </a:r>
            <a:r>
              <a:rPr lang="en-US" altLang="en-US" sz="2000">
                <a:cs typeface="Times New Roman" panose="02020603050405020304" pitchFamily="18" charset="0"/>
              </a:rPr>
              <a:t> is to define the coherence time as the geometric mean of the eq.(1) &amp; (2). That is,</a:t>
            </a:r>
          </a:p>
          <a:p>
            <a:pPr algn="ctr" eaLnBrk="1" hangingPunct="1">
              <a:buClr>
                <a:schemeClr val="tx1"/>
              </a:buClr>
              <a:buFont typeface="Wingdings" panose="05000000000000000000" pitchFamily="2" charset="2"/>
              <a:buNone/>
            </a:pPr>
            <a:r>
              <a:rPr lang="en-US" altLang="en-US" sz="2000"/>
              <a:t>T</a:t>
            </a:r>
            <a:r>
              <a:rPr lang="en-US" altLang="en-US" sz="2000" baseline="-25000"/>
              <a:t>C</a:t>
            </a:r>
            <a:r>
              <a:rPr lang="en-US" altLang="en-US" sz="2000"/>
              <a:t> = </a:t>
            </a:r>
            <a:r>
              <a:rPr lang="en-US" altLang="en-US">
                <a:cs typeface="Times New Roman" panose="02020603050405020304" pitchFamily="18" charset="0"/>
              </a:rPr>
              <a:t>√</a:t>
            </a:r>
            <a:r>
              <a:rPr lang="en-US" altLang="en-US" sz="2000">
                <a:cs typeface="Times New Roman" panose="02020603050405020304" pitchFamily="18" charset="0"/>
              </a:rPr>
              <a:t> 9 / 16Π f</a:t>
            </a:r>
            <a:r>
              <a:rPr lang="en-US" altLang="en-US" sz="2000" baseline="-25000">
                <a:cs typeface="Times New Roman" panose="02020603050405020304" pitchFamily="18" charset="0"/>
              </a:rPr>
              <a:t>m </a:t>
            </a:r>
            <a:r>
              <a:rPr lang="en-US" altLang="en-US" sz="2000">
                <a:cs typeface="Times New Roman" panose="02020603050405020304" pitchFamily="18" charset="0"/>
              </a:rPr>
              <a:t>= 0.423 / f</a:t>
            </a:r>
            <a:r>
              <a:rPr lang="en-US" altLang="en-US" sz="2000" baseline="-25000">
                <a:cs typeface="Times New Roman" panose="02020603050405020304" pitchFamily="18" charset="0"/>
              </a:rPr>
              <a:t>m</a:t>
            </a:r>
          </a:p>
          <a:p>
            <a:pPr algn="ctr" eaLnBrk="1" hangingPunct="1">
              <a:buClr>
                <a:schemeClr val="tx1"/>
              </a:buClr>
              <a:buFont typeface="Wingdings" panose="05000000000000000000" pitchFamily="2" charset="2"/>
              <a:buNone/>
            </a:pPr>
            <a:endParaRPr lang="en-US" altLang="en-US" sz="2000">
              <a:cs typeface="Times New Roman" panose="02020603050405020304" pitchFamily="18" charset="0"/>
            </a:endParaRPr>
          </a:p>
        </p:txBody>
      </p:sp>
      <p:sp>
        <p:nvSpPr>
          <p:cNvPr id="25605" name="Text Box 3"/>
          <p:cNvSpPr txBox="1">
            <a:spLocks noChangeArrowheads="1"/>
          </p:cNvSpPr>
          <p:nvPr/>
        </p:nvSpPr>
        <p:spPr bwMode="auto">
          <a:xfrm>
            <a:off x="6400801" y="228600"/>
            <a:ext cx="3749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400"/>
              <a:t>Doppler Spread &amp; Coherence Time (3)</a:t>
            </a:r>
          </a:p>
        </p:txBody>
      </p:sp>
      <p:sp>
        <p:nvSpPr>
          <p:cNvPr id="25606" name="Line 4"/>
          <p:cNvSpPr>
            <a:spLocks noChangeShapeType="1"/>
          </p:cNvSpPr>
          <p:nvPr/>
        </p:nvSpPr>
        <p:spPr bwMode="auto">
          <a:xfrm>
            <a:off x="5257800" y="3581400"/>
            <a:ext cx="1219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1225197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93D12B1-A186-45C2-9AEE-1F24BDAD1AA0}" type="slidenum">
              <a:rPr lang="en-US" altLang="en-US" sz="1400"/>
              <a:pPr/>
              <a:t>22</a:t>
            </a:fld>
            <a:endParaRPr lang="en-US" altLang="en-US" sz="1400"/>
          </a:p>
        </p:txBody>
      </p:sp>
      <p:pic>
        <p:nvPicPr>
          <p:cNvPr id="26627" name="Picture 4"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28" name="Rectangle 2"/>
          <p:cNvSpPr>
            <a:spLocks noGrp="1" noChangeArrowheads="1"/>
          </p:cNvSpPr>
          <p:nvPr>
            <p:ph type="title"/>
          </p:nvPr>
        </p:nvSpPr>
        <p:spPr>
          <a:xfrm>
            <a:off x="2514600" y="0"/>
            <a:ext cx="7543800" cy="406400"/>
          </a:xfrm>
        </p:spPr>
        <p:txBody>
          <a:bodyPr>
            <a:normAutofit fontScale="90000"/>
          </a:bodyPr>
          <a:lstStyle/>
          <a:p>
            <a:pPr eaLnBrk="1" hangingPunct="1"/>
            <a:r>
              <a:rPr lang="en-US" altLang="en-US" sz="3200" b="1">
                <a:cs typeface="Times New Roman" panose="02020603050405020304" pitchFamily="18" charset="0"/>
              </a:rPr>
              <a:t>Small Scale Fading:</a:t>
            </a:r>
          </a:p>
        </p:txBody>
      </p:sp>
      <p:sp>
        <p:nvSpPr>
          <p:cNvPr id="26629" name="Rectangle 3"/>
          <p:cNvSpPr>
            <a:spLocks noGrp="1" noChangeArrowheads="1"/>
          </p:cNvSpPr>
          <p:nvPr>
            <p:ph type="body" idx="1"/>
          </p:nvPr>
        </p:nvSpPr>
        <p:spPr>
          <a:xfrm>
            <a:off x="2057400" y="685800"/>
            <a:ext cx="7772400" cy="4953000"/>
          </a:xfrm>
        </p:spPr>
        <p:txBody>
          <a:bodyPr>
            <a:normAutofit fontScale="92500"/>
          </a:bodyPr>
          <a:lstStyle/>
          <a:p>
            <a:pPr marL="0" indent="0">
              <a:buNone/>
            </a:pPr>
            <a:r>
              <a:rPr lang="en-US" altLang="en-US" sz="2600">
                <a:solidFill>
                  <a:srgbClr val="5B5249"/>
                </a:solidFill>
                <a:cs typeface="Times New Roman" panose="02020603050405020304" pitchFamily="18" charset="0"/>
              </a:rPr>
              <a:t>Different types of transmitted signals undergo different types of fading depending upon the relation between the </a:t>
            </a:r>
            <a:endParaRPr lang="en-US" altLang="en-US" sz="2600">
              <a:cs typeface="Times New Roman" panose="02020603050405020304" pitchFamily="18" charset="0"/>
            </a:endParaRPr>
          </a:p>
          <a:p>
            <a:pPr marL="0" indent="0">
              <a:buNone/>
            </a:pPr>
            <a:r>
              <a:rPr lang="en-US" altLang="en-US" sz="2600">
                <a:solidFill>
                  <a:srgbClr val="5B5249"/>
                </a:solidFill>
                <a:cs typeface="Times New Roman" panose="02020603050405020304" pitchFamily="18" charset="0"/>
              </a:rPr>
              <a:t>	Signal Parameters: </a:t>
            </a:r>
            <a:r>
              <a:rPr lang="en-US" altLang="en-US" sz="2600" i="1">
                <a:solidFill>
                  <a:srgbClr val="5B5249"/>
                </a:solidFill>
                <a:cs typeface="Times New Roman" panose="02020603050405020304" pitchFamily="18" charset="0"/>
              </a:rPr>
              <a:t>Bandwidth, Symbol Period</a:t>
            </a:r>
          </a:p>
          <a:p>
            <a:pPr marL="0" indent="0">
              <a:buNone/>
            </a:pPr>
            <a:r>
              <a:rPr lang="en-US" altLang="en-US" sz="2600" i="1">
                <a:solidFill>
                  <a:srgbClr val="5B5249"/>
                </a:solidFill>
                <a:cs typeface="Times New Roman" panose="02020603050405020304" pitchFamily="18" charset="0"/>
              </a:rPr>
              <a:t>			</a:t>
            </a:r>
            <a:r>
              <a:rPr lang="en-US" altLang="en-US" sz="2600">
                <a:solidFill>
                  <a:srgbClr val="5B5249"/>
                </a:solidFill>
                <a:cs typeface="Times New Roman" panose="02020603050405020304" pitchFamily="18" charset="0"/>
              </a:rPr>
              <a:t>and</a:t>
            </a:r>
            <a:endParaRPr lang="en-US" altLang="en-US" sz="2600">
              <a:cs typeface="Times New Roman" panose="02020603050405020304" pitchFamily="18" charset="0"/>
            </a:endParaRPr>
          </a:p>
          <a:p>
            <a:pPr marL="0" indent="0">
              <a:buNone/>
            </a:pPr>
            <a:r>
              <a:rPr lang="en-US" altLang="en-US" sz="2600">
                <a:solidFill>
                  <a:srgbClr val="5B5249"/>
                </a:solidFill>
                <a:cs typeface="Times New Roman" panose="02020603050405020304" pitchFamily="18" charset="0"/>
              </a:rPr>
              <a:t>	Channel Parameters: </a:t>
            </a:r>
            <a:r>
              <a:rPr lang="en-US" altLang="en-US" sz="2600" i="1">
                <a:solidFill>
                  <a:srgbClr val="5B5249"/>
                </a:solidFill>
                <a:cs typeface="Times New Roman" panose="02020603050405020304" pitchFamily="18" charset="0"/>
              </a:rPr>
              <a:t>RMS Delay Spread,</a:t>
            </a:r>
            <a:endParaRPr lang="en-US" altLang="en-US" sz="2600" i="1">
              <a:cs typeface="Times New Roman" panose="02020603050405020304" pitchFamily="18" charset="0"/>
            </a:endParaRPr>
          </a:p>
          <a:p>
            <a:pPr marL="0" indent="0">
              <a:buNone/>
            </a:pPr>
            <a:r>
              <a:rPr lang="en-US" altLang="en-US" sz="2600" i="1">
                <a:solidFill>
                  <a:srgbClr val="5B5249"/>
                </a:solidFill>
                <a:cs typeface="Times New Roman" panose="02020603050405020304" pitchFamily="18" charset="0"/>
              </a:rPr>
              <a:t>	                               Doppler Spread</a:t>
            </a:r>
            <a:endParaRPr lang="en-US" altLang="en-US" sz="2600" i="1">
              <a:cs typeface="Times New Roman" panose="02020603050405020304" pitchFamily="18" charset="0"/>
            </a:endParaRPr>
          </a:p>
          <a:p>
            <a:pPr marL="0" indent="0"/>
            <a:r>
              <a:rPr lang="en-US" altLang="en-US" sz="2600">
                <a:solidFill>
                  <a:srgbClr val="5B5249"/>
                </a:solidFill>
                <a:cs typeface="Times New Roman" panose="02020603050405020304" pitchFamily="18" charset="0"/>
              </a:rPr>
              <a:t> In any mobile radio channel a wave can be dispersed either in Time or in Frequency.</a:t>
            </a:r>
            <a:endParaRPr lang="en-US" altLang="en-US" sz="2600">
              <a:cs typeface="Times New Roman" panose="02020603050405020304" pitchFamily="18" charset="0"/>
            </a:endParaRPr>
          </a:p>
          <a:p>
            <a:pPr marL="0" indent="0"/>
            <a:r>
              <a:rPr lang="en-US" altLang="en-US" sz="2600">
                <a:solidFill>
                  <a:srgbClr val="5B5249"/>
                </a:solidFill>
                <a:cs typeface="Times New Roman" panose="02020603050405020304" pitchFamily="18" charset="0"/>
              </a:rPr>
              <a:t> These time and frequency dispersion mechanisms lead to four possible distinct effects which depend on the nature of transmitted signal, the channel and the velocity.</a:t>
            </a:r>
            <a:endParaRPr lang="en-US" altLang="en-US" sz="2600"/>
          </a:p>
        </p:txBody>
      </p:sp>
    </p:spTree>
    <p:extLst>
      <p:ext uri="{BB962C8B-B14F-4D97-AF65-F5344CB8AC3E}">
        <p14:creationId xmlns:p14="http://schemas.microsoft.com/office/powerpoint/2010/main" val="17723629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2"/>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B5E303B-262A-4A7F-ADA8-C06185542D47}" type="slidenum">
              <a:rPr lang="en-US" altLang="en-US" sz="1400"/>
              <a:pPr/>
              <a:t>23</a:t>
            </a:fld>
            <a:endParaRPr lang="en-US" altLang="en-US" sz="1400"/>
          </a:p>
        </p:txBody>
      </p:sp>
      <p:pic>
        <p:nvPicPr>
          <p:cNvPr id="28675" name="Picture 4"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8676" name="Object 2"/>
          <p:cNvGraphicFramePr>
            <a:graphicFrameLocks noChangeAspect="1"/>
          </p:cNvGraphicFramePr>
          <p:nvPr/>
        </p:nvGraphicFramePr>
        <p:xfrm>
          <a:off x="1828800" y="228601"/>
          <a:ext cx="8610600" cy="3013075"/>
        </p:xfrm>
        <a:graphic>
          <a:graphicData uri="http://schemas.openxmlformats.org/presentationml/2006/ole">
            <mc:AlternateContent xmlns:mc="http://schemas.openxmlformats.org/markup-compatibility/2006">
              <mc:Choice xmlns:v="urn:schemas-microsoft-com:vml" Requires="v">
                <p:oleObj spid="_x0000_s2052" name="Bitmap Image" r:id="rId4" imgW="6039693" imgH="2114845" progId="Paint.Picture">
                  <p:embed/>
                </p:oleObj>
              </mc:Choice>
              <mc:Fallback>
                <p:oleObj name="Bitmap Image" r:id="rId4" imgW="6039693" imgH="2114845" progId="Paint.Picture">
                  <p:embed/>
                  <p:pic>
                    <p:nvPicPr>
                      <p:cNvPr id="28676" name="Object 2"/>
                      <p:cNvPicPr>
                        <a:picLocks noChangeAspect="1" noChangeArrowheads="1"/>
                      </p:cNvPicPr>
                      <p:nvPr/>
                    </p:nvPicPr>
                    <p:blipFill>
                      <a:blip r:embed="rId5">
                        <a:lum contrast="18000"/>
                        <a:grayscl/>
                        <a:biLevel thresh="50000"/>
                        <a:extLst>
                          <a:ext uri="{28A0092B-C50C-407E-A947-70E740481C1C}">
                            <a14:useLocalDpi xmlns:a14="http://schemas.microsoft.com/office/drawing/2010/main" val="0"/>
                          </a:ext>
                        </a:extLst>
                      </a:blip>
                      <a:srcRect/>
                      <a:stretch>
                        <a:fillRect/>
                      </a:stretch>
                    </p:blipFill>
                    <p:spPr bwMode="auto">
                      <a:xfrm>
                        <a:off x="1828800" y="228601"/>
                        <a:ext cx="86106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77" name="Object 3"/>
          <p:cNvGraphicFramePr>
            <a:graphicFrameLocks noChangeAspect="1"/>
          </p:cNvGraphicFramePr>
          <p:nvPr/>
        </p:nvGraphicFramePr>
        <p:xfrm>
          <a:off x="1828800" y="3235325"/>
          <a:ext cx="8305800" cy="3219450"/>
        </p:xfrm>
        <a:graphic>
          <a:graphicData uri="http://schemas.openxmlformats.org/presentationml/2006/ole">
            <mc:AlternateContent xmlns:mc="http://schemas.openxmlformats.org/markup-compatibility/2006">
              <mc:Choice xmlns:v="urn:schemas-microsoft-com:vml" Requires="v">
                <p:oleObj spid="_x0000_s2053" name="Bitmap Image" r:id="rId6" imgW="6733333" imgH="2486372" progId="Paint.Picture">
                  <p:embed/>
                </p:oleObj>
              </mc:Choice>
              <mc:Fallback>
                <p:oleObj name="Bitmap Image" r:id="rId6" imgW="6733333" imgH="2486372" progId="Paint.Picture">
                  <p:embed/>
                  <p:pic>
                    <p:nvPicPr>
                      <p:cNvPr id="28677" name="Object 3"/>
                      <p:cNvPicPr>
                        <a:picLocks noChangeAspect="1" noChangeArrowheads="1"/>
                      </p:cNvPicPr>
                      <p:nvPr/>
                    </p:nvPicPr>
                    <p:blipFill>
                      <a:blip r:embed="rId7">
                        <a:lum contrast="24000"/>
                        <a:grayscl/>
                        <a:biLevel thresh="50000"/>
                        <a:extLst>
                          <a:ext uri="{28A0092B-C50C-407E-A947-70E740481C1C}">
                            <a14:useLocalDpi xmlns:a14="http://schemas.microsoft.com/office/drawing/2010/main" val="0"/>
                          </a:ext>
                        </a:extLst>
                      </a:blip>
                      <a:srcRect/>
                      <a:stretch>
                        <a:fillRect/>
                      </a:stretch>
                    </p:blipFill>
                    <p:spPr bwMode="auto">
                      <a:xfrm>
                        <a:off x="1828800" y="3235325"/>
                        <a:ext cx="8305800" cy="321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584076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E6B7EDB-98F1-4A83-ADBA-F772F42157BA}" type="slidenum">
              <a:rPr lang="en-US" altLang="en-US" sz="1400"/>
              <a:pPr/>
              <a:t>24</a:t>
            </a:fld>
            <a:endParaRPr lang="en-US" altLang="en-US" sz="1400"/>
          </a:p>
        </p:txBody>
      </p:sp>
      <p:pic>
        <p:nvPicPr>
          <p:cNvPr id="29699" name="Picture 5" descr="magi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00" name="Rectangle 2"/>
          <p:cNvSpPr>
            <a:spLocks noGrp="1" noChangeArrowheads="1"/>
          </p:cNvSpPr>
          <p:nvPr>
            <p:ph type="title"/>
          </p:nvPr>
        </p:nvSpPr>
        <p:spPr>
          <a:xfrm>
            <a:off x="2514600" y="0"/>
            <a:ext cx="7543800" cy="508000"/>
          </a:xfrm>
        </p:spPr>
        <p:txBody>
          <a:bodyPr>
            <a:normAutofit fontScale="90000"/>
          </a:bodyPr>
          <a:lstStyle/>
          <a:p>
            <a:pPr eaLnBrk="1" hangingPunct="1"/>
            <a:r>
              <a:rPr lang="en-US" altLang="en-US" sz="3200" b="1"/>
              <a:t>Flat Fading:</a:t>
            </a:r>
          </a:p>
        </p:txBody>
      </p:sp>
      <p:sp>
        <p:nvSpPr>
          <p:cNvPr id="29701" name="Rectangle 3"/>
          <p:cNvSpPr>
            <a:spLocks noGrp="1" noChangeArrowheads="1"/>
          </p:cNvSpPr>
          <p:nvPr>
            <p:ph type="body" idx="1"/>
          </p:nvPr>
        </p:nvSpPr>
        <p:spPr>
          <a:xfrm>
            <a:off x="1524000" y="609600"/>
            <a:ext cx="9144000" cy="5486400"/>
          </a:xfrm>
        </p:spPr>
        <p:txBody>
          <a:bodyPr/>
          <a:lstStyle/>
          <a:p>
            <a:pPr eaLnBrk="1" hangingPunct="1"/>
            <a:r>
              <a:rPr lang="en-US" altLang="en-US" sz="2600">
                <a:cs typeface="Times New Roman" panose="02020603050405020304" pitchFamily="18" charset="0"/>
              </a:rPr>
              <a:t>A received signal is said to have underwent Flat Fading if “</a:t>
            </a:r>
            <a:r>
              <a:rPr lang="en-US" altLang="en-US" sz="2600" i="1">
                <a:cs typeface="Times New Roman" panose="02020603050405020304" pitchFamily="18" charset="0"/>
              </a:rPr>
              <a:t>The Mobile Radio Channel has a constant gain and linear phase response over a Bandwidth which is greater than the Bandwidth of the transmitted Signal</a:t>
            </a:r>
            <a:r>
              <a:rPr lang="en-US" altLang="en-US" sz="2600">
                <a:cs typeface="Times New Roman" panose="02020603050405020304" pitchFamily="18" charset="0"/>
              </a:rPr>
              <a:t>”</a:t>
            </a:r>
            <a:endParaRPr lang="en-US" altLang="en-US" sz="2600"/>
          </a:p>
        </p:txBody>
      </p:sp>
      <p:graphicFrame>
        <p:nvGraphicFramePr>
          <p:cNvPr id="29702" name="Object 4"/>
          <p:cNvGraphicFramePr>
            <a:graphicFrameLocks noChangeAspect="1"/>
          </p:cNvGraphicFramePr>
          <p:nvPr/>
        </p:nvGraphicFramePr>
        <p:xfrm>
          <a:off x="2438400" y="2344738"/>
          <a:ext cx="7543800" cy="3884612"/>
        </p:xfrm>
        <a:graphic>
          <a:graphicData uri="http://schemas.openxmlformats.org/presentationml/2006/ole">
            <mc:AlternateContent xmlns:mc="http://schemas.openxmlformats.org/markup-compatibility/2006">
              <mc:Choice xmlns:v="urn:schemas-microsoft-com:vml" Requires="v">
                <p:oleObj spid="_x0000_s3075" name="Bitmap Image" r:id="rId5" imgW="7066667" imgH="3790476" progId="Paint.Picture">
                  <p:embed/>
                </p:oleObj>
              </mc:Choice>
              <mc:Fallback>
                <p:oleObj name="Bitmap Image" r:id="rId5" imgW="7066667" imgH="3790476" progId="Paint.Picture">
                  <p:embed/>
                  <p:pic>
                    <p:nvPicPr>
                      <p:cNvPr id="29702" name="Object 4"/>
                      <p:cNvPicPr>
                        <a:picLocks noChangeAspect="1" noChangeArrowheads="1"/>
                      </p:cNvPicPr>
                      <p:nvPr/>
                    </p:nvPicPr>
                    <p:blipFill>
                      <a:blip r:embed="rId6">
                        <a:lum bright="-60000" contrast="100000"/>
                        <a:grayscl/>
                        <a:biLevel thresh="50000"/>
                        <a:extLst>
                          <a:ext uri="{28A0092B-C50C-407E-A947-70E740481C1C}">
                            <a14:useLocalDpi xmlns:a14="http://schemas.microsoft.com/office/drawing/2010/main" val="0"/>
                          </a:ext>
                        </a:extLst>
                      </a:blip>
                      <a:srcRect/>
                      <a:stretch>
                        <a:fillRect/>
                      </a:stretch>
                    </p:blipFill>
                    <p:spPr bwMode="auto">
                      <a:xfrm>
                        <a:off x="2438400" y="2344738"/>
                        <a:ext cx="7543800" cy="3884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5345248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A5E78F5-8569-48F1-8CCE-E930DB928ED4}" type="slidenum">
              <a:rPr lang="en-US" altLang="en-US" sz="1400"/>
              <a:pPr/>
              <a:t>25</a:t>
            </a:fld>
            <a:endParaRPr lang="en-US" altLang="en-US" sz="1400"/>
          </a:p>
        </p:txBody>
      </p:sp>
      <p:pic>
        <p:nvPicPr>
          <p:cNvPr id="31747" name="Picture 5"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8" name="Rectangle 2"/>
          <p:cNvSpPr>
            <a:spLocks noGrp="1" noChangeArrowheads="1"/>
          </p:cNvSpPr>
          <p:nvPr>
            <p:ph type="title"/>
          </p:nvPr>
        </p:nvSpPr>
        <p:spPr>
          <a:xfrm>
            <a:off x="2514600" y="0"/>
            <a:ext cx="7543800" cy="406400"/>
          </a:xfrm>
        </p:spPr>
        <p:txBody>
          <a:bodyPr>
            <a:normAutofit fontScale="90000"/>
          </a:bodyPr>
          <a:lstStyle/>
          <a:p>
            <a:pPr eaLnBrk="1" hangingPunct="1"/>
            <a:r>
              <a:rPr lang="en-US" altLang="en-US" sz="3200" b="1">
                <a:cs typeface="Times New Roman" panose="02020603050405020304" pitchFamily="18" charset="0"/>
              </a:rPr>
              <a:t>Frequency Selective Fading:</a:t>
            </a:r>
          </a:p>
        </p:txBody>
      </p:sp>
      <p:sp>
        <p:nvSpPr>
          <p:cNvPr id="31749" name="Rectangle 3"/>
          <p:cNvSpPr>
            <a:spLocks noGrp="1" noChangeArrowheads="1"/>
          </p:cNvSpPr>
          <p:nvPr>
            <p:ph type="body" idx="1"/>
          </p:nvPr>
        </p:nvSpPr>
        <p:spPr>
          <a:xfrm>
            <a:off x="1524000" y="533400"/>
            <a:ext cx="9144000" cy="2057400"/>
          </a:xfrm>
        </p:spPr>
        <p:txBody>
          <a:bodyPr/>
          <a:lstStyle/>
          <a:p>
            <a:pPr marL="0" indent="0">
              <a:buNone/>
            </a:pPr>
            <a:r>
              <a:rPr lang="en-US" altLang="en-US" sz="3000">
                <a:cs typeface="Times New Roman" panose="02020603050405020304" pitchFamily="18" charset="0"/>
              </a:rPr>
              <a:t>The channel creates </a:t>
            </a:r>
            <a:r>
              <a:rPr lang="en-US" altLang="en-US" sz="3000" i="1">
                <a:cs typeface="Times New Roman" panose="02020603050405020304" pitchFamily="18" charset="0"/>
              </a:rPr>
              <a:t>frequency selective fading</a:t>
            </a:r>
            <a:r>
              <a:rPr lang="en-US" altLang="en-US" sz="3000">
                <a:cs typeface="Times New Roman" panose="02020603050405020304" pitchFamily="18" charset="0"/>
              </a:rPr>
              <a:t> on the received signal when the channel </a:t>
            </a:r>
            <a:r>
              <a:rPr lang="en-US" altLang="en-US" sz="3000" i="1">
                <a:cs typeface="Times New Roman" panose="02020603050405020304" pitchFamily="18" charset="0"/>
              </a:rPr>
              <a:t>possesses a constant gain and linear phase response over a bandwidth, which is </a:t>
            </a:r>
            <a:r>
              <a:rPr lang="en-US" altLang="en-US" sz="3000" b="1" i="1">
                <a:cs typeface="Times New Roman" panose="02020603050405020304" pitchFamily="18" charset="0"/>
              </a:rPr>
              <a:t>smaller than the bandwidth of the transmitted signal</a:t>
            </a:r>
          </a:p>
          <a:p>
            <a:pPr marL="0" indent="0">
              <a:buNone/>
            </a:pPr>
            <a:endParaRPr lang="en-US" altLang="en-US"/>
          </a:p>
        </p:txBody>
      </p:sp>
      <p:pic>
        <p:nvPicPr>
          <p:cNvPr id="31750" name="Picture 4" descr="5"/>
          <p:cNvPicPr>
            <a:picLocks noChangeAspect="1" noChangeArrowheads="1"/>
          </p:cNvPicPr>
          <p:nvPr/>
        </p:nvPicPr>
        <p:blipFill>
          <a:blip r:embed="rId4">
            <a:lum bright="-66000" contrast="100000"/>
            <a:grayscl/>
            <a:biLevel thresh="50000"/>
            <a:extLst>
              <a:ext uri="{28A0092B-C50C-407E-A947-70E740481C1C}">
                <a14:useLocalDpi xmlns:a14="http://schemas.microsoft.com/office/drawing/2010/main" val="0"/>
              </a:ext>
            </a:extLst>
          </a:blip>
          <a:srcRect/>
          <a:stretch>
            <a:fillRect/>
          </a:stretch>
        </p:blipFill>
        <p:spPr bwMode="auto">
          <a:xfrm>
            <a:off x="1905000" y="2438400"/>
            <a:ext cx="7848600" cy="388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98857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01CAA06-14E7-4298-B7D7-C2182853EB0E}" type="slidenum">
              <a:rPr lang="en-US" altLang="en-US" sz="1400"/>
              <a:pPr/>
              <a:t>26</a:t>
            </a:fld>
            <a:endParaRPr lang="en-US" altLang="en-US" sz="1400"/>
          </a:p>
        </p:txBody>
      </p:sp>
      <p:pic>
        <p:nvPicPr>
          <p:cNvPr id="33795" name="Picture 11" descr="magi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6" name="Rectangle 2"/>
          <p:cNvSpPr>
            <a:spLocks noGrp="1" noChangeArrowheads="1"/>
          </p:cNvSpPr>
          <p:nvPr>
            <p:ph type="body" idx="1"/>
          </p:nvPr>
        </p:nvSpPr>
        <p:spPr>
          <a:xfrm>
            <a:off x="2376489" y="3668713"/>
            <a:ext cx="7907337" cy="595312"/>
          </a:xfrm>
        </p:spPr>
        <p:txBody>
          <a:bodyPr/>
          <a:lstStyle/>
          <a:p>
            <a:pPr eaLnBrk="1" hangingPunct="1">
              <a:lnSpc>
                <a:spcPct val="90000"/>
              </a:lnSpc>
              <a:buFont typeface="Wingdings" panose="05000000000000000000" pitchFamily="2" charset="2"/>
              <a:buNone/>
            </a:pPr>
            <a:r>
              <a:rPr lang="en-US" altLang="en-US" sz="3000">
                <a:cs typeface="Times New Roman" panose="02020603050405020304" pitchFamily="18" charset="0"/>
              </a:rPr>
              <a:t>Hence a signal will undergo fast fading if</a:t>
            </a:r>
            <a:r>
              <a:rPr lang="en-US" altLang="en-US" sz="3600">
                <a:cs typeface="Times New Roman" panose="02020603050405020304" pitchFamily="18" charset="0"/>
              </a:rPr>
              <a:t> </a:t>
            </a:r>
          </a:p>
        </p:txBody>
      </p:sp>
      <p:sp>
        <p:nvSpPr>
          <p:cNvPr id="33797" name="Rectangle 3"/>
          <p:cNvSpPr>
            <a:spLocks noChangeArrowheads="1"/>
          </p:cNvSpPr>
          <p:nvPr/>
        </p:nvSpPr>
        <p:spPr bwMode="auto">
          <a:xfrm>
            <a:off x="5867400" y="3314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aphicFrame>
        <p:nvGraphicFramePr>
          <p:cNvPr id="33798" name="Object 4"/>
          <p:cNvGraphicFramePr>
            <a:graphicFrameLocks noChangeAspect="1"/>
          </p:cNvGraphicFramePr>
          <p:nvPr/>
        </p:nvGraphicFramePr>
        <p:xfrm>
          <a:off x="4876801" y="4572001"/>
          <a:ext cx="760413" cy="403225"/>
        </p:xfrm>
        <a:graphic>
          <a:graphicData uri="http://schemas.openxmlformats.org/presentationml/2006/ole">
            <mc:AlternateContent xmlns:mc="http://schemas.openxmlformats.org/markup-compatibility/2006">
              <mc:Choice xmlns:v="urn:schemas-microsoft-com:vml" Requires="v">
                <p:oleObj spid="_x0000_s4100" name="Equation" r:id="rId5" imgW="431613" imgH="228501" progId="Equation.3">
                  <p:embed/>
                </p:oleObj>
              </mc:Choice>
              <mc:Fallback>
                <p:oleObj name="Equation" r:id="rId5" imgW="431613" imgH="228501" progId="Equation.3">
                  <p:embed/>
                  <p:pic>
                    <p:nvPicPr>
                      <p:cNvPr id="3379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1" y="4572001"/>
                        <a:ext cx="76041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9" name="Text Box 5"/>
          <p:cNvSpPr txBox="1">
            <a:spLocks noChangeArrowheads="1"/>
          </p:cNvSpPr>
          <p:nvPr/>
        </p:nvSpPr>
        <p:spPr bwMode="auto">
          <a:xfrm>
            <a:off x="6019800" y="4495800"/>
            <a:ext cx="838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600" i="1"/>
              <a:t>and</a:t>
            </a:r>
          </a:p>
        </p:txBody>
      </p:sp>
      <p:sp>
        <p:nvSpPr>
          <p:cNvPr id="33800" name="Rectangle 6"/>
          <p:cNvSpPr>
            <a:spLocks noChangeArrowheads="1"/>
          </p:cNvSpPr>
          <p:nvPr/>
        </p:nvSpPr>
        <p:spPr bwMode="auto">
          <a:xfrm>
            <a:off x="5829300" y="3314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aphicFrame>
        <p:nvGraphicFramePr>
          <p:cNvPr id="33801" name="Object 7"/>
          <p:cNvGraphicFramePr>
            <a:graphicFrameLocks noChangeAspect="1"/>
          </p:cNvGraphicFramePr>
          <p:nvPr/>
        </p:nvGraphicFramePr>
        <p:xfrm>
          <a:off x="7315201" y="4572000"/>
          <a:ext cx="931863" cy="400050"/>
        </p:xfrm>
        <a:graphic>
          <a:graphicData uri="http://schemas.openxmlformats.org/presentationml/2006/ole">
            <mc:AlternateContent xmlns:mc="http://schemas.openxmlformats.org/markup-compatibility/2006">
              <mc:Choice xmlns:v="urn:schemas-microsoft-com:vml" Requires="v">
                <p:oleObj spid="_x0000_s4101" r:id="rId7" imgW="533169" imgH="228501" progId="Equation.3">
                  <p:embed/>
                </p:oleObj>
              </mc:Choice>
              <mc:Fallback>
                <p:oleObj r:id="rId7" imgW="533169" imgH="228501" progId="Equation.3">
                  <p:embed/>
                  <p:pic>
                    <p:nvPicPr>
                      <p:cNvPr id="33801"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15201" y="4572000"/>
                        <a:ext cx="9318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2" name="Text Box 8"/>
          <p:cNvSpPr txBox="1">
            <a:spLocks noChangeArrowheads="1"/>
          </p:cNvSpPr>
          <p:nvPr/>
        </p:nvSpPr>
        <p:spPr bwMode="auto">
          <a:xfrm>
            <a:off x="2209800" y="5105401"/>
            <a:ext cx="8153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cs typeface="Times New Roman" panose="02020603050405020304" pitchFamily="18" charset="0"/>
              </a:rPr>
              <a:t>Note:</a:t>
            </a:r>
            <a:r>
              <a:rPr lang="en-GB" altLang="en-US" b="1">
                <a:cs typeface="Times New Roman" panose="02020603050405020304" pitchFamily="18" charset="0"/>
              </a:rPr>
              <a:t> Fast fading only deals with the rate of change of the channel due to motion. </a:t>
            </a:r>
            <a:r>
              <a:rPr lang="en-US" altLang="en-US" sz="2800">
                <a:cs typeface="Times New Roman" panose="02020603050405020304" pitchFamily="18" charset="0"/>
              </a:rPr>
              <a:t>fast fading occurs only for very low data rates</a:t>
            </a:r>
            <a:r>
              <a:rPr lang="en-GB" altLang="en-US" sz="2800"/>
              <a:t>.</a:t>
            </a:r>
            <a:endParaRPr lang="en-US" altLang="en-US" i="1">
              <a:cs typeface="Times New Roman" panose="02020603050405020304" pitchFamily="18" charset="0"/>
            </a:endParaRPr>
          </a:p>
        </p:txBody>
      </p:sp>
      <p:sp>
        <p:nvSpPr>
          <p:cNvPr id="33803" name="Rectangle 9"/>
          <p:cNvSpPr>
            <a:spLocks noGrp="1" noChangeArrowheads="1"/>
          </p:cNvSpPr>
          <p:nvPr>
            <p:ph type="title"/>
          </p:nvPr>
        </p:nvSpPr>
        <p:spPr/>
        <p:txBody>
          <a:bodyPr/>
          <a:lstStyle/>
          <a:p>
            <a:pPr eaLnBrk="1" hangingPunct="1"/>
            <a:r>
              <a:rPr lang="en-US" altLang="en-US" sz="3200" b="1"/>
              <a:t>Fast Fading:</a:t>
            </a:r>
            <a:endParaRPr lang="en-US" altLang="en-US" smtClean="0"/>
          </a:p>
        </p:txBody>
      </p:sp>
      <p:sp>
        <p:nvSpPr>
          <p:cNvPr id="33804" name="Text Box 10"/>
          <p:cNvSpPr txBox="1">
            <a:spLocks noChangeArrowheads="1"/>
          </p:cNvSpPr>
          <p:nvPr/>
        </p:nvSpPr>
        <p:spPr bwMode="auto">
          <a:xfrm>
            <a:off x="1905000" y="1295401"/>
            <a:ext cx="8305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sz="2800">
                <a:cs typeface="Times New Roman" panose="02020603050405020304" pitchFamily="18" charset="0"/>
              </a:rPr>
              <a:t>In Fast Fading channel</a:t>
            </a:r>
            <a:r>
              <a:rPr lang="en-GB" altLang="en-US" sz="2800">
                <a:cs typeface="Times New Roman" panose="02020603050405020304" pitchFamily="18" charset="0"/>
              </a:rPr>
              <a:t>,</a:t>
            </a:r>
            <a:r>
              <a:rPr lang="en-US" altLang="en-US" sz="2800">
                <a:cs typeface="Times New Roman" panose="02020603050405020304" pitchFamily="18" charset="0"/>
              </a:rPr>
              <a:t> the channel impulse response changes at a rate much faster than the transmitted baseband signal.</a:t>
            </a:r>
            <a:r>
              <a:rPr lang="en-GB" altLang="en-US" sz="2800">
                <a:cs typeface="Times New Roman" panose="02020603050405020304" pitchFamily="18" charset="0"/>
              </a:rPr>
              <a:t> </a:t>
            </a:r>
            <a:r>
              <a:rPr lang="en-US" altLang="en-US" sz="2800">
                <a:cs typeface="Times New Roman" panose="02020603050405020304" pitchFamily="18" charset="0"/>
              </a:rPr>
              <a:t>This causes frequency dispersion due to Doppler spreading, which leads to signal distortion</a:t>
            </a:r>
          </a:p>
        </p:txBody>
      </p:sp>
    </p:spTree>
    <p:extLst>
      <p:ext uri="{BB962C8B-B14F-4D97-AF65-F5344CB8AC3E}">
        <p14:creationId xmlns:p14="http://schemas.microsoft.com/office/powerpoint/2010/main" val="26563852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83F2A3A-8429-46F4-A3ED-14B41DBA8DF2}" type="slidenum">
              <a:rPr lang="en-US" altLang="en-US" sz="1400"/>
              <a:pPr/>
              <a:t>27</a:t>
            </a:fld>
            <a:endParaRPr lang="en-US" altLang="en-US" sz="1400"/>
          </a:p>
        </p:txBody>
      </p:sp>
      <p:pic>
        <p:nvPicPr>
          <p:cNvPr id="35843" name="Picture 11" descr="magi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4" name="Rectangle 2"/>
          <p:cNvSpPr>
            <a:spLocks noGrp="1" noChangeArrowheads="1"/>
          </p:cNvSpPr>
          <p:nvPr>
            <p:ph type="body" idx="1"/>
          </p:nvPr>
        </p:nvSpPr>
        <p:spPr>
          <a:xfrm>
            <a:off x="2454275" y="3370264"/>
            <a:ext cx="7905750" cy="522287"/>
          </a:xfrm>
        </p:spPr>
        <p:txBody>
          <a:bodyPr/>
          <a:lstStyle/>
          <a:p>
            <a:pPr eaLnBrk="1" hangingPunct="1">
              <a:lnSpc>
                <a:spcPct val="90000"/>
              </a:lnSpc>
              <a:buFont typeface="Wingdings" panose="05000000000000000000" pitchFamily="2" charset="2"/>
              <a:buNone/>
            </a:pPr>
            <a:r>
              <a:rPr lang="en-US" altLang="en-US" sz="2600">
                <a:cs typeface="Times New Roman" panose="02020603050405020304" pitchFamily="18" charset="0"/>
              </a:rPr>
              <a:t>Hence a signal will undergo slow fading if</a:t>
            </a:r>
            <a:r>
              <a:rPr lang="en-US" altLang="en-US" smtClean="0">
                <a:cs typeface="Times New Roman" panose="02020603050405020304" pitchFamily="18" charset="0"/>
              </a:rPr>
              <a:t> </a:t>
            </a:r>
          </a:p>
        </p:txBody>
      </p:sp>
      <p:sp>
        <p:nvSpPr>
          <p:cNvPr id="35845" name="Rectangle 3"/>
          <p:cNvSpPr>
            <a:spLocks noChangeArrowheads="1"/>
          </p:cNvSpPr>
          <p:nvPr/>
        </p:nvSpPr>
        <p:spPr bwMode="auto">
          <a:xfrm>
            <a:off x="4267200" y="32766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aphicFrame>
        <p:nvGraphicFramePr>
          <p:cNvPr id="35846" name="Object 4"/>
          <p:cNvGraphicFramePr>
            <a:graphicFrameLocks noChangeAspect="1"/>
          </p:cNvGraphicFramePr>
          <p:nvPr/>
        </p:nvGraphicFramePr>
        <p:xfrm>
          <a:off x="4191001" y="4038600"/>
          <a:ext cx="950913" cy="400050"/>
        </p:xfrm>
        <a:graphic>
          <a:graphicData uri="http://schemas.openxmlformats.org/presentationml/2006/ole">
            <mc:AlternateContent xmlns:mc="http://schemas.openxmlformats.org/markup-compatibility/2006">
              <mc:Choice xmlns:v="urn:schemas-microsoft-com:vml" Requires="v">
                <p:oleObj spid="_x0000_s5124" r:id="rId5" imgW="545863" imgH="228501" progId="Equation.3">
                  <p:embed/>
                </p:oleObj>
              </mc:Choice>
              <mc:Fallback>
                <p:oleObj r:id="rId5" imgW="545863" imgH="228501" progId="Equation.3">
                  <p:embed/>
                  <p:pic>
                    <p:nvPicPr>
                      <p:cNvPr id="3584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1" y="4038600"/>
                        <a:ext cx="950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7" name="Rectangle 5"/>
          <p:cNvSpPr>
            <a:spLocks noChangeArrowheads="1"/>
          </p:cNvSpPr>
          <p:nvPr/>
        </p:nvSpPr>
        <p:spPr bwMode="auto">
          <a:xfrm>
            <a:off x="5638800" y="3962400"/>
            <a:ext cx="14478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600">
                <a:cs typeface="Times New Roman" panose="02020603050405020304" pitchFamily="18" charset="0"/>
              </a:rPr>
              <a:t>and</a:t>
            </a:r>
            <a:r>
              <a:rPr lang="en-US" altLang="en-US" sz="2600"/>
              <a:t> </a:t>
            </a:r>
          </a:p>
        </p:txBody>
      </p:sp>
      <p:sp>
        <p:nvSpPr>
          <p:cNvPr id="35848" name="Rectangle 6"/>
          <p:cNvSpPr>
            <a:spLocks noChangeArrowheads="1"/>
          </p:cNvSpPr>
          <p:nvPr/>
        </p:nvSpPr>
        <p:spPr bwMode="auto">
          <a:xfrm>
            <a:off x="5786438" y="3314701"/>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aphicFrame>
        <p:nvGraphicFramePr>
          <p:cNvPr id="35849" name="Object 7"/>
          <p:cNvGraphicFramePr>
            <a:graphicFrameLocks noChangeAspect="1"/>
          </p:cNvGraphicFramePr>
          <p:nvPr/>
        </p:nvGraphicFramePr>
        <p:xfrm>
          <a:off x="7467601" y="4038601"/>
          <a:ext cx="1096963" cy="404813"/>
        </p:xfrm>
        <a:graphic>
          <a:graphicData uri="http://schemas.openxmlformats.org/presentationml/2006/ole">
            <mc:AlternateContent xmlns:mc="http://schemas.openxmlformats.org/markup-compatibility/2006">
              <mc:Choice xmlns:v="urn:schemas-microsoft-com:vml" Requires="v">
                <p:oleObj spid="_x0000_s5125" r:id="rId7" imgW="622030" imgH="228501" progId="Equation.3">
                  <p:embed/>
                </p:oleObj>
              </mc:Choice>
              <mc:Fallback>
                <p:oleObj r:id="rId7" imgW="622030" imgH="228501" progId="Equation.3">
                  <p:embed/>
                  <p:pic>
                    <p:nvPicPr>
                      <p:cNvPr id="35849"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67601" y="4038601"/>
                        <a:ext cx="109696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0" name="Rectangle 8"/>
          <p:cNvSpPr>
            <a:spLocks noChangeArrowheads="1"/>
          </p:cNvSpPr>
          <p:nvPr/>
        </p:nvSpPr>
        <p:spPr bwMode="auto">
          <a:xfrm>
            <a:off x="2438400" y="4572001"/>
            <a:ext cx="7620000" cy="167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600" b="1">
                <a:cs typeface="Times New Roman" panose="02020603050405020304" pitchFamily="18" charset="0"/>
              </a:rPr>
              <a:t>Note: </a:t>
            </a:r>
            <a:r>
              <a:rPr lang="en-US" altLang="en-US" sz="2600" i="1">
                <a:cs typeface="Times New Roman" panose="02020603050405020304" pitchFamily="18" charset="0"/>
              </a:rPr>
              <a:t>Fast and Slow Fading deal with the relationship between the time rate of change in the channel and the transmitted signal, and not with the propagation path loss models.</a:t>
            </a:r>
            <a:endParaRPr lang="en-US" altLang="en-US" sz="2600" i="1"/>
          </a:p>
        </p:txBody>
      </p:sp>
      <p:sp>
        <p:nvSpPr>
          <p:cNvPr id="35851" name="Rectangle 9"/>
          <p:cNvSpPr>
            <a:spLocks noGrp="1" noChangeArrowheads="1"/>
          </p:cNvSpPr>
          <p:nvPr>
            <p:ph type="title"/>
          </p:nvPr>
        </p:nvSpPr>
        <p:spPr/>
        <p:txBody>
          <a:bodyPr/>
          <a:lstStyle/>
          <a:p>
            <a:pPr eaLnBrk="1" hangingPunct="1"/>
            <a:r>
              <a:rPr lang="en-US" altLang="en-US" sz="3200" b="1">
                <a:cs typeface="Times New Roman" panose="02020603050405020304" pitchFamily="18" charset="0"/>
              </a:rPr>
              <a:t>Slow Fading</a:t>
            </a:r>
            <a:endParaRPr lang="en-US" altLang="en-US" smtClean="0"/>
          </a:p>
        </p:txBody>
      </p:sp>
      <p:sp>
        <p:nvSpPr>
          <p:cNvPr id="35852" name="Rectangle 10"/>
          <p:cNvSpPr>
            <a:spLocks noChangeArrowheads="1"/>
          </p:cNvSpPr>
          <p:nvPr/>
        </p:nvSpPr>
        <p:spPr bwMode="auto">
          <a:xfrm>
            <a:off x="1828800" y="1066800"/>
            <a:ext cx="86106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Clr>
                <a:srgbClr val="A50021"/>
              </a:buClr>
            </a:pPr>
            <a:r>
              <a:rPr lang="en-US" altLang="en-US" sz="2800">
                <a:cs typeface="Times New Roman" panose="02020603050405020304" pitchFamily="18" charset="0"/>
              </a:rPr>
              <a:t>In Slow Fading channel the channel impulse response changes at a rate much slower than the transmitted baseband signal</a:t>
            </a:r>
            <a:r>
              <a:rPr lang="en-GB" altLang="en-US" sz="2800">
                <a:cs typeface="Times New Roman" panose="02020603050405020304" pitchFamily="18" charset="0"/>
              </a:rPr>
              <a:t>.</a:t>
            </a:r>
            <a:endParaRPr lang="en-US" altLang="en-US" sz="2800">
              <a:cs typeface="Times New Roman" panose="02020603050405020304" pitchFamily="18" charset="0"/>
            </a:endParaRPr>
          </a:p>
        </p:txBody>
      </p:sp>
    </p:spTree>
    <p:extLst>
      <p:ext uri="{BB962C8B-B14F-4D97-AF65-F5344CB8AC3E}">
        <p14:creationId xmlns:p14="http://schemas.microsoft.com/office/powerpoint/2010/main" val="31334425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E0E45E6-8360-41E5-9D71-18CD9A005098}" type="slidenum">
              <a:rPr lang="en-US" altLang="en-US" sz="1400"/>
              <a:pPr/>
              <a:t>28</a:t>
            </a:fld>
            <a:endParaRPr lang="en-US" altLang="en-US" sz="1400"/>
          </a:p>
        </p:txBody>
      </p:sp>
      <p:pic>
        <p:nvPicPr>
          <p:cNvPr id="37891" name="Picture 9" descr="magi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2" name="Rectangle 2"/>
          <p:cNvSpPr>
            <a:spLocks noGrp="1" noChangeArrowheads="1"/>
          </p:cNvSpPr>
          <p:nvPr>
            <p:ph type="title"/>
          </p:nvPr>
        </p:nvSpPr>
        <p:spPr>
          <a:xfrm>
            <a:off x="2057400" y="228600"/>
            <a:ext cx="7772400" cy="508000"/>
          </a:xfrm>
        </p:spPr>
        <p:txBody>
          <a:bodyPr>
            <a:normAutofit fontScale="90000"/>
          </a:bodyPr>
          <a:lstStyle/>
          <a:p>
            <a:pPr eaLnBrk="1" hangingPunct="1"/>
            <a:r>
              <a:rPr lang="en-US" altLang="en-US" sz="3200" b="1">
                <a:cs typeface="Times New Roman" panose="02020603050405020304" pitchFamily="18" charset="0"/>
              </a:rPr>
              <a:t>Rayleigh Fading Distribution:</a:t>
            </a:r>
            <a:r>
              <a:rPr lang="en-US" altLang="en-US" smtClean="0">
                <a:cs typeface="Times New Roman" panose="02020603050405020304" pitchFamily="18" charset="0"/>
              </a:rPr>
              <a:t> </a:t>
            </a:r>
          </a:p>
        </p:txBody>
      </p:sp>
      <p:sp>
        <p:nvSpPr>
          <p:cNvPr id="37893" name="Rectangle 3"/>
          <p:cNvSpPr>
            <a:spLocks noGrp="1" noChangeArrowheads="1"/>
          </p:cNvSpPr>
          <p:nvPr>
            <p:ph type="body" idx="1"/>
          </p:nvPr>
        </p:nvSpPr>
        <p:spPr>
          <a:xfrm>
            <a:off x="1524000" y="838200"/>
            <a:ext cx="9144000" cy="1752600"/>
          </a:xfrm>
        </p:spPr>
        <p:txBody>
          <a:bodyPr>
            <a:normAutofit lnSpcReduction="10000"/>
          </a:bodyPr>
          <a:lstStyle/>
          <a:p>
            <a:pPr marL="0" indent="0">
              <a:buNone/>
            </a:pPr>
            <a:r>
              <a:rPr lang="en-US" altLang="en-US" sz="2400">
                <a:cs typeface="Times New Roman" panose="02020603050405020304" pitchFamily="18" charset="0"/>
              </a:rPr>
              <a:t>Rayleigh Fading Distribution</a:t>
            </a:r>
            <a:r>
              <a:rPr lang="en-US" altLang="en-US" sz="2400" b="1">
                <a:cs typeface="Times New Roman" panose="02020603050405020304" pitchFamily="18" charset="0"/>
              </a:rPr>
              <a:t> </a:t>
            </a:r>
            <a:r>
              <a:rPr lang="en-US" altLang="en-US" sz="2400">
                <a:cs typeface="Times New Roman" panose="02020603050405020304" pitchFamily="18" charset="0"/>
              </a:rPr>
              <a:t>in mobile radio channels is commonly used to describe the </a:t>
            </a:r>
            <a:r>
              <a:rPr lang="en-US" altLang="en-US" sz="2400" b="1" i="1">
                <a:cs typeface="Times New Roman" panose="02020603050405020304" pitchFamily="18" charset="0"/>
              </a:rPr>
              <a:t>statistical time varying</a:t>
            </a:r>
            <a:r>
              <a:rPr lang="en-US" altLang="en-US" sz="2400" b="1">
                <a:cs typeface="Times New Roman" panose="02020603050405020304" pitchFamily="18" charset="0"/>
              </a:rPr>
              <a:t> </a:t>
            </a:r>
            <a:r>
              <a:rPr lang="en-US" altLang="en-US" sz="2400" b="1" i="1">
                <a:cs typeface="Times New Roman" panose="02020603050405020304" pitchFamily="18" charset="0"/>
              </a:rPr>
              <a:t>nature</a:t>
            </a:r>
            <a:r>
              <a:rPr lang="en-US" altLang="en-US" sz="2400">
                <a:cs typeface="Times New Roman" panose="02020603050405020304" pitchFamily="18" charset="0"/>
              </a:rPr>
              <a:t> of the received envelope of a flat fading signal or the envelope of an individual multipath component.</a:t>
            </a:r>
            <a:endParaRPr lang="en-GB" altLang="en-US" sz="2400">
              <a:cs typeface="Times New Roman" panose="02020603050405020304" pitchFamily="18" charset="0"/>
            </a:endParaRPr>
          </a:p>
          <a:p>
            <a:pPr marL="0" indent="0">
              <a:buNone/>
            </a:pPr>
            <a:r>
              <a:rPr lang="en-GB" altLang="en-US" sz="2400"/>
              <a:t>The pdf of a Rayleigh distribution:</a:t>
            </a:r>
            <a:endParaRPr lang="en-US" altLang="en-US" sz="2400"/>
          </a:p>
        </p:txBody>
      </p:sp>
      <p:sp>
        <p:nvSpPr>
          <p:cNvPr id="37894" name="Rectangle 4"/>
          <p:cNvSpPr>
            <a:spLocks noChangeArrowheads="1"/>
          </p:cNvSpPr>
          <p:nvPr/>
        </p:nvSpPr>
        <p:spPr bwMode="auto">
          <a:xfrm>
            <a:off x="2667000" y="373380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cs typeface="Times New Roman" panose="02020603050405020304" pitchFamily="18" charset="0"/>
              </a:rPr>
              <a:t>0            </a:t>
            </a:r>
            <a:r>
              <a:rPr lang="en-GB" altLang="en-US">
                <a:cs typeface="Times New Roman" panose="02020603050405020304" pitchFamily="18" charset="0"/>
              </a:rPr>
              <a:t>    </a:t>
            </a:r>
            <a:r>
              <a:rPr lang="en-US" altLang="en-US">
                <a:cs typeface="Times New Roman" panose="02020603050405020304" pitchFamily="18" charset="0"/>
              </a:rPr>
              <a:t>     (r &lt; 0)</a:t>
            </a:r>
            <a:endParaRPr lang="en-US" altLang="en-US"/>
          </a:p>
        </p:txBody>
      </p:sp>
      <p:graphicFrame>
        <p:nvGraphicFramePr>
          <p:cNvPr id="37895" name="Object 5"/>
          <p:cNvGraphicFramePr>
            <a:graphicFrameLocks noChangeAspect="1"/>
          </p:cNvGraphicFramePr>
          <p:nvPr/>
        </p:nvGraphicFramePr>
        <p:xfrm>
          <a:off x="1752601" y="2743201"/>
          <a:ext cx="3997325" cy="917575"/>
        </p:xfrm>
        <a:graphic>
          <a:graphicData uri="http://schemas.openxmlformats.org/presentationml/2006/ole">
            <mc:AlternateContent xmlns:mc="http://schemas.openxmlformats.org/markup-compatibility/2006">
              <mc:Choice xmlns:v="urn:schemas-microsoft-com:vml" Requires="v">
                <p:oleObj spid="_x0000_s6148" name="Equation" r:id="rId5" imgW="2197100" imgH="508000" progId="Equation.3">
                  <p:embed/>
                </p:oleObj>
              </mc:Choice>
              <mc:Fallback>
                <p:oleObj name="Equation" r:id="rId5" imgW="2197100" imgH="508000" progId="Equation.3">
                  <p:embed/>
                  <p:pic>
                    <p:nvPicPr>
                      <p:cNvPr id="3789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1" y="2743201"/>
                        <a:ext cx="39973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789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3200" y="2057401"/>
            <a:ext cx="3513138" cy="290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7" name="Rectangle 7"/>
          <p:cNvSpPr>
            <a:spLocks noChangeArrowheads="1"/>
          </p:cNvSpPr>
          <p:nvPr/>
        </p:nvSpPr>
        <p:spPr bwMode="auto">
          <a:xfrm>
            <a:off x="1752600" y="4419601"/>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a:cs typeface="Times New Roman" panose="02020603050405020304" pitchFamily="18" charset="0"/>
              </a:rPr>
              <a:t>CDF</a:t>
            </a:r>
          </a:p>
        </p:txBody>
      </p:sp>
      <p:graphicFrame>
        <p:nvGraphicFramePr>
          <p:cNvPr id="37898" name="Object 8"/>
          <p:cNvGraphicFramePr>
            <a:graphicFrameLocks noChangeAspect="1"/>
          </p:cNvGraphicFramePr>
          <p:nvPr/>
        </p:nvGraphicFramePr>
        <p:xfrm>
          <a:off x="2057401" y="5029201"/>
          <a:ext cx="5027613" cy="842963"/>
        </p:xfrm>
        <a:graphic>
          <a:graphicData uri="http://schemas.openxmlformats.org/presentationml/2006/ole">
            <mc:AlternateContent xmlns:mc="http://schemas.openxmlformats.org/markup-compatibility/2006">
              <mc:Choice xmlns:v="urn:schemas-microsoft-com:vml" Requires="v">
                <p:oleObj spid="_x0000_s6149" name="Equation" r:id="rId8" imgW="2819400" imgH="482600" progId="Equation.3">
                  <p:embed/>
                </p:oleObj>
              </mc:Choice>
              <mc:Fallback>
                <p:oleObj name="Equation" r:id="rId8" imgW="2819400" imgH="482600" progId="Equation.3">
                  <p:embed/>
                  <p:pic>
                    <p:nvPicPr>
                      <p:cNvPr id="37898"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7401" y="5029201"/>
                        <a:ext cx="5027613"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945691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0116AF8-1190-4826-BBD5-E88FF69521AB}" type="slidenum">
              <a:rPr lang="en-US" altLang="en-US" sz="1400"/>
              <a:pPr/>
              <a:t>29</a:t>
            </a:fld>
            <a:endParaRPr lang="en-US" altLang="en-US" sz="1400"/>
          </a:p>
        </p:txBody>
      </p:sp>
      <p:pic>
        <p:nvPicPr>
          <p:cNvPr id="39939" name="Picture 14" descr="magi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40" name="Rectangle 2"/>
          <p:cNvSpPr>
            <a:spLocks noGrp="1" noChangeArrowheads="1"/>
          </p:cNvSpPr>
          <p:nvPr>
            <p:ph type="body" idx="1"/>
          </p:nvPr>
        </p:nvSpPr>
        <p:spPr>
          <a:xfrm>
            <a:off x="2298700" y="2179639"/>
            <a:ext cx="7907338" cy="669925"/>
          </a:xfrm>
        </p:spPr>
        <p:txBody>
          <a:bodyPr/>
          <a:lstStyle/>
          <a:p>
            <a:pPr eaLnBrk="1" hangingPunct="1">
              <a:buFont typeface="Wingdings" panose="05000000000000000000" pitchFamily="2" charset="2"/>
              <a:buNone/>
            </a:pPr>
            <a:r>
              <a:rPr lang="en-US" altLang="en-US" sz="2600">
                <a:cs typeface="Times New Roman" panose="02020603050405020304" pitchFamily="18" charset="0"/>
              </a:rPr>
              <a:t>The variance     of the Rayleigh distribution is given by</a:t>
            </a:r>
            <a:endParaRPr lang="en-US" altLang="en-US" sz="2600"/>
          </a:p>
        </p:txBody>
      </p:sp>
      <p:graphicFrame>
        <p:nvGraphicFramePr>
          <p:cNvPr id="39941" name="Object 3"/>
          <p:cNvGraphicFramePr>
            <a:graphicFrameLocks noChangeAspect="1"/>
          </p:cNvGraphicFramePr>
          <p:nvPr/>
        </p:nvGraphicFramePr>
        <p:xfrm>
          <a:off x="4114800" y="2362201"/>
          <a:ext cx="357188" cy="390525"/>
        </p:xfrm>
        <a:graphic>
          <a:graphicData uri="http://schemas.openxmlformats.org/presentationml/2006/ole">
            <mc:AlternateContent xmlns:mc="http://schemas.openxmlformats.org/markup-compatibility/2006">
              <mc:Choice xmlns:v="urn:schemas-microsoft-com:vml" Requires="v">
                <p:oleObj spid="_x0000_s7177" r:id="rId5" imgW="203024" imgH="215713" progId="Equation.3">
                  <p:embed/>
                </p:oleObj>
              </mc:Choice>
              <mc:Fallback>
                <p:oleObj r:id="rId5" imgW="203024" imgH="215713" progId="Equation.3">
                  <p:embed/>
                  <p:pic>
                    <p:nvPicPr>
                      <p:cNvPr id="3994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2362201"/>
                        <a:ext cx="35718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2" name="Rectangle 4"/>
          <p:cNvSpPr>
            <a:spLocks noChangeArrowheads="1"/>
          </p:cNvSpPr>
          <p:nvPr/>
        </p:nvSpPr>
        <p:spPr bwMode="auto">
          <a:xfrm>
            <a:off x="2514600" y="4724400"/>
            <a:ext cx="7772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Font typeface="Wingdings" panose="05000000000000000000" pitchFamily="2" charset="2"/>
              <a:buChar char="w"/>
              <a:tabLst>
                <a:tab pos="60325" algn="l"/>
              </a:tabLst>
              <a:defRPr sz="3200">
                <a:solidFill>
                  <a:schemeClr val="tx1"/>
                </a:solidFill>
                <a:latin typeface="Times New Roman" panose="02020603050405020304" pitchFamily="18" charset="0"/>
              </a:defRPr>
            </a:lvl1pPr>
            <a:lvl2pPr marL="1027113" indent="-455613">
              <a:spcBef>
                <a:spcPct val="20000"/>
              </a:spcBef>
              <a:buSzPct val="95000"/>
              <a:buChar char="–"/>
              <a:tabLst>
                <a:tab pos="60325" algn="l"/>
              </a:tabLst>
              <a:defRPr sz="2800">
                <a:solidFill>
                  <a:schemeClr val="tx1"/>
                </a:solidFill>
                <a:latin typeface="Times New Roman" panose="02020603050405020304" pitchFamily="18" charset="0"/>
              </a:defRPr>
            </a:lvl2pPr>
            <a:lvl3pPr marL="1370013" indent="-228600">
              <a:spcBef>
                <a:spcPct val="20000"/>
              </a:spcBef>
              <a:buChar char="•"/>
              <a:tabLst>
                <a:tab pos="60325" algn="l"/>
              </a:tabLst>
              <a:defRPr sz="2400">
                <a:solidFill>
                  <a:schemeClr val="tx1"/>
                </a:solidFill>
                <a:latin typeface="Times New Roman" panose="02020603050405020304" pitchFamily="18" charset="0"/>
              </a:defRPr>
            </a:lvl3pPr>
            <a:lvl4pPr marL="1712913" indent="-228600">
              <a:spcBef>
                <a:spcPct val="20000"/>
              </a:spcBef>
              <a:buChar char="–"/>
              <a:tabLst>
                <a:tab pos="60325" algn="l"/>
              </a:tabLst>
              <a:defRPr sz="2000">
                <a:solidFill>
                  <a:schemeClr val="tx1"/>
                </a:solidFill>
                <a:latin typeface="Times New Roman" panose="02020603050405020304" pitchFamily="18" charset="0"/>
              </a:defRPr>
            </a:lvl4pPr>
            <a:lvl5pPr marL="2057400" indent="-228600">
              <a:spcBef>
                <a:spcPct val="20000"/>
              </a:spcBef>
              <a:buChar char="•"/>
              <a:tabLst>
                <a:tab pos="60325"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60325"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60325"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60325"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60325" algn="l"/>
              </a:tabLst>
              <a:defRPr sz="2000">
                <a:solidFill>
                  <a:schemeClr val="tx1"/>
                </a:solidFill>
                <a:latin typeface="Times New Roman" panose="02020603050405020304" pitchFamily="18" charset="0"/>
              </a:defRPr>
            </a:lvl9pPr>
          </a:lstStyle>
          <a:p>
            <a:pPr eaLnBrk="1" hangingPunct="1">
              <a:buClr>
                <a:srgbClr val="A50021"/>
              </a:buClr>
              <a:buSzPct val="75000"/>
              <a:buFont typeface="Wingdings" panose="05000000000000000000" pitchFamily="2" charset="2"/>
              <a:buNone/>
            </a:pPr>
            <a:r>
              <a:rPr lang="en-US" altLang="en-US" sz="2600">
                <a:cs typeface="Times New Roman" panose="02020603050405020304" pitchFamily="18" charset="0"/>
              </a:rPr>
              <a:t>The rms value of the envelope is</a:t>
            </a:r>
          </a:p>
        </p:txBody>
      </p:sp>
      <p:graphicFrame>
        <p:nvGraphicFramePr>
          <p:cNvPr id="39943" name="Object 5"/>
          <p:cNvGraphicFramePr>
            <a:graphicFrameLocks noChangeAspect="1"/>
          </p:cNvGraphicFramePr>
          <p:nvPr/>
        </p:nvGraphicFramePr>
        <p:xfrm>
          <a:off x="7010401" y="4800601"/>
          <a:ext cx="612775" cy="390525"/>
        </p:xfrm>
        <a:graphic>
          <a:graphicData uri="http://schemas.openxmlformats.org/presentationml/2006/ole">
            <mc:AlternateContent xmlns:mc="http://schemas.openxmlformats.org/markup-compatibility/2006">
              <mc:Choice xmlns:v="urn:schemas-microsoft-com:vml" Requires="v">
                <p:oleObj spid="_x0000_s7178" r:id="rId7" imgW="342603" imgH="215713" progId="Equation.3">
                  <p:embed/>
                </p:oleObj>
              </mc:Choice>
              <mc:Fallback>
                <p:oleObj r:id="rId7" imgW="342603" imgH="215713" progId="Equation.3">
                  <p:embed/>
                  <p:pic>
                    <p:nvPicPr>
                      <p:cNvPr id="39943"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0401" y="4800601"/>
                        <a:ext cx="6127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4" name="Rectangle 6"/>
          <p:cNvSpPr>
            <a:spLocks noChangeArrowheads="1"/>
          </p:cNvSpPr>
          <p:nvPr/>
        </p:nvSpPr>
        <p:spPr bwMode="auto">
          <a:xfrm>
            <a:off x="1524000" y="2986089"/>
            <a:ext cx="9144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200">
                <a:cs typeface="Times New Roman" panose="02020603050405020304" pitchFamily="18" charset="0"/>
              </a:rPr>
              <a:t> </a:t>
            </a:r>
          </a:p>
          <a:p>
            <a:r>
              <a:rPr lang="en-US" altLang="en-US" sz="1200">
                <a:cs typeface="Times New Roman" panose="02020603050405020304" pitchFamily="18" charset="0"/>
              </a:rPr>
              <a:t>	</a:t>
            </a:r>
          </a:p>
          <a:p>
            <a:endParaRPr lang="en-US" altLang="en-US"/>
          </a:p>
        </p:txBody>
      </p:sp>
      <p:graphicFrame>
        <p:nvGraphicFramePr>
          <p:cNvPr id="39945" name="Object 7"/>
          <p:cNvGraphicFramePr>
            <a:graphicFrameLocks noChangeAspect="1"/>
          </p:cNvGraphicFramePr>
          <p:nvPr/>
        </p:nvGraphicFramePr>
        <p:xfrm>
          <a:off x="3505201" y="2895601"/>
          <a:ext cx="4360863" cy="842963"/>
        </p:xfrm>
        <a:graphic>
          <a:graphicData uri="http://schemas.openxmlformats.org/presentationml/2006/ole">
            <mc:AlternateContent xmlns:mc="http://schemas.openxmlformats.org/markup-compatibility/2006">
              <mc:Choice xmlns:v="urn:schemas-microsoft-com:vml" Requires="v">
                <p:oleObj spid="_x0000_s7179" r:id="rId9" imgW="2514600" imgH="482600" progId="Equation.3">
                  <p:embed/>
                </p:oleObj>
              </mc:Choice>
              <mc:Fallback>
                <p:oleObj r:id="rId9" imgW="2514600" imgH="482600" progId="Equation.3">
                  <p:embed/>
                  <p:pic>
                    <p:nvPicPr>
                      <p:cNvPr id="39945"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5201" y="2895601"/>
                        <a:ext cx="4360863"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46" name="Object 8"/>
          <p:cNvGraphicFramePr>
            <a:graphicFrameLocks noChangeAspect="1"/>
          </p:cNvGraphicFramePr>
          <p:nvPr/>
        </p:nvGraphicFramePr>
        <p:xfrm>
          <a:off x="3962400" y="3886200"/>
          <a:ext cx="2724150" cy="755650"/>
        </p:xfrm>
        <a:graphic>
          <a:graphicData uri="http://schemas.openxmlformats.org/presentationml/2006/ole">
            <mc:AlternateContent xmlns:mc="http://schemas.openxmlformats.org/markup-compatibility/2006">
              <mc:Choice xmlns:v="urn:schemas-microsoft-com:vml" Requires="v">
                <p:oleObj spid="_x0000_s7180" name="Equation" r:id="rId11" imgW="1548728" imgH="431613" progId="Equation.3">
                  <p:embed/>
                </p:oleObj>
              </mc:Choice>
              <mc:Fallback>
                <p:oleObj name="Equation" r:id="rId11" imgW="1548728" imgH="431613" progId="Equation.3">
                  <p:embed/>
                  <p:pic>
                    <p:nvPicPr>
                      <p:cNvPr id="39946"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62400" y="3886200"/>
                        <a:ext cx="27241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7" name="Rectangle 9"/>
          <p:cNvSpPr>
            <a:spLocks noChangeArrowheads="1"/>
          </p:cNvSpPr>
          <p:nvPr/>
        </p:nvSpPr>
        <p:spPr bwMode="auto">
          <a:xfrm>
            <a:off x="1524000" y="228600"/>
            <a:ext cx="8458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600">
                <a:cs typeface="Times New Roman" panose="02020603050405020304" pitchFamily="18" charset="0"/>
              </a:rPr>
              <a:t>The </a:t>
            </a:r>
            <a:r>
              <a:rPr lang="en-GB" altLang="en-US" sz="2600">
                <a:cs typeface="Times New Roman" panose="02020603050405020304" pitchFamily="18" charset="0"/>
              </a:rPr>
              <a:t>mean </a:t>
            </a:r>
            <a:r>
              <a:rPr lang="en-US" altLang="en-US" sz="2600">
                <a:cs typeface="Times New Roman" panose="02020603050405020304" pitchFamily="18" charset="0"/>
              </a:rPr>
              <a:t>value        of the Rayleigh distribution is given by </a:t>
            </a:r>
            <a:endParaRPr lang="en-US" altLang="en-US" sz="2600"/>
          </a:p>
        </p:txBody>
      </p:sp>
      <p:graphicFrame>
        <p:nvGraphicFramePr>
          <p:cNvPr id="39948" name="Object 10"/>
          <p:cNvGraphicFramePr>
            <a:graphicFrameLocks noChangeAspect="1"/>
          </p:cNvGraphicFramePr>
          <p:nvPr/>
        </p:nvGraphicFramePr>
        <p:xfrm>
          <a:off x="3733801" y="304801"/>
          <a:ext cx="511175" cy="396875"/>
        </p:xfrm>
        <a:graphic>
          <a:graphicData uri="http://schemas.openxmlformats.org/presentationml/2006/ole">
            <mc:AlternateContent xmlns:mc="http://schemas.openxmlformats.org/markup-compatibility/2006">
              <mc:Choice xmlns:v="urn:schemas-microsoft-com:vml" Requires="v">
                <p:oleObj spid="_x0000_s7181" r:id="rId13" imgW="291973" imgH="228501" progId="Equation.3">
                  <p:embed/>
                </p:oleObj>
              </mc:Choice>
              <mc:Fallback>
                <p:oleObj r:id="rId13" imgW="291973" imgH="228501" progId="Equation.3">
                  <p:embed/>
                  <p:pic>
                    <p:nvPicPr>
                      <p:cNvPr id="39948"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33801" y="304801"/>
                        <a:ext cx="511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49" name="Object 11"/>
          <p:cNvGraphicFramePr>
            <a:graphicFrameLocks noChangeAspect="1"/>
          </p:cNvGraphicFramePr>
          <p:nvPr/>
        </p:nvGraphicFramePr>
        <p:xfrm>
          <a:off x="3048001" y="990600"/>
          <a:ext cx="4589463" cy="844550"/>
        </p:xfrm>
        <a:graphic>
          <a:graphicData uri="http://schemas.openxmlformats.org/presentationml/2006/ole">
            <mc:AlternateContent xmlns:mc="http://schemas.openxmlformats.org/markup-compatibility/2006">
              <mc:Choice xmlns:v="urn:schemas-microsoft-com:vml" Requires="v">
                <p:oleObj spid="_x0000_s7182" r:id="rId15" imgW="2641600" imgH="482600" progId="Equation.3">
                  <p:embed/>
                </p:oleObj>
              </mc:Choice>
              <mc:Fallback>
                <p:oleObj r:id="rId15" imgW="2641600" imgH="482600" progId="Equation.3">
                  <p:embed/>
                  <p:pic>
                    <p:nvPicPr>
                      <p:cNvPr id="39949"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48001" y="990600"/>
                        <a:ext cx="4589463"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50" name="Rectangle 12"/>
          <p:cNvSpPr>
            <a:spLocks noChangeArrowheads="1"/>
          </p:cNvSpPr>
          <p:nvPr/>
        </p:nvSpPr>
        <p:spPr bwMode="auto">
          <a:xfrm>
            <a:off x="2057400" y="5410200"/>
            <a:ext cx="77724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600">
                <a:cs typeface="Times New Roman" panose="02020603050405020304" pitchFamily="18" charset="0"/>
              </a:rPr>
              <a:t>The median value of r is found by solving</a:t>
            </a:r>
            <a:r>
              <a:rPr lang="en-US" altLang="en-US" sz="1100"/>
              <a:t> </a:t>
            </a:r>
            <a:endParaRPr lang="en-US" altLang="en-US"/>
          </a:p>
        </p:txBody>
      </p:sp>
      <p:graphicFrame>
        <p:nvGraphicFramePr>
          <p:cNvPr id="39951" name="Object 13"/>
          <p:cNvGraphicFramePr>
            <a:graphicFrameLocks noChangeAspect="1"/>
          </p:cNvGraphicFramePr>
          <p:nvPr/>
        </p:nvGraphicFramePr>
        <p:xfrm>
          <a:off x="4038601" y="6019800"/>
          <a:ext cx="1719263" cy="400050"/>
        </p:xfrm>
        <a:graphic>
          <a:graphicData uri="http://schemas.openxmlformats.org/presentationml/2006/ole">
            <mc:AlternateContent xmlns:mc="http://schemas.openxmlformats.org/markup-compatibility/2006">
              <mc:Choice xmlns:v="urn:schemas-microsoft-com:vml" Requires="v">
                <p:oleObj spid="_x0000_s7183" r:id="rId17" imgW="977900" imgH="228600" progId="Equation.3">
                  <p:embed/>
                </p:oleObj>
              </mc:Choice>
              <mc:Fallback>
                <p:oleObj r:id="rId17" imgW="977900" imgH="228600" progId="Equation.3">
                  <p:embed/>
                  <p:pic>
                    <p:nvPicPr>
                      <p:cNvPr id="39951"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38601" y="6019800"/>
                        <a:ext cx="1719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381768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A2587B6-484A-4367-8852-D9BF63BC1818}" type="slidenum">
              <a:rPr lang="en-US" altLang="en-US" sz="1400"/>
              <a:pPr/>
              <a:t>30</a:t>
            </a:fld>
            <a:endParaRPr lang="en-US" altLang="en-US" sz="1400"/>
          </a:p>
        </p:txBody>
      </p:sp>
      <p:pic>
        <p:nvPicPr>
          <p:cNvPr id="41987" name="Picture 8" descr="magi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988" name="Rectangle 2"/>
          <p:cNvSpPr>
            <a:spLocks noGrp="1" noChangeArrowheads="1"/>
          </p:cNvSpPr>
          <p:nvPr>
            <p:ph type="title"/>
          </p:nvPr>
        </p:nvSpPr>
        <p:spPr>
          <a:xfrm>
            <a:off x="2514600" y="0"/>
            <a:ext cx="7543800" cy="457200"/>
          </a:xfrm>
        </p:spPr>
        <p:txBody>
          <a:bodyPr>
            <a:normAutofit fontScale="90000"/>
          </a:bodyPr>
          <a:lstStyle/>
          <a:p>
            <a:pPr eaLnBrk="1" hangingPunct="1"/>
            <a:r>
              <a:rPr lang="en-US" altLang="en-US" sz="3200" b="1">
                <a:cs typeface="Times New Roman" panose="02020603050405020304" pitchFamily="18" charset="0"/>
              </a:rPr>
              <a:t>Ricean Fading Distribution:</a:t>
            </a:r>
            <a:r>
              <a:rPr lang="en-US" altLang="en-US" smtClean="0"/>
              <a:t> </a:t>
            </a:r>
          </a:p>
        </p:txBody>
      </p:sp>
      <p:sp>
        <p:nvSpPr>
          <p:cNvPr id="41989" name="Rectangle 3"/>
          <p:cNvSpPr>
            <a:spLocks noGrp="1" noChangeArrowheads="1"/>
          </p:cNvSpPr>
          <p:nvPr>
            <p:ph type="body" idx="1"/>
          </p:nvPr>
        </p:nvSpPr>
        <p:spPr>
          <a:xfrm>
            <a:off x="1524000" y="609600"/>
            <a:ext cx="9144000" cy="5715000"/>
          </a:xfrm>
        </p:spPr>
        <p:txBody>
          <a:bodyPr/>
          <a:lstStyle/>
          <a:p>
            <a:pPr eaLnBrk="1" hangingPunct="1"/>
            <a:r>
              <a:rPr lang="en-US" altLang="en-US" sz="3000">
                <a:cs typeface="Times New Roman" panose="02020603050405020304" pitchFamily="18" charset="0"/>
              </a:rPr>
              <a:t>When there is a </a:t>
            </a:r>
            <a:r>
              <a:rPr lang="en-US" altLang="en-US" sz="3000" b="1" i="1">
                <a:cs typeface="Times New Roman" panose="02020603050405020304" pitchFamily="18" charset="0"/>
              </a:rPr>
              <a:t>dominant</a:t>
            </a:r>
            <a:r>
              <a:rPr lang="en-US" altLang="en-US" sz="3000" i="1">
                <a:cs typeface="Times New Roman" panose="02020603050405020304" pitchFamily="18" charset="0"/>
              </a:rPr>
              <a:t> </a:t>
            </a:r>
            <a:r>
              <a:rPr lang="en-US" altLang="en-US" sz="3000" b="1" i="1">
                <a:cs typeface="Times New Roman" panose="02020603050405020304" pitchFamily="18" charset="0"/>
              </a:rPr>
              <a:t>stationary</a:t>
            </a:r>
            <a:r>
              <a:rPr lang="en-US" altLang="en-US" sz="3000">
                <a:cs typeface="Times New Roman" panose="02020603050405020304" pitchFamily="18" charset="0"/>
              </a:rPr>
              <a:t> (nonfading) signal component present, such as a line-of-sight propagation path, the small scale-scale fading envelope distribution is Ricean.</a:t>
            </a:r>
          </a:p>
        </p:txBody>
      </p:sp>
      <p:sp>
        <p:nvSpPr>
          <p:cNvPr id="41990" name="Rectangle 4"/>
          <p:cNvSpPr>
            <a:spLocks noChangeArrowheads="1"/>
          </p:cNvSpPr>
          <p:nvPr/>
        </p:nvSpPr>
        <p:spPr bwMode="auto">
          <a:xfrm>
            <a:off x="1524000" y="2895600"/>
            <a:ext cx="9144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Clr>
                <a:srgbClr val="A50021"/>
              </a:buClr>
              <a:buFontTx/>
              <a:buChar char="•"/>
            </a:pPr>
            <a:r>
              <a:rPr lang="en-US" altLang="en-US" sz="2600"/>
              <a:t>The Ricean distribution is often defined in terms of a parameter K called the Ricean Factor</a:t>
            </a:r>
            <a:r>
              <a:rPr lang="en-US" altLang="en-US" sz="3000"/>
              <a:t> </a:t>
            </a:r>
          </a:p>
        </p:txBody>
      </p:sp>
      <p:graphicFrame>
        <p:nvGraphicFramePr>
          <p:cNvPr id="41991" name="Object 5"/>
          <p:cNvGraphicFramePr>
            <a:graphicFrameLocks noChangeAspect="1"/>
          </p:cNvGraphicFramePr>
          <p:nvPr/>
        </p:nvGraphicFramePr>
        <p:xfrm>
          <a:off x="2057401" y="4038600"/>
          <a:ext cx="1050925" cy="711200"/>
        </p:xfrm>
        <a:graphic>
          <a:graphicData uri="http://schemas.openxmlformats.org/presentationml/2006/ole">
            <mc:AlternateContent xmlns:mc="http://schemas.openxmlformats.org/markup-compatibility/2006">
              <mc:Choice xmlns:v="urn:schemas-microsoft-com:vml" Requires="v">
                <p:oleObj spid="_x0000_s8196" r:id="rId5" imgW="622030" imgH="418918" progId="Equation.3">
                  <p:embed/>
                </p:oleObj>
              </mc:Choice>
              <mc:Fallback>
                <p:oleObj r:id="rId5" imgW="622030" imgH="418918" progId="Equation.3">
                  <p:embed/>
                  <p:pic>
                    <p:nvPicPr>
                      <p:cNvPr id="4199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1" y="4038600"/>
                        <a:ext cx="105092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1992" name="Picture 6" descr="1"/>
          <p:cNvPicPr>
            <a:picLocks noChangeAspect="1" noChangeArrowheads="1"/>
          </p:cNvPicPr>
          <p:nvPr/>
        </p:nvPicPr>
        <p:blipFill>
          <a:blip r:embed="rId7">
            <a:lum bright="-24000" contrast="48000"/>
            <a:grayscl/>
            <a:biLevel thresh="50000"/>
            <a:extLst>
              <a:ext uri="{28A0092B-C50C-407E-A947-70E740481C1C}">
                <a14:useLocalDpi xmlns:a14="http://schemas.microsoft.com/office/drawing/2010/main" val="0"/>
              </a:ext>
            </a:extLst>
          </a:blip>
          <a:srcRect/>
          <a:stretch>
            <a:fillRect/>
          </a:stretch>
        </p:blipFill>
        <p:spPr bwMode="auto">
          <a:xfrm>
            <a:off x="4953000" y="3429001"/>
            <a:ext cx="5029200"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993" name="Object 7"/>
          <p:cNvGraphicFramePr>
            <a:graphicFrameLocks noChangeAspect="1"/>
          </p:cNvGraphicFramePr>
          <p:nvPr/>
        </p:nvGraphicFramePr>
        <p:xfrm>
          <a:off x="2057401" y="5105400"/>
          <a:ext cx="2339975" cy="673100"/>
        </p:xfrm>
        <a:graphic>
          <a:graphicData uri="http://schemas.openxmlformats.org/presentationml/2006/ole">
            <mc:AlternateContent xmlns:mc="http://schemas.openxmlformats.org/markup-compatibility/2006">
              <mc:Choice xmlns:v="urn:schemas-microsoft-com:vml" Requires="v">
                <p:oleObj spid="_x0000_s8197" r:id="rId8" imgW="1460500" imgH="419100" progId="Equation.3">
                  <p:embed/>
                </p:oleObj>
              </mc:Choice>
              <mc:Fallback>
                <p:oleObj r:id="rId8" imgW="1460500" imgH="419100" progId="Equation.3">
                  <p:embed/>
                  <p:pic>
                    <p:nvPicPr>
                      <p:cNvPr id="41993"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7401" y="5105400"/>
                        <a:ext cx="233997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666561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8EF63AB-5DA8-4DC7-AAC1-51A7E07EB83D}" type="slidenum">
              <a:rPr lang="en-US" altLang="en-US" sz="1400"/>
              <a:pPr/>
              <a:t>31</a:t>
            </a:fld>
            <a:endParaRPr lang="en-US" altLang="en-US" sz="1400"/>
          </a:p>
        </p:txBody>
      </p:sp>
      <p:pic>
        <p:nvPicPr>
          <p:cNvPr id="44035" name="Picture 4"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0" y="0"/>
            <a:ext cx="127000" cy="12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36" name="Rectangle 2"/>
          <p:cNvSpPr>
            <a:spLocks noGrp="1" noChangeArrowheads="1"/>
          </p:cNvSpPr>
          <p:nvPr>
            <p:ph type="title"/>
          </p:nvPr>
        </p:nvSpPr>
        <p:spPr>
          <a:xfrm>
            <a:off x="1981200" y="0"/>
            <a:ext cx="7772400" cy="1371600"/>
          </a:xfrm>
        </p:spPr>
        <p:txBody>
          <a:bodyPr/>
          <a:lstStyle/>
          <a:p>
            <a:pPr eaLnBrk="1" hangingPunct="1"/>
            <a:r>
              <a:rPr lang="en-US" altLang="en-US" smtClean="0"/>
              <a:t>Statistical Models for Multipath Fading Channels</a:t>
            </a:r>
          </a:p>
        </p:txBody>
      </p:sp>
      <p:sp>
        <p:nvSpPr>
          <p:cNvPr id="44037" name="Rectangle 3"/>
          <p:cNvSpPr>
            <a:spLocks noGrp="1" noChangeArrowheads="1"/>
          </p:cNvSpPr>
          <p:nvPr>
            <p:ph type="body" idx="1"/>
          </p:nvPr>
        </p:nvSpPr>
        <p:spPr>
          <a:xfrm>
            <a:off x="2209800" y="1676400"/>
            <a:ext cx="8153400" cy="4495800"/>
          </a:xfrm>
          <a:noFill/>
        </p:spPr>
        <p:txBody>
          <a:bodyPr/>
          <a:lstStyle/>
          <a:p>
            <a:pPr marL="711200" indent="-711200"/>
            <a:r>
              <a:rPr lang="en-US" altLang="en-US" smtClean="0"/>
              <a:t>Clarke’s Model for Flat Fading</a:t>
            </a:r>
          </a:p>
          <a:p>
            <a:pPr marL="711200" indent="-711200"/>
            <a:r>
              <a:rPr lang="en-US" altLang="en-US" smtClean="0"/>
              <a:t>Two-ray Rayleigh Fading Model</a:t>
            </a:r>
          </a:p>
          <a:p>
            <a:pPr marL="711200" indent="-711200"/>
            <a:r>
              <a:rPr lang="en-US" altLang="en-US" smtClean="0"/>
              <a:t>Saleh and Valenzuela Indoor Statistical Model</a:t>
            </a:r>
          </a:p>
          <a:p>
            <a:pPr marL="711200" indent="-711200"/>
            <a:r>
              <a:rPr lang="en-US" altLang="en-US" smtClean="0"/>
              <a:t>SIRCIM and SMRCIM Indoor and Outdoor Statistical Models</a:t>
            </a:r>
          </a:p>
          <a:p>
            <a:pPr marL="711200" indent="-711200"/>
            <a:r>
              <a:rPr lang="en-US" altLang="en-US" smtClean="0"/>
              <a:t>Level Crossing and Fading Statistics</a:t>
            </a:r>
          </a:p>
          <a:p>
            <a:pPr marL="711200" indent="-711200"/>
            <a:endParaRPr lang="en-US" altLang="en-US" smtClean="0">
              <a:solidFill>
                <a:schemeClr val="accent2"/>
              </a:solidFill>
            </a:endParaRPr>
          </a:p>
        </p:txBody>
      </p:sp>
    </p:spTree>
    <p:extLst>
      <p:ext uri="{BB962C8B-B14F-4D97-AF65-F5344CB8AC3E}">
        <p14:creationId xmlns:p14="http://schemas.microsoft.com/office/powerpoint/2010/main" val="15912501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775</TotalTime>
  <Words>3276</Words>
  <Application>Microsoft Office PowerPoint</Application>
  <PresentationFormat>Widescreen</PresentationFormat>
  <Paragraphs>257</Paragraphs>
  <Slides>31</Slides>
  <Notes>13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31</vt:i4>
      </vt:variant>
    </vt:vector>
  </HeadingPairs>
  <TitlesOfParts>
    <vt:vector size="41" baseType="lpstr">
      <vt:lpstr>Arial</vt:lpstr>
      <vt:lpstr>Calibri</vt:lpstr>
      <vt:lpstr>Calibri Light</vt:lpstr>
      <vt:lpstr>Courier New</vt:lpstr>
      <vt:lpstr>Symbol</vt:lpstr>
      <vt:lpstr>Times New Roman</vt:lpstr>
      <vt:lpstr>Wingdings</vt:lpstr>
      <vt:lpstr>Office Theme</vt:lpstr>
      <vt:lpstr>Microsoft Equation 3.0</vt:lpstr>
      <vt:lpstr>Bitmap Image</vt:lpstr>
      <vt:lpstr>Mobile Radio Propagation: Small scale Fading and multipath</vt:lpstr>
      <vt:lpstr>Small scale fading</vt:lpstr>
      <vt:lpstr>Small scale fading…</vt:lpstr>
      <vt:lpstr>Small scale fading…</vt:lpstr>
      <vt:lpstr>Factors influencing small scale fading</vt:lpstr>
      <vt:lpstr>Factors influencing small scale fading…</vt:lpstr>
      <vt:lpstr>Doppler Shift</vt:lpstr>
      <vt:lpstr>Doppler Shift</vt:lpstr>
      <vt:lpstr>Doppler Shift</vt:lpstr>
      <vt:lpstr>Impulse response model of a multipath channel</vt:lpstr>
      <vt:lpstr>Impulse response model of a multipath channel</vt:lpstr>
      <vt:lpstr>Small scale multipath measurements</vt:lpstr>
      <vt:lpstr>Direct RF pulse System</vt:lpstr>
      <vt:lpstr>Spread spectrum Sliding correlator measurements</vt:lpstr>
      <vt:lpstr>Parameters of Mobile Multipath Channels</vt:lpstr>
      <vt:lpstr>Time dispersion parameters</vt:lpstr>
      <vt:lpstr>PowerPoint Presentation</vt:lpstr>
      <vt:lpstr>Coherence Bandwidth</vt:lpstr>
      <vt:lpstr>Doppler Spread &amp; Coherence Time</vt:lpstr>
      <vt:lpstr>PowerPoint Presentation</vt:lpstr>
      <vt:lpstr>PowerPoint Presentation</vt:lpstr>
      <vt:lpstr>Small Scale Fading:</vt:lpstr>
      <vt:lpstr>PowerPoint Presentation</vt:lpstr>
      <vt:lpstr>Flat Fading:</vt:lpstr>
      <vt:lpstr>Frequency Selective Fading:</vt:lpstr>
      <vt:lpstr>Fast Fading:</vt:lpstr>
      <vt:lpstr>Slow Fading</vt:lpstr>
      <vt:lpstr>Rayleigh Fading Distribution: </vt:lpstr>
      <vt:lpstr>PowerPoint Presentation</vt:lpstr>
      <vt:lpstr>Ricean Fading Distribution: </vt:lpstr>
      <vt:lpstr>Statistical Models for Multipath Fading Channels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Radio Propagation: Small scale Fading and multipath</dc:title>
  <dc:creator>USER</dc:creator>
  <cp:lastModifiedBy>USER</cp:lastModifiedBy>
  <cp:revision>20</cp:revision>
  <dcterms:created xsi:type="dcterms:W3CDTF">2025-01-01T19:58:36Z</dcterms:created>
  <dcterms:modified xsi:type="dcterms:W3CDTF">2025-01-12T20:34:47Z</dcterms:modified>
</cp:coreProperties>
</file>