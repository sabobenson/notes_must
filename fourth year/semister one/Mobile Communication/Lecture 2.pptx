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</p:sldIdLst>
  <p:sldSz cx="7556500" cy="10693400"/>
  <p:notesSz cx="7556500" cy="10693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5" d="100"/>
          <a:sy n="45" d="100"/>
        </p:scale>
        <p:origin x="2328" y="4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26" Type="http://schemas.openxmlformats.org/officeDocument/2006/relationships/slide" Target="slides/slide25.xml" /><Relationship Id="rId39" Type="http://schemas.openxmlformats.org/officeDocument/2006/relationships/slide" Target="slides/slide38.xml" /><Relationship Id="rId3" Type="http://schemas.openxmlformats.org/officeDocument/2006/relationships/slide" Target="slides/slide2.xml" /><Relationship Id="rId21" Type="http://schemas.openxmlformats.org/officeDocument/2006/relationships/slide" Target="slides/slide20.xml" /><Relationship Id="rId34" Type="http://schemas.openxmlformats.org/officeDocument/2006/relationships/slide" Target="slides/slide33.xml" /><Relationship Id="rId42" Type="http://schemas.openxmlformats.org/officeDocument/2006/relationships/slide" Target="slides/slide41.xml" /><Relationship Id="rId47" Type="http://schemas.openxmlformats.org/officeDocument/2006/relationships/slide" Target="slides/slide46.xml" /><Relationship Id="rId50" Type="http://schemas.openxmlformats.org/officeDocument/2006/relationships/slide" Target="slides/slide49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5" Type="http://schemas.openxmlformats.org/officeDocument/2006/relationships/slide" Target="slides/slide24.xml" /><Relationship Id="rId33" Type="http://schemas.openxmlformats.org/officeDocument/2006/relationships/slide" Target="slides/slide32.xml" /><Relationship Id="rId38" Type="http://schemas.openxmlformats.org/officeDocument/2006/relationships/slide" Target="slides/slide37.xml" /><Relationship Id="rId46" Type="http://schemas.openxmlformats.org/officeDocument/2006/relationships/slide" Target="slides/slide45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slide" Target="slides/slide19.xml" /><Relationship Id="rId29" Type="http://schemas.openxmlformats.org/officeDocument/2006/relationships/slide" Target="slides/slide28.xml" /><Relationship Id="rId41" Type="http://schemas.openxmlformats.org/officeDocument/2006/relationships/slide" Target="slides/slide40.xml" /><Relationship Id="rId54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slide" Target="slides/slide23.xml" /><Relationship Id="rId32" Type="http://schemas.openxmlformats.org/officeDocument/2006/relationships/slide" Target="slides/slide31.xml" /><Relationship Id="rId37" Type="http://schemas.openxmlformats.org/officeDocument/2006/relationships/slide" Target="slides/slide36.xml" /><Relationship Id="rId40" Type="http://schemas.openxmlformats.org/officeDocument/2006/relationships/slide" Target="slides/slide39.xml" /><Relationship Id="rId45" Type="http://schemas.openxmlformats.org/officeDocument/2006/relationships/slide" Target="slides/slide44.xml" /><Relationship Id="rId53" Type="http://schemas.openxmlformats.org/officeDocument/2006/relationships/theme" Target="theme/theme1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slide" Target="slides/slide22.xml" /><Relationship Id="rId28" Type="http://schemas.openxmlformats.org/officeDocument/2006/relationships/slide" Target="slides/slide27.xml" /><Relationship Id="rId36" Type="http://schemas.openxmlformats.org/officeDocument/2006/relationships/slide" Target="slides/slide35.xml" /><Relationship Id="rId49" Type="http://schemas.openxmlformats.org/officeDocument/2006/relationships/slide" Target="slides/slide48.xml" /><Relationship Id="rId10" Type="http://schemas.openxmlformats.org/officeDocument/2006/relationships/slide" Target="slides/slide9.xml" /><Relationship Id="rId19" Type="http://schemas.openxmlformats.org/officeDocument/2006/relationships/slide" Target="slides/slide18.xml" /><Relationship Id="rId31" Type="http://schemas.openxmlformats.org/officeDocument/2006/relationships/slide" Target="slides/slide30.xml" /><Relationship Id="rId44" Type="http://schemas.openxmlformats.org/officeDocument/2006/relationships/slide" Target="slides/slide43.xml" /><Relationship Id="rId52" Type="http://schemas.openxmlformats.org/officeDocument/2006/relationships/viewProps" Target="viewProps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slide" Target="slides/slide21.xml" /><Relationship Id="rId27" Type="http://schemas.openxmlformats.org/officeDocument/2006/relationships/slide" Target="slides/slide26.xml" /><Relationship Id="rId30" Type="http://schemas.openxmlformats.org/officeDocument/2006/relationships/slide" Target="slides/slide29.xml" /><Relationship Id="rId35" Type="http://schemas.openxmlformats.org/officeDocument/2006/relationships/slide" Target="slides/slide34.xml" /><Relationship Id="rId43" Type="http://schemas.openxmlformats.org/officeDocument/2006/relationships/slide" Target="slides/slide42.xml" /><Relationship Id="rId48" Type="http://schemas.openxmlformats.org/officeDocument/2006/relationships/slide" Target="slides/slide47.xml" /><Relationship Id="rId8" Type="http://schemas.openxmlformats.org/officeDocument/2006/relationships/slide" Target="slides/slide7.xml" /><Relationship Id="rId51" Type="http://schemas.openxmlformats.org/officeDocument/2006/relationships/presProps" Target="pres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44563" y="1750055"/>
            <a:ext cx="5667375" cy="3722887"/>
          </a:xfrm>
        </p:spPr>
        <p:txBody>
          <a:bodyPr anchor="b"/>
          <a:lstStyle>
            <a:lvl1pPr algn="ctr">
              <a:defRPr sz="371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4563" y="5616511"/>
            <a:ext cx="5667375" cy="2581762"/>
          </a:xfrm>
        </p:spPr>
        <p:txBody>
          <a:bodyPr/>
          <a:lstStyle>
            <a:lvl1pPr marL="0" indent="0" algn="ctr">
              <a:buNone/>
              <a:defRPr sz="1488"/>
            </a:lvl1pPr>
            <a:lvl2pPr marL="283373" indent="0" algn="ctr">
              <a:buNone/>
              <a:defRPr sz="1240"/>
            </a:lvl2pPr>
            <a:lvl3pPr marL="566745" indent="0" algn="ctr">
              <a:buNone/>
              <a:defRPr sz="1116"/>
            </a:lvl3pPr>
            <a:lvl4pPr marL="850118" indent="0" algn="ctr">
              <a:buNone/>
              <a:defRPr sz="992"/>
            </a:lvl4pPr>
            <a:lvl5pPr marL="1133490" indent="0" algn="ctr">
              <a:buNone/>
              <a:defRPr sz="992"/>
            </a:lvl5pPr>
            <a:lvl6pPr marL="1416863" indent="0" algn="ctr">
              <a:buNone/>
              <a:defRPr sz="992"/>
            </a:lvl6pPr>
            <a:lvl7pPr marL="1700235" indent="0" algn="ctr">
              <a:buNone/>
              <a:defRPr sz="992"/>
            </a:lvl7pPr>
            <a:lvl8pPr marL="1983608" indent="0" algn="ctr">
              <a:buNone/>
              <a:defRPr sz="992"/>
            </a:lvl8pPr>
            <a:lvl9pPr marL="2266980" indent="0" algn="ctr">
              <a:buNone/>
              <a:defRPr sz="992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9532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84729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574" y="2665925"/>
            <a:ext cx="6517481" cy="4448157"/>
          </a:xfrm>
        </p:spPr>
        <p:txBody>
          <a:bodyPr anchor="b"/>
          <a:lstStyle>
            <a:lvl1pPr>
              <a:defRPr sz="371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5574" y="7156164"/>
            <a:ext cx="6517481" cy="2339180"/>
          </a:xfrm>
        </p:spPr>
        <p:txBody>
          <a:bodyPr/>
          <a:lstStyle>
            <a:lvl1pPr marL="0" indent="0">
              <a:buNone/>
              <a:defRPr sz="1488">
                <a:solidFill>
                  <a:schemeClr val="tx1">
                    <a:tint val="75000"/>
                  </a:schemeClr>
                </a:solidFill>
              </a:defRPr>
            </a:lvl1pPr>
            <a:lvl2pPr marL="283373" indent="0">
              <a:buNone/>
              <a:defRPr sz="1240">
                <a:solidFill>
                  <a:schemeClr val="tx1">
                    <a:tint val="75000"/>
                  </a:schemeClr>
                </a:solidFill>
              </a:defRPr>
            </a:lvl2pPr>
            <a:lvl3pPr marL="566745" indent="0">
              <a:buNone/>
              <a:defRPr sz="1116">
                <a:solidFill>
                  <a:schemeClr val="tx1">
                    <a:tint val="75000"/>
                  </a:schemeClr>
                </a:solidFill>
              </a:defRPr>
            </a:lvl3pPr>
            <a:lvl4pPr marL="850118" indent="0">
              <a:buNone/>
              <a:defRPr sz="992">
                <a:solidFill>
                  <a:schemeClr val="tx1">
                    <a:tint val="75000"/>
                  </a:schemeClr>
                </a:solidFill>
              </a:defRPr>
            </a:lvl4pPr>
            <a:lvl5pPr marL="1133490" indent="0">
              <a:buNone/>
              <a:defRPr sz="992">
                <a:solidFill>
                  <a:schemeClr val="tx1">
                    <a:tint val="75000"/>
                  </a:schemeClr>
                </a:solidFill>
              </a:defRPr>
            </a:lvl5pPr>
            <a:lvl6pPr marL="1416863" indent="0">
              <a:buNone/>
              <a:defRPr sz="992">
                <a:solidFill>
                  <a:schemeClr val="tx1">
                    <a:tint val="75000"/>
                  </a:schemeClr>
                </a:solidFill>
              </a:defRPr>
            </a:lvl6pPr>
            <a:lvl7pPr marL="1700235" indent="0">
              <a:buNone/>
              <a:defRPr sz="992">
                <a:solidFill>
                  <a:schemeClr val="tx1">
                    <a:tint val="75000"/>
                  </a:schemeClr>
                </a:solidFill>
              </a:defRPr>
            </a:lvl7pPr>
            <a:lvl8pPr marL="1983608" indent="0">
              <a:buNone/>
              <a:defRPr sz="992">
                <a:solidFill>
                  <a:schemeClr val="tx1">
                    <a:tint val="75000"/>
                  </a:schemeClr>
                </a:solidFill>
              </a:defRPr>
            </a:lvl8pPr>
            <a:lvl9pPr marL="2266980" indent="0">
              <a:buNone/>
              <a:defRPr sz="99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2123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9509" y="2846623"/>
            <a:ext cx="3211513" cy="678486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25478" y="2846623"/>
            <a:ext cx="3211513" cy="678486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09086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494" y="569326"/>
            <a:ext cx="6517481" cy="2066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0494" y="2621369"/>
            <a:ext cx="3196753" cy="1284692"/>
          </a:xfrm>
        </p:spPr>
        <p:txBody>
          <a:bodyPr anchor="b"/>
          <a:lstStyle>
            <a:lvl1pPr marL="0" indent="0">
              <a:buNone/>
              <a:defRPr sz="1488" b="1"/>
            </a:lvl1pPr>
            <a:lvl2pPr marL="283373" indent="0">
              <a:buNone/>
              <a:defRPr sz="1240" b="1"/>
            </a:lvl2pPr>
            <a:lvl3pPr marL="566745" indent="0">
              <a:buNone/>
              <a:defRPr sz="1116" b="1"/>
            </a:lvl3pPr>
            <a:lvl4pPr marL="850118" indent="0">
              <a:buNone/>
              <a:defRPr sz="992" b="1"/>
            </a:lvl4pPr>
            <a:lvl5pPr marL="1133490" indent="0">
              <a:buNone/>
              <a:defRPr sz="992" b="1"/>
            </a:lvl5pPr>
            <a:lvl6pPr marL="1416863" indent="0">
              <a:buNone/>
              <a:defRPr sz="992" b="1"/>
            </a:lvl6pPr>
            <a:lvl7pPr marL="1700235" indent="0">
              <a:buNone/>
              <a:defRPr sz="992" b="1"/>
            </a:lvl7pPr>
            <a:lvl8pPr marL="1983608" indent="0">
              <a:buNone/>
              <a:defRPr sz="992" b="1"/>
            </a:lvl8pPr>
            <a:lvl9pPr marL="2266980" indent="0">
              <a:buNone/>
              <a:defRPr sz="992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494" y="3906061"/>
            <a:ext cx="3196753" cy="574522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25478" y="2621369"/>
            <a:ext cx="3212497" cy="1284692"/>
          </a:xfrm>
        </p:spPr>
        <p:txBody>
          <a:bodyPr anchor="b"/>
          <a:lstStyle>
            <a:lvl1pPr marL="0" indent="0">
              <a:buNone/>
              <a:defRPr sz="1488" b="1"/>
            </a:lvl1pPr>
            <a:lvl2pPr marL="283373" indent="0">
              <a:buNone/>
              <a:defRPr sz="1240" b="1"/>
            </a:lvl2pPr>
            <a:lvl3pPr marL="566745" indent="0">
              <a:buNone/>
              <a:defRPr sz="1116" b="1"/>
            </a:lvl3pPr>
            <a:lvl4pPr marL="850118" indent="0">
              <a:buNone/>
              <a:defRPr sz="992" b="1"/>
            </a:lvl4pPr>
            <a:lvl5pPr marL="1133490" indent="0">
              <a:buNone/>
              <a:defRPr sz="992" b="1"/>
            </a:lvl5pPr>
            <a:lvl6pPr marL="1416863" indent="0">
              <a:buNone/>
              <a:defRPr sz="992" b="1"/>
            </a:lvl6pPr>
            <a:lvl7pPr marL="1700235" indent="0">
              <a:buNone/>
              <a:defRPr sz="992" b="1"/>
            </a:lvl7pPr>
            <a:lvl8pPr marL="1983608" indent="0">
              <a:buNone/>
              <a:defRPr sz="992" b="1"/>
            </a:lvl8pPr>
            <a:lvl9pPr marL="2266980" indent="0">
              <a:buNone/>
              <a:defRPr sz="992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25478" y="3906061"/>
            <a:ext cx="3212497" cy="574522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85494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69487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82328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494" y="712893"/>
            <a:ext cx="2437168" cy="2495127"/>
          </a:xfrm>
        </p:spPr>
        <p:txBody>
          <a:bodyPr anchor="b"/>
          <a:lstStyle>
            <a:lvl1pPr>
              <a:defRPr sz="1983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2497" y="1539652"/>
            <a:ext cx="3825478" cy="7599245"/>
          </a:xfrm>
        </p:spPr>
        <p:txBody>
          <a:bodyPr/>
          <a:lstStyle>
            <a:lvl1pPr>
              <a:defRPr sz="1983"/>
            </a:lvl1pPr>
            <a:lvl2pPr>
              <a:defRPr sz="1735"/>
            </a:lvl2pPr>
            <a:lvl3pPr>
              <a:defRPr sz="1488"/>
            </a:lvl3pPr>
            <a:lvl4pPr>
              <a:defRPr sz="1240"/>
            </a:lvl4pPr>
            <a:lvl5pPr>
              <a:defRPr sz="1240"/>
            </a:lvl5pPr>
            <a:lvl6pPr>
              <a:defRPr sz="1240"/>
            </a:lvl6pPr>
            <a:lvl7pPr>
              <a:defRPr sz="1240"/>
            </a:lvl7pPr>
            <a:lvl8pPr>
              <a:defRPr sz="1240"/>
            </a:lvl8pPr>
            <a:lvl9pPr>
              <a:defRPr sz="124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494" y="3208020"/>
            <a:ext cx="2437168" cy="5943254"/>
          </a:xfrm>
        </p:spPr>
        <p:txBody>
          <a:bodyPr/>
          <a:lstStyle>
            <a:lvl1pPr marL="0" indent="0">
              <a:buNone/>
              <a:defRPr sz="992"/>
            </a:lvl1pPr>
            <a:lvl2pPr marL="283373" indent="0">
              <a:buNone/>
              <a:defRPr sz="868"/>
            </a:lvl2pPr>
            <a:lvl3pPr marL="566745" indent="0">
              <a:buNone/>
              <a:defRPr sz="744"/>
            </a:lvl3pPr>
            <a:lvl4pPr marL="850118" indent="0">
              <a:buNone/>
              <a:defRPr sz="620"/>
            </a:lvl4pPr>
            <a:lvl5pPr marL="1133490" indent="0">
              <a:buNone/>
              <a:defRPr sz="620"/>
            </a:lvl5pPr>
            <a:lvl6pPr marL="1416863" indent="0">
              <a:buNone/>
              <a:defRPr sz="620"/>
            </a:lvl6pPr>
            <a:lvl7pPr marL="1700235" indent="0">
              <a:buNone/>
              <a:defRPr sz="620"/>
            </a:lvl7pPr>
            <a:lvl8pPr marL="1983608" indent="0">
              <a:buNone/>
              <a:defRPr sz="620"/>
            </a:lvl8pPr>
            <a:lvl9pPr marL="2266980" indent="0">
              <a:buNone/>
              <a:defRPr sz="62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84058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494" y="712893"/>
            <a:ext cx="2437168" cy="2495127"/>
          </a:xfrm>
        </p:spPr>
        <p:txBody>
          <a:bodyPr anchor="b"/>
          <a:lstStyle>
            <a:lvl1pPr>
              <a:defRPr sz="1983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212497" y="1539652"/>
            <a:ext cx="3825478" cy="7599245"/>
          </a:xfrm>
        </p:spPr>
        <p:txBody>
          <a:bodyPr/>
          <a:lstStyle>
            <a:lvl1pPr marL="0" indent="0">
              <a:buNone/>
              <a:defRPr sz="1983"/>
            </a:lvl1pPr>
            <a:lvl2pPr marL="283373" indent="0">
              <a:buNone/>
              <a:defRPr sz="1735"/>
            </a:lvl2pPr>
            <a:lvl3pPr marL="566745" indent="0">
              <a:buNone/>
              <a:defRPr sz="1488"/>
            </a:lvl3pPr>
            <a:lvl4pPr marL="850118" indent="0">
              <a:buNone/>
              <a:defRPr sz="1240"/>
            </a:lvl4pPr>
            <a:lvl5pPr marL="1133490" indent="0">
              <a:buNone/>
              <a:defRPr sz="1240"/>
            </a:lvl5pPr>
            <a:lvl6pPr marL="1416863" indent="0">
              <a:buNone/>
              <a:defRPr sz="1240"/>
            </a:lvl6pPr>
            <a:lvl7pPr marL="1700235" indent="0">
              <a:buNone/>
              <a:defRPr sz="1240"/>
            </a:lvl7pPr>
            <a:lvl8pPr marL="1983608" indent="0">
              <a:buNone/>
              <a:defRPr sz="1240"/>
            </a:lvl8pPr>
            <a:lvl9pPr marL="2266980" indent="0">
              <a:buNone/>
              <a:defRPr sz="124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494" y="3208020"/>
            <a:ext cx="2437168" cy="5943254"/>
          </a:xfrm>
        </p:spPr>
        <p:txBody>
          <a:bodyPr/>
          <a:lstStyle>
            <a:lvl1pPr marL="0" indent="0">
              <a:buNone/>
              <a:defRPr sz="992"/>
            </a:lvl1pPr>
            <a:lvl2pPr marL="283373" indent="0">
              <a:buNone/>
              <a:defRPr sz="868"/>
            </a:lvl2pPr>
            <a:lvl3pPr marL="566745" indent="0">
              <a:buNone/>
              <a:defRPr sz="744"/>
            </a:lvl3pPr>
            <a:lvl4pPr marL="850118" indent="0">
              <a:buNone/>
              <a:defRPr sz="620"/>
            </a:lvl4pPr>
            <a:lvl5pPr marL="1133490" indent="0">
              <a:buNone/>
              <a:defRPr sz="620"/>
            </a:lvl5pPr>
            <a:lvl6pPr marL="1416863" indent="0">
              <a:buNone/>
              <a:defRPr sz="620"/>
            </a:lvl6pPr>
            <a:lvl7pPr marL="1700235" indent="0">
              <a:buNone/>
              <a:defRPr sz="620"/>
            </a:lvl7pPr>
            <a:lvl8pPr marL="1983608" indent="0">
              <a:buNone/>
              <a:defRPr sz="620"/>
            </a:lvl8pPr>
            <a:lvl9pPr marL="2266980" indent="0">
              <a:buNone/>
              <a:defRPr sz="62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67313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48540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07620" y="569325"/>
            <a:ext cx="1629370" cy="90621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9509" y="569325"/>
            <a:ext cx="4793655" cy="9062162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55587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9510" y="569326"/>
            <a:ext cx="6517481" cy="20668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9510" y="2846623"/>
            <a:ext cx="6517481" cy="67848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9509" y="9911198"/>
            <a:ext cx="1700213" cy="5693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4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12/1/2024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3091" y="9911198"/>
            <a:ext cx="2550319" cy="5693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4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36778" y="9911198"/>
            <a:ext cx="1700213" cy="5693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4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3369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txStyles>
    <p:titleStyle>
      <a:lvl1pPr algn="l" defTabSz="566745" rtl="0" eaLnBrk="1" latinLnBrk="0" hangingPunct="1">
        <a:lnSpc>
          <a:spcPct val="90000"/>
        </a:lnSpc>
        <a:spcBef>
          <a:spcPct val="0"/>
        </a:spcBef>
        <a:buNone/>
        <a:defRPr sz="272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41686" indent="-141686" algn="l" defTabSz="566745" rtl="0" eaLnBrk="1" latinLnBrk="0" hangingPunct="1">
        <a:lnSpc>
          <a:spcPct val="90000"/>
        </a:lnSpc>
        <a:spcBef>
          <a:spcPts val="620"/>
        </a:spcBef>
        <a:buFont typeface="Arial" panose="020B0604020202020204" pitchFamily="34" charset="0"/>
        <a:buChar char="•"/>
        <a:defRPr sz="1735" kern="1200">
          <a:solidFill>
            <a:schemeClr val="tx1"/>
          </a:solidFill>
          <a:latin typeface="+mn-lt"/>
          <a:ea typeface="+mn-ea"/>
          <a:cs typeface="+mn-cs"/>
        </a:defRPr>
      </a:lvl1pPr>
      <a:lvl2pPr marL="425059" indent="-141686" algn="l" defTabSz="566745" rtl="0" eaLnBrk="1" latinLnBrk="0" hangingPunct="1">
        <a:lnSpc>
          <a:spcPct val="90000"/>
        </a:lnSpc>
        <a:spcBef>
          <a:spcPts val="310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08431" indent="-141686" algn="l" defTabSz="566745" rtl="0" eaLnBrk="1" latinLnBrk="0" hangingPunct="1">
        <a:lnSpc>
          <a:spcPct val="90000"/>
        </a:lnSpc>
        <a:spcBef>
          <a:spcPts val="310"/>
        </a:spcBef>
        <a:buFont typeface="Arial" panose="020B0604020202020204" pitchFamily="34" charset="0"/>
        <a:buChar char="•"/>
        <a:defRPr sz="1240" kern="1200">
          <a:solidFill>
            <a:schemeClr val="tx1"/>
          </a:solidFill>
          <a:latin typeface="+mn-lt"/>
          <a:ea typeface="+mn-ea"/>
          <a:cs typeface="+mn-cs"/>
        </a:defRPr>
      </a:lvl3pPr>
      <a:lvl4pPr marL="991804" indent="-141686" algn="l" defTabSz="566745" rtl="0" eaLnBrk="1" latinLnBrk="0" hangingPunct="1">
        <a:lnSpc>
          <a:spcPct val="90000"/>
        </a:lnSpc>
        <a:spcBef>
          <a:spcPts val="310"/>
        </a:spcBef>
        <a:buFont typeface="Arial" panose="020B0604020202020204" pitchFamily="34" charset="0"/>
        <a:buChar char="•"/>
        <a:defRPr sz="1116" kern="1200">
          <a:solidFill>
            <a:schemeClr val="tx1"/>
          </a:solidFill>
          <a:latin typeface="+mn-lt"/>
          <a:ea typeface="+mn-ea"/>
          <a:cs typeface="+mn-cs"/>
        </a:defRPr>
      </a:lvl4pPr>
      <a:lvl5pPr marL="1275177" indent="-141686" algn="l" defTabSz="566745" rtl="0" eaLnBrk="1" latinLnBrk="0" hangingPunct="1">
        <a:lnSpc>
          <a:spcPct val="90000"/>
        </a:lnSpc>
        <a:spcBef>
          <a:spcPts val="310"/>
        </a:spcBef>
        <a:buFont typeface="Arial" panose="020B0604020202020204" pitchFamily="34" charset="0"/>
        <a:buChar char="•"/>
        <a:defRPr sz="1116" kern="1200">
          <a:solidFill>
            <a:schemeClr val="tx1"/>
          </a:solidFill>
          <a:latin typeface="+mn-lt"/>
          <a:ea typeface="+mn-ea"/>
          <a:cs typeface="+mn-cs"/>
        </a:defRPr>
      </a:lvl5pPr>
      <a:lvl6pPr marL="1558549" indent="-141686" algn="l" defTabSz="566745" rtl="0" eaLnBrk="1" latinLnBrk="0" hangingPunct="1">
        <a:lnSpc>
          <a:spcPct val="90000"/>
        </a:lnSpc>
        <a:spcBef>
          <a:spcPts val="310"/>
        </a:spcBef>
        <a:buFont typeface="Arial" panose="020B0604020202020204" pitchFamily="34" charset="0"/>
        <a:buChar char="•"/>
        <a:defRPr sz="1116" kern="1200">
          <a:solidFill>
            <a:schemeClr val="tx1"/>
          </a:solidFill>
          <a:latin typeface="+mn-lt"/>
          <a:ea typeface="+mn-ea"/>
          <a:cs typeface="+mn-cs"/>
        </a:defRPr>
      </a:lvl6pPr>
      <a:lvl7pPr marL="1841922" indent="-141686" algn="l" defTabSz="566745" rtl="0" eaLnBrk="1" latinLnBrk="0" hangingPunct="1">
        <a:lnSpc>
          <a:spcPct val="90000"/>
        </a:lnSpc>
        <a:spcBef>
          <a:spcPts val="310"/>
        </a:spcBef>
        <a:buFont typeface="Arial" panose="020B0604020202020204" pitchFamily="34" charset="0"/>
        <a:buChar char="•"/>
        <a:defRPr sz="1116" kern="1200">
          <a:solidFill>
            <a:schemeClr val="tx1"/>
          </a:solidFill>
          <a:latin typeface="+mn-lt"/>
          <a:ea typeface="+mn-ea"/>
          <a:cs typeface="+mn-cs"/>
        </a:defRPr>
      </a:lvl7pPr>
      <a:lvl8pPr marL="2125294" indent="-141686" algn="l" defTabSz="566745" rtl="0" eaLnBrk="1" latinLnBrk="0" hangingPunct="1">
        <a:lnSpc>
          <a:spcPct val="90000"/>
        </a:lnSpc>
        <a:spcBef>
          <a:spcPts val="310"/>
        </a:spcBef>
        <a:buFont typeface="Arial" panose="020B0604020202020204" pitchFamily="34" charset="0"/>
        <a:buChar char="•"/>
        <a:defRPr sz="1116" kern="1200">
          <a:solidFill>
            <a:schemeClr val="tx1"/>
          </a:solidFill>
          <a:latin typeface="+mn-lt"/>
          <a:ea typeface="+mn-ea"/>
          <a:cs typeface="+mn-cs"/>
        </a:defRPr>
      </a:lvl8pPr>
      <a:lvl9pPr marL="2408667" indent="-141686" algn="l" defTabSz="566745" rtl="0" eaLnBrk="1" latinLnBrk="0" hangingPunct="1">
        <a:lnSpc>
          <a:spcPct val="90000"/>
        </a:lnSpc>
        <a:spcBef>
          <a:spcPts val="310"/>
        </a:spcBef>
        <a:buFont typeface="Arial" panose="020B0604020202020204" pitchFamily="34" charset="0"/>
        <a:buChar char="•"/>
        <a:defRPr sz="111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66745" rtl="0" eaLnBrk="1" latinLnBrk="0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1pPr>
      <a:lvl2pPr marL="283373" algn="l" defTabSz="566745" rtl="0" eaLnBrk="1" latinLnBrk="0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2pPr>
      <a:lvl3pPr marL="566745" algn="l" defTabSz="566745" rtl="0" eaLnBrk="1" latinLnBrk="0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3pPr>
      <a:lvl4pPr marL="850118" algn="l" defTabSz="566745" rtl="0" eaLnBrk="1" latinLnBrk="0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4pPr>
      <a:lvl5pPr marL="1133490" algn="l" defTabSz="566745" rtl="0" eaLnBrk="1" latinLnBrk="0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5pPr>
      <a:lvl6pPr marL="1416863" algn="l" defTabSz="566745" rtl="0" eaLnBrk="1" latinLnBrk="0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6pPr>
      <a:lvl7pPr marL="1700235" algn="l" defTabSz="566745" rtl="0" eaLnBrk="1" latinLnBrk="0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7pPr>
      <a:lvl8pPr marL="1983608" algn="l" defTabSz="566745" rtl="0" eaLnBrk="1" latinLnBrk="0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8pPr>
      <a:lvl9pPr marL="2266980" algn="l" defTabSz="566745" rtl="0" eaLnBrk="1" latinLnBrk="0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2.xml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slideLayout" Target="../slideLayouts/slideLayout2.xml" /><Relationship Id="rId1" Type="http://schemas.openxmlformats.org/officeDocument/2006/relationships/themeOverride" Target="../theme/themeOverride1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 /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image" Target="../media/image3.jpg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4.jpg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image" Target="../media/image5.jpg" /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 /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 /><Relationship Id="rId1" Type="http://schemas.openxmlformats.org/officeDocument/2006/relationships/slideLayout" Target="../slideLayouts/slideLayout2.xml" 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 /><Relationship Id="rId2" Type="http://schemas.openxmlformats.org/officeDocument/2006/relationships/image" Target="../media/image8.jpg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10.jpg" 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 /><Relationship Id="rId1" Type="http://schemas.openxmlformats.org/officeDocument/2006/relationships/slideLayout" Target="../slideLayouts/slideLayout2.xml" 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 /><Relationship Id="rId2" Type="http://schemas.openxmlformats.org/officeDocument/2006/relationships/image" Target="../media/image12.jpg" /><Relationship Id="rId1" Type="http://schemas.openxmlformats.org/officeDocument/2006/relationships/slideLayout" Target="../slideLayouts/slideLayout2.xml" 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 /><Relationship Id="rId1" Type="http://schemas.openxmlformats.org/officeDocument/2006/relationships/slideLayout" Target="../slideLayouts/slideLayout2.xml" 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 /><Relationship Id="rId1" Type="http://schemas.openxmlformats.org/officeDocument/2006/relationships/slideLayout" Target="../slideLayouts/slideLayout2.xml" 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 /><Relationship Id="rId1" Type="http://schemas.openxmlformats.org/officeDocument/2006/relationships/slideLayout" Target="../slideLayouts/slideLayout2.xml" 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 /><Relationship Id="rId2" Type="http://schemas.openxmlformats.org/officeDocument/2006/relationships/image" Target="../media/image16.jpg" /><Relationship Id="rId1" Type="http://schemas.openxmlformats.org/officeDocument/2006/relationships/slideLayout" Target="../slideLayouts/slideLayout2.xml" 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 /><Relationship Id="rId1" Type="http://schemas.openxmlformats.org/officeDocument/2006/relationships/slideLayout" Target="../slideLayouts/slideLayout2.xml" 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 /><Relationship Id="rId1" Type="http://schemas.openxmlformats.org/officeDocument/2006/relationships/slideLayout" Target="../slideLayouts/slideLayout2.xml" 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 /><Relationship Id="rId2" Type="http://schemas.openxmlformats.org/officeDocument/2006/relationships/image" Target="../media/image19.jpg" /><Relationship Id="rId1" Type="http://schemas.openxmlformats.org/officeDocument/2006/relationships/slideLayout" Target="../slideLayouts/slideLayout2.xml" 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 /><Relationship Id="rId1" Type="http://schemas.openxmlformats.org/officeDocument/2006/relationships/slideLayout" Target="../slideLayouts/slideLayout2.xml" 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 /><Relationship Id="rId2" Type="http://schemas.openxmlformats.org/officeDocument/2006/relationships/image" Target="../media/image22.jpg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24.jpg" 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 /><Relationship Id="rId1" Type="http://schemas.openxmlformats.org/officeDocument/2006/relationships/slideLayout" Target="../slideLayouts/slideLayout2.xml" 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 /><Relationship Id="rId1" Type="http://schemas.openxmlformats.org/officeDocument/2006/relationships/slideLayout" Target="../slideLayouts/slideLayout2.xml" 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 /><Relationship Id="rId1" Type="http://schemas.openxmlformats.org/officeDocument/2006/relationships/slideLayout" Target="../slideLayouts/slideLayout2.xml" 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 /><Relationship Id="rId1" Type="http://schemas.openxmlformats.org/officeDocument/2006/relationships/slideLayout" Target="../slideLayouts/slideLayout2.xml" 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 /><Relationship Id="rId1" Type="http://schemas.openxmlformats.org/officeDocument/2006/relationships/slideLayout" Target="../slideLayouts/slideLayout2.xml" 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 /><Relationship Id="rId1" Type="http://schemas.openxmlformats.org/officeDocument/2006/relationships/slideLayout" Target="../slideLayouts/slideLayout2.xml" 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 /><Relationship Id="rId2" Type="http://schemas.openxmlformats.org/officeDocument/2006/relationships/image" Target="../media/image31.jpg" /><Relationship Id="rId1" Type="http://schemas.openxmlformats.org/officeDocument/2006/relationships/slideLayout" Target="../slideLayouts/slideLayout7.xml" 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 /><Relationship Id="rId1" Type="http://schemas.openxmlformats.org/officeDocument/2006/relationships/slideLayout" Target="../slideLayouts/slideLayout2.xml" 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 /><Relationship Id="rId1" Type="http://schemas.openxmlformats.org/officeDocument/2006/relationships/slideLayout" Target="../slideLayouts/slideLayout2.xml" 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g" /><Relationship Id="rId2" Type="http://schemas.openxmlformats.org/officeDocument/2006/relationships/image" Target="../media/image35.jpg" /><Relationship Id="rId1" Type="http://schemas.openxmlformats.org/officeDocument/2006/relationships/slideLayout" Target="../slideLayouts/slideLayout2.xml" 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g" /><Relationship Id="rId2" Type="http://schemas.openxmlformats.org/officeDocument/2006/relationships/image" Target="../media/image37.jpg" /><Relationship Id="rId1" Type="http://schemas.openxmlformats.org/officeDocument/2006/relationships/slideLayout" Target="../slideLayouts/slideLayout2.xml" 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g" /><Relationship Id="rId2" Type="http://schemas.openxmlformats.org/officeDocument/2006/relationships/image" Target="../media/image39.jpg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41.jpg" 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g" /><Relationship Id="rId1" Type="http://schemas.openxmlformats.org/officeDocument/2006/relationships/slideLayout" Target="../slideLayouts/slideLayout7.xml" 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g" /><Relationship Id="rId1" Type="http://schemas.openxmlformats.org/officeDocument/2006/relationships/slideLayout" Target="../slideLayouts/slideLayout2.xml" 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45.jpg" 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2.xml" 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2.xml" 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g" /><Relationship Id="rId1" Type="http://schemas.openxmlformats.org/officeDocument/2006/relationships/slideLayout" Target="../slideLayouts/slideLayout2.xml" 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g" /><Relationship Id="rId2" Type="http://schemas.openxmlformats.org/officeDocument/2006/relationships/image" Target="../media/image47.jpg" /><Relationship Id="rId1" Type="http://schemas.openxmlformats.org/officeDocument/2006/relationships/slideLayout" Target="../slideLayouts/slideLayout2.xml" 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g" /><Relationship Id="rId1" Type="http://schemas.openxmlformats.org/officeDocument/2006/relationships/slideLayout" Target="../slideLayouts/slideLayout2.xml" 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g" /><Relationship Id="rId2" Type="http://schemas.openxmlformats.org/officeDocument/2006/relationships/image" Target="../media/image50.jpg" /><Relationship Id="rId1" Type="http://schemas.openxmlformats.org/officeDocument/2006/relationships/slideLayout" Target="../slideLayouts/slideLayout2.xml" 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736599" y="1485899"/>
            <a:ext cx="6096000" cy="673100"/>
          </a:xfrm>
          <a:custGeom>
            <a:avLst/>
            <a:gdLst/>
            <a:ahLst/>
            <a:cxnLst/>
            <a:rect l="l" t="t" r="r" b="b"/>
            <a:pathLst>
              <a:path w="6096000" h="673100">
                <a:moveTo>
                  <a:pt x="6096000" y="0"/>
                </a:moveTo>
                <a:lnTo>
                  <a:pt x="0" y="0"/>
                </a:lnTo>
                <a:lnTo>
                  <a:pt x="0" y="673100"/>
                </a:lnTo>
                <a:lnTo>
                  <a:pt x="6096000" y="673100"/>
                </a:lnTo>
                <a:lnTo>
                  <a:pt x="6096000" y="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4294967295"/>
          </p:nvPr>
        </p:nvSpPr>
        <p:spPr>
          <a:xfrm>
            <a:off x="7300913" y="9974263"/>
            <a:ext cx="255587" cy="227012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mtClean="0"/>
              <a:t>1</a:t>
            </a:fld>
            <a:endParaRPr dirty="0"/>
          </a:p>
        </p:txBody>
      </p:sp>
      <p:sp>
        <p:nvSpPr>
          <p:cNvPr id="10" name="object 10"/>
          <p:cNvSpPr txBox="1"/>
          <p:nvPr/>
        </p:nvSpPr>
        <p:spPr>
          <a:xfrm>
            <a:off x="1095273" y="2326323"/>
            <a:ext cx="4864735" cy="206607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12445" marR="5080" algn="ctr">
              <a:lnSpc>
                <a:spcPct val="134600"/>
              </a:lnSpc>
              <a:spcBef>
                <a:spcPts val="95"/>
              </a:spcBef>
            </a:pPr>
            <a:r>
              <a:rPr sz="2400" b="1" spc="35" dirty="0">
                <a:latin typeface="Cambria"/>
                <a:cs typeface="Cambria"/>
              </a:rPr>
              <a:t> </a:t>
            </a:r>
            <a:r>
              <a:rPr sz="2400" b="1" spc="65" dirty="0">
                <a:latin typeface="Cambria"/>
                <a:cs typeface="Cambria"/>
              </a:rPr>
              <a:t>Mobile</a:t>
            </a:r>
            <a:r>
              <a:rPr sz="2400" b="1" spc="40" dirty="0">
                <a:latin typeface="Cambria"/>
                <a:cs typeface="Cambria"/>
              </a:rPr>
              <a:t> </a:t>
            </a:r>
            <a:r>
              <a:rPr sz="2400" b="1" spc="10" dirty="0">
                <a:latin typeface="Cambria"/>
                <a:cs typeface="Cambria"/>
              </a:rPr>
              <a:t>Communication </a:t>
            </a:r>
            <a:endParaRPr lang="en-US" sz="2400" b="1" spc="10" dirty="0">
              <a:latin typeface="Cambria"/>
              <a:cs typeface="Cambria"/>
            </a:endParaRPr>
          </a:p>
          <a:p>
            <a:pPr marL="512445" marR="5080" algn="ctr">
              <a:lnSpc>
                <a:spcPct val="134600"/>
              </a:lnSpc>
              <a:spcBef>
                <a:spcPts val="95"/>
              </a:spcBef>
            </a:pPr>
            <a:r>
              <a:rPr sz="2400" b="1" spc="-515" dirty="0">
                <a:latin typeface="Cambria"/>
                <a:cs typeface="Cambria"/>
              </a:rPr>
              <a:t> </a:t>
            </a:r>
            <a:r>
              <a:rPr sz="2400" b="1" spc="20" dirty="0">
                <a:solidFill>
                  <a:srgbClr val="FF0000"/>
                </a:solidFill>
                <a:latin typeface="Cambria"/>
                <a:cs typeface="Cambria"/>
              </a:rPr>
              <a:t>Radio</a:t>
            </a:r>
            <a:r>
              <a:rPr sz="2400" b="1" spc="3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b="1" spc="-40" dirty="0">
                <a:solidFill>
                  <a:srgbClr val="FF0000"/>
                </a:solidFill>
                <a:latin typeface="Cambria"/>
                <a:cs typeface="Cambria"/>
              </a:rPr>
              <a:t>Propagation</a:t>
            </a:r>
            <a:endParaRPr sz="2400" dirty="0">
              <a:latin typeface="Cambria"/>
              <a:cs typeface="Cambria"/>
            </a:endParaRPr>
          </a:p>
          <a:p>
            <a:pPr marL="501650" algn="ctr">
              <a:lnSpc>
                <a:spcPts val="2460"/>
              </a:lnSpc>
            </a:pPr>
            <a:r>
              <a:rPr sz="2400" b="1" spc="-5" dirty="0">
                <a:solidFill>
                  <a:srgbClr val="FF0000"/>
                </a:solidFill>
                <a:latin typeface="Cambria"/>
                <a:cs typeface="Cambria"/>
              </a:rPr>
              <a:t>and</a:t>
            </a:r>
            <a:endParaRPr sz="2400" dirty="0">
              <a:latin typeface="Cambria"/>
              <a:cs typeface="Cambria"/>
            </a:endParaRPr>
          </a:p>
          <a:p>
            <a:pPr marL="514350" algn="ctr">
              <a:lnSpc>
                <a:spcPts val="2740"/>
              </a:lnSpc>
            </a:pPr>
            <a:r>
              <a:rPr sz="2400" b="1" spc="-40" dirty="0">
                <a:solidFill>
                  <a:srgbClr val="FF0000"/>
                </a:solidFill>
                <a:latin typeface="Cambria"/>
                <a:cs typeface="Cambria"/>
              </a:rPr>
              <a:t>Propagation</a:t>
            </a:r>
            <a:r>
              <a:rPr sz="2400" b="1" spc="20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b="1" spc="-5" dirty="0">
                <a:solidFill>
                  <a:srgbClr val="FF0000"/>
                </a:solidFill>
                <a:latin typeface="Cambria"/>
                <a:cs typeface="Cambria"/>
              </a:rPr>
              <a:t>Path-Loss</a:t>
            </a:r>
            <a:r>
              <a:rPr sz="2400" b="1" spc="-9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b="1" spc="50" dirty="0">
                <a:solidFill>
                  <a:srgbClr val="FF0000"/>
                </a:solidFill>
                <a:latin typeface="Cambria"/>
                <a:cs typeface="Cambria"/>
              </a:rPr>
              <a:t>Models</a:t>
            </a:r>
            <a:endParaRPr sz="24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500"/>
              </a:spcBef>
            </a:pP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42949" y="1492250"/>
            <a:ext cx="6083300" cy="3416300"/>
          </a:xfrm>
          <a:custGeom>
            <a:avLst/>
            <a:gdLst/>
            <a:ahLst/>
            <a:cxnLst/>
            <a:rect l="l" t="t" r="r" b="b"/>
            <a:pathLst>
              <a:path w="6083300" h="3416300">
                <a:moveTo>
                  <a:pt x="0" y="0"/>
                </a:moveTo>
                <a:lnTo>
                  <a:pt x="6083300" y="0"/>
                </a:lnTo>
                <a:lnTo>
                  <a:pt x="6083300" y="3416300"/>
                </a:lnTo>
                <a:lnTo>
                  <a:pt x="0" y="341630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6" name="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6599" y="8902700"/>
            <a:ext cx="6096000" cy="76200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782319" y="6360912"/>
            <a:ext cx="5995035" cy="2815590"/>
          </a:xfrm>
          <a:prstGeom prst="rect">
            <a:avLst/>
          </a:prstGeom>
        </p:spPr>
        <p:txBody>
          <a:bodyPr vert="horz" wrap="square" lIns="0" tIns="118745" rIns="0" bIns="0" rtlCol="0">
            <a:spAutoFit/>
          </a:bodyPr>
          <a:lstStyle/>
          <a:p>
            <a:pPr marL="229870">
              <a:lnSpc>
                <a:spcPct val="100000"/>
              </a:lnSpc>
              <a:spcBef>
                <a:spcPts val="935"/>
              </a:spcBef>
            </a:pPr>
            <a:r>
              <a:rPr sz="2000" b="1" spc="5" dirty="0">
                <a:solidFill>
                  <a:srgbClr val="FF0000"/>
                </a:solidFill>
                <a:latin typeface="Cambria"/>
                <a:cs typeface="Cambria"/>
              </a:rPr>
              <a:t>Radio</a:t>
            </a:r>
            <a:r>
              <a:rPr sz="2000" b="1" spc="2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ambria"/>
                <a:cs typeface="Cambria"/>
              </a:rPr>
              <a:t>wave</a:t>
            </a:r>
            <a:r>
              <a:rPr sz="2000" b="1" spc="3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b="1" spc="-25" dirty="0">
                <a:solidFill>
                  <a:srgbClr val="FF0000"/>
                </a:solidFill>
                <a:latin typeface="Cambria"/>
                <a:cs typeface="Cambria"/>
              </a:rPr>
              <a:t>Propagation</a:t>
            </a:r>
            <a:endParaRPr sz="2000" dirty="0">
              <a:latin typeface="Cambria"/>
              <a:cs typeface="Cambria"/>
            </a:endParaRPr>
          </a:p>
          <a:p>
            <a:pPr marL="458470" indent="-229235" algn="just">
              <a:lnSpc>
                <a:spcPts val="1639"/>
              </a:lnSpc>
              <a:spcBef>
                <a:spcPts val="590"/>
              </a:spcBef>
              <a:buFont typeface="Wingdings"/>
              <a:buChar char=""/>
              <a:tabLst>
                <a:tab pos="459105" algn="l"/>
              </a:tabLst>
            </a:pPr>
            <a:r>
              <a:rPr sz="1400" spc="-25" dirty="0">
                <a:latin typeface="Times New Roman"/>
                <a:cs typeface="Times New Roman"/>
              </a:rPr>
              <a:t>Wireless</a:t>
            </a:r>
            <a:r>
              <a:rPr sz="1400" spc="10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communication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spc="-20" dirty="0">
                <a:latin typeface="Times New Roman"/>
                <a:cs typeface="Times New Roman"/>
              </a:rPr>
              <a:t>system</a:t>
            </a:r>
            <a:r>
              <a:rPr sz="1400" spc="165" dirty="0">
                <a:latin typeface="Times New Roman"/>
                <a:cs typeface="Times New Roman"/>
              </a:rPr>
              <a:t> </a:t>
            </a:r>
            <a:r>
              <a:rPr sz="1400" spc="-15" dirty="0">
                <a:latin typeface="Times New Roman"/>
                <a:cs typeface="Times New Roman"/>
              </a:rPr>
              <a:t>consists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of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spc="20" dirty="0">
                <a:latin typeface="Times New Roman"/>
                <a:cs typeface="Times New Roman"/>
              </a:rPr>
              <a:t>Tx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and</a:t>
            </a:r>
            <a:r>
              <a:rPr sz="1400" spc="50" dirty="0">
                <a:latin typeface="Times New Roman"/>
                <a:cs typeface="Times New Roman"/>
              </a:rPr>
              <a:t> </a:t>
            </a:r>
            <a:r>
              <a:rPr sz="1400" spc="-15" dirty="0">
                <a:latin typeface="Times New Roman"/>
                <a:cs typeface="Times New Roman"/>
              </a:rPr>
              <a:t>Rx.</a:t>
            </a:r>
            <a:endParaRPr sz="1400" dirty="0">
              <a:latin typeface="Times New Roman"/>
              <a:cs typeface="Times New Roman"/>
            </a:endParaRPr>
          </a:p>
          <a:p>
            <a:pPr marL="458470" marR="269875" indent="-228600" algn="just">
              <a:lnSpc>
                <a:spcPts val="1700"/>
              </a:lnSpc>
              <a:buFont typeface="Wingdings"/>
              <a:buChar char=""/>
              <a:tabLst>
                <a:tab pos="459105" algn="l"/>
              </a:tabLst>
            </a:pPr>
            <a:r>
              <a:rPr sz="1400" spc="10" dirty="0">
                <a:latin typeface="Times New Roman"/>
                <a:cs typeface="Times New Roman"/>
              </a:rPr>
              <a:t>The </a:t>
            </a:r>
            <a:r>
              <a:rPr sz="1400" spc="-5" dirty="0">
                <a:solidFill>
                  <a:srgbClr val="FF0000"/>
                </a:solidFill>
                <a:latin typeface="Times New Roman"/>
                <a:cs typeface="Times New Roman"/>
              </a:rPr>
              <a:t>path </a:t>
            </a:r>
            <a:r>
              <a:rPr sz="1400" spc="-10" dirty="0">
                <a:latin typeface="Times New Roman"/>
                <a:cs typeface="Times New Roman"/>
              </a:rPr>
              <a:t>from </a:t>
            </a:r>
            <a:r>
              <a:rPr sz="1400" spc="20" dirty="0">
                <a:latin typeface="Times New Roman"/>
                <a:cs typeface="Times New Roman"/>
              </a:rPr>
              <a:t>Tx </a:t>
            </a:r>
            <a:r>
              <a:rPr sz="1400" spc="5" dirty="0">
                <a:latin typeface="Times New Roman"/>
                <a:cs typeface="Times New Roman"/>
              </a:rPr>
              <a:t>to </a:t>
            </a:r>
            <a:r>
              <a:rPr sz="1400" spc="-20" dirty="0">
                <a:latin typeface="Times New Roman"/>
                <a:cs typeface="Times New Roman"/>
              </a:rPr>
              <a:t>Rx </a:t>
            </a:r>
            <a:r>
              <a:rPr sz="1400" spc="5" dirty="0">
                <a:latin typeface="Times New Roman"/>
                <a:cs typeface="Times New Roman"/>
              </a:rPr>
              <a:t>is </a:t>
            </a:r>
            <a:r>
              <a:rPr sz="1400" spc="-35" dirty="0">
                <a:solidFill>
                  <a:srgbClr val="FF0000"/>
                </a:solidFill>
                <a:latin typeface="Times New Roman"/>
                <a:cs typeface="Times New Roman"/>
              </a:rPr>
              <a:t>not </a:t>
            </a:r>
            <a:r>
              <a:rPr sz="1400" spc="-5" dirty="0">
                <a:solidFill>
                  <a:srgbClr val="FF0000"/>
                </a:solidFill>
                <a:latin typeface="Times New Roman"/>
                <a:cs typeface="Times New Roman"/>
              </a:rPr>
              <a:t>smooth </a:t>
            </a:r>
            <a:r>
              <a:rPr sz="1400" spc="-10" dirty="0">
                <a:latin typeface="Times New Roman"/>
                <a:cs typeface="Times New Roman"/>
              </a:rPr>
              <a:t>and </a:t>
            </a:r>
            <a:r>
              <a:rPr sz="1400" dirty="0">
                <a:latin typeface="Times New Roman"/>
                <a:cs typeface="Times New Roman"/>
              </a:rPr>
              <a:t>the </a:t>
            </a:r>
            <a:r>
              <a:rPr sz="1400" spc="-5" dirty="0">
                <a:latin typeface="Times New Roman"/>
                <a:cs typeface="Times New Roman"/>
              </a:rPr>
              <a:t>transmitted </a:t>
            </a:r>
            <a:r>
              <a:rPr sz="1400" spc="-10" dirty="0">
                <a:latin typeface="Times New Roman"/>
                <a:cs typeface="Times New Roman"/>
              </a:rPr>
              <a:t>signal </a:t>
            </a:r>
            <a:r>
              <a:rPr sz="1400" spc="-5" dirty="0">
                <a:latin typeface="Times New Roman"/>
                <a:cs typeface="Times New Roman"/>
              </a:rPr>
              <a:t>may </a:t>
            </a:r>
            <a:r>
              <a:rPr sz="1400" dirty="0">
                <a:latin typeface="Times New Roman"/>
                <a:cs typeface="Times New Roman"/>
              </a:rPr>
              <a:t>go </a:t>
            </a:r>
            <a:r>
              <a:rPr sz="1400" spc="5" dirty="0">
                <a:latin typeface="Times New Roman"/>
                <a:cs typeface="Times New Roman"/>
              </a:rPr>
              <a:t> through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various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kinds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of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spc="-5" dirty="0">
                <a:solidFill>
                  <a:srgbClr val="FF0000"/>
                </a:solidFill>
                <a:latin typeface="Times New Roman"/>
                <a:cs typeface="Times New Roman"/>
              </a:rPr>
              <a:t>attenuations</a:t>
            </a:r>
            <a:r>
              <a:rPr sz="140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including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spc="-5" dirty="0">
                <a:solidFill>
                  <a:srgbClr val="FF0000"/>
                </a:solidFill>
                <a:latin typeface="Times New Roman"/>
                <a:cs typeface="Times New Roman"/>
              </a:rPr>
              <a:t>path</a:t>
            </a:r>
            <a:r>
              <a:rPr sz="140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spc="-20" dirty="0">
                <a:solidFill>
                  <a:srgbClr val="FF0000"/>
                </a:solidFill>
                <a:latin typeface="Times New Roman"/>
                <a:cs typeface="Times New Roman"/>
              </a:rPr>
              <a:t>loss</a:t>
            </a:r>
            <a:r>
              <a:rPr sz="1400" spc="-20" dirty="0">
                <a:latin typeface="Times New Roman"/>
                <a:cs typeface="Times New Roman"/>
              </a:rPr>
              <a:t>,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0000"/>
                </a:solidFill>
                <a:latin typeface="Times New Roman"/>
                <a:cs typeface="Times New Roman"/>
              </a:rPr>
              <a:t>multipath </a:t>
            </a:r>
            <a:r>
              <a:rPr sz="1400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spc="-5" dirty="0">
                <a:solidFill>
                  <a:srgbClr val="FF0000"/>
                </a:solidFill>
                <a:latin typeface="Times New Roman"/>
                <a:cs typeface="Times New Roman"/>
              </a:rPr>
              <a:t>attenuation</a:t>
            </a:r>
            <a:r>
              <a:rPr sz="1400" spc="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etc.</a:t>
            </a:r>
            <a:endParaRPr sz="1400" dirty="0">
              <a:latin typeface="Times New Roman"/>
              <a:cs typeface="Times New Roman"/>
            </a:endParaRPr>
          </a:p>
          <a:p>
            <a:pPr marL="458470" marR="282575" indent="-228600" algn="just">
              <a:lnSpc>
                <a:spcPts val="1700"/>
              </a:lnSpc>
              <a:buFont typeface="Wingdings"/>
              <a:buChar char=""/>
              <a:tabLst>
                <a:tab pos="459105" algn="l"/>
              </a:tabLst>
            </a:pPr>
            <a:r>
              <a:rPr sz="1400" spc="10" dirty="0">
                <a:latin typeface="Times New Roman"/>
                <a:cs typeface="Times New Roman"/>
              </a:rPr>
              <a:t>The </a:t>
            </a:r>
            <a:r>
              <a:rPr sz="1400" spc="-10" dirty="0">
                <a:latin typeface="Times New Roman"/>
                <a:cs typeface="Times New Roman"/>
              </a:rPr>
              <a:t>signal </a:t>
            </a:r>
            <a:r>
              <a:rPr sz="1400" spc="-5" dirty="0">
                <a:latin typeface="Times New Roman"/>
                <a:cs typeface="Times New Roman"/>
              </a:rPr>
              <a:t>attenuation </a:t>
            </a:r>
            <a:r>
              <a:rPr sz="1400" spc="5" dirty="0">
                <a:latin typeface="Times New Roman"/>
                <a:cs typeface="Times New Roman"/>
              </a:rPr>
              <a:t>through </a:t>
            </a:r>
            <a:r>
              <a:rPr sz="1400" dirty="0">
                <a:latin typeface="Times New Roman"/>
                <a:cs typeface="Times New Roman"/>
              </a:rPr>
              <a:t>the </a:t>
            </a:r>
            <a:r>
              <a:rPr sz="1400" spc="-5" dirty="0">
                <a:latin typeface="Times New Roman"/>
                <a:cs typeface="Times New Roman"/>
              </a:rPr>
              <a:t>path </a:t>
            </a:r>
            <a:r>
              <a:rPr sz="1400" spc="-10" dirty="0">
                <a:latin typeface="Times New Roman"/>
                <a:cs typeface="Times New Roman"/>
              </a:rPr>
              <a:t>depends </a:t>
            </a:r>
            <a:r>
              <a:rPr sz="1400" dirty="0">
                <a:latin typeface="Times New Roman"/>
                <a:cs typeface="Times New Roman"/>
              </a:rPr>
              <a:t>on various </a:t>
            </a:r>
            <a:r>
              <a:rPr sz="1400" spc="-5" dirty="0">
                <a:latin typeface="Times New Roman"/>
                <a:cs typeface="Times New Roman"/>
              </a:rPr>
              <a:t>factors. </a:t>
            </a:r>
            <a:r>
              <a:rPr sz="1400" dirty="0">
                <a:latin typeface="Times New Roman"/>
                <a:cs typeface="Times New Roman"/>
              </a:rPr>
              <a:t>They 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0000"/>
                </a:solidFill>
                <a:latin typeface="Times New Roman"/>
                <a:cs typeface="Times New Roman"/>
              </a:rPr>
              <a:t>are</a:t>
            </a:r>
            <a:r>
              <a:rPr sz="1400" spc="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0000"/>
                </a:solidFill>
                <a:latin typeface="Times New Roman"/>
                <a:cs typeface="Times New Roman"/>
              </a:rPr>
              <a:t>time</a:t>
            </a:r>
            <a:r>
              <a:rPr sz="1400" dirty="0">
                <a:latin typeface="Times New Roman"/>
                <a:cs typeface="Times New Roman"/>
              </a:rPr>
              <a:t>, radio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spc="-5" dirty="0">
                <a:solidFill>
                  <a:srgbClr val="FF0000"/>
                </a:solidFill>
                <a:latin typeface="Times New Roman"/>
                <a:cs typeface="Times New Roman"/>
              </a:rPr>
              <a:t>frequency</a:t>
            </a:r>
            <a:r>
              <a:rPr sz="1400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and</a:t>
            </a:r>
            <a:r>
              <a:rPr sz="1400" spc="5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path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or</a:t>
            </a:r>
            <a:r>
              <a:rPr sz="1400" spc="80" dirty="0">
                <a:latin typeface="Times New Roman"/>
                <a:cs typeface="Times New Roman"/>
              </a:rPr>
              <a:t> </a:t>
            </a:r>
            <a:r>
              <a:rPr sz="1400" spc="-5" dirty="0">
                <a:solidFill>
                  <a:srgbClr val="FF0000"/>
                </a:solidFill>
                <a:latin typeface="Times New Roman"/>
                <a:cs typeface="Times New Roman"/>
              </a:rPr>
              <a:t>position</a:t>
            </a:r>
            <a:r>
              <a:rPr sz="1400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of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transmitter/receiver.</a:t>
            </a:r>
            <a:endParaRPr sz="1400" dirty="0">
              <a:latin typeface="Times New Roman"/>
              <a:cs typeface="Times New Roman"/>
            </a:endParaRPr>
          </a:p>
          <a:p>
            <a:pPr marL="458470" indent="-229235" algn="just">
              <a:lnSpc>
                <a:spcPts val="1540"/>
              </a:lnSpc>
              <a:buFont typeface="Wingdings"/>
              <a:buChar char=""/>
              <a:tabLst>
                <a:tab pos="459105" algn="l"/>
              </a:tabLst>
            </a:pPr>
            <a:r>
              <a:rPr sz="1400" spc="10" dirty="0">
                <a:latin typeface="Times New Roman"/>
                <a:cs typeface="Times New Roman"/>
              </a:rPr>
              <a:t>The</a:t>
            </a:r>
            <a:r>
              <a:rPr sz="1400" spc="330" dirty="0">
                <a:latin typeface="Times New Roman"/>
                <a:cs typeface="Times New Roman"/>
              </a:rPr>
              <a:t> </a:t>
            </a:r>
            <a:r>
              <a:rPr sz="1400" spc="-15" dirty="0">
                <a:latin typeface="Times New Roman"/>
                <a:cs typeface="Times New Roman"/>
              </a:rPr>
              <a:t>channel</a:t>
            </a:r>
            <a:r>
              <a:rPr sz="1400" spc="40" dirty="0">
                <a:latin typeface="Times New Roman"/>
                <a:cs typeface="Times New Roman"/>
              </a:rPr>
              <a:t> </a:t>
            </a:r>
            <a:r>
              <a:rPr sz="1400" spc="-15" dirty="0">
                <a:latin typeface="Times New Roman"/>
                <a:cs typeface="Times New Roman"/>
              </a:rPr>
              <a:t>between</a:t>
            </a:r>
            <a:r>
              <a:rPr sz="1400" spc="355" dirty="0">
                <a:latin typeface="Times New Roman"/>
                <a:cs typeface="Times New Roman"/>
              </a:rPr>
              <a:t> </a:t>
            </a:r>
            <a:r>
              <a:rPr sz="1400" spc="-15" dirty="0">
                <a:latin typeface="Times New Roman"/>
                <a:cs typeface="Times New Roman"/>
              </a:rPr>
              <a:t>transmitter</a:t>
            </a:r>
            <a:r>
              <a:rPr sz="1400" spc="39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and</a:t>
            </a:r>
            <a:r>
              <a:rPr sz="1400" spc="254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receiver</a:t>
            </a:r>
            <a:r>
              <a:rPr sz="1400" spc="390" dirty="0">
                <a:latin typeface="Times New Roman"/>
                <a:cs typeface="Times New Roman"/>
              </a:rPr>
              <a:t> </a:t>
            </a:r>
            <a:r>
              <a:rPr sz="1400" spc="-20" dirty="0">
                <a:latin typeface="Times New Roman"/>
                <a:cs typeface="Times New Roman"/>
              </a:rPr>
              <a:t>can</a:t>
            </a:r>
            <a:r>
              <a:rPr sz="1400" spc="2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be</a:t>
            </a:r>
            <a:r>
              <a:rPr sz="1400" spc="330" dirty="0">
                <a:latin typeface="Times New Roman"/>
                <a:cs typeface="Times New Roman"/>
              </a:rPr>
              <a:t> </a:t>
            </a:r>
            <a:r>
              <a:rPr sz="1400" spc="-20" dirty="0">
                <a:solidFill>
                  <a:srgbClr val="FF0000"/>
                </a:solidFill>
                <a:latin typeface="Times New Roman"/>
                <a:cs typeface="Times New Roman"/>
              </a:rPr>
              <a:t>time</a:t>
            </a:r>
            <a:r>
              <a:rPr sz="1400" spc="3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0000"/>
                </a:solidFill>
                <a:latin typeface="Times New Roman"/>
                <a:cs typeface="Times New Roman"/>
              </a:rPr>
              <a:t>varying</a:t>
            </a:r>
            <a:r>
              <a:rPr sz="1400" spc="254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or</a:t>
            </a:r>
          </a:p>
          <a:p>
            <a:pPr marL="458470" marR="274320" algn="just">
              <a:lnSpc>
                <a:spcPct val="101200"/>
              </a:lnSpc>
            </a:pPr>
            <a:r>
              <a:rPr sz="1400" dirty="0">
                <a:solidFill>
                  <a:srgbClr val="FF0000"/>
                </a:solidFill>
                <a:latin typeface="Times New Roman"/>
                <a:cs typeface="Times New Roman"/>
              </a:rPr>
              <a:t>fixed</a:t>
            </a:r>
            <a:r>
              <a:rPr sz="1400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spc="-5" dirty="0">
                <a:solidFill>
                  <a:srgbClr val="FF0000"/>
                </a:solidFill>
                <a:latin typeface="Times New Roman"/>
                <a:cs typeface="Times New Roman"/>
              </a:rPr>
              <a:t>depending</a:t>
            </a:r>
            <a:r>
              <a:rPr sz="140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upon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whether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transmitter/receiver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are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fixed</a:t>
            </a:r>
            <a:r>
              <a:rPr sz="1400" spc="3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or 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moving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with</a:t>
            </a:r>
            <a:r>
              <a:rPr sz="1400" spc="50" dirty="0">
                <a:latin typeface="Times New Roman"/>
                <a:cs typeface="Times New Roman"/>
              </a:rPr>
              <a:t> </a:t>
            </a:r>
            <a:r>
              <a:rPr sz="1400" spc="-15" dirty="0">
                <a:latin typeface="Times New Roman"/>
                <a:cs typeface="Times New Roman"/>
              </a:rPr>
              <a:t>respect</a:t>
            </a:r>
            <a:r>
              <a:rPr sz="1400" spc="60" dirty="0">
                <a:latin typeface="Times New Roman"/>
                <a:cs typeface="Times New Roman"/>
              </a:rPr>
              <a:t> </a:t>
            </a:r>
            <a:r>
              <a:rPr sz="1400" spc="5" dirty="0">
                <a:latin typeface="Times New Roman"/>
                <a:cs typeface="Times New Roman"/>
              </a:rPr>
              <a:t>to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spc="-20" dirty="0">
                <a:latin typeface="Times New Roman"/>
                <a:cs typeface="Times New Roman"/>
              </a:rPr>
              <a:t>each</a:t>
            </a:r>
            <a:r>
              <a:rPr sz="1400" spc="45" dirty="0">
                <a:latin typeface="Times New Roman"/>
                <a:cs typeface="Times New Roman"/>
              </a:rPr>
              <a:t> </a:t>
            </a:r>
            <a:r>
              <a:rPr sz="1400" spc="-15" dirty="0">
                <a:latin typeface="Times New Roman"/>
                <a:cs typeface="Times New Roman"/>
              </a:rPr>
              <a:t>other.</a:t>
            </a:r>
            <a:endParaRPr sz="1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tabLst>
                <a:tab pos="5485765" algn="l"/>
              </a:tabLst>
            </a:pP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742949" y="5759450"/>
            <a:ext cx="6083300" cy="3416300"/>
          </a:xfrm>
          <a:custGeom>
            <a:avLst/>
            <a:gdLst/>
            <a:ahLst/>
            <a:cxnLst/>
            <a:rect l="l" t="t" r="r" b="b"/>
            <a:pathLst>
              <a:path w="6083300" h="3416300">
                <a:moveTo>
                  <a:pt x="0" y="0"/>
                </a:moveTo>
                <a:lnTo>
                  <a:pt x="6083300" y="0"/>
                </a:lnTo>
                <a:lnTo>
                  <a:pt x="6083300" y="3416300"/>
                </a:lnTo>
                <a:lnTo>
                  <a:pt x="0" y="341630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54011" y="455423"/>
            <a:ext cx="508634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40" dirty="0">
                <a:latin typeface="Calibri"/>
                <a:cs typeface="Calibri"/>
              </a:rPr>
              <a:t>8</a:t>
            </a:r>
            <a:r>
              <a:rPr sz="1300" spc="-5" dirty="0">
                <a:latin typeface="Calibri"/>
                <a:cs typeface="Calibri"/>
              </a:rPr>
              <a:t>/</a:t>
            </a:r>
            <a:r>
              <a:rPr sz="1300" spc="40" dirty="0">
                <a:latin typeface="Calibri"/>
                <a:cs typeface="Calibri"/>
              </a:rPr>
              <a:t>5</a:t>
            </a:r>
            <a:r>
              <a:rPr sz="1300" spc="-5" dirty="0">
                <a:latin typeface="Calibri"/>
                <a:cs typeface="Calibri"/>
              </a:rPr>
              <a:t>/</a:t>
            </a:r>
            <a:r>
              <a:rPr sz="1300" spc="40" dirty="0">
                <a:latin typeface="Calibri"/>
                <a:cs typeface="Calibri"/>
              </a:rPr>
              <a:t>20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12"/>
          </p:nvPr>
        </p:nvSpPr>
        <p:spPr>
          <a:xfrm>
            <a:off x="7300913" y="9974263"/>
            <a:ext cx="255587" cy="227012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2</a:t>
            </a:fld>
            <a:endParaRPr dirty="0"/>
          </a:p>
        </p:txBody>
      </p:sp>
      <p:sp>
        <p:nvSpPr>
          <p:cNvPr id="10" name="object 10"/>
          <p:cNvSpPr txBox="1"/>
          <p:nvPr/>
        </p:nvSpPr>
        <p:spPr>
          <a:xfrm>
            <a:off x="1012600" y="2122898"/>
            <a:ext cx="5478145" cy="2186940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05"/>
              </a:spcBef>
            </a:pPr>
            <a:r>
              <a:rPr sz="2000" b="1" spc="5" dirty="0">
                <a:solidFill>
                  <a:srgbClr val="FF0000"/>
                </a:solidFill>
                <a:latin typeface="Cambria"/>
                <a:cs typeface="Cambria"/>
              </a:rPr>
              <a:t>Radio</a:t>
            </a:r>
            <a:r>
              <a:rPr sz="2000" b="1" spc="2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ambria"/>
                <a:cs typeface="Cambria"/>
              </a:rPr>
              <a:t>wave</a:t>
            </a:r>
            <a:r>
              <a:rPr sz="2000" b="1" spc="3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b="1" spc="-25" dirty="0">
                <a:solidFill>
                  <a:srgbClr val="FF0000"/>
                </a:solidFill>
                <a:latin typeface="Cambria"/>
                <a:cs typeface="Cambria"/>
              </a:rPr>
              <a:t>Propagation</a:t>
            </a:r>
            <a:endParaRPr sz="2000">
              <a:latin typeface="Cambria"/>
              <a:cs typeface="Cambria"/>
            </a:endParaRPr>
          </a:p>
          <a:p>
            <a:pPr marL="228600" marR="72390" indent="-228600">
              <a:lnSpc>
                <a:spcPct val="104200"/>
              </a:lnSpc>
              <a:spcBef>
                <a:spcPts val="409"/>
              </a:spcBef>
              <a:buFont typeface="Wingdings"/>
              <a:buChar char=""/>
              <a:tabLst>
                <a:tab pos="228600" algn="l"/>
              </a:tabLst>
            </a:pPr>
            <a:r>
              <a:rPr sz="1600" spc="-20" dirty="0">
                <a:latin typeface="Times New Roman"/>
                <a:cs typeface="Times New Roman"/>
              </a:rPr>
              <a:t>In general,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radio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5" dirty="0">
                <a:latin typeface="Times New Roman"/>
                <a:cs typeface="Times New Roman"/>
              </a:rPr>
              <a:t>wave </a:t>
            </a:r>
            <a:r>
              <a:rPr sz="1600" spc="-15" dirty="0">
                <a:latin typeface="Times New Roman"/>
                <a:cs typeface="Times New Roman"/>
              </a:rPr>
              <a:t>propagation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consists </a:t>
            </a:r>
            <a:r>
              <a:rPr sz="1600" dirty="0">
                <a:latin typeface="Times New Roman"/>
                <a:cs typeface="Times New Roman"/>
              </a:rPr>
              <a:t>of </a:t>
            </a:r>
            <a:r>
              <a:rPr sz="1600" spc="-15" dirty="0">
                <a:latin typeface="Times New Roman"/>
                <a:cs typeface="Times New Roman"/>
              </a:rPr>
              <a:t>the following 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30" dirty="0">
                <a:latin typeface="Times New Roman"/>
                <a:cs typeface="Times New Roman"/>
              </a:rPr>
              <a:t>main</a:t>
            </a:r>
            <a:r>
              <a:rPr sz="1600" spc="100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attributes:</a:t>
            </a:r>
            <a:r>
              <a:rPr sz="1600" spc="254" dirty="0">
                <a:latin typeface="Times New Roman"/>
                <a:cs typeface="Times New Roman"/>
              </a:rPr>
              <a:t> </a:t>
            </a:r>
            <a:r>
              <a:rPr sz="1600" spc="-25" dirty="0">
                <a:solidFill>
                  <a:srgbClr val="FF0000"/>
                </a:solidFill>
                <a:latin typeface="Times New Roman"/>
                <a:cs typeface="Times New Roman"/>
              </a:rPr>
              <a:t>attenuation</a:t>
            </a:r>
            <a:r>
              <a:rPr sz="1600" spc="20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reflection,</a:t>
            </a:r>
            <a:r>
              <a:rPr sz="1600" spc="204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diffraction</a:t>
            </a:r>
            <a:r>
              <a:rPr sz="1600" spc="3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and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scattering</a:t>
            </a:r>
            <a:endParaRPr sz="1600">
              <a:latin typeface="Times New Roman"/>
              <a:cs typeface="Times New Roman"/>
            </a:endParaRPr>
          </a:p>
          <a:p>
            <a:pPr marL="228600" marR="5080" indent="-228600">
              <a:lnSpc>
                <a:spcPts val="1900"/>
              </a:lnSpc>
              <a:spcBef>
                <a:spcPts val="60"/>
              </a:spcBef>
              <a:buFont typeface="Wingdings"/>
              <a:buChar char=""/>
              <a:tabLst>
                <a:tab pos="228600" algn="l"/>
              </a:tabLst>
            </a:pPr>
            <a:r>
              <a:rPr sz="1600" b="1" i="1" spc="-20" dirty="0">
                <a:solidFill>
                  <a:srgbClr val="FF0000"/>
                </a:solidFill>
                <a:latin typeface="Times New Roman"/>
                <a:cs typeface="Times New Roman"/>
              </a:rPr>
              <a:t>Reflection</a:t>
            </a:r>
            <a:r>
              <a:rPr sz="1600" b="1" i="1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occurs </a:t>
            </a:r>
            <a:r>
              <a:rPr sz="1600" spc="5" dirty="0">
                <a:latin typeface="Times New Roman"/>
                <a:cs typeface="Times New Roman"/>
              </a:rPr>
              <a:t>when </a:t>
            </a:r>
            <a:r>
              <a:rPr sz="1600" dirty="0">
                <a:latin typeface="Times New Roman"/>
                <a:cs typeface="Times New Roman"/>
              </a:rPr>
              <a:t>a </a:t>
            </a:r>
            <a:r>
              <a:rPr sz="1600" spc="-20" dirty="0">
                <a:latin typeface="Times New Roman"/>
                <a:cs typeface="Times New Roman"/>
              </a:rPr>
              <a:t>radio </a:t>
            </a:r>
            <a:r>
              <a:rPr sz="1600" spc="5" dirty="0">
                <a:latin typeface="Times New Roman"/>
                <a:cs typeface="Times New Roman"/>
              </a:rPr>
              <a:t>wave </a:t>
            </a:r>
            <a:r>
              <a:rPr sz="1600" spc="-25" dirty="0">
                <a:latin typeface="Times New Roman"/>
                <a:cs typeface="Times New Roman"/>
              </a:rPr>
              <a:t>collides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with </a:t>
            </a:r>
            <a:r>
              <a:rPr sz="1600" spc="-10" dirty="0">
                <a:latin typeface="Times New Roman"/>
                <a:cs typeface="Times New Roman"/>
              </a:rPr>
              <a:t>an </a:t>
            </a:r>
            <a:r>
              <a:rPr sz="1600" spc="-15" dirty="0">
                <a:latin typeface="Times New Roman"/>
                <a:cs typeface="Times New Roman"/>
              </a:rPr>
              <a:t>object 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which has </a:t>
            </a:r>
            <a:r>
              <a:rPr sz="1600" spc="-15" dirty="0">
                <a:latin typeface="Times New Roman"/>
                <a:cs typeface="Times New Roman"/>
              </a:rPr>
              <a:t>very </a:t>
            </a:r>
            <a:r>
              <a:rPr sz="1600" spc="-20" dirty="0">
                <a:solidFill>
                  <a:srgbClr val="FF0000"/>
                </a:solidFill>
                <a:latin typeface="Times New Roman"/>
                <a:cs typeface="Times New Roman"/>
              </a:rPr>
              <a:t>large dimensions</a:t>
            </a:r>
            <a:r>
              <a:rPr sz="16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compared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to </a:t>
            </a:r>
            <a:r>
              <a:rPr sz="1600" spc="-15" dirty="0">
                <a:latin typeface="Times New Roman"/>
                <a:cs typeface="Times New Roman"/>
              </a:rPr>
              <a:t>the </a:t>
            </a:r>
            <a:r>
              <a:rPr sz="1600" spc="-10" dirty="0">
                <a:solidFill>
                  <a:srgbClr val="FF0000"/>
                </a:solidFill>
                <a:latin typeface="Times New Roman"/>
                <a:cs typeface="Times New Roman"/>
              </a:rPr>
              <a:t>wavelength </a:t>
            </a:r>
            <a:r>
              <a:rPr sz="1600" dirty="0">
                <a:latin typeface="Times New Roman"/>
                <a:cs typeface="Times New Roman"/>
              </a:rPr>
              <a:t>of </a:t>
            </a:r>
            <a:r>
              <a:rPr sz="1600" spc="-385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the</a:t>
            </a:r>
            <a:r>
              <a:rPr sz="1600" spc="80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propagating</a:t>
            </a:r>
            <a:r>
              <a:rPr sz="1600" spc="10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wave.</a:t>
            </a:r>
            <a:endParaRPr sz="1600">
              <a:latin typeface="Times New Roman"/>
              <a:cs typeface="Times New Roman"/>
            </a:endParaRPr>
          </a:p>
          <a:p>
            <a:pPr marL="228600" indent="-228600">
              <a:lnSpc>
                <a:spcPts val="1839"/>
              </a:lnSpc>
              <a:buFont typeface="Wingdings"/>
              <a:buChar char=""/>
              <a:tabLst>
                <a:tab pos="228600" algn="l"/>
              </a:tabLst>
            </a:pPr>
            <a:r>
              <a:rPr sz="1600" spc="-20" dirty="0">
                <a:latin typeface="Times New Roman"/>
                <a:cs typeface="Times New Roman"/>
              </a:rPr>
              <a:t>Reflections</a:t>
            </a:r>
            <a:r>
              <a:rPr sz="1600" spc="175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are</a:t>
            </a:r>
            <a:r>
              <a:rPr sz="1600" spc="85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very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commonly</a:t>
            </a:r>
            <a:r>
              <a:rPr sz="1600" spc="100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caused</a:t>
            </a:r>
            <a:r>
              <a:rPr sz="1600" spc="10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by </a:t>
            </a:r>
            <a:r>
              <a:rPr sz="1600" spc="-15" dirty="0">
                <a:latin typeface="Times New Roman"/>
                <a:cs typeface="Times New Roman"/>
              </a:rPr>
              <a:t>the</a:t>
            </a:r>
            <a:r>
              <a:rPr sz="1600" spc="90" dirty="0">
                <a:latin typeface="Times New Roman"/>
                <a:cs typeface="Times New Roman"/>
              </a:rPr>
              <a:t> </a:t>
            </a:r>
            <a:r>
              <a:rPr sz="1600" spc="-20" dirty="0">
                <a:solidFill>
                  <a:srgbClr val="FF0000"/>
                </a:solidFill>
                <a:latin typeface="Times New Roman"/>
                <a:cs typeface="Times New Roman"/>
              </a:rPr>
              <a:t>surface</a:t>
            </a:r>
            <a:r>
              <a:rPr sz="1600" spc="8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the</a:t>
            </a:r>
            <a:endParaRPr sz="1600">
              <a:latin typeface="Times New Roman"/>
              <a:cs typeface="Times New Roman"/>
            </a:endParaRPr>
          </a:p>
          <a:p>
            <a:pPr marL="228600">
              <a:lnSpc>
                <a:spcPct val="100000"/>
              </a:lnSpc>
              <a:spcBef>
                <a:spcPts val="80"/>
              </a:spcBef>
            </a:pPr>
            <a:r>
              <a:rPr sz="1600" spc="-25" dirty="0">
                <a:latin typeface="Times New Roman"/>
                <a:cs typeface="Times New Roman"/>
              </a:rPr>
              <a:t>earth</a:t>
            </a:r>
            <a:r>
              <a:rPr sz="1600" spc="1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and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from</a:t>
            </a:r>
            <a:r>
              <a:rPr sz="1600" spc="55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buildings,</a:t>
            </a:r>
            <a:r>
              <a:rPr sz="1600" spc="200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walls,</a:t>
            </a:r>
            <a:r>
              <a:rPr sz="1600" spc="1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and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other</a:t>
            </a:r>
            <a:r>
              <a:rPr sz="1600" spc="6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such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obstructions.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42949" y="1492249"/>
            <a:ext cx="6083300" cy="3416300"/>
          </a:xfrm>
          <a:custGeom>
            <a:avLst/>
            <a:gdLst/>
            <a:ahLst/>
            <a:cxnLst/>
            <a:rect l="l" t="t" r="r" b="b"/>
            <a:pathLst>
              <a:path w="6083300" h="3416300">
                <a:moveTo>
                  <a:pt x="0" y="0"/>
                </a:moveTo>
                <a:lnTo>
                  <a:pt x="6083300" y="0"/>
                </a:lnTo>
                <a:lnTo>
                  <a:pt x="6083300" y="3416300"/>
                </a:lnTo>
                <a:lnTo>
                  <a:pt x="0" y="341630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6" name="object 1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36599" y="8902700"/>
            <a:ext cx="6096000" cy="76200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998313" y="6600744"/>
            <a:ext cx="5422900" cy="1983739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228600" marR="221615" indent="-228600">
              <a:lnSpc>
                <a:spcPct val="101600"/>
              </a:lnSpc>
              <a:spcBef>
                <a:spcPts val="70"/>
              </a:spcBef>
              <a:buFont typeface="Wingdings"/>
              <a:buChar char=""/>
              <a:tabLst>
                <a:tab pos="228600" algn="l"/>
              </a:tabLst>
            </a:pPr>
            <a:r>
              <a:rPr sz="1600" b="1" i="1" spc="-20" dirty="0">
                <a:solidFill>
                  <a:srgbClr val="FF0000"/>
                </a:solidFill>
                <a:latin typeface="Times New Roman"/>
                <a:cs typeface="Times New Roman"/>
              </a:rPr>
              <a:t>Diffraction</a:t>
            </a:r>
            <a:r>
              <a:rPr sz="1600" b="1" i="1" spc="10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occurs</a:t>
            </a:r>
            <a:r>
              <a:rPr sz="1600" spc="75" dirty="0">
                <a:latin typeface="Times New Roman"/>
                <a:cs typeface="Times New Roman"/>
              </a:rPr>
              <a:t> </a:t>
            </a:r>
            <a:r>
              <a:rPr sz="1600" spc="5" dirty="0">
                <a:latin typeface="Times New Roman"/>
                <a:cs typeface="Times New Roman"/>
              </a:rPr>
              <a:t>when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the</a:t>
            </a:r>
            <a:r>
              <a:rPr sz="1600" spc="80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radio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path</a:t>
            </a:r>
            <a:r>
              <a:rPr sz="1600" spc="10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between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the 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30" dirty="0">
                <a:latin typeface="Times New Roman"/>
                <a:cs typeface="Times New Roman"/>
              </a:rPr>
              <a:t>transmitter/receiver</a:t>
            </a:r>
            <a:r>
              <a:rPr sz="1600" spc="100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pair</a:t>
            </a:r>
            <a:r>
              <a:rPr sz="1600" spc="65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is</a:t>
            </a:r>
            <a:r>
              <a:rPr sz="1600" spc="75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obstructed</a:t>
            </a:r>
            <a:r>
              <a:rPr sz="1600" spc="204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by a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surface</a:t>
            </a:r>
            <a:r>
              <a:rPr sz="1600" spc="90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with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15" dirty="0">
                <a:solidFill>
                  <a:srgbClr val="FF0000"/>
                </a:solidFill>
                <a:latin typeface="Times New Roman"/>
                <a:cs typeface="Times New Roman"/>
              </a:rPr>
              <a:t>sharp </a:t>
            </a:r>
            <a:r>
              <a:rPr sz="1600" spc="-38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FF0000"/>
                </a:solidFill>
                <a:latin typeface="Times New Roman"/>
                <a:cs typeface="Times New Roman"/>
              </a:rPr>
              <a:t>edges</a:t>
            </a:r>
            <a:r>
              <a:rPr sz="1600" spc="-10" dirty="0">
                <a:latin typeface="Times New Roman"/>
                <a:cs typeface="Times New Roman"/>
              </a:rPr>
              <a:t>.</a:t>
            </a:r>
            <a:endParaRPr sz="1600">
              <a:latin typeface="Times New Roman"/>
              <a:cs typeface="Times New Roman"/>
            </a:endParaRPr>
          </a:p>
          <a:p>
            <a:pPr marL="228600" marR="537210" indent="-228600">
              <a:lnSpc>
                <a:spcPts val="1900"/>
              </a:lnSpc>
              <a:spcBef>
                <a:spcPts val="60"/>
              </a:spcBef>
              <a:buFont typeface="Wingdings"/>
              <a:buChar char=""/>
              <a:tabLst>
                <a:tab pos="228600" algn="l"/>
              </a:tabLst>
            </a:pPr>
            <a:r>
              <a:rPr sz="1600" spc="-10" dirty="0">
                <a:latin typeface="Times New Roman"/>
                <a:cs typeface="Times New Roman"/>
              </a:rPr>
              <a:t>This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causes</a:t>
            </a:r>
            <a:r>
              <a:rPr sz="1600" spc="75" dirty="0">
                <a:latin typeface="Times New Roman"/>
                <a:cs typeface="Times New Roman"/>
              </a:rPr>
              <a:t> </a:t>
            </a:r>
            <a:r>
              <a:rPr sz="1600" spc="-15" dirty="0">
                <a:solidFill>
                  <a:srgbClr val="FF0000"/>
                </a:solidFill>
                <a:latin typeface="Times New Roman"/>
                <a:cs typeface="Times New Roman"/>
              </a:rPr>
              <a:t>secondary</a:t>
            </a:r>
            <a:r>
              <a:rPr sz="1600" spc="10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0000"/>
                </a:solidFill>
                <a:latin typeface="Times New Roman"/>
                <a:cs typeface="Times New Roman"/>
              </a:rPr>
              <a:t>waves</a:t>
            </a:r>
            <a:r>
              <a:rPr sz="16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to</a:t>
            </a:r>
            <a:r>
              <a:rPr sz="1600" spc="105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arise</a:t>
            </a:r>
            <a:r>
              <a:rPr sz="1600" spc="85" dirty="0">
                <a:latin typeface="Times New Roman"/>
                <a:cs typeface="Times New Roman"/>
              </a:rPr>
              <a:t> </a:t>
            </a:r>
            <a:r>
              <a:rPr sz="1600" spc="-30" dirty="0">
                <a:latin typeface="Times New Roman"/>
                <a:cs typeface="Times New Roman"/>
              </a:rPr>
              <a:t>(in</a:t>
            </a:r>
            <a:r>
              <a:rPr sz="1600" spc="1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any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conceivable </a:t>
            </a:r>
            <a:r>
              <a:rPr sz="1600" spc="-385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direction)</a:t>
            </a:r>
            <a:r>
              <a:rPr sz="1600" spc="160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from</a:t>
            </a:r>
            <a:r>
              <a:rPr sz="1600" spc="55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the</a:t>
            </a:r>
            <a:r>
              <a:rPr sz="1600" spc="85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obstructing</a:t>
            </a:r>
            <a:r>
              <a:rPr sz="1600" spc="200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surface.</a:t>
            </a:r>
            <a:endParaRPr sz="1600">
              <a:latin typeface="Times New Roman"/>
              <a:cs typeface="Times New Roman"/>
            </a:endParaRPr>
          </a:p>
          <a:p>
            <a:pPr marL="228600" indent="-228600">
              <a:lnSpc>
                <a:spcPts val="1839"/>
              </a:lnSpc>
              <a:buFont typeface="Wingdings"/>
              <a:buChar char=""/>
              <a:tabLst>
                <a:tab pos="228600" algn="l"/>
              </a:tabLst>
            </a:pPr>
            <a:r>
              <a:rPr sz="1600" spc="-10" dirty="0">
                <a:latin typeface="Times New Roman"/>
                <a:cs typeface="Times New Roman"/>
              </a:rPr>
              <a:t>There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is</a:t>
            </a:r>
            <a:r>
              <a:rPr sz="1600" spc="7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possibility</a:t>
            </a:r>
            <a:r>
              <a:rPr sz="1600" spc="300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that</a:t>
            </a:r>
            <a:r>
              <a:rPr sz="1600" spc="50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the secondary</a:t>
            </a:r>
            <a:r>
              <a:rPr sz="1600" spc="10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waves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can</a:t>
            </a:r>
            <a:r>
              <a:rPr sz="1600" spc="100" dirty="0">
                <a:latin typeface="Times New Roman"/>
                <a:cs typeface="Times New Roman"/>
              </a:rPr>
              <a:t> </a:t>
            </a:r>
            <a:r>
              <a:rPr sz="1600" spc="-5" dirty="0">
                <a:solidFill>
                  <a:srgbClr val="FF0000"/>
                </a:solidFill>
                <a:latin typeface="Times New Roman"/>
                <a:cs typeface="Times New Roman"/>
              </a:rPr>
              <a:t>bend</a:t>
            </a:r>
            <a:r>
              <a:rPr sz="160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FF0000"/>
                </a:solidFill>
                <a:latin typeface="Times New Roman"/>
                <a:cs typeface="Times New Roman"/>
              </a:rPr>
              <a:t>around</a:t>
            </a:r>
            <a:endParaRPr sz="1600">
              <a:latin typeface="Times New Roman"/>
              <a:cs typeface="Times New Roman"/>
            </a:endParaRPr>
          </a:p>
          <a:p>
            <a:pPr marL="228600" marR="475615">
              <a:lnSpc>
                <a:spcPts val="1900"/>
              </a:lnSpc>
              <a:spcBef>
                <a:spcPts val="160"/>
              </a:spcBef>
            </a:pPr>
            <a:r>
              <a:rPr sz="1600" spc="-15" dirty="0">
                <a:latin typeface="Times New Roman"/>
                <a:cs typeface="Times New Roman"/>
              </a:rPr>
              <a:t>the </a:t>
            </a:r>
            <a:r>
              <a:rPr sz="1600" spc="-20" dirty="0">
                <a:latin typeface="Times New Roman"/>
                <a:cs typeface="Times New Roman"/>
              </a:rPr>
              <a:t>obstacle </a:t>
            </a:r>
            <a:r>
              <a:rPr sz="1600" spc="-5" dirty="0">
                <a:latin typeface="Times New Roman"/>
                <a:cs typeface="Times New Roman"/>
              </a:rPr>
              <a:t>and </a:t>
            </a:r>
            <a:r>
              <a:rPr sz="1600" spc="-15" dirty="0">
                <a:latin typeface="Times New Roman"/>
                <a:cs typeface="Times New Roman"/>
              </a:rPr>
              <a:t>provide </a:t>
            </a:r>
            <a:r>
              <a:rPr sz="1600" spc="-10" dirty="0">
                <a:latin typeface="Times New Roman"/>
                <a:cs typeface="Times New Roman"/>
              </a:rPr>
              <a:t>an </a:t>
            </a:r>
            <a:r>
              <a:rPr sz="1600" spc="-25" dirty="0">
                <a:latin typeface="Times New Roman"/>
                <a:cs typeface="Times New Roman"/>
              </a:rPr>
              <a:t>almost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spc="-35" dirty="0">
                <a:solidFill>
                  <a:srgbClr val="FF0000"/>
                </a:solidFill>
                <a:latin typeface="Times New Roman"/>
                <a:cs typeface="Times New Roman"/>
              </a:rPr>
              <a:t>artificial</a:t>
            </a:r>
            <a:r>
              <a:rPr sz="16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600" spc="20" dirty="0">
                <a:solidFill>
                  <a:srgbClr val="FF0000"/>
                </a:solidFill>
                <a:latin typeface="Times New Roman"/>
                <a:cs typeface="Times New Roman"/>
              </a:rPr>
              <a:t>LOS </a:t>
            </a:r>
            <a:r>
              <a:rPr sz="1600" spc="-10" dirty="0">
                <a:latin typeface="Times New Roman"/>
                <a:cs typeface="Times New Roman"/>
              </a:rPr>
              <a:t>between </a:t>
            </a:r>
            <a:r>
              <a:rPr sz="1600" spc="-385" dirty="0">
                <a:latin typeface="Times New Roman"/>
                <a:cs typeface="Times New Roman"/>
              </a:rPr>
              <a:t> </a:t>
            </a:r>
            <a:r>
              <a:rPr sz="1600" spc="-30" dirty="0">
                <a:latin typeface="Times New Roman"/>
                <a:cs typeface="Times New Roman"/>
              </a:rPr>
              <a:t>transmitter</a:t>
            </a:r>
            <a:r>
              <a:rPr sz="1600" spc="26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and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35" dirty="0">
                <a:latin typeface="Times New Roman"/>
                <a:cs typeface="Times New Roman"/>
              </a:rPr>
              <a:t>receiver.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742949" y="5759450"/>
            <a:ext cx="6083300" cy="3416300"/>
          </a:xfrm>
          <a:custGeom>
            <a:avLst/>
            <a:gdLst/>
            <a:ahLst/>
            <a:cxnLst/>
            <a:rect l="l" t="t" r="r" b="b"/>
            <a:pathLst>
              <a:path w="6083300" h="3416300">
                <a:moveTo>
                  <a:pt x="0" y="0"/>
                </a:moveTo>
                <a:lnTo>
                  <a:pt x="6083300" y="0"/>
                </a:lnTo>
                <a:lnTo>
                  <a:pt x="6083300" y="3416300"/>
                </a:lnTo>
                <a:lnTo>
                  <a:pt x="0" y="341630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25805" y="423674"/>
            <a:ext cx="508634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40" dirty="0">
                <a:latin typeface="Calibri"/>
                <a:cs typeface="Calibri"/>
              </a:rPr>
              <a:t>8</a:t>
            </a:r>
            <a:r>
              <a:rPr sz="1300" spc="-5" dirty="0">
                <a:latin typeface="Calibri"/>
                <a:cs typeface="Calibri"/>
              </a:rPr>
              <a:t>/</a:t>
            </a:r>
            <a:r>
              <a:rPr sz="1300" spc="40" dirty="0">
                <a:latin typeface="Calibri"/>
                <a:cs typeface="Calibri"/>
              </a:rPr>
              <a:t>5</a:t>
            </a:r>
            <a:r>
              <a:rPr sz="1300" spc="-5" dirty="0">
                <a:latin typeface="Calibri"/>
                <a:cs typeface="Calibri"/>
              </a:rPr>
              <a:t>/</a:t>
            </a:r>
            <a:r>
              <a:rPr sz="1300" spc="40" dirty="0">
                <a:latin typeface="Calibri"/>
                <a:cs typeface="Calibri"/>
              </a:rPr>
              <a:t>20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4294967295"/>
          </p:nvPr>
        </p:nvSpPr>
        <p:spPr>
          <a:xfrm>
            <a:off x="7272707" y="9942514"/>
            <a:ext cx="255587" cy="227012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3</a:t>
            </a:fld>
            <a:endParaRPr dirty="0"/>
          </a:p>
        </p:txBody>
      </p:sp>
      <p:sp>
        <p:nvSpPr>
          <p:cNvPr id="8" name="object 8"/>
          <p:cNvSpPr txBox="1"/>
          <p:nvPr/>
        </p:nvSpPr>
        <p:spPr>
          <a:xfrm>
            <a:off x="754113" y="2301796"/>
            <a:ext cx="5995035" cy="2245999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444500" marR="538480" indent="-228600">
              <a:lnSpc>
                <a:spcPct val="104200"/>
              </a:lnSpc>
              <a:spcBef>
                <a:spcPts val="20"/>
              </a:spcBef>
              <a:buFont typeface="Wingdings"/>
              <a:buChar char=""/>
              <a:tabLst>
                <a:tab pos="445134" algn="l"/>
              </a:tabLst>
            </a:pPr>
            <a:r>
              <a:rPr sz="1600" spc="-25" dirty="0">
                <a:latin typeface="Times New Roman"/>
                <a:cs typeface="Times New Roman"/>
              </a:rPr>
              <a:t>Diffraction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is </a:t>
            </a:r>
            <a:r>
              <a:rPr sz="1600" spc="-5" dirty="0">
                <a:latin typeface="Times New Roman"/>
                <a:cs typeface="Times New Roman"/>
              </a:rPr>
              <a:t>dependent </a:t>
            </a:r>
            <a:r>
              <a:rPr sz="1600" dirty="0">
                <a:latin typeface="Times New Roman"/>
                <a:cs typeface="Times New Roman"/>
              </a:rPr>
              <a:t>on: </a:t>
            </a:r>
            <a:r>
              <a:rPr sz="1600" spc="-25" dirty="0">
                <a:latin typeface="Times New Roman"/>
                <a:cs typeface="Times New Roman"/>
              </a:rPr>
              <a:t>frequency, amplitude,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phase, </a:t>
            </a:r>
            <a:r>
              <a:rPr sz="1600" spc="-5" dirty="0">
                <a:latin typeface="Times New Roman"/>
                <a:cs typeface="Times New Roman"/>
              </a:rPr>
              <a:t>and </a:t>
            </a:r>
            <a:r>
              <a:rPr sz="1600" spc="-385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the</a:t>
            </a:r>
            <a:r>
              <a:rPr sz="1600" spc="80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angle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65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arrival</a:t>
            </a:r>
            <a:r>
              <a:rPr sz="1600" spc="5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60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the incident</a:t>
            </a:r>
            <a:r>
              <a:rPr sz="1600" spc="15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wave.</a:t>
            </a:r>
          </a:p>
          <a:p>
            <a:pPr marL="444500" marR="634365" indent="-228600">
              <a:lnSpc>
                <a:spcPts val="1900"/>
              </a:lnSpc>
              <a:spcBef>
                <a:spcPts val="60"/>
              </a:spcBef>
              <a:buFont typeface="Wingdings"/>
              <a:buChar char=""/>
              <a:tabLst>
                <a:tab pos="445134" algn="l"/>
              </a:tabLst>
            </a:pPr>
            <a:r>
              <a:rPr sz="1600" b="1" i="1" spc="-20" dirty="0">
                <a:solidFill>
                  <a:srgbClr val="FF0000"/>
                </a:solidFill>
                <a:latin typeface="Times New Roman"/>
                <a:cs typeface="Times New Roman"/>
              </a:rPr>
              <a:t>Scattering</a:t>
            </a:r>
            <a:r>
              <a:rPr sz="1600" b="1" i="1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occurs </a:t>
            </a:r>
            <a:r>
              <a:rPr sz="1600" spc="5" dirty="0">
                <a:latin typeface="Times New Roman"/>
                <a:cs typeface="Times New Roman"/>
              </a:rPr>
              <a:t>when </a:t>
            </a:r>
            <a:r>
              <a:rPr sz="1600" spc="-15" dirty="0">
                <a:latin typeface="Times New Roman"/>
                <a:cs typeface="Times New Roman"/>
              </a:rPr>
              <a:t>the </a:t>
            </a:r>
            <a:r>
              <a:rPr sz="1600" spc="-20" dirty="0">
                <a:latin typeface="Times New Roman"/>
                <a:cs typeface="Times New Roman"/>
              </a:rPr>
              <a:t>radio </a:t>
            </a:r>
            <a:r>
              <a:rPr sz="1600" spc="5" dirty="0">
                <a:latin typeface="Times New Roman"/>
                <a:cs typeface="Times New Roman"/>
              </a:rPr>
              <a:t>wave </a:t>
            </a:r>
            <a:r>
              <a:rPr sz="1600" spc="-25" dirty="0">
                <a:latin typeface="Times New Roman"/>
                <a:cs typeface="Times New Roman"/>
              </a:rPr>
              <a:t>travels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through </a:t>
            </a:r>
            <a:r>
              <a:rPr sz="1600" dirty="0">
                <a:latin typeface="Times New Roman"/>
                <a:cs typeface="Times New Roman"/>
              </a:rPr>
              <a:t>a 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medium</a:t>
            </a:r>
            <a:r>
              <a:rPr sz="1600" spc="55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consisting</a:t>
            </a:r>
            <a:r>
              <a:rPr sz="1600" spc="20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65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objects</a:t>
            </a:r>
            <a:r>
              <a:rPr sz="1600" spc="75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with</a:t>
            </a:r>
            <a:r>
              <a:rPr sz="1600" spc="100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dimensions</a:t>
            </a:r>
            <a:r>
              <a:rPr sz="1600" spc="75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that</a:t>
            </a:r>
            <a:r>
              <a:rPr sz="1600" spc="55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are</a:t>
            </a:r>
            <a:r>
              <a:rPr sz="1600" spc="85" dirty="0">
                <a:latin typeface="Times New Roman"/>
                <a:cs typeface="Times New Roman"/>
              </a:rPr>
              <a:t> </a:t>
            </a:r>
            <a:r>
              <a:rPr sz="1600" spc="-30" dirty="0">
                <a:latin typeface="Times New Roman"/>
                <a:cs typeface="Times New Roman"/>
              </a:rPr>
              <a:t>small </a:t>
            </a:r>
            <a:r>
              <a:rPr sz="1600" spc="-385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compared</a:t>
            </a:r>
            <a:r>
              <a:rPr sz="1600" spc="95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to</a:t>
            </a:r>
            <a:r>
              <a:rPr sz="1600" spc="100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the </a:t>
            </a:r>
            <a:r>
              <a:rPr sz="1600" spc="-25" dirty="0">
                <a:latin typeface="Times New Roman"/>
                <a:cs typeface="Times New Roman"/>
              </a:rPr>
              <a:t>wave’s</a:t>
            </a:r>
            <a:r>
              <a:rPr sz="1600" spc="7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wavelength.</a:t>
            </a:r>
            <a:endParaRPr sz="1600" dirty="0">
              <a:latin typeface="Times New Roman"/>
              <a:cs typeface="Times New Roman"/>
            </a:endParaRPr>
          </a:p>
          <a:p>
            <a:pPr marL="444500" indent="-229235">
              <a:lnSpc>
                <a:spcPts val="1839"/>
              </a:lnSpc>
              <a:buFont typeface="Wingdings"/>
              <a:buChar char=""/>
              <a:tabLst>
                <a:tab pos="445134" algn="l"/>
              </a:tabLst>
            </a:pPr>
            <a:r>
              <a:rPr sz="1600" spc="-20" dirty="0">
                <a:latin typeface="Times New Roman"/>
                <a:cs typeface="Times New Roman"/>
              </a:rPr>
              <a:t>In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such</a:t>
            </a:r>
            <a:r>
              <a:rPr sz="1600" spc="9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case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the</a:t>
            </a:r>
            <a:r>
              <a:rPr sz="1600" spc="8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number</a:t>
            </a:r>
            <a:r>
              <a:rPr sz="1600" spc="6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such</a:t>
            </a:r>
            <a:r>
              <a:rPr sz="1600" spc="95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particles</a:t>
            </a:r>
            <a:r>
              <a:rPr sz="1600" spc="17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per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unit</a:t>
            </a:r>
            <a:r>
              <a:rPr sz="1600" spc="50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volume</a:t>
            </a:r>
            <a:r>
              <a:rPr sz="1600" spc="85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are</a:t>
            </a:r>
            <a:endParaRPr sz="1600" dirty="0">
              <a:latin typeface="Times New Roman"/>
              <a:cs typeface="Times New Roman"/>
            </a:endParaRPr>
          </a:p>
          <a:p>
            <a:pPr marL="444500">
              <a:lnSpc>
                <a:spcPts val="1910"/>
              </a:lnSpc>
              <a:spcBef>
                <a:spcPts val="80"/>
              </a:spcBef>
            </a:pPr>
            <a:r>
              <a:rPr sz="1600" spc="-20" dirty="0">
                <a:latin typeface="Times New Roman"/>
                <a:cs typeface="Times New Roman"/>
              </a:rPr>
              <a:t>usually</a:t>
            </a:r>
            <a:r>
              <a:rPr sz="1600" spc="75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very</a:t>
            </a:r>
            <a:r>
              <a:rPr sz="1600" spc="75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large.</a:t>
            </a:r>
            <a:endParaRPr sz="1600" dirty="0">
              <a:latin typeface="Times New Roman"/>
              <a:cs typeface="Times New Roman"/>
            </a:endParaRPr>
          </a:p>
          <a:p>
            <a:pPr marL="444500" marR="1008380" indent="-228600">
              <a:lnSpc>
                <a:spcPts val="1900"/>
              </a:lnSpc>
              <a:spcBef>
                <a:spcPts val="70"/>
              </a:spcBef>
              <a:buFont typeface="Wingdings"/>
              <a:buChar char=""/>
              <a:tabLst>
                <a:tab pos="445134" algn="l"/>
              </a:tabLst>
            </a:pPr>
            <a:r>
              <a:rPr sz="1600" spc="-20" dirty="0">
                <a:latin typeface="Times New Roman"/>
                <a:cs typeface="Times New Roman"/>
              </a:rPr>
              <a:t>Scattered</a:t>
            </a:r>
            <a:r>
              <a:rPr sz="1600" spc="19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waves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arise</a:t>
            </a:r>
            <a:r>
              <a:rPr sz="1600" spc="80" dirty="0">
                <a:latin typeface="Times New Roman"/>
                <a:cs typeface="Times New Roman"/>
              </a:rPr>
              <a:t> </a:t>
            </a:r>
            <a:r>
              <a:rPr sz="1600" spc="5" dirty="0">
                <a:latin typeface="Times New Roman"/>
                <a:cs typeface="Times New Roman"/>
              </a:rPr>
              <a:t>when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the</a:t>
            </a:r>
            <a:r>
              <a:rPr sz="1600" spc="-20" dirty="0">
                <a:latin typeface="Times New Roman"/>
                <a:cs typeface="Times New Roman"/>
              </a:rPr>
              <a:t> radio</a:t>
            </a:r>
            <a:r>
              <a:rPr sz="1600" spc="95" dirty="0">
                <a:latin typeface="Times New Roman"/>
                <a:cs typeface="Times New Roman"/>
              </a:rPr>
              <a:t> </a:t>
            </a:r>
            <a:r>
              <a:rPr sz="1600" spc="5" dirty="0">
                <a:latin typeface="Times New Roman"/>
                <a:cs typeface="Times New Roman"/>
              </a:rPr>
              <a:t>wave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meets</a:t>
            </a:r>
            <a:r>
              <a:rPr sz="1600" spc="7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rough </a:t>
            </a:r>
            <a:r>
              <a:rPr sz="1600" spc="-385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surfaces</a:t>
            </a:r>
            <a:r>
              <a:rPr sz="1600" spc="17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or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spc="-30" dirty="0">
                <a:latin typeface="Times New Roman"/>
                <a:cs typeface="Times New Roman"/>
              </a:rPr>
              <a:t>small</a:t>
            </a:r>
            <a:r>
              <a:rPr sz="1600" spc="155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objects</a:t>
            </a:r>
            <a:r>
              <a:rPr sz="1600" spc="75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in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the</a:t>
            </a:r>
            <a:r>
              <a:rPr sz="1600" spc="85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channel.</a:t>
            </a:r>
            <a:endParaRPr sz="1600" dirty="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14743" y="1460500"/>
            <a:ext cx="6083300" cy="3416300"/>
          </a:xfrm>
          <a:custGeom>
            <a:avLst/>
            <a:gdLst/>
            <a:ahLst/>
            <a:cxnLst/>
            <a:rect l="l" t="t" r="r" b="b"/>
            <a:pathLst>
              <a:path w="6083300" h="3416300">
                <a:moveTo>
                  <a:pt x="0" y="0"/>
                </a:moveTo>
                <a:lnTo>
                  <a:pt x="6083300" y="0"/>
                </a:lnTo>
                <a:lnTo>
                  <a:pt x="6083300" y="3416300"/>
                </a:lnTo>
                <a:lnTo>
                  <a:pt x="0" y="341630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7" name="object 17"/>
          <p:cNvGrpSpPr/>
          <p:nvPr/>
        </p:nvGrpSpPr>
        <p:grpSpPr>
          <a:xfrm>
            <a:off x="708393" y="5721351"/>
            <a:ext cx="6096000" cy="3429000"/>
            <a:chOff x="736599" y="5753100"/>
            <a:chExt cx="6096000" cy="3429000"/>
          </a:xfrm>
        </p:grpSpPr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76175" y="6772398"/>
              <a:ext cx="3578735" cy="1876301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742949" y="5759450"/>
              <a:ext cx="6083300" cy="3416300"/>
            </a:xfrm>
            <a:custGeom>
              <a:avLst/>
              <a:gdLst/>
              <a:ahLst/>
              <a:cxnLst/>
              <a:rect l="l" t="t" r="r" b="b"/>
              <a:pathLst>
                <a:path w="6083300" h="3416300">
                  <a:moveTo>
                    <a:pt x="0" y="0"/>
                  </a:moveTo>
                  <a:lnTo>
                    <a:pt x="6083300" y="0"/>
                  </a:lnTo>
                  <a:lnTo>
                    <a:pt x="6083300" y="3416300"/>
                  </a:lnTo>
                  <a:lnTo>
                    <a:pt x="0" y="34163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Rectangle 20"/>
          <p:cNvSpPr/>
          <p:nvPr/>
        </p:nvSpPr>
        <p:spPr>
          <a:xfrm flipH="1">
            <a:off x="869387" y="6005090"/>
            <a:ext cx="180232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spc="10" dirty="0">
                <a:solidFill>
                  <a:srgbClr val="FF0000"/>
                </a:solidFill>
                <a:latin typeface="Cambria"/>
                <a:cs typeface="Cambria"/>
              </a:rPr>
              <a:t>Reflection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54011" y="455423"/>
            <a:ext cx="508634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40" dirty="0">
                <a:latin typeface="Calibri"/>
                <a:cs typeface="Calibri"/>
              </a:rPr>
              <a:t>8</a:t>
            </a:r>
            <a:r>
              <a:rPr sz="1300" spc="-5" dirty="0">
                <a:latin typeface="Calibri"/>
                <a:cs typeface="Calibri"/>
              </a:rPr>
              <a:t>/</a:t>
            </a:r>
            <a:r>
              <a:rPr sz="1300" spc="40" dirty="0">
                <a:latin typeface="Calibri"/>
                <a:cs typeface="Calibri"/>
              </a:rPr>
              <a:t>5</a:t>
            </a:r>
            <a:r>
              <a:rPr sz="1300" spc="-5" dirty="0">
                <a:latin typeface="Calibri"/>
                <a:cs typeface="Calibri"/>
              </a:rPr>
              <a:t>/</a:t>
            </a:r>
            <a:r>
              <a:rPr sz="1300" spc="40" dirty="0">
                <a:latin typeface="Calibri"/>
                <a:cs typeface="Calibri"/>
              </a:rPr>
              <a:t>20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sldNum" sz="quarter" idx="4294967295"/>
          </p:nvPr>
        </p:nvSpPr>
        <p:spPr>
          <a:xfrm>
            <a:off x="7300913" y="9974263"/>
            <a:ext cx="255587" cy="227012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4</a:t>
            </a:fld>
            <a:endParaRPr dirty="0"/>
          </a:p>
        </p:txBody>
      </p:sp>
      <p:sp>
        <p:nvSpPr>
          <p:cNvPr id="10" name="object 10"/>
          <p:cNvSpPr txBox="1"/>
          <p:nvPr/>
        </p:nvSpPr>
        <p:spPr>
          <a:xfrm>
            <a:off x="1012600" y="2280025"/>
            <a:ext cx="13366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000" b="1" spc="35" dirty="0">
                <a:solidFill>
                  <a:srgbClr val="FF0000"/>
                </a:solidFill>
                <a:latin typeface="Cambria"/>
                <a:cs typeface="Cambria"/>
              </a:rPr>
              <a:t>Diffraction</a:t>
            </a:r>
            <a:endParaRPr sz="2000">
              <a:latin typeface="Cambria"/>
              <a:cs typeface="Cambri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736599" y="1485899"/>
            <a:ext cx="6096000" cy="3429000"/>
            <a:chOff x="736599" y="1485899"/>
            <a:chExt cx="6096000" cy="3429000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69031" y="2458882"/>
              <a:ext cx="3929153" cy="1884516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742949" y="1492249"/>
              <a:ext cx="6083300" cy="3416300"/>
            </a:xfrm>
            <a:custGeom>
              <a:avLst/>
              <a:gdLst/>
              <a:ahLst/>
              <a:cxnLst/>
              <a:rect l="l" t="t" r="r" b="b"/>
              <a:pathLst>
                <a:path w="6083300" h="3416300">
                  <a:moveTo>
                    <a:pt x="0" y="0"/>
                  </a:moveTo>
                  <a:lnTo>
                    <a:pt x="6083300" y="0"/>
                  </a:lnTo>
                  <a:lnTo>
                    <a:pt x="6083300" y="3416300"/>
                  </a:lnTo>
                  <a:lnTo>
                    <a:pt x="0" y="34163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7" name="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36599" y="8902700"/>
            <a:ext cx="6096000" cy="76200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782319" y="8937307"/>
            <a:ext cx="106743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400" b="1" spc="-15" dirty="0">
                <a:solidFill>
                  <a:srgbClr val="005599"/>
                </a:solidFill>
                <a:latin typeface="Times New Roman"/>
                <a:cs typeface="Times New Roman"/>
              </a:rPr>
              <a:t>CoICT</a:t>
            </a:r>
            <a:r>
              <a:rPr sz="1400" b="1" spc="-30" dirty="0">
                <a:solidFill>
                  <a:srgbClr val="005599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005599"/>
                </a:solidFill>
                <a:latin typeface="Times New Roman"/>
                <a:cs typeface="Times New Roman"/>
              </a:rPr>
              <a:t>–</a:t>
            </a:r>
            <a:r>
              <a:rPr sz="1400" b="1" spc="5" dirty="0">
                <a:solidFill>
                  <a:srgbClr val="005599"/>
                </a:solidFill>
                <a:latin typeface="Times New Roman"/>
                <a:cs typeface="Times New Roman"/>
              </a:rPr>
              <a:t> </a:t>
            </a:r>
            <a:r>
              <a:rPr sz="1400" b="1" spc="-35" dirty="0">
                <a:solidFill>
                  <a:srgbClr val="005599"/>
                </a:solidFill>
                <a:latin typeface="Times New Roman"/>
                <a:cs typeface="Times New Roman"/>
              </a:rPr>
              <a:t>ETE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268720" y="8937307"/>
            <a:ext cx="508634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400" b="1" spc="-35" dirty="0">
                <a:solidFill>
                  <a:srgbClr val="005599"/>
                </a:solidFill>
                <a:latin typeface="Times New Roman"/>
                <a:cs typeface="Times New Roman"/>
              </a:rPr>
              <a:t>TE</a:t>
            </a:r>
            <a:r>
              <a:rPr sz="1400" b="1" dirty="0">
                <a:solidFill>
                  <a:srgbClr val="005599"/>
                </a:solidFill>
                <a:latin typeface="Times New Roman"/>
                <a:cs typeface="Times New Roman"/>
              </a:rPr>
              <a:t>414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736599" y="5753100"/>
            <a:ext cx="6096000" cy="3429000"/>
            <a:chOff x="736599" y="5753100"/>
            <a:chExt cx="6096000" cy="3429000"/>
          </a:xfrm>
        </p:grpSpPr>
        <p:pic>
          <p:nvPicPr>
            <p:cNvPr id="22" name="object 2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21947" y="6921500"/>
              <a:ext cx="4864156" cy="1860024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742949" y="5759450"/>
              <a:ext cx="6083300" cy="3416300"/>
            </a:xfrm>
            <a:custGeom>
              <a:avLst/>
              <a:gdLst/>
              <a:ahLst/>
              <a:cxnLst/>
              <a:rect l="l" t="t" r="r" b="b"/>
              <a:pathLst>
                <a:path w="6083300" h="3416300">
                  <a:moveTo>
                    <a:pt x="0" y="0"/>
                  </a:moveTo>
                  <a:lnTo>
                    <a:pt x="6083300" y="0"/>
                  </a:lnTo>
                  <a:lnTo>
                    <a:pt x="6083300" y="3416300"/>
                  </a:lnTo>
                  <a:lnTo>
                    <a:pt x="0" y="34163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Rectangle 24"/>
          <p:cNvSpPr/>
          <p:nvPr/>
        </p:nvSpPr>
        <p:spPr>
          <a:xfrm>
            <a:off x="996551" y="5971143"/>
            <a:ext cx="12507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spc="-10" dirty="0">
                <a:solidFill>
                  <a:srgbClr val="FF0000"/>
                </a:solidFill>
                <a:latin typeface="Cambria"/>
                <a:cs typeface="Cambria"/>
              </a:rPr>
              <a:t>Scattering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54011" y="455423"/>
            <a:ext cx="508634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40" dirty="0">
                <a:latin typeface="Calibri"/>
                <a:cs typeface="Calibri"/>
              </a:rPr>
              <a:t>8</a:t>
            </a:r>
            <a:r>
              <a:rPr sz="1300" spc="-5" dirty="0">
                <a:latin typeface="Calibri"/>
                <a:cs typeface="Calibri"/>
              </a:rPr>
              <a:t>/</a:t>
            </a:r>
            <a:r>
              <a:rPr sz="1300" spc="40" dirty="0">
                <a:latin typeface="Calibri"/>
                <a:cs typeface="Calibri"/>
              </a:rPr>
              <a:t>5</a:t>
            </a:r>
            <a:r>
              <a:rPr sz="1300" spc="-5" dirty="0">
                <a:latin typeface="Calibri"/>
                <a:cs typeface="Calibri"/>
              </a:rPr>
              <a:t>/</a:t>
            </a:r>
            <a:r>
              <a:rPr sz="1300" spc="40" dirty="0">
                <a:latin typeface="Calibri"/>
                <a:cs typeface="Calibri"/>
              </a:rPr>
              <a:t>20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4294967295"/>
          </p:nvPr>
        </p:nvSpPr>
        <p:spPr>
          <a:xfrm>
            <a:off x="7300913" y="9974263"/>
            <a:ext cx="255587" cy="227012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5</a:t>
            </a:fld>
            <a:endParaRPr dirty="0"/>
          </a:p>
        </p:txBody>
      </p:sp>
      <p:sp>
        <p:nvSpPr>
          <p:cNvPr id="10" name="object 10"/>
          <p:cNvSpPr txBox="1"/>
          <p:nvPr/>
        </p:nvSpPr>
        <p:spPr>
          <a:xfrm>
            <a:off x="953522" y="2203840"/>
            <a:ext cx="2670175" cy="22218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000" b="1" spc="195" dirty="0">
                <a:solidFill>
                  <a:srgbClr val="FF0000"/>
                </a:solidFill>
                <a:latin typeface="Cambria"/>
                <a:cs typeface="Cambria"/>
              </a:rPr>
              <a:t>M</a:t>
            </a:r>
            <a:r>
              <a:rPr sz="2000" b="1" spc="110" dirty="0">
                <a:solidFill>
                  <a:srgbClr val="FF0000"/>
                </a:solidFill>
                <a:latin typeface="Cambria"/>
                <a:cs typeface="Cambria"/>
              </a:rPr>
              <a:t>u</a:t>
            </a:r>
            <a:r>
              <a:rPr sz="2000" b="1" spc="75" dirty="0">
                <a:solidFill>
                  <a:srgbClr val="FF0000"/>
                </a:solidFill>
                <a:latin typeface="Cambria"/>
                <a:cs typeface="Cambria"/>
              </a:rPr>
              <a:t>l</a:t>
            </a:r>
            <a:r>
              <a:rPr sz="2000" b="1" spc="-35" dirty="0">
                <a:solidFill>
                  <a:srgbClr val="FF0000"/>
                </a:solidFill>
                <a:latin typeface="Cambria"/>
                <a:cs typeface="Cambria"/>
              </a:rPr>
              <a:t>t</a:t>
            </a:r>
            <a:r>
              <a:rPr sz="2000" b="1" spc="65" dirty="0">
                <a:solidFill>
                  <a:srgbClr val="FF0000"/>
                </a:solidFill>
                <a:latin typeface="Cambria"/>
                <a:cs typeface="Cambria"/>
              </a:rPr>
              <a:t>i</a:t>
            </a:r>
            <a:r>
              <a:rPr sz="2000" b="1" dirty="0">
                <a:solidFill>
                  <a:srgbClr val="FF0000"/>
                </a:solidFill>
                <a:latin typeface="Cambria"/>
                <a:cs typeface="Cambria"/>
              </a:rPr>
              <a:t>p</a:t>
            </a:r>
            <a:r>
              <a:rPr sz="2000" b="1" spc="-85" dirty="0">
                <a:solidFill>
                  <a:srgbClr val="FF0000"/>
                </a:solidFill>
                <a:latin typeface="Cambria"/>
                <a:cs typeface="Cambria"/>
              </a:rPr>
              <a:t>a</a:t>
            </a:r>
            <a:r>
              <a:rPr sz="2000" b="1" spc="-25" dirty="0">
                <a:solidFill>
                  <a:srgbClr val="FF0000"/>
                </a:solidFill>
                <a:latin typeface="Cambria"/>
                <a:cs typeface="Cambria"/>
              </a:rPr>
              <a:t>t</a:t>
            </a:r>
            <a:r>
              <a:rPr sz="2000" b="1" spc="25" dirty="0">
                <a:solidFill>
                  <a:srgbClr val="FF0000"/>
                </a:solidFill>
                <a:latin typeface="Cambria"/>
                <a:cs typeface="Cambria"/>
              </a:rPr>
              <a:t>h</a:t>
            </a:r>
            <a:r>
              <a:rPr sz="2000" b="1" spc="-6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b="1" spc="-35" dirty="0">
                <a:solidFill>
                  <a:srgbClr val="FF0000"/>
                </a:solidFill>
                <a:latin typeface="Cambria"/>
                <a:cs typeface="Cambria"/>
              </a:rPr>
              <a:t>P</a:t>
            </a:r>
            <a:r>
              <a:rPr sz="2000" b="1" spc="-125" dirty="0">
                <a:solidFill>
                  <a:srgbClr val="FF0000"/>
                </a:solidFill>
                <a:latin typeface="Cambria"/>
                <a:cs typeface="Cambria"/>
              </a:rPr>
              <a:t>r</a:t>
            </a:r>
            <a:r>
              <a:rPr sz="2000" b="1" spc="-45" dirty="0">
                <a:solidFill>
                  <a:srgbClr val="FF0000"/>
                </a:solidFill>
                <a:latin typeface="Cambria"/>
                <a:cs typeface="Cambria"/>
              </a:rPr>
              <a:t>o</a:t>
            </a:r>
            <a:r>
              <a:rPr sz="2000" b="1" dirty="0">
                <a:solidFill>
                  <a:srgbClr val="FF0000"/>
                </a:solidFill>
                <a:latin typeface="Cambria"/>
                <a:cs typeface="Cambria"/>
              </a:rPr>
              <a:t>pa</a:t>
            </a:r>
            <a:r>
              <a:rPr sz="2000" b="1" spc="-15" dirty="0">
                <a:solidFill>
                  <a:srgbClr val="FF0000"/>
                </a:solidFill>
                <a:latin typeface="Cambria"/>
                <a:cs typeface="Cambria"/>
              </a:rPr>
              <a:t>g</a:t>
            </a:r>
            <a:r>
              <a:rPr sz="2000" b="1" spc="-85" dirty="0">
                <a:solidFill>
                  <a:srgbClr val="FF0000"/>
                </a:solidFill>
                <a:latin typeface="Cambria"/>
                <a:cs typeface="Cambria"/>
              </a:rPr>
              <a:t>a</a:t>
            </a:r>
            <a:r>
              <a:rPr sz="2000" b="1" spc="-25" dirty="0">
                <a:solidFill>
                  <a:srgbClr val="FF0000"/>
                </a:solidFill>
                <a:latin typeface="Cambria"/>
                <a:cs typeface="Cambria"/>
              </a:rPr>
              <a:t>t</a:t>
            </a:r>
            <a:r>
              <a:rPr sz="2000" b="1" spc="65" dirty="0">
                <a:solidFill>
                  <a:srgbClr val="FF0000"/>
                </a:solidFill>
                <a:latin typeface="Cambria"/>
                <a:cs typeface="Cambria"/>
              </a:rPr>
              <a:t>i</a:t>
            </a:r>
            <a:r>
              <a:rPr sz="2000" b="1" spc="-45" dirty="0">
                <a:solidFill>
                  <a:srgbClr val="FF0000"/>
                </a:solidFill>
                <a:latin typeface="Cambria"/>
                <a:cs typeface="Cambria"/>
              </a:rPr>
              <a:t>o</a:t>
            </a:r>
            <a:r>
              <a:rPr sz="2000" b="1" spc="10" dirty="0">
                <a:solidFill>
                  <a:srgbClr val="FF0000"/>
                </a:solidFill>
                <a:latin typeface="Cambria"/>
                <a:cs typeface="Cambria"/>
              </a:rPr>
              <a:t>n</a:t>
            </a:r>
            <a:endParaRPr sz="2000">
              <a:latin typeface="Cambria"/>
              <a:cs typeface="Cambria"/>
            </a:endParaRPr>
          </a:p>
          <a:p>
            <a:pPr marL="346710" marR="257175" indent="-228600">
              <a:lnSpc>
                <a:spcPct val="100699"/>
              </a:lnSpc>
              <a:spcBef>
                <a:spcPts val="1360"/>
              </a:spcBef>
              <a:buFont typeface="Wingdings"/>
              <a:buChar char=""/>
              <a:tabLst>
                <a:tab pos="347345" algn="l"/>
              </a:tabLst>
            </a:pPr>
            <a:r>
              <a:rPr sz="1600" spc="-30" dirty="0">
                <a:latin typeface="Times New Roman"/>
                <a:cs typeface="Times New Roman"/>
              </a:rPr>
              <a:t>Waves </a:t>
            </a:r>
            <a:r>
              <a:rPr sz="1600" spc="-20" dirty="0">
                <a:latin typeface="Times New Roman"/>
                <a:cs typeface="Times New Roman"/>
              </a:rPr>
              <a:t>travel</a:t>
            </a:r>
            <a:r>
              <a:rPr sz="1600" spc="-15" dirty="0">
                <a:latin typeface="Times New Roman"/>
                <a:cs typeface="Times New Roman"/>
              </a:rPr>
              <a:t> along 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20" dirty="0">
                <a:solidFill>
                  <a:srgbClr val="FF0000"/>
                </a:solidFill>
                <a:latin typeface="Times New Roman"/>
                <a:cs typeface="Times New Roman"/>
              </a:rPr>
              <a:t>different</a:t>
            </a:r>
            <a:r>
              <a:rPr sz="1600" spc="1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600" spc="-15" dirty="0">
                <a:solidFill>
                  <a:srgbClr val="FF0000"/>
                </a:solidFill>
                <a:latin typeface="Times New Roman"/>
                <a:cs typeface="Times New Roman"/>
              </a:rPr>
              <a:t>paths</a:t>
            </a:r>
            <a:r>
              <a:rPr sz="1600" spc="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-55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varying </a:t>
            </a:r>
            <a:r>
              <a:rPr sz="1600" spc="-385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lengths</a:t>
            </a:r>
            <a:r>
              <a:rPr sz="1600" spc="55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cause</a:t>
            </a:r>
            <a:r>
              <a:rPr sz="1600" spc="70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Multipath 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propagation</a:t>
            </a:r>
            <a:endParaRPr sz="1600">
              <a:latin typeface="Times New Roman"/>
              <a:cs typeface="Times New Roman"/>
            </a:endParaRPr>
          </a:p>
          <a:p>
            <a:pPr marL="346710" marR="177800" indent="-228600">
              <a:lnSpc>
                <a:spcPts val="1900"/>
              </a:lnSpc>
              <a:spcBef>
                <a:spcPts val="60"/>
              </a:spcBef>
              <a:buFont typeface="Wingdings"/>
              <a:buChar char=""/>
              <a:tabLst>
                <a:tab pos="347345" algn="l"/>
              </a:tabLst>
            </a:pPr>
            <a:r>
              <a:rPr sz="1600" spc="-25" dirty="0">
                <a:solidFill>
                  <a:srgbClr val="FF0000"/>
                </a:solidFill>
                <a:latin typeface="Times New Roman"/>
                <a:cs typeface="Times New Roman"/>
              </a:rPr>
              <a:t>Interaction</a:t>
            </a:r>
            <a:r>
              <a:rPr sz="16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 </a:t>
            </a:r>
            <a:r>
              <a:rPr sz="1600" spc="-20" dirty="0">
                <a:latin typeface="Times New Roman"/>
                <a:cs typeface="Times New Roman"/>
              </a:rPr>
              <a:t>these </a:t>
            </a:r>
            <a:r>
              <a:rPr sz="1600" dirty="0">
                <a:latin typeface="Times New Roman"/>
                <a:cs typeface="Times New Roman"/>
              </a:rPr>
              <a:t>waves </a:t>
            </a:r>
            <a:r>
              <a:rPr sz="1600" spc="-38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can </a:t>
            </a:r>
            <a:r>
              <a:rPr sz="1600" dirty="0">
                <a:latin typeface="Times New Roman"/>
                <a:cs typeface="Times New Roman"/>
              </a:rPr>
              <a:t>be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spc="-20" dirty="0">
                <a:solidFill>
                  <a:srgbClr val="FF0000"/>
                </a:solidFill>
                <a:latin typeface="Times New Roman"/>
                <a:cs typeface="Times New Roman"/>
              </a:rPr>
              <a:t>constructive</a:t>
            </a:r>
            <a:r>
              <a:rPr sz="1600" spc="27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or</a:t>
            </a:r>
            <a:endParaRPr sz="1600">
              <a:latin typeface="Times New Roman"/>
              <a:cs typeface="Times New Roman"/>
            </a:endParaRPr>
          </a:p>
          <a:p>
            <a:pPr marL="346710">
              <a:lnSpc>
                <a:spcPct val="100000"/>
              </a:lnSpc>
              <a:spcBef>
                <a:spcPts val="20"/>
              </a:spcBef>
            </a:pPr>
            <a:r>
              <a:rPr sz="1600" spc="-25" dirty="0">
                <a:solidFill>
                  <a:srgbClr val="FF0000"/>
                </a:solidFill>
                <a:latin typeface="Times New Roman"/>
                <a:cs typeface="Times New Roman"/>
              </a:rPr>
              <a:t>destructive</a:t>
            </a:r>
            <a:endParaRPr sz="1600">
              <a:latin typeface="Times New Roman"/>
              <a:cs typeface="Times New Roman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736599" y="1485899"/>
            <a:ext cx="6096000" cy="3429000"/>
            <a:chOff x="736599" y="1485899"/>
            <a:chExt cx="6096000" cy="3429000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98240" y="2222498"/>
              <a:ext cx="3032760" cy="226734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742949" y="1492249"/>
              <a:ext cx="6083300" cy="3416300"/>
            </a:xfrm>
            <a:custGeom>
              <a:avLst/>
              <a:gdLst/>
              <a:ahLst/>
              <a:cxnLst/>
              <a:rect l="l" t="t" r="r" b="b"/>
              <a:pathLst>
                <a:path w="6083300" h="3416300">
                  <a:moveTo>
                    <a:pt x="0" y="0"/>
                  </a:moveTo>
                  <a:lnTo>
                    <a:pt x="6083300" y="0"/>
                  </a:lnTo>
                  <a:lnTo>
                    <a:pt x="6083300" y="3416300"/>
                  </a:lnTo>
                  <a:lnTo>
                    <a:pt x="0" y="34163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8" name="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36599" y="8902700"/>
            <a:ext cx="6096000" cy="76200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782319" y="8937307"/>
            <a:ext cx="106743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400" b="1" spc="-15" dirty="0">
                <a:solidFill>
                  <a:srgbClr val="005599"/>
                </a:solidFill>
                <a:latin typeface="Times New Roman"/>
                <a:cs typeface="Times New Roman"/>
              </a:rPr>
              <a:t>CoICT</a:t>
            </a:r>
            <a:r>
              <a:rPr sz="1400" b="1" spc="-30" dirty="0">
                <a:solidFill>
                  <a:srgbClr val="005599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005599"/>
                </a:solidFill>
                <a:latin typeface="Times New Roman"/>
                <a:cs typeface="Times New Roman"/>
              </a:rPr>
              <a:t>–</a:t>
            </a:r>
            <a:r>
              <a:rPr sz="1400" b="1" spc="5" dirty="0">
                <a:solidFill>
                  <a:srgbClr val="005599"/>
                </a:solidFill>
                <a:latin typeface="Times New Roman"/>
                <a:cs typeface="Times New Roman"/>
              </a:rPr>
              <a:t> </a:t>
            </a:r>
            <a:r>
              <a:rPr sz="1400" b="1" spc="-35" dirty="0">
                <a:solidFill>
                  <a:srgbClr val="005599"/>
                </a:solidFill>
                <a:latin typeface="Times New Roman"/>
                <a:cs typeface="Times New Roman"/>
              </a:rPr>
              <a:t>ETE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268720" y="8937307"/>
            <a:ext cx="508634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400" b="1" spc="-35" dirty="0">
                <a:solidFill>
                  <a:srgbClr val="005599"/>
                </a:solidFill>
                <a:latin typeface="Times New Roman"/>
                <a:cs typeface="Times New Roman"/>
              </a:rPr>
              <a:t>TE</a:t>
            </a:r>
            <a:r>
              <a:rPr sz="1400" b="1" dirty="0">
                <a:solidFill>
                  <a:srgbClr val="005599"/>
                </a:solidFill>
                <a:latin typeface="Times New Roman"/>
                <a:cs typeface="Times New Roman"/>
              </a:rPr>
              <a:t>414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012600" y="6413325"/>
            <a:ext cx="5390515" cy="2034539"/>
          </a:xfrm>
          <a:prstGeom prst="rect">
            <a:avLst/>
          </a:prstGeom>
        </p:spPr>
        <p:txBody>
          <a:bodyPr vert="horz" wrap="square" lIns="0" tIns="14668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55"/>
              </a:spcBef>
            </a:pPr>
            <a:r>
              <a:rPr sz="2000" b="1" spc="-15" dirty="0">
                <a:solidFill>
                  <a:srgbClr val="FF0000"/>
                </a:solidFill>
                <a:latin typeface="Cambria"/>
                <a:cs typeface="Cambria"/>
              </a:rPr>
              <a:t>What</a:t>
            </a:r>
            <a:r>
              <a:rPr sz="2000" b="1" spc="6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b="1" spc="15" dirty="0">
                <a:solidFill>
                  <a:srgbClr val="FF0000"/>
                </a:solidFill>
                <a:latin typeface="Cambria"/>
                <a:cs typeface="Cambria"/>
              </a:rPr>
              <a:t>is</a:t>
            </a:r>
            <a:r>
              <a:rPr sz="2000" b="1" spc="-4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ambria"/>
                <a:cs typeface="Cambria"/>
              </a:rPr>
              <a:t>Fading?</a:t>
            </a:r>
            <a:endParaRPr sz="2000">
              <a:latin typeface="Cambria"/>
              <a:cs typeface="Cambria"/>
            </a:endParaRPr>
          </a:p>
          <a:p>
            <a:pPr marL="228600" marR="5080" indent="-228600">
              <a:lnSpc>
                <a:spcPct val="101600"/>
              </a:lnSpc>
              <a:spcBef>
                <a:spcPts val="810"/>
              </a:spcBef>
              <a:buFont typeface="Wingdings"/>
              <a:buChar char=""/>
              <a:tabLst>
                <a:tab pos="228600" algn="l"/>
              </a:tabLst>
            </a:pPr>
            <a:r>
              <a:rPr sz="1600" spc="-10" dirty="0">
                <a:latin typeface="Times New Roman"/>
                <a:cs typeface="Times New Roman"/>
              </a:rPr>
              <a:t>Fading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refers</a:t>
            </a:r>
            <a:r>
              <a:rPr sz="1600" spc="175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to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the</a:t>
            </a:r>
            <a:r>
              <a:rPr sz="1600" spc="90" dirty="0">
                <a:latin typeface="Times New Roman"/>
                <a:cs typeface="Times New Roman"/>
              </a:rPr>
              <a:t> </a:t>
            </a:r>
            <a:r>
              <a:rPr sz="1600" spc="-25" dirty="0">
                <a:solidFill>
                  <a:srgbClr val="FF0000"/>
                </a:solidFill>
                <a:latin typeface="Times New Roman"/>
                <a:cs typeface="Times New Roman"/>
              </a:rPr>
              <a:t>variation</a:t>
            </a:r>
            <a:r>
              <a:rPr sz="1600" spc="20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the</a:t>
            </a:r>
            <a:r>
              <a:rPr sz="1600" spc="85" dirty="0">
                <a:latin typeface="Times New Roman"/>
                <a:cs typeface="Times New Roman"/>
              </a:rPr>
              <a:t> </a:t>
            </a:r>
            <a:r>
              <a:rPr sz="1600" spc="-15" dirty="0">
                <a:solidFill>
                  <a:srgbClr val="FF0000"/>
                </a:solidFill>
                <a:latin typeface="Times New Roman"/>
                <a:cs typeface="Times New Roman"/>
              </a:rPr>
              <a:t>signal</a:t>
            </a:r>
            <a:r>
              <a:rPr sz="1600" spc="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600" spc="-25" dirty="0">
                <a:solidFill>
                  <a:srgbClr val="FF0000"/>
                </a:solidFill>
                <a:latin typeface="Times New Roman"/>
                <a:cs typeface="Times New Roman"/>
              </a:rPr>
              <a:t>strength</a:t>
            </a:r>
            <a:r>
              <a:rPr sz="1600" spc="10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with</a:t>
            </a:r>
            <a:r>
              <a:rPr sz="1600" spc="100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respect </a:t>
            </a:r>
            <a:r>
              <a:rPr sz="1600" spc="-385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to </a:t>
            </a:r>
            <a:r>
              <a:rPr sz="1600" spc="-20" dirty="0">
                <a:latin typeface="Times New Roman"/>
                <a:cs typeface="Times New Roman"/>
              </a:rPr>
              <a:t>different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-20" dirty="0">
                <a:solidFill>
                  <a:srgbClr val="FF0000"/>
                </a:solidFill>
                <a:latin typeface="Times New Roman"/>
                <a:cs typeface="Times New Roman"/>
              </a:rPr>
              <a:t>variables</a:t>
            </a:r>
            <a:r>
              <a:rPr sz="16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and </a:t>
            </a:r>
            <a:r>
              <a:rPr sz="1600" spc="-25" dirty="0">
                <a:latin typeface="Times New Roman"/>
                <a:cs typeface="Times New Roman"/>
              </a:rPr>
              <a:t>is </a:t>
            </a:r>
            <a:r>
              <a:rPr sz="1600" spc="-15" dirty="0">
                <a:latin typeface="Times New Roman"/>
                <a:cs typeface="Times New Roman"/>
              </a:rPr>
              <a:t>widely dominant </a:t>
            </a:r>
            <a:r>
              <a:rPr sz="1600" spc="-25" dirty="0">
                <a:latin typeface="Times New Roman"/>
                <a:cs typeface="Times New Roman"/>
              </a:rPr>
              <a:t>in </a:t>
            </a:r>
            <a:r>
              <a:rPr sz="1600" spc="-20" dirty="0">
                <a:latin typeface="Times New Roman"/>
                <a:cs typeface="Times New Roman"/>
              </a:rPr>
              <a:t>wireless 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transmissions.</a:t>
            </a:r>
            <a:endParaRPr sz="1600">
              <a:latin typeface="Times New Roman"/>
              <a:cs typeface="Times New Roman"/>
            </a:endParaRPr>
          </a:p>
          <a:p>
            <a:pPr marL="228600" marR="112395" indent="-228600">
              <a:lnSpc>
                <a:spcPts val="1900"/>
              </a:lnSpc>
              <a:spcBef>
                <a:spcPts val="60"/>
              </a:spcBef>
              <a:buFont typeface="Wingdings"/>
              <a:buChar char=""/>
              <a:tabLst>
                <a:tab pos="228600" algn="l"/>
              </a:tabLst>
            </a:pPr>
            <a:r>
              <a:rPr sz="1600" spc="-5" dirty="0">
                <a:latin typeface="Times New Roman"/>
                <a:cs typeface="Times New Roman"/>
              </a:rPr>
              <a:t>These</a:t>
            </a:r>
            <a:r>
              <a:rPr sz="1600" spc="-20" dirty="0">
                <a:latin typeface="Times New Roman"/>
                <a:cs typeface="Times New Roman"/>
              </a:rPr>
              <a:t> variables</a:t>
            </a:r>
            <a:r>
              <a:rPr sz="1600" spc="170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include</a:t>
            </a:r>
            <a:r>
              <a:rPr sz="1600" spc="85" dirty="0">
                <a:latin typeface="Times New Roman"/>
                <a:cs typeface="Times New Roman"/>
              </a:rPr>
              <a:t> </a:t>
            </a:r>
            <a:r>
              <a:rPr sz="1600" spc="-30" dirty="0">
                <a:latin typeface="Times New Roman"/>
                <a:cs typeface="Times New Roman"/>
              </a:rPr>
              <a:t>time,</a:t>
            </a:r>
            <a:r>
              <a:rPr sz="1600" spc="195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geographical</a:t>
            </a:r>
            <a:r>
              <a:rPr sz="1600" spc="55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position,</a:t>
            </a:r>
            <a:r>
              <a:rPr sz="1600" spc="19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and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radio </a:t>
            </a:r>
            <a:r>
              <a:rPr sz="1600" spc="-385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frequency.</a:t>
            </a:r>
            <a:endParaRPr sz="1600">
              <a:latin typeface="Times New Roman"/>
              <a:cs typeface="Times New Roman"/>
            </a:endParaRPr>
          </a:p>
          <a:p>
            <a:pPr marL="228600" indent="-228600">
              <a:lnSpc>
                <a:spcPts val="1839"/>
              </a:lnSpc>
              <a:buFont typeface="Wingdings"/>
              <a:buChar char=""/>
              <a:tabLst>
                <a:tab pos="228600" algn="l"/>
              </a:tabLst>
            </a:pPr>
            <a:r>
              <a:rPr sz="1600" spc="-10" dirty="0">
                <a:latin typeface="Times New Roman"/>
                <a:cs typeface="Times New Roman"/>
              </a:rPr>
              <a:t>Fading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is</a:t>
            </a:r>
            <a:r>
              <a:rPr sz="1600" spc="70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often</a:t>
            </a:r>
            <a:r>
              <a:rPr sz="1600" spc="95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modeled</a:t>
            </a:r>
            <a:r>
              <a:rPr sz="1600" spc="9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as</a:t>
            </a:r>
            <a:r>
              <a:rPr sz="1600" spc="7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FF0000"/>
                </a:solidFill>
                <a:latin typeface="Times New Roman"/>
                <a:cs typeface="Times New Roman"/>
              </a:rPr>
              <a:t>random</a:t>
            </a:r>
            <a:r>
              <a:rPr sz="1600" spc="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600" spc="-15" dirty="0">
                <a:solidFill>
                  <a:srgbClr val="FF0000"/>
                </a:solidFill>
                <a:latin typeface="Times New Roman"/>
                <a:cs typeface="Times New Roman"/>
              </a:rPr>
              <a:t>process</a:t>
            </a:r>
            <a:r>
              <a:rPr sz="1600" spc="-15" dirty="0">
                <a:latin typeface="Times New Roman"/>
                <a:cs typeface="Times New Roman"/>
              </a:rPr>
              <a:t>.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742949" y="5753100"/>
            <a:ext cx="6083300" cy="3422650"/>
          </a:xfrm>
          <a:custGeom>
            <a:avLst/>
            <a:gdLst/>
            <a:ahLst/>
            <a:cxnLst/>
            <a:rect l="l" t="t" r="r" b="b"/>
            <a:pathLst>
              <a:path w="6083300" h="3416300">
                <a:moveTo>
                  <a:pt x="0" y="0"/>
                </a:moveTo>
                <a:lnTo>
                  <a:pt x="6083300" y="0"/>
                </a:lnTo>
                <a:lnTo>
                  <a:pt x="6083300" y="3416300"/>
                </a:lnTo>
                <a:lnTo>
                  <a:pt x="0" y="341630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54011" y="455423"/>
            <a:ext cx="508634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40" dirty="0">
                <a:latin typeface="Calibri"/>
                <a:cs typeface="Calibri"/>
              </a:rPr>
              <a:t>8</a:t>
            </a:r>
            <a:r>
              <a:rPr sz="1300" spc="-5" dirty="0">
                <a:latin typeface="Calibri"/>
                <a:cs typeface="Calibri"/>
              </a:rPr>
              <a:t>/</a:t>
            </a:r>
            <a:r>
              <a:rPr sz="1300" spc="40" dirty="0">
                <a:latin typeface="Calibri"/>
                <a:cs typeface="Calibri"/>
              </a:rPr>
              <a:t>5</a:t>
            </a:r>
            <a:r>
              <a:rPr sz="1300" spc="-5" dirty="0">
                <a:latin typeface="Calibri"/>
                <a:cs typeface="Calibri"/>
              </a:rPr>
              <a:t>/</a:t>
            </a:r>
            <a:r>
              <a:rPr sz="1300" spc="40" dirty="0">
                <a:latin typeface="Calibri"/>
                <a:cs typeface="Calibri"/>
              </a:rPr>
              <a:t>20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4294967295"/>
          </p:nvPr>
        </p:nvSpPr>
        <p:spPr>
          <a:xfrm>
            <a:off x="7300913" y="9974263"/>
            <a:ext cx="255587" cy="227012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6</a:t>
            </a:fld>
            <a:endParaRPr dirty="0"/>
          </a:p>
        </p:txBody>
      </p:sp>
      <p:sp>
        <p:nvSpPr>
          <p:cNvPr id="9" name="object 9"/>
          <p:cNvSpPr/>
          <p:nvPr/>
        </p:nvSpPr>
        <p:spPr>
          <a:xfrm>
            <a:off x="742949" y="1492249"/>
            <a:ext cx="6083300" cy="3416300"/>
          </a:xfrm>
          <a:custGeom>
            <a:avLst/>
            <a:gdLst/>
            <a:ahLst/>
            <a:cxnLst/>
            <a:rect l="l" t="t" r="r" b="b"/>
            <a:pathLst>
              <a:path w="6083300" h="3416300">
                <a:moveTo>
                  <a:pt x="0" y="0"/>
                </a:moveTo>
                <a:lnTo>
                  <a:pt x="6083300" y="0"/>
                </a:lnTo>
                <a:lnTo>
                  <a:pt x="6083300" y="3416300"/>
                </a:lnTo>
                <a:lnTo>
                  <a:pt x="0" y="341630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749299" y="5852587"/>
            <a:ext cx="607060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2075" algn="ctr">
              <a:lnSpc>
                <a:spcPct val="100000"/>
              </a:lnSpc>
              <a:spcBef>
                <a:spcPts val="100"/>
              </a:spcBef>
            </a:pPr>
            <a:r>
              <a:rPr sz="2700" spc="-50" dirty="0">
                <a:solidFill>
                  <a:srgbClr val="FFFFFF"/>
                </a:solidFill>
                <a:latin typeface="Times New Roman"/>
                <a:cs typeface="Times New Roman"/>
              </a:rPr>
              <a:t>U</a:t>
            </a:r>
            <a:r>
              <a:rPr sz="2700" spc="50" dirty="0">
                <a:solidFill>
                  <a:srgbClr val="FFFFFF"/>
                </a:solidFill>
                <a:latin typeface="Times New Roman"/>
                <a:cs typeface="Times New Roman"/>
              </a:rPr>
              <a:t>niv</a:t>
            </a:r>
            <a:r>
              <a:rPr sz="2700" dirty="0">
                <a:solidFill>
                  <a:srgbClr val="FFFFFF"/>
                </a:solidFill>
                <a:latin typeface="Times New Roman"/>
                <a:cs typeface="Times New Roman"/>
              </a:rPr>
              <a:t>er</a:t>
            </a:r>
            <a:r>
              <a:rPr sz="2700" spc="50" dirty="0">
                <a:solidFill>
                  <a:srgbClr val="FFFFFF"/>
                </a:solidFill>
                <a:latin typeface="Times New Roman"/>
                <a:cs typeface="Times New Roman"/>
              </a:rPr>
              <a:t>sit</a:t>
            </a:r>
            <a:r>
              <a:rPr sz="2700" dirty="0">
                <a:solidFill>
                  <a:srgbClr val="FFFFFF"/>
                </a:solidFill>
                <a:latin typeface="Times New Roman"/>
                <a:cs typeface="Times New Roman"/>
              </a:rPr>
              <a:t>y</a:t>
            </a:r>
            <a:r>
              <a:rPr sz="2700" spc="-229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700" spc="50" dirty="0">
                <a:solidFill>
                  <a:srgbClr val="FFFFFF"/>
                </a:solidFill>
                <a:latin typeface="Times New Roman"/>
                <a:cs typeface="Times New Roman"/>
              </a:rPr>
              <a:t>o</a:t>
            </a:r>
            <a:r>
              <a:rPr sz="2700" dirty="0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r>
              <a:rPr sz="27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700" spc="-50" dirty="0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sz="2700" dirty="0">
                <a:solidFill>
                  <a:srgbClr val="FFFFFF"/>
                </a:solidFill>
                <a:latin typeface="Times New Roman"/>
                <a:cs typeface="Times New Roman"/>
              </a:rPr>
              <a:t>ar</a:t>
            </a:r>
            <a:r>
              <a:rPr sz="2700"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700" dirty="0">
                <a:solidFill>
                  <a:srgbClr val="FFFFFF"/>
                </a:solidFill>
                <a:latin typeface="Times New Roman"/>
                <a:cs typeface="Times New Roman"/>
              </a:rPr>
              <a:t>es</a:t>
            </a:r>
            <a:r>
              <a:rPr sz="2700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700" spc="-5" dirty="0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sz="27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700" spc="50" dirty="0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sz="2700" dirty="0">
                <a:solidFill>
                  <a:srgbClr val="FFFFFF"/>
                </a:solidFill>
                <a:latin typeface="Times New Roman"/>
                <a:cs typeface="Times New Roman"/>
              </a:rPr>
              <a:t>aam</a:t>
            </a:r>
            <a:endParaRPr sz="27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82319" y="6271227"/>
            <a:ext cx="5995035" cy="2590324"/>
          </a:xfrm>
          <a:prstGeom prst="rect">
            <a:avLst/>
          </a:prstGeom>
        </p:spPr>
        <p:txBody>
          <a:bodyPr vert="horz" wrap="square" lIns="0" tIns="165735" rIns="0" bIns="0" rtlCol="0">
            <a:spAutoFit/>
          </a:bodyPr>
          <a:lstStyle/>
          <a:p>
            <a:pPr marL="229870">
              <a:lnSpc>
                <a:spcPct val="100000"/>
              </a:lnSpc>
              <a:spcBef>
                <a:spcPts val="1305"/>
              </a:spcBef>
            </a:pPr>
            <a:r>
              <a:rPr sz="2000" b="1" spc="-15" dirty="0">
                <a:solidFill>
                  <a:srgbClr val="FF0000"/>
                </a:solidFill>
                <a:latin typeface="Cambria"/>
                <a:cs typeface="Cambria"/>
              </a:rPr>
              <a:t>What</a:t>
            </a:r>
            <a:r>
              <a:rPr sz="2000" b="1" spc="7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b="1" spc="15" dirty="0">
                <a:solidFill>
                  <a:srgbClr val="FF0000"/>
                </a:solidFill>
                <a:latin typeface="Cambria"/>
                <a:cs typeface="Cambria"/>
              </a:rPr>
              <a:t>is</a:t>
            </a:r>
            <a:r>
              <a:rPr sz="2000" b="1" spc="-4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b="1" spc="15" dirty="0">
                <a:solidFill>
                  <a:srgbClr val="FF0000"/>
                </a:solidFill>
                <a:latin typeface="Cambria"/>
                <a:cs typeface="Cambria"/>
              </a:rPr>
              <a:t>Fading?.....</a:t>
            </a:r>
            <a:endParaRPr sz="2000" dirty="0">
              <a:latin typeface="Cambria"/>
              <a:cs typeface="Cambria"/>
            </a:endParaRPr>
          </a:p>
          <a:p>
            <a:pPr marL="458470" marR="511175" indent="-228600">
              <a:lnSpc>
                <a:spcPct val="104200"/>
              </a:lnSpc>
              <a:spcBef>
                <a:spcPts val="885"/>
              </a:spcBef>
              <a:buFont typeface="Wingdings"/>
              <a:buChar char=""/>
              <a:tabLst>
                <a:tab pos="459105" algn="l"/>
              </a:tabLst>
            </a:pPr>
            <a:r>
              <a:rPr sz="1600" spc="5" dirty="0">
                <a:latin typeface="Times New Roman"/>
                <a:cs typeface="Times New Roman"/>
              </a:rPr>
              <a:t>The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spc="-35" dirty="0">
                <a:solidFill>
                  <a:srgbClr val="FF0000"/>
                </a:solidFill>
                <a:latin typeface="Times New Roman"/>
                <a:cs typeface="Times New Roman"/>
              </a:rPr>
              <a:t>time</a:t>
            </a:r>
            <a:r>
              <a:rPr sz="1600" spc="8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600" spc="-25" dirty="0">
                <a:solidFill>
                  <a:srgbClr val="FF0000"/>
                </a:solidFill>
                <a:latin typeface="Times New Roman"/>
                <a:cs typeface="Times New Roman"/>
              </a:rPr>
              <a:t>variation</a:t>
            </a:r>
            <a:r>
              <a:rPr sz="1600" spc="20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65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received</a:t>
            </a:r>
            <a:r>
              <a:rPr sz="1600" spc="100" dirty="0">
                <a:latin typeface="Times New Roman"/>
                <a:cs typeface="Times New Roman"/>
              </a:rPr>
              <a:t> </a:t>
            </a:r>
            <a:r>
              <a:rPr sz="1600" spc="-15" dirty="0">
                <a:solidFill>
                  <a:srgbClr val="FF0000"/>
                </a:solidFill>
                <a:latin typeface="Times New Roman"/>
                <a:cs typeface="Times New Roman"/>
              </a:rPr>
              <a:t>signal</a:t>
            </a:r>
            <a:r>
              <a:rPr sz="1600" spc="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600" spc="5" dirty="0">
                <a:solidFill>
                  <a:srgbClr val="FF0000"/>
                </a:solidFill>
                <a:latin typeface="Times New Roman"/>
                <a:cs typeface="Times New Roman"/>
              </a:rPr>
              <a:t>power</a:t>
            </a:r>
            <a:r>
              <a:rPr sz="16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due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to</a:t>
            </a:r>
            <a:r>
              <a:rPr sz="1600" spc="10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changes</a:t>
            </a:r>
            <a:r>
              <a:rPr sz="1600" spc="-25" dirty="0">
                <a:latin typeface="Times New Roman"/>
                <a:cs typeface="Times New Roman"/>
              </a:rPr>
              <a:t> in </a:t>
            </a:r>
            <a:r>
              <a:rPr sz="1600" spc="-385" dirty="0">
                <a:latin typeface="Times New Roman"/>
                <a:cs typeface="Times New Roman"/>
              </a:rPr>
              <a:t> </a:t>
            </a:r>
            <a:r>
              <a:rPr sz="1600" spc="-30" dirty="0">
                <a:latin typeface="Times New Roman"/>
                <a:cs typeface="Times New Roman"/>
              </a:rPr>
              <a:t>transmission</a:t>
            </a:r>
            <a:r>
              <a:rPr sz="1600" spc="300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medium</a:t>
            </a:r>
            <a:r>
              <a:rPr sz="1600" spc="5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or</a:t>
            </a:r>
            <a:r>
              <a:rPr sz="1600" spc="65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paths</a:t>
            </a:r>
            <a:r>
              <a:rPr sz="1600" spc="75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is </a:t>
            </a:r>
            <a:r>
              <a:rPr sz="1600" spc="5" dirty="0">
                <a:latin typeface="Times New Roman"/>
                <a:cs typeface="Times New Roman"/>
              </a:rPr>
              <a:t>known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as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fading</a:t>
            </a:r>
            <a:r>
              <a:rPr sz="1600" spc="-10" dirty="0">
                <a:latin typeface="Times New Roman"/>
                <a:cs typeface="Times New Roman"/>
              </a:rPr>
              <a:t>.</a:t>
            </a:r>
            <a:endParaRPr sz="1600" dirty="0">
              <a:latin typeface="Times New Roman"/>
              <a:cs typeface="Times New Roman"/>
            </a:endParaRPr>
          </a:p>
          <a:p>
            <a:pPr marL="458470" marR="130175" indent="-228600">
              <a:lnSpc>
                <a:spcPts val="1900"/>
              </a:lnSpc>
              <a:spcBef>
                <a:spcPts val="60"/>
              </a:spcBef>
              <a:buFont typeface="Wingdings"/>
              <a:buChar char=""/>
              <a:tabLst>
                <a:tab pos="459105" algn="l"/>
              </a:tabLst>
            </a:pPr>
            <a:r>
              <a:rPr sz="1600" spc="-10" dirty="0">
                <a:latin typeface="Times New Roman"/>
                <a:cs typeface="Times New Roman"/>
              </a:rPr>
              <a:t>Fading </a:t>
            </a:r>
            <a:r>
              <a:rPr sz="1600" spc="-5" dirty="0">
                <a:latin typeface="Times New Roman"/>
                <a:cs typeface="Times New Roman"/>
              </a:rPr>
              <a:t>depends </a:t>
            </a:r>
            <a:r>
              <a:rPr sz="1600" dirty="0">
                <a:latin typeface="Times New Roman"/>
                <a:cs typeface="Times New Roman"/>
              </a:rPr>
              <a:t>on </a:t>
            </a:r>
            <a:r>
              <a:rPr sz="1600" spc="-15" dirty="0">
                <a:latin typeface="Times New Roman"/>
                <a:cs typeface="Times New Roman"/>
              </a:rPr>
              <a:t>various </a:t>
            </a:r>
            <a:r>
              <a:rPr sz="1600" spc="-25" dirty="0">
                <a:latin typeface="Times New Roman"/>
                <a:cs typeface="Times New Roman"/>
              </a:rPr>
              <a:t>factors.</a:t>
            </a:r>
            <a:r>
              <a:rPr sz="1600" spc="-20" dirty="0">
                <a:latin typeface="Times New Roman"/>
                <a:cs typeface="Times New Roman"/>
              </a:rPr>
              <a:t> In </a:t>
            </a:r>
            <a:r>
              <a:rPr sz="1600" spc="-20" dirty="0">
                <a:solidFill>
                  <a:srgbClr val="FF0000"/>
                </a:solidFill>
                <a:latin typeface="Times New Roman"/>
                <a:cs typeface="Times New Roman"/>
              </a:rPr>
              <a:t>fixed</a:t>
            </a:r>
            <a:r>
              <a:rPr sz="16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scenario,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fading 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depends</a:t>
            </a:r>
            <a:r>
              <a:rPr sz="1600" spc="7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on </a:t>
            </a:r>
            <a:r>
              <a:rPr sz="1600" spc="-25" dirty="0">
                <a:latin typeface="Times New Roman"/>
                <a:cs typeface="Times New Roman"/>
              </a:rPr>
              <a:t>atmospheric</a:t>
            </a:r>
            <a:r>
              <a:rPr sz="1600" spc="185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conditions</a:t>
            </a:r>
            <a:r>
              <a:rPr sz="1600" spc="7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such</a:t>
            </a:r>
            <a:r>
              <a:rPr sz="1600" spc="10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as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spc="-30" dirty="0">
                <a:solidFill>
                  <a:srgbClr val="FF0000"/>
                </a:solidFill>
                <a:latin typeface="Times New Roman"/>
                <a:cs typeface="Times New Roman"/>
              </a:rPr>
              <a:t>rainfall</a:t>
            </a:r>
            <a:r>
              <a:rPr sz="1600" spc="-30" dirty="0">
                <a:latin typeface="Times New Roman"/>
                <a:cs typeface="Times New Roman"/>
              </a:rPr>
              <a:t>,</a:t>
            </a:r>
            <a:r>
              <a:rPr sz="1600" spc="200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lightening</a:t>
            </a:r>
            <a:r>
              <a:rPr sz="1600" spc="200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etc.</a:t>
            </a:r>
            <a:endParaRPr sz="1600" dirty="0">
              <a:latin typeface="Times New Roman"/>
              <a:cs typeface="Times New Roman"/>
            </a:endParaRPr>
          </a:p>
          <a:p>
            <a:pPr marL="458470" marR="523875" indent="-228600">
              <a:lnSpc>
                <a:spcPts val="1900"/>
              </a:lnSpc>
              <a:buFont typeface="Wingdings"/>
              <a:buChar char=""/>
              <a:tabLst>
                <a:tab pos="459105" algn="l"/>
              </a:tabLst>
            </a:pPr>
            <a:r>
              <a:rPr sz="1600" spc="-20" dirty="0">
                <a:latin typeface="Times New Roman"/>
                <a:cs typeface="Times New Roman"/>
              </a:rPr>
              <a:t>In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25" dirty="0">
                <a:solidFill>
                  <a:srgbClr val="FF0000"/>
                </a:solidFill>
                <a:latin typeface="Times New Roman"/>
                <a:cs typeface="Times New Roman"/>
              </a:rPr>
              <a:t>mobile</a:t>
            </a:r>
            <a:r>
              <a:rPr sz="1600" spc="19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scenario,</a:t>
            </a:r>
            <a:r>
              <a:rPr sz="1600" spc="100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fading</a:t>
            </a:r>
            <a:r>
              <a:rPr sz="1600" spc="1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depends</a:t>
            </a:r>
            <a:r>
              <a:rPr sz="1600" spc="7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on </a:t>
            </a:r>
            <a:r>
              <a:rPr sz="1600" spc="-20" dirty="0">
                <a:solidFill>
                  <a:srgbClr val="FF0000"/>
                </a:solidFill>
                <a:latin typeface="Times New Roman"/>
                <a:cs typeface="Times New Roman"/>
              </a:rPr>
              <a:t>obstacles</a:t>
            </a:r>
            <a:r>
              <a:rPr sz="1600" spc="7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over</a:t>
            </a:r>
            <a:r>
              <a:rPr sz="1600" spc="65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the path </a:t>
            </a:r>
            <a:r>
              <a:rPr sz="1600" spc="-38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which </a:t>
            </a:r>
            <a:r>
              <a:rPr sz="1600" spc="-20" dirty="0">
                <a:latin typeface="Times New Roman"/>
                <a:cs typeface="Times New Roman"/>
              </a:rPr>
              <a:t>are</a:t>
            </a:r>
            <a:r>
              <a:rPr sz="1600" spc="90" dirty="0">
                <a:latin typeface="Times New Roman"/>
                <a:cs typeface="Times New Roman"/>
              </a:rPr>
              <a:t> </a:t>
            </a:r>
            <a:r>
              <a:rPr sz="1600" spc="-15" dirty="0">
                <a:solidFill>
                  <a:srgbClr val="FF0000"/>
                </a:solidFill>
                <a:latin typeface="Times New Roman"/>
                <a:cs typeface="Times New Roman"/>
              </a:rPr>
              <a:t>varying</a:t>
            </a:r>
            <a:r>
              <a:rPr sz="1600" spc="10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with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respect</a:t>
            </a:r>
            <a:r>
              <a:rPr sz="1600" spc="55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to</a:t>
            </a:r>
            <a:r>
              <a:rPr sz="1600" spc="100" dirty="0">
                <a:latin typeface="Times New Roman"/>
                <a:cs typeface="Times New Roman"/>
              </a:rPr>
              <a:t> </a:t>
            </a:r>
            <a:r>
              <a:rPr sz="1600" spc="-30" dirty="0">
                <a:latin typeface="Times New Roman"/>
                <a:cs typeface="Times New Roman"/>
              </a:rPr>
              <a:t>time.</a:t>
            </a:r>
            <a:endParaRPr sz="1600" dirty="0">
              <a:latin typeface="Times New Roman"/>
              <a:cs typeface="Times New Roman"/>
            </a:endParaRPr>
          </a:p>
          <a:p>
            <a:pPr marL="458470" marR="789305" indent="-228600">
              <a:lnSpc>
                <a:spcPts val="1900"/>
              </a:lnSpc>
              <a:spcBef>
                <a:spcPts val="100"/>
              </a:spcBef>
              <a:buFont typeface="Wingdings"/>
              <a:buChar char=""/>
              <a:tabLst>
                <a:tab pos="459105" algn="l"/>
              </a:tabLst>
            </a:pPr>
            <a:r>
              <a:rPr sz="1600" spc="-5" dirty="0">
                <a:latin typeface="Times New Roman"/>
                <a:cs typeface="Times New Roman"/>
              </a:rPr>
              <a:t>These </a:t>
            </a:r>
            <a:r>
              <a:rPr sz="1600" spc="-20" dirty="0">
                <a:latin typeface="Times New Roman"/>
                <a:cs typeface="Times New Roman"/>
              </a:rPr>
              <a:t>obstacles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create </a:t>
            </a:r>
            <a:r>
              <a:rPr sz="1600" spc="-20" dirty="0">
                <a:solidFill>
                  <a:srgbClr val="FF0000"/>
                </a:solidFill>
                <a:latin typeface="Times New Roman"/>
                <a:cs typeface="Times New Roman"/>
              </a:rPr>
              <a:t>complex </a:t>
            </a:r>
            <a:r>
              <a:rPr sz="1600" spc="-30" dirty="0">
                <a:solidFill>
                  <a:srgbClr val="FF0000"/>
                </a:solidFill>
                <a:latin typeface="Times New Roman"/>
                <a:cs typeface="Times New Roman"/>
              </a:rPr>
              <a:t>transmission</a:t>
            </a:r>
            <a:r>
              <a:rPr sz="1600" spc="-25" dirty="0">
                <a:solidFill>
                  <a:srgbClr val="FF0000"/>
                </a:solidFill>
                <a:latin typeface="Times New Roman"/>
                <a:cs typeface="Times New Roman"/>
              </a:rPr>
              <a:t> effects</a:t>
            </a:r>
            <a:r>
              <a:rPr sz="16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to </a:t>
            </a:r>
            <a:r>
              <a:rPr sz="1600" spc="-15" dirty="0">
                <a:latin typeface="Times New Roman"/>
                <a:cs typeface="Times New Roman"/>
              </a:rPr>
              <a:t>the </a:t>
            </a:r>
            <a:r>
              <a:rPr sz="1600" spc="-385" dirty="0">
                <a:latin typeface="Times New Roman"/>
                <a:cs typeface="Times New Roman"/>
              </a:rPr>
              <a:t> </a:t>
            </a:r>
            <a:r>
              <a:rPr sz="1600" spc="-30" dirty="0">
                <a:latin typeface="Times New Roman"/>
                <a:cs typeface="Times New Roman"/>
              </a:rPr>
              <a:t>transmitted</a:t>
            </a:r>
            <a:r>
              <a:rPr sz="1600" spc="295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signal.</a:t>
            </a:r>
            <a:endParaRPr sz="1600" dirty="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742949" y="5759450"/>
            <a:ext cx="6083300" cy="3416300"/>
          </a:xfrm>
          <a:custGeom>
            <a:avLst/>
            <a:gdLst/>
            <a:ahLst/>
            <a:cxnLst/>
            <a:rect l="l" t="t" r="r" b="b"/>
            <a:pathLst>
              <a:path w="6083300" h="3416300">
                <a:moveTo>
                  <a:pt x="0" y="0"/>
                </a:moveTo>
                <a:lnTo>
                  <a:pt x="6083300" y="0"/>
                </a:lnTo>
                <a:lnTo>
                  <a:pt x="6083300" y="3416300"/>
                </a:lnTo>
                <a:lnTo>
                  <a:pt x="0" y="341630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8"/>
          <p:cNvSpPr txBox="1"/>
          <p:nvPr/>
        </p:nvSpPr>
        <p:spPr>
          <a:xfrm>
            <a:off x="782319" y="2146125"/>
            <a:ext cx="5995035" cy="2573653"/>
          </a:xfrm>
          <a:prstGeom prst="rect">
            <a:avLst/>
          </a:prstGeom>
        </p:spPr>
        <p:txBody>
          <a:bodyPr vert="horz" wrap="square" lIns="0" tIns="146685" rIns="0" bIns="0" rtlCol="0">
            <a:spAutoFit/>
          </a:bodyPr>
          <a:lstStyle/>
          <a:p>
            <a:pPr marL="229870">
              <a:lnSpc>
                <a:spcPct val="100000"/>
              </a:lnSpc>
              <a:spcBef>
                <a:spcPts val="1155"/>
              </a:spcBef>
            </a:pPr>
            <a:r>
              <a:rPr sz="2000" b="1" spc="-15" dirty="0">
                <a:solidFill>
                  <a:srgbClr val="FF0000"/>
                </a:solidFill>
                <a:latin typeface="Cambria"/>
                <a:cs typeface="Cambria"/>
              </a:rPr>
              <a:t>What</a:t>
            </a:r>
            <a:r>
              <a:rPr sz="2000" b="1" spc="6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b="1" spc="15" dirty="0">
                <a:solidFill>
                  <a:srgbClr val="FF0000"/>
                </a:solidFill>
                <a:latin typeface="Cambria"/>
                <a:cs typeface="Cambria"/>
              </a:rPr>
              <a:t>is</a:t>
            </a:r>
            <a:r>
              <a:rPr sz="2000" b="1" spc="-4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ambria"/>
                <a:cs typeface="Cambria"/>
              </a:rPr>
              <a:t>Fading?</a:t>
            </a:r>
            <a:endParaRPr sz="2000" dirty="0">
              <a:latin typeface="Cambria"/>
              <a:cs typeface="Cambria"/>
            </a:endParaRPr>
          </a:p>
          <a:p>
            <a:pPr marL="458470" marR="457834" indent="-228600">
              <a:lnSpc>
                <a:spcPct val="104200"/>
              </a:lnSpc>
              <a:spcBef>
                <a:spcPts val="760"/>
              </a:spcBef>
              <a:buFont typeface="Wingdings"/>
              <a:buChar char=""/>
              <a:tabLst>
                <a:tab pos="459105" algn="l"/>
              </a:tabLst>
            </a:pPr>
            <a:r>
              <a:rPr sz="1600" dirty="0">
                <a:latin typeface="Times New Roman"/>
                <a:cs typeface="Times New Roman"/>
              </a:rPr>
              <a:t>A</a:t>
            </a:r>
            <a:r>
              <a:rPr sz="1600" spc="-60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fading</a:t>
            </a:r>
            <a:r>
              <a:rPr sz="1600" spc="11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channel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is</a:t>
            </a:r>
            <a:r>
              <a:rPr sz="1600" spc="8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communication</a:t>
            </a:r>
            <a:r>
              <a:rPr sz="1600" spc="31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channel</a:t>
            </a:r>
            <a:r>
              <a:rPr sz="1600" spc="60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that</a:t>
            </a:r>
            <a:r>
              <a:rPr sz="1600" spc="60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experiences </a:t>
            </a:r>
            <a:r>
              <a:rPr sz="1600" spc="-385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fading.</a:t>
            </a:r>
            <a:endParaRPr sz="1600" dirty="0">
              <a:latin typeface="Times New Roman"/>
              <a:cs typeface="Times New Roman"/>
            </a:endParaRPr>
          </a:p>
          <a:p>
            <a:pPr marL="458470" marR="250190" indent="-228600">
              <a:lnSpc>
                <a:spcPts val="1900"/>
              </a:lnSpc>
              <a:spcBef>
                <a:spcPts val="60"/>
              </a:spcBef>
              <a:buFont typeface="Wingdings"/>
              <a:buChar char=""/>
              <a:tabLst>
                <a:tab pos="459105" algn="l"/>
              </a:tabLst>
            </a:pPr>
            <a:r>
              <a:rPr sz="1600" spc="-20" dirty="0">
                <a:latin typeface="Times New Roman"/>
                <a:cs typeface="Times New Roman"/>
              </a:rPr>
              <a:t>In wireless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systems,</a:t>
            </a:r>
            <a:r>
              <a:rPr sz="1600" spc="-20" dirty="0">
                <a:latin typeface="Times New Roman"/>
                <a:cs typeface="Times New Roman"/>
              </a:rPr>
              <a:t> fading may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either </a:t>
            </a:r>
            <a:r>
              <a:rPr sz="1600" dirty="0">
                <a:latin typeface="Times New Roman"/>
                <a:cs typeface="Times New Roman"/>
              </a:rPr>
              <a:t>be due </a:t>
            </a:r>
            <a:r>
              <a:rPr sz="1600" spc="-25" dirty="0">
                <a:latin typeface="Times New Roman"/>
                <a:cs typeface="Times New Roman"/>
              </a:rPr>
              <a:t>to </a:t>
            </a:r>
            <a:r>
              <a:rPr sz="1600" spc="-30" dirty="0">
                <a:solidFill>
                  <a:srgbClr val="FF0000"/>
                </a:solidFill>
                <a:latin typeface="Times New Roman"/>
                <a:cs typeface="Times New Roman"/>
              </a:rPr>
              <a:t>multipath </a:t>
            </a:r>
            <a:r>
              <a:rPr sz="16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600" spc="-15" dirty="0">
                <a:solidFill>
                  <a:srgbClr val="FF0000"/>
                </a:solidFill>
                <a:latin typeface="Times New Roman"/>
                <a:cs typeface="Times New Roman"/>
              </a:rPr>
              <a:t>propagation</a:t>
            </a:r>
            <a:r>
              <a:rPr sz="1600" spc="-15" dirty="0">
                <a:latin typeface="Times New Roman"/>
                <a:cs typeface="Times New Roman"/>
              </a:rPr>
              <a:t>,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referred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to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as </a:t>
            </a:r>
            <a:r>
              <a:rPr sz="1600" spc="-25" dirty="0">
                <a:latin typeface="Times New Roman"/>
                <a:cs typeface="Times New Roman"/>
              </a:rPr>
              <a:t>multipath-induced</a:t>
            </a:r>
            <a:r>
              <a:rPr sz="1600" spc="-20" dirty="0">
                <a:latin typeface="Times New Roman"/>
                <a:cs typeface="Times New Roman"/>
              </a:rPr>
              <a:t> fading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due </a:t>
            </a:r>
            <a:r>
              <a:rPr sz="1600" spc="-25" dirty="0">
                <a:latin typeface="Times New Roman"/>
                <a:cs typeface="Times New Roman"/>
              </a:rPr>
              <a:t>to 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spc="-30" dirty="0">
                <a:latin typeface="Times New Roman"/>
                <a:cs typeface="Times New Roman"/>
              </a:rPr>
              <a:t>Weather</a:t>
            </a:r>
            <a:r>
              <a:rPr sz="1600" spc="340" dirty="0">
                <a:latin typeface="Times New Roman"/>
                <a:cs typeface="Times New Roman"/>
              </a:rPr>
              <a:t> </a:t>
            </a:r>
            <a:r>
              <a:rPr sz="1600" spc="-30" dirty="0">
                <a:latin typeface="Times New Roman"/>
                <a:cs typeface="Times New Roman"/>
              </a:rPr>
              <a:t>(particularly</a:t>
            </a:r>
            <a:r>
              <a:rPr sz="1600" spc="340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rain),</a:t>
            </a:r>
            <a:r>
              <a:rPr sz="1600" spc="3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or </a:t>
            </a:r>
            <a:r>
              <a:rPr sz="1600" spc="-5" dirty="0">
                <a:solidFill>
                  <a:srgbClr val="FF0000"/>
                </a:solidFill>
                <a:latin typeface="Times New Roman"/>
                <a:cs typeface="Times New Roman"/>
              </a:rPr>
              <a:t>shadowing </a:t>
            </a:r>
            <a:r>
              <a:rPr sz="1600" spc="-20" dirty="0">
                <a:solidFill>
                  <a:srgbClr val="FF0000"/>
                </a:solidFill>
                <a:latin typeface="Times New Roman"/>
                <a:cs typeface="Times New Roman"/>
              </a:rPr>
              <a:t>from obstacles </a:t>
            </a:r>
            <a:r>
              <a:rPr sz="16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affecting</a:t>
            </a:r>
            <a:r>
              <a:rPr sz="1600" spc="200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the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5" dirty="0">
                <a:latin typeface="Times New Roman"/>
                <a:cs typeface="Times New Roman"/>
              </a:rPr>
              <a:t>wave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propagation,</a:t>
            </a:r>
            <a:r>
              <a:rPr sz="1600" spc="100" dirty="0">
                <a:latin typeface="Times New Roman"/>
                <a:cs typeface="Times New Roman"/>
              </a:rPr>
              <a:t> </a:t>
            </a:r>
            <a:r>
              <a:rPr sz="1600" spc="-30" dirty="0">
                <a:latin typeface="Times New Roman"/>
                <a:cs typeface="Times New Roman"/>
              </a:rPr>
              <a:t>sometimes</a:t>
            </a:r>
            <a:r>
              <a:rPr sz="1600" spc="280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referred</a:t>
            </a:r>
            <a:r>
              <a:rPr sz="1600" spc="204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to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as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shadow</a:t>
            </a:r>
            <a:endParaRPr sz="1600" dirty="0">
              <a:latin typeface="Times New Roman"/>
              <a:cs typeface="Times New Roman"/>
            </a:endParaRPr>
          </a:p>
          <a:p>
            <a:pPr marL="458470">
              <a:lnSpc>
                <a:spcPct val="100000"/>
              </a:lnSpc>
              <a:spcBef>
                <a:spcPts val="20"/>
              </a:spcBef>
            </a:pPr>
            <a:r>
              <a:rPr sz="1600" spc="-15" dirty="0">
                <a:latin typeface="Times New Roman"/>
                <a:cs typeface="Times New Roman"/>
              </a:rPr>
              <a:t>fading.</a:t>
            </a:r>
            <a:endParaRPr sz="1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75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54011" y="455423"/>
            <a:ext cx="508634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40" dirty="0">
                <a:latin typeface="Calibri"/>
                <a:cs typeface="Calibri"/>
              </a:rPr>
              <a:t>8</a:t>
            </a:r>
            <a:r>
              <a:rPr sz="1300" spc="-5" dirty="0">
                <a:latin typeface="Calibri"/>
                <a:cs typeface="Calibri"/>
              </a:rPr>
              <a:t>/</a:t>
            </a:r>
            <a:r>
              <a:rPr sz="1300" spc="40" dirty="0">
                <a:latin typeface="Calibri"/>
                <a:cs typeface="Calibri"/>
              </a:rPr>
              <a:t>5</a:t>
            </a:r>
            <a:r>
              <a:rPr sz="1300" spc="-5" dirty="0">
                <a:latin typeface="Calibri"/>
                <a:cs typeface="Calibri"/>
              </a:rPr>
              <a:t>/</a:t>
            </a:r>
            <a:r>
              <a:rPr sz="1300" spc="40" dirty="0">
                <a:latin typeface="Calibri"/>
                <a:cs typeface="Calibri"/>
              </a:rPr>
              <a:t>20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4294967295"/>
          </p:nvPr>
        </p:nvSpPr>
        <p:spPr>
          <a:xfrm>
            <a:off x="7300913" y="9974263"/>
            <a:ext cx="255587" cy="227012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7</a:t>
            </a:fld>
            <a:endParaRPr dirty="0"/>
          </a:p>
        </p:txBody>
      </p:sp>
      <p:sp>
        <p:nvSpPr>
          <p:cNvPr id="8" name="object 8"/>
          <p:cNvSpPr txBox="1"/>
          <p:nvPr/>
        </p:nvSpPr>
        <p:spPr>
          <a:xfrm>
            <a:off x="713709" y="2012673"/>
            <a:ext cx="5995035" cy="252889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9870">
              <a:lnSpc>
                <a:spcPct val="100000"/>
              </a:lnSpc>
              <a:spcBef>
                <a:spcPts val="100"/>
              </a:spcBef>
            </a:pPr>
            <a:r>
              <a:rPr sz="2000" b="1" spc="-10" dirty="0">
                <a:solidFill>
                  <a:srgbClr val="FF0000"/>
                </a:solidFill>
                <a:latin typeface="Cambria"/>
                <a:cs typeface="Cambria"/>
              </a:rPr>
              <a:t>Types</a:t>
            </a:r>
            <a:r>
              <a:rPr sz="2000" b="1" spc="15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b="1" spc="40" dirty="0">
                <a:solidFill>
                  <a:srgbClr val="FF0000"/>
                </a:solidFill>
                <a:latin typeface="Cambria"/>
                <a:cs typeface="Cambria"/>
              </a:rPr>
              <a:t>of</a:t>
            </a:r>
            <a:r>
              <a:rPr sz="2000" b="1" spc="-3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b="1" spc="5" dirty="0">
                <a:solidFill>
                  <a:srgbClr val="FF0000"/>
                </a:solidFill>
                <a:latin typeface="Cambria"/>
                <a:cs typeface="Cambria"/>
              </a:rPr>
              <a:t>Fading</a:t>
            </a:r>
            <a:endParaRPr sz="2000" dirty="0">
              <a:latin typeface="Cambria"/>
              <a:cs typeface="Cambria"/>
            </a:endParaRPr>
          </a:p>
          <a:p>
            <a:pPr marL="521970" marR="219075" indent="-292100">
              <a:lnSpc>
                <a:spcPct val="101899"/>
              </a:lnSpc>
              <a:spcBef>
                <a:spcPts val="1964"/>
              </a:spcBef>
              <a:buFont typeface="Wingdings"/>
              <a:buChar char=""/>
              <a:tabLst>
                <a:tab pos="522605" algn="l"/>
              </a:tabLst>
            </a:pPr>
            <a:r>
              <a:rPr sz="1800" i="1" spc="-5" dirty="0">
                <a:latin typeface="Times New Roman"/>
                <a:cs typeface="Times New Roman"/>
              </a:rPr>
              <a:t>Fading</a:t>
            </a:r>
            <a:r>
              <a:rPr sz="1800" i="1" spc="5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is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used</a:t>
            </a:r>
            <a:r>
              <a:rPr sz="1800" spc="6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to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describe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fluctuations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in</a:t>
            </a:r>
            <a:r>
              <a:rPr sz="1800" spc="6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the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envelope</a:t>
            </a:r>
            <a:r>
              <a:rPr sz="1800" spc="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 </a:t>
            </a:r>
            <a:r>
              <a:rPr sz="1800" spc="-43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4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transmitted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radio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signal.</a:t>
            </a:r>
            <a:endParaRPr sz="1800" dirty="0">
              <a:latin typeface="Times New Roman"/>
              <a:cs typeface="Times New Roman"/>
            </a:endParaRPr>
          </a:p>
          <a:p>
            <a:pPr marL="521970" marR="193675" indent="-292100">
              <a:lnSpc>
                <a:spcPct val="98800"/>
              </a:lnSpc>
              <a:spcBef>
                <a:spcPts val="65"/>
              </a:spcBef>
              <a:buFont typeface="Wingdings"/>
              <a:buChar char=""/>
              <a:tabLst>
                <a:tab pos="522605" algn="l"/>
              </a:tabLst>
            </a:pPr>
            <a:r>
              <a:rPr sz="1800" dirty="0">
                <a:latin typeface="Times New Roman"/>
                <a:cs typeface="Times New Roman"/>
              </a:rPr>
              <a:t>When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speaking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such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fluctuations,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one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must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consider 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whether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FF0000"/>
                </a:solidFill>
                <a:latin typeface="Times New Roman"/>
                <a:cs typeface="Times New Roman"/>
              </a:rPr>
              <a:t>short</a:t>
            </a:r>
            <a:r>
              <a:rPr sz="1800" spc="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observation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interval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(or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FF0000"/>
                </a:solidFill>
                <a:latin typeface="Times New Roman"/>
                <a:cs typeface="Times New Roman"/>
              </a:rPr>
              <a:t>small</a:t>
            </a:r>
            <a:r>
              <a:rPr sz="1800" spc="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FF0000"/>
                </a:solidFill>
                <a:latin typeface="Times New Roman"/>
                <a:cs typeface="Times New Roman"/>
              </a:rPr>
              <a:t>distance</a:t>
            </a:r>
            <a:r>
              <a:rPr sz="1800" spc="-5" dirty="0">
                <a:latin typeface="Times New Roman"/>
                <a:cs typeface="Times New Roman"/>
              </a:rPr>
              <a:t>) </a:t>
            </a:r>
            <a:r>
              <a:rPr sz="1800" dirty="0">
                <a:latin typeface="Times New Roman"/>
                <a:cs typeface="Times New Roman"/>
              </a:rPr>
              <a:t> has</a:t>
            </a:r>
            <a:r>
              <a:rPr sz="1800" spc="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been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taken,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or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whether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sz="1800" spc="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FF0000"/>
                </a:solidFill>
                <a:latin typeface="Times New Roman"/>
                <a:cs typeface="Times New Roman"/>
              </a:rPr>
              <a:t>long</a:t>
            </a:r>
            <a:r>
              <a:rPr sz="1800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observation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interval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(or </a:t>
            </a:r>
            <a:r>
              <a:rPr sz="1800" spc="-434" dirty="0"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FF0000"/>
                </a:solidFill>
                <a:latin typeface="Times New Roman"/>
                <a:cs typeface="Times New Roman"/>
              </a:rPr>
              <a:t>large</a:t>
            </a:r>
            <a:r>
              <a:rPr sz="1800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FF0000"/>
                </a:solidFill>
                <a:latin typeface="Times New Roman"/>
                <a:cs typeface="Times New Roman"/>
              </a:rPr>
              <a:t>distance</a:t>
            </a:r>
            <a:r>
              <a:rPr sz="1800" spc="-5" dirty="0">
                <a:latin typeface="Times New Roman"/>
                <a:cs typeface="Times New Roman"/>
              </a:rPr>
              <a:t>)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has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been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taken.</a:t>
            </a:r>
            <a:endParaRPr sz="1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800" dirty="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42949" y="1492249"/>
            <a:ext cx="6083300" cy="3416300"/>
          </a:xfrm>
          <a:custGeom>
            <a:avLst/>
            <a:gdLst/>
            <a:ahLst/>
            <a:cxnLst/>
            <a:rect l="l" t="t" r="r" b="b"/>
            <a:pathLst>
              <a:path w="6083300" h="3416300">
                <a:moveTo>
                  <a:pt x="0" y="0"/>
                </a:moveTo>
                <a:lnTo>
                  <a:pt x="6083300" y="0"/>
                </a:lnTo>
                <a:lnTo>
                  <a:pt x="6083300" y="3416300"/>
                </a:lnTo>
                <a:lnTo>
                  <a:pt x="0" y="341630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6599" y="8902700"/>
            <a:ext cx="6096000" cy="76200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782319" y="8937307"/>
            <a:ext cx="106743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400" b="1" spc="-15" dirty="0">
                <a:solidFill>
                  <a:srgbClr val="005599"/>
                </a:solidFill>
                <a:latin typeface="Times New Roman"/>
                <a:cs typeface="Times New Roman"/>
              </a:rPr>
              <a:t>CoICT</a:t>
            </a:r>
            <a:r>
              <a:rPr sz="1400" b="1" spc="-30" dirty="0">
                <a:solidFill>
                  <a:srgbClr val="005599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005599"/>
                </a:solidFill>
                <a:latin typeface="Times New Roman"/>
                <a:cs typeface="Times New Roman"/>
              </a:rPr>
              <a:t>–</a:t>
            </a:r>
            <a:r>
              <a:rPr sz="1400" b="1" spc="5" dirty="0">
                <a:solidFill>
                  <a:srgbClr val="005599"/>
                </a:solidFill>
                <a:latin typeface="Times New Roman"/>
                <a:cs typeface="Times New Roman"/>
              </a:rPr>
              <a:t> </a:t>
            </a:r>
            <a:r>
              <a:rPr sz="1400" b="1" spc="-35" dirty="0">
                <a:solidFill>
                  <a:srgbClr val="005599"/>
                </a:solidFill>
                <a:latin typeface="Times New Roman"/>
                <a:cs typeface="Times New Roman"/>
              </a:rPr>
              <a:t>ETE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268720" y="8937307"/>
            <a:ext cx="508634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400" b="1" spc="-35" dirty="0">
                <a:solidFill>
                  <a:srgbClr val="005599"/>
                </a:solidFill>
                <a:latin typeface="Times New Roman"/>
                <a:cs typeface="Times New Roman"/>
              </a:rPr>
              <a:t>TE</a:t>
            </a:r>
            <a:r>
              <a:rPr sz="1400" b="1" dirty="0">
                <a:solidFill>
                  <a:srgbClr val="005599"/>
                </a:solidFill>
                <a:latin typeface="Times New Roman"/>
                <a:cs typeface="Times New Roman"/>
              </a:rPr>
              <a:t>414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49299" y="6680622"/>
            <a:ext cx="6070600" cy="1967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2890">
              <a:lnSpc>
                <a:spcPct val="100000"/>
              </a:lnSpc>
              <a:spcBef>
                <a:spcPts val="1600"/>
              </a:spcBef>
            </a:pPr>
            <a:r>
              <a:rPr sz="2000" b="1" spc="-10" dirty="0">
                <a:solidFill>
                  <a:srgbClr val="FF0000"/>
                </a:solidFill>
                <a:latin typeface="Cambria"/>
                <a:cs typeface="Cambria"/>
              </a:rPr>
              <a:t>Types</a:t>
            </a:r>
            <a:r>
              <a:rPr sz="2000" b="1" spc="15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b="1" spc="40" dirty="0">
                <a:solidFill>
                  <a:srgbClr val="FF0000"/>
                </a:solidFill>
                <a:latin typeface="Cambria"/>
                <a:cs typeface="Cambria"/>
              </a:rPr>
              <a:t>of</a:t>
            </a:r>
            <a:r>
              <a:rPr sz="2000" b="1" spc="-3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b="1" spc="5" dirty="0">
                <a:solidFill>
                  <a:srgbClr val="FF0000"/>
                </a:solidFill>
                <a:latin typeface="Cambria"/>
                <a:cs typeface="Cambria"/>
              </a:rPr>
              <a:t>Fading</a:t>
            </a:r>
            <a:endParaRPr sz="2000" dirty="0">
              <a:latin typeface="Cambria"/>
              <a:cs typeface="Cambria"/>
            </a:endParaRPr>
          </a:p>
          <a:p>
            <a:pPr marL="554990" marR="541655" indent="-292100">
              <a:lnSpc>
                <a:spcPct val="101899"/>
              </a:lnSpc>
              <a:spcBef>
                <a:spcPts val="1955"/>
              </a:spcBef>
              <a:buFont typeface="Wingdings"/>
              <a:buChar char=""/>
              <a:tabLst>
                <a:tab pos="555625" algn="l"/>
              </a:tabLst>
            </a:pPr>
            <a:r>
              <a:rPr sz="1800" spc="-5" dirty="0">
                <a:latin typeface="Times New Roman"/>
                <a:cs typeface="Times New Roman"/>
              </a:rPr>
              <a:t>Small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Scale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Fading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will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show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rapid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fluctuations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in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the </a:t>
            </a:r>
            <a:r>
              <a:rPr sz="1800" spc="-434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Times New Roman"/>
                <a:cs typeface="Times New Roman"/>
              </a:rPr>
              <a:t>signal’s</a:t>
            </a:r>
            <a:r>
              <a:rPr sz="1800" spc="4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envelope</a:t>
            </a:r>
            <a:endParaRPr sz="1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Font typeface="Wingdings"/>
              <a:buChar char=""/>
            </a:pPr>
            <a:endParaRPr sz="1800" dirty="0">
              <a:latin typeface="Times New Roman"/>
              <a:cs typeface="Times New Roman"/>
            </a:endParaRPr>
          </a:p>
          <a:p>
            <a:pPr marL="554990" marR="344805" indent="-292100">
              <a:lnSpc>
                <a:spcPct val="101899"/>
              </a:lnSpc>
              <a:buFont typeface="Wingdings"/>
              <a:buChar char=""/>
              <a:tabLst>
                <a:tab pos="555625" algn="l"/>
              </a:tabLst>
            </a:pPr>
            <a:r>
              <a:rPr sz="1800" dirty="0">
                <a:latin typeface="Times New Roman"/>
                <a:cs typeface="Times New Roman"/>
              </a:rPr>
              <a:t>Large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Scale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Fading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will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give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more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slowly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varying, </a:t>
            </a:r>
            <a:r>
              <a:rPr sz="1800" spc="-43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averaged</a:t>
            </a:r>
            <a:r>
              <a:rPr sz="1800" spc="4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view.</a:t>
            </a:r>
            <a:endParaRPr sz="1800" dirty="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742949" y="5759450"/>
            <a:ext cx="6083300" cy="3416300"/>
          </a:xfrm>
          <a:custGeom>
            <a:avLst/>
            <a:gdLst/>
            <a:ahLst/>
            <a:cxnLst/>
            <a:rect l="l" t="t" r="r" b="b"/>
            <a:pathLst>
              <a:path w="6083300" h="3416300">
                <a:moveTo>
                  <a:pt x="0" y="0"/>
                </a:moveTo>
                <a:lnTo>
                  <a:pt x="6083300" y="0"/>
                </a:lnTo>
                <a:lnTo>
                  <a:pt x="6083300" y="3416300"/>
                </a:lnTo>
                <a:lnTo>
                  <a:pt x="0" y="341630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54011" y="455423"/>
            <a:ext cx="508634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40" dirty="0">
                <a:latin typeface="Calibri"/>
                <a:cs typeface="Calibri"/>
              </a:rPr>
              <a:t>8</a:t>
            </a:r>
            <a:r>
              <a:rPr sz="1300" spc="-5" dirty="0">
                <a:latin typeface="Calibri"/>
                <a:cs typeface="Calibri"/>
              </a:rPr>
              <a:t>/</a:t>
            </a:r>
            <a:r>
              <a:rPr sz="1300" spc="40" dirty="0">
                <a:latin typeface="Calibri"/>
                <a:cs typeface="Calibri"/>
              </a:rPr>
              <a:t>5</a:t>
            </a:r>
            <a:r>
              <a:rPr sz="1300" spc="-5" dirty="0">
                <a:latin typeface="Calibri"/>
                <a:cs typeface="Calibri"/>
              </a:rPr>
              <a:t>/</a:t>
            </a:r>
            <a:r>
              <a:rPr sz="1300" spc="40" dirty="0">
                <a:latin typeface="Calibri"/>
                <a:cs typeface="Calibri"/>
              </a:rPr>
              <a:t>20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4294967295"/>
          </p:nvPr>
        </p:nvSpPr>
        <p:spPr>
          <a:xfrm>
            <a:off x="7300913" y="9974263"/>
            <a:ext cx="255587" cy="227012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8</a:t>
            </a:fld>
            <a:endParaRPr dirty="0"/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33704" y="2545006"/>
            <a:ext cx="4308336" cy="1831485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228011" y="2318125"/>
            <a:ext cx="142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FF0000"/>
                </a:solidFill>
                <a:latin typeface="Arial"/>
                <a:cs typeface="Arial"/>
              </a:rPr>
              <a:t>Fading</a:t>
            </a:r>
            <a:r>
              <a:rPr sz="1800" b="1" spc="-5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FF0000"/>
                </a:solidFill>
                <a:latin typeface="Arial"/>
                <a:cs typeface="Arial"/>
              </a:rPr>
              <a:t>types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42949" y="1492249"/>
            <a:ext cx="6083300" cy="3416300"/>
          </a:xfrm>
          <a:custGeom>
            <a:avLst/>
            <a:gdLst/>
            <a:ahLst/>
            <a:cxnLst/>
            <a:rect l="l" t="t" r="r" b="b"/>
            <a:pathLst>
              <a:path w="6083300" h="3416300">
                <a:moveTo>
                  <a:pt x="0" y="0"/>
                </a:moveTo>
                <a:lnTo>
                  <a:pt x="6083300" y="0"/>
                </a:lnTo>
                <a:lnTo>
                  <a:pt x="6083300" y="3416300"/>
                </a:lnTo>
                <a:lnTo>
                  <a:pt x="0" y="341630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741325" y="5936348"/>
            <a:ext cx="5995035" cy="25127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9870">
              <a:lnSpc>
                <a:spcPct val="100000"/>
              </a:lnSpc>
              <a:spcBef>
                <a:spcPts val="100"/>
              </a:spcBef>
            </a:pPr>
            <a:r>
              <a:rPr sz="2000" b="1" spc="5" dirty="0">
                <a:solidFill>
                  <a:srgbClr val="FF0000"/>
                </a:solidFill>
                <a:latin typeface="Cambria"/>
                <a:cs typeface="Cambria"/>
              </a:rPr>
              <a:t>Radio</a:t>
            </a:r>
            <a:r>
              <a:rPr sz="2000" b="1" spc="3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b="1" spc="-5" dirty="0">
                <a:solidFill>
                  <a:srgbClr val="FF0000"/>
                </a:solidFill>
                <a:latin typeface="Cambria"/>
                <a:cs typeface="Cambria"/>
              </a:rPr>
              <a:t>Wave</a:t>
            </a:r>
            <a:r>
              <a:rPr sz="2000" b="1" spc="14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b="1" spc="-25" dirty="0">
                <a:solidFill>
                  <a:srgbClr val="FF0000"/>
                </a:solidFill>
                <a:latin typeface="Cambria"/>
                <a:cs typeface="Cambria"/>
              </a:rPr>
              <a:t>Propagation</a:t>
            </a:r>
            <a:r>
              <a:rPr sz="2000" b="1" spc="2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b="1" spc="40" dirty="0">
                <a:solidFill>
                  <a:srgbClr val="FF0000"/>
                </a:solidFill>
                <a:latin typeface="Cambria"/>
                <a:cs typeface="Cambria"/>
              </a:rPr>
              <a:t>Models</a:t>
            </a:r>
            <a:endParaRPr sz="2000" dirty="0">
              <a:latin typeface="Cambria"/>
              <a:cs typeface="Cambria"/>
            </a:endParaRPr>
          </a:p>
          <a:p>
            <a:pPr marL="521970" marR="788035" indent="-292100">
              <a:lnSpc>
                <a:spcPct val="104200"/>
              </a:lnSpc>
              <a:spcBef>
                <a:spcPts val="1215"/>
              </a:spcBef>
              <a:buFont typeface="Wingdings"/>
              <a:buChar char=""/>
              <a:tabLst>
                <a:tab pos="522605" algn="l"/>
              </a:tabLst>
            </a:pPr>
            <a:r>
              <a:rPr sz="1600" dirty="0">
                <a:solidFill>
                  <a:srgbClr val="FF0000"/>
                </a:solidFill>
                <a:latin typeface="Times New Roman"/>
                <a:cs typeface="Times New Roman"/>
              </a:rPr>
              <a:t>Channel</a:t>
            </a:r>
            <a:r>
              <a:rPr sz="1600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600" spc="-20" dirty="0">
                <a:solidFill>
                  <a:srgbClr val="FF0000"/>
                </a:solidFill>
                <a:latin typeface="Times New Roman"/>
                <a:cs typeface="Times New Roman"/>
              </a:rPr>
              <a:t>properties</a:t>
            </a:r>
            <a:r>
              <a:rPr sz="1600" spc="17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influence</a:t>
            </a:r>
            <a:r>
              <a:rPr sz="1600" spc="180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the</a:t>
            </a:r>
            <a:r>
              <a:rPr sz="1600" spc="85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development</a:t>
            </a:r>
            <a:r>
              <a:rPr sz="1600" spc="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65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wireless </a:t>
            </a:r>
            <a:r>
              <a:rPr sz="1600" spc="-385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communication</a:t>
            </a:r>
            <a:r>
              <a:rPr sz="1600" spc="295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systems.</a:t>
            </a:r>
            <a:endParaRPr sz="1600" dirty="0">
              <a:latin typeface="Times New Roman"/>
              <a:cs typeface="Times New Roman"/>
            </a:endParaRPr>
          </a:p>
          <a:p>
            <a:pPr marL="521970" marR="714375" indent="-292100">
              <a:lnSpc>
                <a:spcPts val="1900"/>
              </a:lnSpc>
              <a:spcBef>
                <a:spcPts val="60"/>
              </a:spcBef>
              <a:buFont typeface="Wingdings"/>
              <a:buChar char=""/>
              <a:tabLst>
                <a:tab pos="522605" algn="l"/>
              </a:tabLst>
            </a:pPr>
            <a:r>
              <a:rPr sz="1600" spc="-10" dirty="0">
                <a:latin typeface="Times New Roman"/>
                <a:cs typeface="Times New Roman"/>
              </a:rPr>
              <a:t>Radio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channels</a:t>
            </a:r>
            <a:r>
              <a:rPr sz="1600" spc="75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are</a:t>
            </a:r>
            <a:r>
              <a:rPr sz="1600" spc="95" dirty="0">
                <a:latin typeface="Times New Roman"/>
                <a:cs typeface="Times New Roman"/>
              </a:rPr>
              <a:t> </a:t>
            </a:r>
            <a:r>
              <a:rPr sz="1600" spc="-25" dirty="0">
                <a:solidFill>
                  <a:srgbClr val="FF0000"/>
                </a:solidFill>
                <a:latin typeface="Times New Roman"/>
                <a:cs typeface="Times New Roman"/>
              </a:rPr>
              <a:t>extremely</a:t>
            </a:r>
            <a:r>
              <a:rPr sz="1600" spc="20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FF0000"/>
                </a:solidFill>
                <a:latin typeface="Times New Roman"/>
                <a:cs typeface="Times New Roman"/>
              </a:rPr>
              <a:t>ran</a:t>
            </a:r>
            <a:r>
              <a:rPr sz="1600" spc="-10" dirty="0">
                <a:latin typeface="Times New Roman"/>
                <a:cs typeface="Times New Roman"/>
              </a:rPr>
              <a:t>dom</a:t>
            </a:r>
            <a:r>
              <a:rPr sz="1600" spc="5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and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don’t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offer</a:t>
            </a:r>
            <a:r>
              <a:rPr sz="1600" spc="65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easy </a:t>
            </a:r>
            <a:r>
              <a:rPr sz="1600" spc="-385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analysis.</a:t>
            </a:r>
            <a:endParaRPr sz="1600" dirty="0">
              <a:latin typeface="Times New Roman"/>
              <a:cs typeface="Times New Roman"/>
            </a:endParaRPr>
          </a:p>
          <a:p>
            <a:pPr marL="521970" marR="255904" indent="-292100">
              <a:lnSpc>
                <a:spcPts val="1900"/>
              </a:lnSpc>
              <a:buFont typeface="Wingdings"/>
              <a:buChar char=""/>
              <a:tabLst>
                <a:tab pos="522605" algn="l"/>
              </a:tabLst>
            </a:pPr>
            <a:r>
              <a:rPr sz="1600" dirty="0">
                <a:latin typeface="Times New Roman"/>
                <a:cs typeface="Times New Roman"/>
              </a:rPr>
              <a:t>A </a:t>
            </a:r>
            <a:r>
              <a:rPr sz="1600" spc="-10" dirty="0">
                <a:latin typeface="Times New Roman"/>
                <a:cs typeface="Times New Roman"/>
              </a:rPr>
              <a:t>Radio </a:t>
            </a:r>
            <a:r>
              <a:rPr sz="1600" spc="-35" dirty="0">
                <a:latin typeface="Times New Roman"/>
                <a:cs typeface="Times New Roman"/>
              </a:rPr>
              <a:t>Wave </a:t>
            </a:r>
            <a:r>
              <a:rPr sz="1600" spc="-15" dirty="0">
                <a:latin typeface="Times New Roman"/>
                <a:cs typeface="Times New Roman"/>
              </a:rPr>
              <a:t>Propagation </a:t>
            </a:r>
            <a:r>
              <a:rPr sz="1600" spc="-10" dirty="0">
                <a:latin typeface="Times New Roman"/>
                <a:cs typeface="Times New Roman"/>
              </a:rPr>
              <a:t>Model </a:t>
            </a:r>
            <a:r>
              <a:rPr sz="1600" spc="-25" dirty="0">
                <a:latin typeface="Times New Roman"/>
                <a:cs typeface="Times New Roman"/>
              </a:rPr>
              <a:t>(RWPM),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is </a:t>
            </a:r>
            <a:r>
              <a:rPr sz="1600" spc="-10" dirty="0">
                <a:latin typeface="Times New Roman"/>
                <a:cs typeface="Times New Roman"/>
              </a:rPr>
              <a:t>an </a:t>
            </a:r>
            <a:r>
              <a:rPr sz="1600" spc="-25" dirty="0">
                <a:latin typeface="Times New Roman"/>
                <a:cs typeface="Times New Roman"/>
              </a:rPr>
              <a:t>empirical 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spc="-25" dirty="0">
                <a:solidFill>
                  <a:srgbClr val="FF0000"/>
                </a:solidFill>
                <a:latin typeface="Times New Roman"/>
                <a:cs typeface="Times New Roman"/>
              </a:rPr>
              <a:t>mathematical</a:t>
            </a:r>
            <a:r>
              <a:rPr sz="1600" spc="2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600" spc="-25" dirty="0">
                <a:solidFill>
                  <a:srgbClr val="FF0000"/>
                </a:solidFill>
                <a:latin typeface="Times New Roman"/>
                <a:cs typeface="Times New Roman"/>
              </a:rPr>
              <a:t>formulation</a:t>
            </a:r>
            <a:r>
              <a:rPr sz="1600" spc="29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for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the</a:t>
            </a:r>
            <a:r>
              <a:rPr sz="1600" spc="85" dirty="0">
                <a:latin typeface="Times New Roman"/>
                <a:cs typeface="Times New Roman"/>
              </a:rPr>
              <a:t> </a:t>
            </a:r>
            <a:r>
              <a:rPr sz="1600" spc="-25" dirty="0">
                <a:solidFill>
                  <a:srgbClr val="FF0000"/>
                </a:solidFill>
                <a:latin typeface="Times New Roman"/>
                <a:cs typeface="Times New Roman"/>
              </a:rPr>
              <a:t>characterization</a:t>
            </a:r>
            <a:r>
              <a:rPr sz="1600" spc="29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60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radio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5" dirty="0">
                <a:latin typeface="Times New Roman"/>
                <a:cs typeface="Times New Roman"/>
              </a:rPr>
              <a:t>wave</a:t>
            </a:r>
            <a:endParaRPr sz="1600" dirty="0">
              <a:latin typeface="Times New Roman"/>
              <a:cs typeface="Times New Roman"/>
            </a:endParaRPr>
          </a:p>
          <a:p>
            <a:pPr marL="521970">
              <a:lnSpc>
                <a:spcPct val="100000"/>
              </a:lnSpc>
              <a:spcBef>
                <a:spcPts val="20"/>
              </a:spcBef>
            </a:pPr>
            <a:r>
              <a:rPr sz="1600" spc="-15" dirty="0">
                <a:latin typeface="Times New Roman"/>
                <a:cs typeface="Times New Roman"/>
              </a:rPr>
              <a:t>propagation</a:t>
            </a:r>
            <a:r>
              <a:rPr sz="1600" spc="9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as</a:t>
            </a:r>
            <a:r>
              <a:rPr sz="1600" spc="7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function</a:t>
            </a:r>
            <a:r>
              <a:rPr sz="1600" spc="9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60" dirty="0">
                <a:latin typeface="Times New Roman"/>
                <a:cs typeface="Times New Roman"/>
              </a:rPr>
              <a:t> </a:t>
            </a:r>
            <a:r>
              <a:rPr sz="1600" spc="-25" dirty="0">
                <a:solidFill>
                  <a:srgbClr val="FF0000"/>
                </a:solidFill>
                <a:latin typeface="Times New Roman"/>
                <a:cs typeface="Times New Roman"/>
              </a:rPr>
              <a:t>frequency.</a:t>
            </a:r>
            <a:endParaRPr sz="1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900" dirty="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742949" y="5759450"/>
            <a:ext cx="6083300" cy="3416300"/>
          </a:xfrm>
          <a:custGeom>
            <a:avLst/>
            <a:gdLst/>
            <a:ahLst/>
            <a:cxnLst/>
            <a:rect l="l" t="t" r="r" b="b"/>
            <a:pathLst>
              <a:path w="6083300" h="3416300">
                <a:moveTo>
                  <a:pt x="0" y="0"/>
                </a:moveTo>
                <a:lnTo>
                  <a:pt x="6083300" y="0"/>
                </a:lnTo>
                <a:lnTo>
                  <a:pt x="6083300" y="3416300"/>
                </a:lnTo>
                <a:lnTo>
                  <a:pt x="0" y="341630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54011" y="455423"/>
            <a:ext cx="508634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40" dirty="0">
                <a:latin typeface="Calibri"/>
                <a:cs typeface="Calibri"/>
              </a:rPr>
              <a:t>8</a:t>
            </a:r>
            <a:r>
              <a:rPr sz="1300" spc="-5" dirty="0">
                <a:latin typeface="Calibri"/>
                <a:cs typeface="Calibri"/>
              </a:rPr>
              <a:t>/</a:t>
            </a:r>
            <a:r>
              <a:rPr sz="1300" spc="40" dirty="0">
                <a:latin typeface="Calibri"/>
                <a:cs typeface="Calibri"/>
              </a:rPr>
              <a:t>5</a:t>
            </a:r>
            <a:r>
              <a:rPr sz="1300" spc="-5" dirty="0">
                <a:latin typeface="Calibri"/>
                <a:cs typeface="Calibri"/>
              </a:rPr>
              <a:t>/</a:t>
            </a:r>
            <a:r>
              <a:rPr sz="1300" spc="40" dirty="0">
                <a:latin typeface="Calibri"/>
                <a:cs typeface="Calibri"/>
              </a:rPr>
              <a:t>20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4294967295"/>
          </p:nvPr>
        </p:nvSpPr>
        <p:spPr>
          <a:xfrm>
            <a:off x="7300913" y="9974263"/>
            <a:ext cx="255587" cy="227012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9</a:t>
            </a:fld>
            <a:endParaRPr dirty="0"/>
          </a:p>
        </p:txBody>
      </p:sp>
      <p:sp>
        <p:nvSpPr>
          <p:cNvPr id="8" name="object 8"/>
          <p:cNvSpPr txBox="1"/>
          <p:nvPr/>
        </p:nvSpPr>
        <p:spPr>
          <a:xfrm>
            <a:off x="754113" y="1868490"/>
            <a:ext cx="5995035" cy="2816220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229870">
              <a:lnSpc>
                <a:spcPct val="100000"/>
              </a:lnSpc>
              <a:spcBef>
                <a:spcPts val="705"/>
              </a:spcBef>
            </a:pPr>
            <a:r>
              <a:rPr sz="2000" b="1" spc="5" dirty="0">
                <a:solidFill>
                  <a:srgbClr val="FF0000"/>
                </a:solidFill>
                <a:latin typeface="Cambria"/>
                <a:cs typeface="Cambria"/>
              </a:rPr>
              <a:t>Radio</a:t>
            </a:r>
            <a:r>
              <a:rPr sz="2000" b="1" spc="3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b="1" spc="-5" dirty="0">
                <a:solidFill>
                  <a:srgbClr val="FF0000"/>
                </a:solidFill>
                <a:latin typeface="Cambria"/>
                <a:cs typeface="Cambria"/>
              </a:rPr>
              <a:t>Wave</a:t>
            </a:r>
            <a:r>
              <a:rPr sz="2000" b="1" spc="14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b="1" spc="-25" dirty="0">
                <a:solidFill>
                  <a:srgbClr val="FF0000"/>
                </a:solidFill>
                <a:latin typeface="Cambria"/>
                <a:cs typeface="Cambria"/>
              </a:rPr>
              <a:t>Propagation</a:t>
            </a:r>
            <a:r>
              <a:rPr sz="2000" b="1" spc="2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b="1" spc="40" dirty="0">
                <a:solidFill>
                  <a:srgbClr val="FF0000"/>
                </a:solidFill>
                <a:latin typeface="Cambria"/>
                <a:cs typeface="Cambria"/>
              </a:rPr>
              <a:t>Models</a:t>
            </a:r>
            <a:endParaRPr sz="2000" dirty="0">
              <a:latin typeface="Cambria"/>
              <a:cs typeface="Cambria"/>
            </a:endParaRPr>
          </a:p>
          <a:p>
            <a:pPr marL="521970" marR="190500" indent="-292100">
              <a:lnSpc>
                <a:spcPct val="101600"/>
              </a:lnSpc>
              <a:spcBef>
                <a:spcPts val="459"/>
              </a:spcBef>
              <a:buFont typeface="Wingdings"/>
              <a:buChar char=""/>
              <a:tabLst>
                <a:tab pos="522605" algn="l"/>
              </a:tabLst>
            </a:pPr>
            <a:r>
              <a:rPr sz="1600" spc="-20" dirty="0">
                <a:latin typeface="Times New Roman"/>
                <a:cs typeface="Times New Roman"/>
              </a:rPr>
              <a:t>In </a:t>
            </a:r>
            <a:r>
              <a:rPr sz="1600" spc="-25" dirty="0">
                <a:latin typeface="Times New Roman"/>
                <a:cs typeface="Times New Roman"/>
              </a:rPr>
              <a:t>mobile</a:t>
            </a:r>
            <a:r>
              <a:rPr sz="1600" spc="-20" dirty="0">
                <a:latin typeface="Times New Roman"/>
                <a:cs typeface="Times New Roman"/>
              </a:rPr>
              <a:t> radio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systems,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path</a:t>
            </a:r>
            <a:r>
              <a:rPr sz="1600" spc="370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loss models are necessary</a:t>
            </a:r>
            <a:r>
              <a:rPr sz="1600" spc="360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for </a:t>
            </a:r>
            <a:r>
              <a:rPr sz="1600" spc="-10" dirty="0">
                <a:latin typeface="Times New Roman"/>
                <a:cs typeface="Times New Roman"/>
              </a:rPr>
              <a:t> proper</a:t>
            </a:r>
            <a:r>
              <a:rPr sz="1600" spc="75" dirty="0">
                <a:latin typeface="Times New Roman"/>
                <a:cs typeface="Times New Roman"/>
              </a:rPr>
              <a:t> </a:t>
            </a:r>
            <a:r>
              <a:rPr sz="1600" spc="-15" dirty="0">
                <a:solidFill>
                  <a:srgbClr val="FF0000"/>
                </a:solidFill>
                <a:latin typeface="Times New Roman"/>
                <a:cs typeface="Times New Roman"/>
              </a:rPr>
              <a:t>planning</a:t>
            </a:r>
            <a:r>
              <a:rPr sz="1600" spc="-15" dirty="0">
                <a:latin typeface="Times New Roman"/>
                <a:cs typeface="Times New Roman"/>
              </a:rPr>
              <a:t>,</a:t>
            </a:r>
            <a:r>
              <a:rPr sz="1600" spc="110" dirty="0">
                <a:latin typeface="Times New Roman"/>
                <a:cs typeface="Times New Roman"/>
              </a:rPr>
              <a:t> </a:t>
            </a:r>
            <a:r>
              <a:rPr sz="1600" spc="-25" dirty="0">
                <a:solidFill>
                  <a:srgbClr val="FF0000"/>
                </a:solidFill>
                <a:latin typeface="Times New Roman"/>
                <a:cs typeface="Times New Roman"/>
              </a:rPr>
              <a:t>interference</a:t>
            </a:r>
            <a:r>
              <a:rPr sz="1600" spc="20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600" spc="-30" dirty="0">
                <a:solidFill>
                  <a:srgbClr val="FF0000"/>
                </a:solidFill>
                <a:latin typeface="Times New Roman"/>
                <a:cs typeface="Times New Roman"/>
              </a:rPr>
              <a:t>estimations</a:t>
            </a:r>
            <a:r>
              <a:rPr sz="1600" spc="-30" dirty="0">
                <a:latin typeface="Times New Roman"/>
                <a:cs typeface="Times New Roman"/>
              </a:rPr>
              <a:t>,</a:t>
            </a:r>
            <a:r>
              <a:rPr sz="1600" spc="320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frequency</a:t>
            </a:r>
            <a:r>
              <a:rPr sz="1600" spc="110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a</a:t>
            </a:r>
            <a:r>
              <a:rPr sz="1600" spc="-20" dirty="0">
                <a:solidFill>
                  <a:srgbClr val="FF0000"/>
                </a:solidFill>
                <a:latin typeface="Times New Roman"/>
                <a:cs typeface="Times New Roman"/>
              </a:rPr>
              <a:t>ssignments </a:t>
            </a:r>
            <a:r>
              <a:rPr sz="1600" spc="-38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and </a:t>
            </a:r>
            <a:r>
              <a:rPr sz="1600" spc="-20" dirty="0">
                <a:latin typeface="Times New Roman"/>
                <a:cs typeface="Times New Roman"/>
              </a:rPr>
              <a:t>cell</a:t>
            </a:r>
            <a:r>
              <a:rPr sz="1600" spc="55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parameters</a:t>
            </a:r>
            <a:r>
              <a:rPr sz="1600" spc="275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in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network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planning</a:t>
            </a:r>
            <a:endParaRPr sz="1600" dirty="0">
              <a:latin typeface="Times New Roman"/>
              <a:cs typeface="Times New Roman"/>
            </a:endParaRPr>
          </a:p>
          <a:p>
            <a:pPr marL="521970" marR="238760" indent="-292100">
              <a:lnSpc>
                <a:spcPts val="1900"/>
              </a:lnSpc>
              <a:spcBef>
                <a:spcPts val="60"/>
              </a:spcBef>
              <a:buFont typeface="Wingdings"/>
              <a:buChar char=""/>
              <a:tabLst>
                <a:tab pos="522605" algn="l"/>
              </a:tabLst>
            </a:pPr>
            <a:r>
              <a:rPr sz="1600" spc="-15" dirty="0">
                <a:latin typeface="Times New Roman"/>
                <a:cs typeface="Times New Roman"/>
              </a:rPr>
              <a:t>Propagation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models</a:t>
            </a:r>
            <a:r>
              <a:rPr sz="1600" spc="-15" dirty="0">
                <a:latin typeface="Times New Roman"/>
                <a:cs typeface="Times New Roman"/>
              </a:rPr>
              <a:t> that </a:t>
            </a:r>
            <a:r>
              <a:rPr sz="1600" spc="-20" dirty="0">
                <a:latin typeface="Times New Roman"/>
                <a:cs typeface="Times New Roman"/>
              </a:rPr>
              <a:t>predict </a:t>
            </a:r>
            <a:r>
              <a:rPr sz="1600" spc="-15" dirty="0">
                <a:latin typeface="Times New Roman"/>
                <a:cs typeface="Times New Roman"/>
              </a:rPr>
              <a:t>the </a:t>
            </a:r>
            <a:r>
              <a:rPr sz="1600" spc="-20" dirty="0">
                <a:solidFill>
                  <a:srgbClr val="FF0000"/>
                </a:solidFill>
                <a:latin typeface="Times New Roman"/>
                <a:cs typeface="Times New Roman"/>
              </a:rPr>
              <a:t>mean </a:t>
            </a:r>
            <a:r>
              <a:rPr sz="1600" spc="-15" dirty="0">
                <a:solidFill>
                  <a:srgbClr val="FF0000"/>
                </a:solidFill>
                <a:latin typeface="Times New Roman"/>
                <a:cs typeface="Times New Roman"/>
              </a:rPr>
              <a:t>signal</a:t>
            </a:r>
            <a:r>
              <a:rPr sz="16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600" spc="-25" dirty="0">
                <a:solidFill>
                  <a:srgbClr val="FF0000"/>
                </a:solidFill>
                <a:latin typeface="Times New Roman"/>
                <a:cs typeface="Times New Roman"/>
              </a:rPr>
              <a:t>strength</a:t>
            </a:r>
            <a:r>
              <a:rPr sz="16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for </a:t>
            </a:r>
            <a:r>
              <a:rPr sz="1600" spc="-10" dirty="0">
                <a:latin typeface="Times New Roman"/>
                <a:cs typeface="Times New Roman"/>
              </a:rPr>
              <a:t>an </a:t>
            </a:r>
            <a:r>
              <a:rPr sz="1600" spc="-385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arbitrary</a:t>
            </a:r>
            <a:r>
              <a:rPr sz="1600" spc="200" dirty="0">
                <a:latin typeface="Times New Roman"/>
                <a:cs typeface="Times New Roman"/>
              </a:rPr>
              <a:t> </a:t>
            </a:r>
            <a:r>
              <a:rPr sz="1600" spc="-30" dirty="0">
                <a:latin typeface="Times New Roman"/>
                <a:cs typeface="Times New Roman"/>
              </a:rPr>
              <a:t>transmitter-receiver</a:t>
            </a:r>
            <a:r>
              <a:rPr sz="1600" spc="105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separation</a:t>
            </a:r>
            <a:r>
              <a:rPr sz="1600" spc="204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distance</a:t>
            </a:r>
            <a:r>
              <a:rPr sz="1600" spc="8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which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is</a:t>
            </a:r>
            <a:r>
              <a:rPr sz="1600" spc="75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useful </a:t>
            </a:r>
            <a:r>
              <a:rPr sz="1600" spc="-385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in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spc="-30" dirty="0">
                <a:latin typeface="Times New Roman"/>
                <a:cs typeface="Times New Roman"/>
              </a:rPr>
              <a:t>estimating</a:t>
            </a:r>
            <a:r>
              <a:rPr sz="1600" spc="300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the</a:t>
            </a:r>
            <a:r>
              <a:rPr sz="1600" spc="85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radio</a:t>
            </a:r>
            <a:r>
              <a:rPr sz="1600" spc="9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coverage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area</a:t>
            </a:r>
            <a:r>
              <a:rPr sz="1600" spc="8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</a:t>
            </a:r>
            <a:r>
              <a:rPr sz="1600" spc="85" dirty="0">
                <a:latin typeface="Times New Roman"/>
                <a:cs typeface="Times New Roman"/>
              </a:rPr>
              <a:t> </a:t>
            </a:r>
            <a:r>
              <a:rPr sz="1600" spc="-30" dirty="0">
                <a:latin typeface="Times New Roman"/>
                <a:cs typeface="Times New Roman"/>
              </a:rPr>
              <a:t>transmitter</a:t>
            </a:r>
            <a:r>
              <a:rPr sz="1600" spc="260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are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called</a:t>
            </a:r>
            <a:endParaRPr sz="1600" dirty="0">
              <a:latin typeface="Times New Roman"/>
              <a:cs typeface="Times New Roman"/>
            </a:endParaRPr>
          </a:p>
          <a:p>
            <a:pPr marL="521970" marR="441959">
              <a:lnSpc>
                <a:spcPts val="1900"/>
              </a:lnSpc>
              <a:spcBef>
                <a:spcPts val="100"/>
              </a:spcBef>
            </a:pPr>
            <a:r>
              <a:rPr sz="1600" spc="-25" dirty="0">
                <a:solidFill>
                  <a:srgbClr val="FF0000"/>
                </a:solidFill>
                <a:latin typeface="Times New Roman"/>
                <a:cs typeface="Times New Roman"/>
              </a:rPr>
              <a:t>large-scale</a:t>
            </a:r>
            <a:r>
              <a:rPr sz="1600" spc="18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600" spc="-15" dirty="0">
                <a:solidFill>
                  <a:srgbClr val="FF0000"/>
                </a:solidFill>
                <a:latin typeface="Times New Roman"/>
                <a:cs typeface="Times New Roman"/>
              </a:rPr>
              <a:t>propagation</a:t>
            </a:r>
            <a:r>
              <a:rPr sz="1600" spc="204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600" spc="-20" dirty="0">
                <a:solidFill>
                  <a:srgbClr val="FF0000"/>
                </a:solidFill>
                <a:latin typeface="Times New Roman"/>
                <a:cs typeface="Times New Roman"/>
              </a:rPr>
              <a:t>models</a:t>
            </a:r>
            <a:r>
              <a:rPr sz="1600" spc="-20" dirty="0">
                <a:latin typeface="Times New Roman"/>
                <a:cs typeface="Times New Roman"/>
              </a:rPr>
              <a:t>,</a:t>
            </a:r>
            <a:r>
              <a:rPr sz="1600" spc="100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since</a:t>
            </a:r>
            <a:r>
              <a:rPr sz="1600" spc="90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they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characterize</a:t>
            </a:r>
            <a:r>
              <a:rPr sz="1600" spc="285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signal </a:t>
            </a:r>
            <a:r>
              <a:rPr sz="1600" spc="-385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strength</a:t>
            </a:r>
            <a:r>
              <a:rPr sz="1600" spc="195" dirty="0">
                <a:latin typeface="Times New Roman"/>
                <a:cs typeface="Times New Roman"/>
              </a:rPr>
              <a:t> </a:t>
            </a:r>
            <a:r>
              <a:rPr sz="1600" spc="-5" dirty="0">
                <a:solidFill>
                  <a:srgbClr val="FF0000"/>
                </a:solidFill>
                <a:latin typeface="Times New Roman"/>
                <a:cs typeface="Times New Roman"/>
              </a:rPr>
              <a:t>over</a:t>
            </a:r>
            <a:r>
              <a:rPr sz="16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600" spc="-20" dirty="0">
                <a:solidFill>
                  <a:srgbClr val="FF0000"/>
                </a:solidFill>
                <a:latin typeface="Times New Roman"/>
                <a:cs typeface="Times New Roman"/>
              </a:rPr>
              <a:t>large</a:t>
            </a:r>
            <a:r>
              <a:rPr sz="16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600" spc="-40" dirty="0">
                <a:latin typeface="Times New Roman"/>
                <a:cs typeface="Times New Roman"/>
              </a:rPr>
              <a:t>T-R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separation</a:t>
            </a:r>
            <a:r>
              <a:rPr sz="1600" spc="195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distances.</a:t>
            </a:r>
            <a:endParaRPr sz="1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80"/>
              </a:spcBef>
              <a:tabLst>
                <a:tab pos="5485765" algn="l"/>
              </a:tabLst>
            </a:pP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42949" y="1492249"/>
            <a:ext cx="6083300" cy="3416300"/>
          </a:xfrm>
          <a:custGeom>
            <a:avLst/>
            <a:gdLst/>
            <a:ahLst/>
            <a:cxnLst/>
            <a:rect l="l" t="t" r="r" b="b"/>
            <a:pathLst>
              <a:path w="6083300" h="3416300">
                <a:moveTo>
                  <a:pt x="0" y="0"/>
                </a:moveTo>
                <a:lnTo>
                  <a:pt x="6083300" y="0"/>
                </a:lnTo>
                <a:lnTo>
                  <a:pt x="6083300" y="3416300"/>
                </a:lnTo>
                <a:lnTo>
                  <a:pt x="0" y="341630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749299" y="5852587"/>
            <a:ext cx="607060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2075" algn="ctr">
              <a:lnSpc>
                <a:spcPct val="100000"/>
              </a:lnSpc>
              <a:spcBef>
                <a:spcPts val="100"/>
              </a:spcBef>
            </a:pPr>
            <a:r>
              <a:rPr sz="2700" spc="-50" dirty="0">
                <a:solidFill>
                  <a:srgbClr val="FFFFFF"/>
                </a:solidFill>
                <a:latin typeface="Times New Roman"/>
                <a:cs typeface="Times New Roman"/>
              </a:rPr>
              <a:t>U</a:t>
            </a:r>
            <a:r>
              <a:rPr sz="2700" spc="50" dirty="0">
                <a:solidFill>
                  <a:srgbClr val="FFFFFF"/>
                </a:solidFill>
                <a:latin typeface="Times New Roman"/>
                <a:cs typeface="Times New Roman"/>
              </a:rPr>
              <a:t>niv</a:t>
            </a:r>
            <a:r>
              <a:rPr sz="2700" dirty="0">
                <a:solidFill>
                  <a:srgbClr val="FFFFFF"/>
                </a:solidFill>
                <a:latin typeface="Times New Roman"/>
                <a:cs typeface="Times New Roman"/>
              </a:rPr>
              <a:t>er</a:t>
            </a:r>
            <a:r>
              <a:rPr sz="2700" spc="50" dirty="0">
                <a:solidFill>
                  <a:srgbClr val="FFFFFF"/>
                </a:solidFill>
                <a:latin typeface="Times New Roman"/>
                <a:cs typeface="Times New Roman"/>
              </a:rPr>
              <a:t>sit</a:t>
            </a:r>
            <a:r>
              <a:rPr sz="2700" dirty="0">
                <a:solidFill>
                  <a:srgbClr val="FFFFFF"/>
                </a:solidFill>
                <a:latin typeface="Times New Roman"/>
                <a:cs typeface="Times New Roman"/>
              </a:rPr>
              <a:t>y</a:t>
            </a:r>
            <a:r>
              <a:rPr sz="2700" spc="-229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700" spc="50" dirty="0">
                <a:solidFill>
                  <a:srgbClr val="FFFFFF"/>
                </a:solidFill>
                <a:latin typeface="Times New Roman"/>
                <a:cs typeface="Times New Roman"/>
              </a:rPr>
              <a:t>o</a:t>
            </a:r>
            <a:r>
              <a:rPr sz="2700" dirty="0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r>
              <a:rPr sz="27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700" spc="-50" dirty="0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sz="2700" dirty="0">
                <a:solidFill>
                  <a:srgbClr val="FFFFFF"/>
                </a:solidFill>
                <a:latin typeface="Times New Roman"/>
                <a:cs typeface="Times New Roman"/>
              </a:rPr>
              <a:t>ar</a:t>
            </a:r>
            <a:r>
              <a:rPr sz="2700"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700" dirty="0">
                <a:solidFill>
                  <a:srgbClr val="FFFFFF"/>
                </a:solidFill>
                <a:latin typeface="Times New Roman"/>
                <a:cs typeface="Times New Roman"/>
              </a:rPr>
              <a:t>es</a:t>
            </a:r>
            <a:r>
              <a:rPr sz="2700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700" spc="-5" dirty="0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sz="27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700" spc="50" dirty="0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sz="2700" dirty="0">
                <a:solidFill>
                  <a:srgbClr val="FFFFFF"/>
                </a:solidFill>
                <a:latin typeface="Times New Roman"/>
                <a:cs typeface="Times New Roman"/>
              </a:rPr>
              <a:t>aam</a:t>
            </a:r>
            <a:endParaRPr sz="27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37780" y="6078855"/>
            <a:ext cx="5995035" cy="2777490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229870">
              <a:lnSpc>
                <a:spcPct val="100000"/>
              </a:lnSpc>
              <a:spcBef>
                <a:spcPts val="640"/>
              </a:spcBef>
            </a:pPr>
            <a:r>
              <a:rPr sz="2000" b="1" spc="5" dirty="0">
                <a:solidFill>
                  <a:srgbClr val="FF0000"/>
                </a:solidFill>
                <a:latin typeface="Cambria"/>
                <a:cs typeface="Cambria"/>
              </a:rPr>
              <a:t>Radio</a:t>
            </a:r>
            <a:r>
              <a:rPr sz="2000" b="1" spc="3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b="1" spc="-5" dirty="0">
                <a:solidFill>
                  <a:srgbClr val="FF0000"/>
                </a:solidFill>
                <a:latin typeface="Cambria"/>
                <a:cs typeface="Cambria"/>
              </a:rPr>
              <a:t>Wave</a:t>
            </a:r>
            <a:r>
              <a:rPr sz="2000" b="1" spc="14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b="1" spc="-25" dirty="0">
                <a:solidFill>
                  <a:srgbClr val="FF0000"/>
                </a:solidFill>
                <a:latin typeface="Cambria"/>
                <a:cs typeface="Cambria"/>
              </a:rPr>
              <a:t>Propagation</a:t>
            </a:r>
            <a:r>
              <a:rPr sz="2000" b="1" spc="2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b="1" spc="40" dirty="0">
                <a:solidFill>
                  <a:srgbClr val="FF0000"/>
                </a:solidFill>
                <a:latin typeface="Cambria"/>
                <a:cs typeface="Cambria"/>
              </a:rPr>
              <a:t>Models</a:t>
            </a:r>
            <a:endParaRPr sz="2000" dirty="0">
              <a:latin typeface="Cambria"/>
              <a:cs typeface="Cambria"/>
            </a:endParaRPr>
          </a:p>
          <a:p>
            <a:pPr marL="521970" indent="-292735">
              <a:lnSpc>
                <a:spcPct val="100000"/>
              </a:lnSpc>
              <a:spcBef>
                <a:spcPts val="484"/>
              </a:spcBef>
              <a:buFont typeface="Wingdings"/>
              <a:buChar char=""/>
              <a:tabLst>
                <a:tab pos="522605" algn="l"/>
              </a:tabLst>
            </a:pPr>
            <a:r>
              <a:rPr sz="1800" spc="-5" dirty="0">
                <a:latin typeface="Times New Roman"/>
                <a:cs typeface="Times New Roman"/>
              </a:rPr>
              <a:t>Radio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propagation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models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are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broadly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classified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into:</a:t>
            </a:r>
            <a:endParaRPr sz="1800" dirty="0">
              <a:latin typeface="Times New Roman"/>
              <a:cs typeface="Times New Roman"/>
            </a:endParaRPr>
          </a:p>
          <a:p>
            <a:pPr marL="521970" indent="-292735">
              <a:lnSpc>
                <a:spcPct val="100000"/>
              </a:lnSpc>
              <a:spcBef>
                <a:spcPts val="40"/>
              </a:spcBef>
              <a:buFont typeface="Wingdings"/>
              <a:buChar char=""/>
              <a:tabLst>
                <a:tab pos="522605" algn="l"/>
              </a:tabLst>
            </a:pPr>
            <a:r>
              <a:rPr sz="1800" i="1" spc="-15" dirty="0">
                <a:solidFill>
                  <a:srgbClr val="FF0000"/>
                </a:solidFill>
                <a:latin typeface="Times New Roman"/>
                <a:cs typeface="Times New Roman"/>
              </a:rPr>
              <a:t>large-scale</a:t>
            </a:r>
            <a:r>
              <a:rPr sz="1800" i="1" spc="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models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small-scale</a:t>
            </a:r>
            <a:r>
              <a:rPr sz="1800" i="1" spc="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models.</a:t>
            </a:r>
            <a:endParaRPr sz="1800" dirty="0">
              <a:latin typeface="Times New Roman"/>
              <a:cs typeface="Times New Roman"/>
            </a:endParaRPr>
          </a:p>
          <a:p>
            <a:pPr marL="521970" marR="981075" indent="-292100">
              <a:lnSpc>
                <a:spcPts val="2100"/>
              </a:lnSpc>
              <a:spcBef>
                <a:spcPts val="160"/>
              </a:spcBef>
              <a:buFont typeface="Wingdings"/>
              <a:buChar char=""/>
              <a:tabLst>
                <a:tab pos="522605" algn="l"/>
              </a:tabLst>
            </a:pPr>
            <a:r>
              <a:rPr sz="1800" dirty="0">
                <a:latin typeface="Times New Roman"/>
                <a:cs typeface="Times New Roman"/>
              </a:rPr>
              <a:t>Large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scale</a:t>
            </a:r>
            <a:r>
              <a:rPr sz="1800" spc="4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effects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typically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occur</a:t>
            </a:r>
            <a:r>
              <a:rPr sz="1800" spc="4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in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the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order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 </a:t>
            </a:r>
            <a:r>
              <a:rPr sz="1800" spc="-43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hundreds</a:t>
            </a:r>
            <a:r>
              <a:rPr sz="1800" spc="4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to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thousands</a:t>
            </a:r>
            <a:r>
              <a:rPr sz="1800" spc="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meters</a:t>
            </a:r>
            <a:r>
              <a:rPr sz="1800" spc="4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in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distance.</a:t>
            </a:r>
            <a:endParaRPr sz="1800" dirty="0">
              <a:latin typeface="Times New Roman"/>
              <a:cs typeface="Times New Roman"/>
            </a:endParaRPr>
          </a:p>
          <a:p>
            <a:pPr marL="521970" marR="219075" indent="-292100">
              <a:lnSpc>
                <a:spcPts val="2100"/>
              </a:lnSpc>
              <a:spcBef>
                <a:spcPts val="100"/>
              </a:spcBef>
              <a:buFont typeface="Wingdings"/>
              <a:buChar char=""/>
              <a:tabLst>
                <a:tab pos="522605" algn="l"/>
              </a:tabLst>
            </a:pPr>
            <a:r>
              <a:rPr sz="1800" spc="-5" dirty="0">
                <a:latin typeface="Times New Roman"/>
                <a:cs typeface="Times New Roman"/>
              </a:rPr>
              <a:t>Small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scale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effects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are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localized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occur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temporally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(in </a:t>
            </a:r>
            <a:r>
              <a:rPr sz="1800" spc="-434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the</a:t>
            </a:r>
            <a:r>
              <a:rPr sz="1800" spc="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order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0000"/>
                </a:solidFill>
                <a:latin typeface="Times New Roman"/>
                <a:cs typeface="Times New Roman"/>
              </a:rPr>
              <a:t>few</a:t>
            </a:r>
            <a:r>
              <a:rPr sz="1800" spc="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FF0000"/>
                </a:solidFill>
                <a:latin typeface="Times New Roman"/>
                <a:cs typeface="Times New Roman"/>
              </a:rPr>
              <a:t>seconds</a:t>
            </a:r>
            <a:r>
              <a:rPr sz="1800" spc="-5" dirty="0">
                <a:latin typeface="Times New Roman"/>
                <a:cs typeface="Times New Roman"/>
              </a:rPr>
              <a:t>)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or</a:t>
            </a:r>
            <a:r>
              <a:rPr sz="1800" spc="4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spatially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(in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the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order</a:t>
            </a:r>
            <a:r>
              <a:rPr sz="1800" spc="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</a:p>
          <a:p>
            <a:pPr marL="521970">
              <a:lnSpc>
                <a:spcPts val="2140"/>
              </a:lnSpc>
            </a:pPr>
            <a:r>
              <a:rPr sz="1800" dirty="0">
                <a:solidFill>
                  <a:srgbClr val="FF0000"/>
                </a:solidFill>
                <a:latin typeface="Times New Roman"/>
                <a:cs typeface="Times New Roman"/>
              </a:rPr>
              <a:t>few</a:t>
            </a:r>
            <a:r>
              <a:rPr sz="1800" spc="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FF0000"/>
                </a:solidFill>
                <a:latin typeface="Times New Roman"/>
                <a:cs typeface="Times New Roman"/>
              </a:rPr>
              <a:t>meters</a:t>
            </a:r>
            <a:r>
              <a:rPr sz="1800" spc="-5" dirty="0">
                <a:latin typeface="Times New Roman"/>
                <a:cs typeface="Times New Roman"/>
              </a:rPr>
              <a:t>).</a:t>
            </a:r>
            <a:endParaRPr sz="1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405"/>
              </a:spcBef>
              <a:tabLst>
                <a:tab pos="5485765" algn="l"/>
              </a:tabLst>
            </a:pP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742949" y="5759450"/>
            <a:ext cx="6083300" cy="3416300"/>
          </a:xfrm>
          <a:custGeom>
            <a:avLst/>
            <a:gdLst/>
            <a:ahLst/>
            <a:cxnLst/>
            <a:rect l="l" t="t" r="r" b="b"/>
            <a:pathLst>
              <a:path w="6083300" h="3416300">
                <a:moveTo>
                  <a:pt x="0" y="0"/>
                </a:moveTo>
                <a:lnTo>
                  <a:pt x="6083300" y="0"/>
                </a:lnTo>
                <a:lnTo>
                  <a:pt x="6083300" y="3416300"/>
                </a:lnTo>
                <a:lnTo>
                  <a:pt x="0" y="341630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54011" y="455423"/>
            <a:ext cx="508634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40" dirty="0">
                <a:latin typeface="Calibri"/>
                <a:cs typeface="Calibri"/>
              </a:rPr>
              <a:t>8</a:t>
            </a:r>
            <a:r>
              <a:rPr sz="1300" spc="-5" dirty="0">
                <a:latin typeface="Calibri"/>
                <a:cs typeface="Calibri"/>
              </a:rPr>
              <a:t>/</a:t>
            </a:r>
            <a:r>
              <a:rPr sz="1300" spc="40" dirty="0">
                <a:latin typeface="Calibri"/>
                <a:cs typeface="Calibri"/>
              </a:rPr>
              <a:t>5</a:t>
            </a:r>
            <a:r>
              <a:rPr sz="1300" spc="-5" dirty="0">
                <a:latin typeface="Calibri"/>
                <a:cs typeface="Calibri"/>
              </a:rPr>
              <a:t>/</a:t>
            </a:r>
            <a:r>
              <a:rPr sz="1300" spc="40" dirty="0">
                <a:latin typeface="Calibri"/>
                <a:cs typeface="Calibri"/>
              </a:rPr>
              <a:t>20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4294967295"/>
          </p:nvPr>
        </p:nvSpPr>
        <p:spPr>
          <a:xfrm>
            <a:off x="7300913" y="9974263"/>
            <a:ext cx="255587" cy="227012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10</a:t>
            </a:fld>
            <a:endParaRPr dirty="0"/>
          </a:p>
        </p:txBody>
      </p:sp>
      <p:sp>
        <p:nvSpPr>
          <p:cNvPr id="8" name="object 8"/>
          <p:cNvSpPr txBox="1"/>
          <p:nvPr/>
        </p:nvSpPr>
        <p:spPr>
          <a:xfrm>
            <a:off x="837564" y="1725496"/>
            <a:ext cx="5995035" cy="2777490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229870">
              <a:lnSpc>
                <a:spcPct val="100000"/>
              </a:lnSpc>
              <a:spcBef>
                <a:spcPts val="640"/>
              </a:spcBef>
            </a:pPr>
            <a:r>
              <a:rPr sz="2000" b="1" spc="-25" dirty="0">
                <a:solidFill>
                  <a:srgbClr val="FF0000"/>
                </a:solidFill>
                <a:latin typeface="Cambria"/>
                <a:cs typeface="Cambria"/>
              </a:rPr>
              <a:t>Large</a:t>
            </a:r>
            <a:r>
              <a:rPr sz="2000" b="1" spc="4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b="1" spc="15" dirty="0">
                <a:solidFill>
                  <a:srgbClr val="FF0000"/>
                </a:solidFill>
                <a:latin typeface="Cambria"/>
                <a:cs typeface="Cambria"/>
              </a:rPr>
              <a:t>Scale</a:t>
            </a:r>
            <a:r>
              <a:rPr sz="2000" b="1" spc="4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b="1" spc="-25" dirty="0">
                <a:solidFill>
                  <a:srgbClr val="FF0000"/>
                </a:solidFill>
                <a:latin typeface="Cambria"/>
                <a:cs typeface="Cambria"/>
              </a:rPr>
              <a:t>Propagation</a:t>
            </a:r>
            <a:r>
              <a:rPr sz="2000" b="1" spc="2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b="1" spc="40" dirty="0">
                <a:solidFill>
                  <a:srgbClr val="FF0000"/>
                </a:solidFill>
                <a:latin typeface="Cambria"/>
                <a:cs typeface="Cambria"/>
              </a:rPr>
              <a:t>Models</a:t>
            </a:r>
            <a:endParaRPr sz="2000" dirty="0">
              <a:latin typeface="Cambria"/>
              <a:cs typeface="Cambria"/>
            </a:endParaRPr>
          </a:p>
          <a:p>
            <a:pPr marL="521970" indent="-292735">
              <a:lnSpc>
                <a:spcPct val="100000"/>
              </a:lnSpc>
              <a:spcBef>
                <a:spcPts val="484"/>
              </a:spcBef>
              <a:buFont typeface="Wingdings"/>
              <a:buChar char=""/>
              <a:tabLst>
                <a:tab pos="522605" algn="l"/>
              </a:tabLst>
            </a:pP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important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questions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in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large-scale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modeling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are:</a:t>
            </a:r>
          </a:p>
          <a:p>
            <a:pPr marL="750570" lvl="1" indent="-292735">
              <a:lnSpc>
                <a:spcPct val="100000"/>
              </a:lnSpc>
              <a:spcBef>
                <a:spcPts val="40"/>
              </a:spcBef>
              <a:buFont typeface="Wingdings"/>
              <a:buChar char=""/>
              <a:tabLst>
                <a:tab pos="751205" algn="l"/>
              </a:tabLst>
            </a:pPr>
            <a:r>
              <a:rPr sz="1800" dirty="0">
                <a:latin typeface="Times New Roman"/>
                <a:cs typeface="Times New Roman"/>
              </a:rPr>
              <a:t>How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the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signal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from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transmitter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0000"/>
                </a:solidFill>
                <a:latin typeface="Times New Roman"/>
                <a:cs typeface="Times New Roman"/>
              </a:rPr>
              <a:t>reaches</a:t>
            </a:r>
            <a:r>
              <a:rPr sz="1800" spc="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the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receiver</a:t>
            </a:r>
            <a:endParaRPr sz="1800" dirty="0">
              <a:latin typeface="Times New Roman"/>
              <a:cs typeface="Times New Roman"/>
            </a:endParaRPr>
          </a:p>
          <a:p>
            <a:pPr marL="750570" marR="333375" lvl="1" indent="-292100">
              <a:lnSpc>
                <a:spcPts val="2100"/>
              </a:lnSpc>
              <a:spcBef>
                <a:spcPts val="160"/>
              </a:spcBef>
              <a:buFont typeface="Wingdings"/>
              <a:buChar char=""/>
              <a:tabLst>
                <a:tab pos="751205" algn="l"/>
              </a:tabLst>
            </a:pPr>
            <a:r>
              <a:rPr sz="1800" dirty="0">
                <a:latin typeface="Times New Roman"/>
                <a:cs typeface="Times New Roman"/>
              </a:rPr>
              <a:t>What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is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the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FF0000"/>
                </a:solidFill>
                <a:latin typeface="Times New Roman"/>
                <a:cs typeface="Times New Roman"/>
              </a:rPr>
              <a:t>relative</a:t>
            </a:r>
            <a:r>
              <a:rPr sz="1800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0000"/>
                </a:solidFill>
                <a:latin typeface="Times New Roman"/>
                <a:cs typeface="Times New Roman"/>
              </a:rPr>
              <a:t>power</a:t>
            </a:r>
            <a:r>
              <a:rPr sz="1800" spc="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the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received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signal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with </a:t>
            </a:r>
            <a:r>
              <a:rPr sz="1800" spc="-434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respect</a:t>
            </a:r>
            <a:r>
              <a:rPr sz="1800" spc="4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to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the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transmitted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power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level.</a:t>
            </a:r>
            <a:endParaRPr sz="1800" dirty="0">
              <a:latin typeface="Times New Roman"/>
              <a:cs typeface="Times New Roman"/>
            </a:endParaRPr>
          </a:p>
          <a:p>
            <a:pPr marL="521970" marR="282575" indent="-292100">
              <a:lnSpc>
                <a:spcPts val="2100"/>
              </a:lnSpc>
              <a:spcBef>
                <a:spcPts val="100"/>
              </a:spcBef>
              <a:buFont typeface="Wingdings"/>
              <a:buChar char=""/>
              <a:tabLst>
                <a:tab pos="522605" algn="l"/>
              </a:tabLst>
            </a:pP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transmitter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6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the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receiver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could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be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in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line-of-sight </a:t>
            </a:r>
            <a:r>
              <a:rPr sz="1800" spc="-434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(LOS)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or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in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environment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surrounded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by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buildings,</a:t>
            </a:r>
            <a:endParaRPr sz="1800" dirty="0">
              <a:latin typeface="Times New Roman"/>
              <a:cs typeface="Times New Roman"/>
            </a:endParaRPr>
          </a:p>
          <a:p>
            <a:pPr marL="521970">
              <a:lnSpc>
                <a:spcPts val="2140"/>
              </a:lnSpc>
            </a:pPr>
            <a:r>
              <a:rPr sz="1800" spc="-5" dirty="0">
                <a:latin typeface="Times New Roman"/>
                <a:cs typeface="Times New Roman"/>
              </a:rPr>
              <a:t>trees</a:t>
            </a:r>
            <a:r>
              <a:rPr sz="1800" spc="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other</a:t>
            </a:r>
            <a:r>
              <a:rPr sz="1800" spc="4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objects.</a:t>
            </a:r>
            <a:endParaRPr sz="1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405"/>
              </a:spcBef>
              <a:tabLst>
                <a:tab pos="5485765" algn="l"/>
              </a:tabLst>
            </a:pP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42949" y="1492249"/>
            <a:ext cx="6083300" cy="3416300"/>
          </a:xfrm>
          <a:custGeom>
            <a:avLst/>
            <a:gdLst/>
            <a:ahLst/>
            <a:cxnLst/>
            <a:rect l="l" t="t" r="r" b="b"/>
            <a:pathLst>
              <a:path w="6083300" h="3416300">
                <a:moveTo>
                  <a:pt x="0" y="0"/>
                </a:moveTo>
                <a:lnTo>
                  <a:pt x="6083300" y="0"/>
                </a:lnTo>
                <a:lnTo>
                  <a:pt x="6083300" y="3416300"/>
                </a:lnTo>
                <a:lnTo>
                  <a:pt x="0" y="341630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6599" y="8902700"/>
            <a:ext cx="6096000" cy="76200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749299" y="6467402"/>
            <a:ext cx="6070600" cy="27089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2890">
              <a:lnSpc>
                <a:spcPct val="100000"/>
              </a:lnSpc>
              <a:spcBef>
                <a:spcPts val="100"/>
              </a:spcBef>
            </a:pPr>
            <a:r>
              <a:rPr sz="2000" b="1" spc="-25" dirty="0">
                <a:solidFill>
                  <a:srgbClr val="FF0000"/>
                </a:solidFill>
                <a:latin typeface="Cambria"/>
                <a:cs typeface="Cambria"/>
              </a:rPr>
              <a:t>Large</a:t>
            </a:r>
            <a:r>
              <a:rPr sz="2000" b="1" spc="4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b="1" spc="15" dirty="0">
                <a:solidFill>
                  <a:srgbClr val="FF0000"/>
                </a:solidFill>
                <a:latin typeface="Cambria"/>
                <a:cs typeface="Cambria"/>
              </a:rPr>
              <a:t>Scale</a:t>
            </a:r>
            <a:r>
              <a:rPr sz="2000" b="1" spc="4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b="1" spc="-25" dirty="0">
                <a:solidFill>
                  <a:srgbClr val="FF0000"/>
                </a:solidFill>
                <a:latin typeface="Cambria"/>
                <a:cs typeface="Cambria"/>
              </a:rPr>
              <a:t>Propagation</a:t>
            </a:r>
            <a:r>
              <a:rPr sz="2000" b="1" spc="2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b="1" spc="40" dirty="0">
                <a:solidFill>
                  <a:srgbClr val="FF0000"/>
                </a:solidFill>
                <a:latin typeface="Cambria"/>
                <a:cs typeface="Cambria"/>
              </a:rPr>
              <a:t>Models</a:t>
            </a:r>
            <a:endParaRPr sz="2000" dirty="0">
              <a:latin typeface="Cambria"/>
              <a:cs typeface="Cambria"/>
            </a:endParaRPr>
          </a:p>
          <a:p>
            <a:pPr marL="448945" marR="381000" indent="-228600">
              <a:lnSpc>
                <a:spcPct val="100699"/>
              </a:lnSpc>
              <a:spcBef>
                <a:spcPts val="1280"/>
              </a:spcBef>
              <a:buFont typeface="Wingdings"/>
              <a:buChar char=""/>
              <a:tabLst>
                <a:tab pos="449580" algn="l"/>
              </a:tabLst>
            </a:pPr>
            <a:r>
              <a:rPr sz="1800" spc="-5" dirty="0">
                <a:latin typeface="Times New Roman"/>
                <a:cs typeface="Times New Roman"/>
              </a:rPr>
              <a:t>As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result,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the</a:t>
            </a:r>
            <a:r>
              <a:rPr sz="1800" spc="6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receiver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may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receive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-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direct</a:t>
            </a:r>
            <a:r>
              <a:rPr sz="1800" spc="6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attenuated </a:t>
            </a:r>
            <a:r>
              <a:rPr sz="1800" spc="-434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signal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(also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called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as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i="1" spc="-5" dirty="0">
                <a:latin typeface="Times New Roman"/>
                <a:cs typeface="Times New Roman"/>
              </a:rPr>
              <a:t>line-of-sight</a:t>
            </a:r>
            <a:r>
              <a:rPr sz="1800" i="1" spc="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(LOS)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signal)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from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the </a:t>
            </a:r>
            <a:r>
              <a:rPr sz="1800" spc="-434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transmitter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indirect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signals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(or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i="1" spc="-5" dirty="0">
                <a:latin typeface="Times New Roman"/>
                <a:cs typeface="Times New Roman"/>
              </a:rPr>
              <a:t>non-line-of-sight </a:t>
            </a:r>
            <a:r>
              <a:rPr sz="1800" i="1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(NLOS) signal) </a:t>
            </a:r>
            <a:r>
              <a:rPr sz="1800" dirty="0">
                <a:latin typeface="Times New Roman"/>
                <a:cs typeface="Times New Roman"/>
              </a:rPr>
              <a:t>due </a:t>
            </a:r>
            <a:r>
              <a:rPr sz="1800" spc="-5" dirty="0">
                <a:latin typeface="Times New Roman"/>
                <a:cs typeface="Times New Roman"/>
              </a:rPr>
              <a:t>to other physical effects like 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reflection,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refraction,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diffraction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scattering.</a:t>
            </a:r>
            <a:endParaRPr sz="1800" dirty="0">
              <a:latin typeface="Times New Roman"/>
              <a:cs typeface="Times New Roman"/>
            </a:endParaRPr>
          </a:p>
          <a:p>
            <a:pPr marL="448945" indent="-229235">
              <a:lnSpc>
                <a:spcPts val="2100"/>
              </a:lnSpc>
              <a:buFont typeface="Wingdings"/>
              <a:buChar char=""/>
              <a:tabLst>
                <a:tab pos="449580" algn="l"/>
              </a:tabLst>
            </a:pPr>
            <a:r>
              <a:rPr sz="1800" spc="-5" dirty="0">
                <a:latin typeface="Times New Roman"/>
                <a:cs typeface="Times New Roman"/>
              </a:rPr>
              <a:t>Direct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indirect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signals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could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also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interfere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with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each</a:t>
            </a:r>
          </a:p>
          <a:p>
            <a:pPr marL="448945">
              <a:lnSpc>
                <a:spcPct val="100000"/>
              </a:lnSpc>
              <a:spcBef>
                <a:spcPts val="40"/>
              </a:spcBef>
            </a:pPr>
            <a:r>
              <a:rPr sz="1800" spc="-20" dirty="0">
                <a:latin typeface="Times New Roman"/>
                <a:cs typeface="Times New Roman"/>
              </a:rPr>
              <a:t>other.</a:t>
            </a:r>
            <a:endParaRPr sz="1800" dirty="0">
              <a:latin typeface="Times New Roman"/>
              <a:cs typeface="Times New Roman"/>
            </a:endParaRPr>
          </a:p>
          <a:p>
            <a:pPr marL="33020">
              <a:lnSpc>
                <a:spcPct val="100000"/>
              </a:lnSpc>
              <a:spcBef>
                <a:spcPts val="590"/>
              </a:spcBef>
              <a:tabLst>
                <a:tab pos="5518785" algn="l"/>
              </a:tabLst>
            </a:pP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742949" y="5759451"/>
            <a:ext cx="6083300" cy="3416300"/>
          </a:xfrm>
          <a:custGeom>
            <a:avLst/>
            <a:gdLst/>
            <a:ahLst/>
            <a:cxnLst/>
            <a:rect l="l" t="t" r="r" b="b"/>
            <a:pathLst>
              <a:path w="6083300" h="3416300">
                <a:moveTo>
                  <a:pt x="0" y="0"/>
                </a:moveTo>
                <a:lnTo>
                  <a:pt x="6083300" y="0"/>
                </a:lnTo>
                <a:lnTo>
                  <a:pt x="6083300" y="3416300"/>
                </a:lnTo>
                <a:lnTo>
                  <a:pt x="0" y="341630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54011" y="455423"/>
            <a:ext cx="508634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40" dirty="0">
                <a:latin typeface="Calibri"/>
                <a:cs typeface="Calibri"/>
              </a:rPr>
              <a:t>8</a:t>
            </a:r>
            <a:r>
              <a:rPr sz="1300" spc="-5" dirty="0">
                <a:latin typeface="Calibri"/>
                <a:cs typeface="Calibri"/>
              </a:rPr>
              <a:t>/</a:t>
            </a:r>
            <a:r>
              <a:rPr sz="1300" spc="40" dirty="0">
                <a:latin typeface="Calibri"/>
                <a:cs typeface="Calibri"/>
              </a:rPr>
              <a:t>5</a:t>
            </a:r>
            <a:r>
              <a:rPr sz="1300" spc="-5" dirty="0">
                <a:latin typeface="Calibri"/>
                <a:cs typeface="Calibri"/>
              </a:rPr>
              <a:t>/</a:t>
            </a:r>
            <a:r>
              <a:rPr sz="1300" spc="40" dirty="0">
                <a:latin typeface="Calibri"/>
                <a:cs typeface="Calibri"/>
              </a:rPr>
              <a:t>20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idx="1"/>
          </p:nvPr>
        </p:nvSpPr>
        <p:spPr>
          <a:xfrm>
            <a:off x="783432" y="1597116"/>
            <a:ext cx="6517481" cy="2992358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226060">
              <a:lnSpc>
                <a:spcPct val="100000"/>
              </a:lnSpc>
              <a:spcBef>
                <a:spcPts val="670"/>
              </a:spcBef>
            </a:pPr>
            <a:r>
              <a:rPr spc="-10" dirty="0"/>
              <a:t>Friis</a:t>
            </a:r>
            <a:r>
              <a:rPr spc="-40" dirty="0"/>
              <a:t> </a:t>
            </a:r>
            <a:r>
              <a:rPr spc="-45" dirty="0"/>
              <a:t>Free-space</a:t>
            </a:r>
            <a:r>
              <a:rPr spc="45" dirty="0"/>
              <a:t> </a:t>
            </a:r>
            <a:r>
              <a:rPr spc="-25" dirty="0"/>
              <a:t>Propagation</a:t>
            </a:r>
            <a:r>
              <a:rPr spc="30" dirty="0"/>
              <a:t> </a:t>
            </a:r>
            <a:r>
              <a:rPr spc="50" dirty="0"/>
              <a:t>Model</a:t>
            </a:r>
          </a:p>
          <a:p>
            <a:pPr marL="518159" marR="551180" indent="-292100">
              <a:lnSpc>
                <a:spcPct val="102899"/>
              </a:lnSpc>
              <a:spcBef>
                <a:spcPts val="430"/>
              </a:spcBef>
              <a:buFont typeface="Wingdings"/>
              <a:buChar char=""/>
              <a:tabLst>
                <a:tab pos="519430" algn="l"/>
              </a:tabLst>
            </a:pPr>
            <a:r>
              <a:rPr sz="1700" b="0" spc="-40" dirty="0">
                <a:solidFill>
                  <a:srgbClr val="000000"/>
                </a:solidFill>
                <a:latin typeface="Times New Roman"/>
                <a:cs typeface="Times New Roman"/>
              </a:rPr>
              <a:t>T</a:t>
            </a:r>
            <a:r>
              <a:rPr sz="1700" b="0" spc="45" dirty="0">
                <a:solidFill>
                  <a:srgbClr val="000000"/>
                </a:solidFill>
                <a:latin typeface="Times New Roman"/>
                <a:cs typeface="Times New Roman"/>
              </a:rPr>
              <a:t>h</a:t>
            </a:r>
            <a:r>
              <a:rPr sz="1700" b="0" dirty="0">
                <a:solidFill>
                  <a:srgbClr val="000000"/>
                </a:solidFill>
                <a:latin typeface="Times New Roman"/>
                <a:cs typeface="Times New Roman"/>
              </a:rPr>
              <a:t>e</a:t>
            </a:r>
            <a:r>
              <a:rPr sz="1700" b="0" spc="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00" b="0" spc="-25" dirty="0">
                <a:solidFill>
                  <a:srgbClr val="000000"/>
                </a:solidFill>
                <a:latin typeface="Times New Roman"/>
                <a:cs typeface="Times New Roman"/>
              </a:rPr>
              <a:t>m</a:t>
            </a:r>
            <a:r>
              <a:rPr sz="1700" b="0" spc="45" dirty="0">
                <a:solidFill>
                  <a:srgbClr val="000000"/>
                </a:solidFill>
                <a:latin typeface="Times New Roman"/>
                <a:cs typeface="Times New Roman"/>
              </a:rPr>
              <a:t>o</a:t>
            </a:r>
            <a:r>
              <a:rPr sz="1700" b="0" spc="35" dirty="0">
                <a:solidFill>
                  <a:srgbClr val="000000"/>
                </a:solidFill>
                <a:latin typeface="Times New Roman"/>
                <a:cs typeface="Times New Roman"/>
              </a:rPr>
              <a:t>s</a:t>
            </a:r>
            <a:r>
              <a:rPr sz="1700" b="0" dirty="0">
                <a:solidFill>
                  <a:srgbClr val="000000"/>
                </a:solidFill>
                <a:latin typeface="Times New Roman"/>
                <a:cs typeface="Times New Roman"/>
              </a:rPr>
              <a:t>t</a:t>
            </a:r>
            <a:r>
              <a:rPr sz="1700" b="0" spc="-1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00" b="0" spc="35" dirty="0">
                <a:solidFill>
                  <a:srgbClr val="000000"/>
                </a:solidFill>
                <a:latin typeface="Times New Roman"/>
                <a:cs typeface="Times New Roman"/>
              </a:rPr>
              <a:t>s</a:t>
            </a:r>
            <a:r>
              <a:rPr sz="1700" b="0" spc="25" dirty="0">
                <a:solidFill>
                  <a:srgbClr val="000000"/>
                </a:solidFill>
                <a:latin typeface="Times New Roman"/>
                <a:cs typeface="Times New Roman"/>
              </a:rPr>
              <a:t>i</a:t>
            </a:r>
            <a:r>
              <a:rPr sz="1700" b="0" spc="-25" dirty="0">
                <a:solidFill>
                  <a:srgbClr val="000000"/>
                </a:solidFill>
                <a:latin typeface="Times New Roman"/>
                <a:cs typeface="Times New Roman"/>
              </a:rPr>
              <a:t>m</a:t>
            </a:r>
            <a:r>
              <a:rPr sz="1700" b="0" spc="45" dirty="0">
                <a:solidFill>
                  <a:srgbClr val="000000"/>
                </a:solidFill>
                <a:latin typeface="Times New Roman"/>
                <a:cs typeface="Times New Roman"/>
              </a:rPr>
              <a:t>p</a:t>
            </a:r>
            <a:r>
              <a:rPr sz="1700" b="0" spc="25" dirty="0">
                <a:solidFill>
                  <a:srgbClr val="000000"/>
                </a:solidFill>
                <a:latin typeface="Times New Roman"/>
                <a:cs typeface="Times New Roman"/>
              </a:rPr>
              <a:t>l</a:t>
            </a:r>
            <a:r>
              <a:rPr sz="1700" b="0" dirty="0">
                <a:solidFill>
                  <a:srgbClr val="000000"/>
                </a:solidFill>
                <a:latin typeface="Times New Roman"/>
                <a:cs typeface="Times New Roman"/>
              </a:rPr>
              <a:t>e</a:t>
            </a:r>
            <a:r>
              <a:rPr sz="1700" b="0" spc="-8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00" b="0" spc="-30" dirty="0">
                <a:solidFill>
                  <a:srgbClr val="000000"/>
                </a:solidFill>
                <a:latin typeface="Times New Roman"/>
                <a:cs typeface="Times New Roman"/>
              </a:rPr>
              <a:t>w</a:t>
            </a:r>
            <a:r>
              <a:rPr sz="1700" b="0" spc="40" dirty="0">
                <a:solidFill>
                  <a:srgbClr val="000000"/>
                </a:solidFill>
                <a:latin typeface="Times New Roman"/>
                <a:cs typeface="Times New Roman"/>
              </a:rPr>
              <a:t>a</a:t>
            </a:r>
            <a:r>
              <a:rPr sz="1700" b="0" spc="45" dirty="0">
                <a:solidFill>
                  <a:srgbClr val="000000"/>
                </a:solidFill>
                <a:latin typeface="Times New Roman"/>
                <a:cs typeface="Times New Roman"/>
              </a:rPr>
              <a:t>v</a:t>
            </a:r>
            <a:r>
              <a:rPr sz="1700" b="0" dirty="0">
                <a:solidFill>
                  <a:srgbClr val="000000"/>
                </a:solidFill>
                <a:latin typeface="Times New Roman"/>
                <a:cs typeface="Times New Roman"/>
              </a:rPr>
              <a:t>e</a:t>
            </a:r>
            <a:r>
              <a:rPr sz="1700" b="0" spc="-8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00" b="0" spc="45" dirty="0">
                <a:solidFill>
                  <a:srgbClr val="000000"/>
                </a:solidFill>
                <a:latin typeface="Times New Roman"/>
                <a:cs typeface="Times New Roman"/>
              </a:rPr>
              <a:t>p</a:t>
            </a:r>
            <a:r>
              <a:rPr sz="1700" b="0" spc="30" dirty="0">
                <a:solidFill>
                  <a:srgbClr val="000000"/>
                </a:solidFill>
                <a:latin typeface="Times New Roman"/>
                <a:cs typeface="Times New Roman"/>
              </a:rPr>
              <a:t>r</a:t>
            </a:r>
            <a:r>
              <a:rPr sz="1700" b="0" spc="45" dirty="0">
                <a:solidFill>
                  <a:srgbClr val="000000"/>
                </a:solidFill>
                <a:latin typeface="Times New Roman"/>
                <a:cs typeface="Times New Roman"/>
              </a:rPr>
              <a:t>op</a:t>
            </a:r>
            <a:r>
              <a:rPr sz="1700" b="0" spc="40" dirty="0">
                <a:solidFill>
                  <a:srgbClr val="000000"/>
                </a:solidFill>
                <a:latin typeface="Times New Roman"/>
                <a:cs typeface="Times New Roman"/>
              </a:rPr>
              <a:t>a</a:t>
            </a:r>
            <a:r>
              <a:rPr sz="1700" b="0" spc="45" dirty="0">
                <a:solidFill>
                  <a:srgbClr val="000000"/>
                </a:solidFill>
                <a:latin typeface="Times New Roman"/>
                <a:cs typeface="Times New Roman"/>
              </a:rPr>
              <a:t>g</a:t>
            </a:r>
            <a:r>
              <a:rPr sz="1700" b="0" spc="40" dirty="0">
                <a:solidFill>
                  <a:srgbClr val="000000"/>
                </a:solidFill>
                <a:latin typeface="Times New Roman"/>
                <a:cs typeface="Times New Roman"/>
              </a:rPr>
              <a:t>a</a:t>
            </a:r>
            <a:r>
              <a:rPr sz="1700" b="0" spc="-75" dirty="0">
                <a:solidFill>
                  <a:srgbClr val="000000"/>
                </a:solidFill>
                <a:latin typeface="Times New Roman"/>
                <a:cs typeface="Times New Roman"/>
              </a:rPr>
              <a:t>t</a:t>
            </a:r>
            <a:r>
              <a:rPr sz="1700" b="0" spc="25" dirty="0">
                <a:solidFill>
                  <a:srgbClr val="000000"/>
                </a:solidFill>
                <a:latin typeface="Times New Roman"/>
                <a:cs typeface="Times New Roman"/>
              </a:rPr>
              <a:t>i</a:t>
            </a:r>
            <a:r>
              <a:rPr sz="1700" b="0" spc="45" dirty="0">
                <a:solidFill>
                  <a:srgbClr val="000000"/>
                </a:solidFill>
                <a:latin typeface="Times New Roman"/>
                <a:cs typeface="Times New Roman"/>
              </a:rPr>
              <a:t>o</a:t>
            </a:r>
            <a:r>
              <a:rPr sz="1700" b="0" dirty="0">
                <a:solidFill>
                  <a:srgbClr val="000000"/>
                </a:solidFill>
                <a:latin typeface="Times New Roman"/>
                <a:cs typeface="Times New Roman"/>
              </a:rPr>
              <a:t>n</a:t>
            </a:r>
            <a:r>
              <a:rPr sz="1700" b="0" spc="-1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00" b="0" spc="40" dirty="0">
                <a:solidFill>
                  <a:srgbClr val="000000"/>
                </a:solidFill>
                <a:latin typeface="Times New Roman"/>
                <a:cs typeface="Times New Roman"/>
              </a:rPr>
              <a:t>ca</a:t>
            </a:r>
            <a:r>
              <a:rPr sz="1700" b="0" spc="35" dirty="0">
                <a:solidFill>
                  <a:srgbClr val="000000"/>
                </a:solidFill>
                <a:latin typeface="Times New Roman"/>
                <a:cs typeface="Times New Roman"/>
              </a:rPr>
              <a:t>s</a:t>
            </a:r>
            <a:r>
              <a:rPr sz="1700" b="0" dirty="0">
                <a:solidFill>
                  <a:srgbClr val="000000"/>
                </a:solidFill>
                <a:latin typeface="Times New Roman"/>
                <a:cs typeface="Times New Roman"/>
              </a:rPr>
              <a:t>e</a:t>
            </a:r>
            <a:r>
              <a:rPr sz="1700" b="0" spc="-8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00" b="0" spc="25" dirty="0">
                <a:solidFill>
                  <a:srgbClr val="000000"/>
                </a:solidFill>
                <a:latin typeface="Times New Roman"/>
                <a:cs typeface="Times New Roman"/>
              </a:rPr>
              <a:t>i</a:t>
            </a:r>
            <a:r>
              <a:rPr sz="1700" b="0" dirty="0">
                <a:solidFill>
                  <a:srgbClr val="000000"/>
                </a:solidFill>
                <a:latin typeface="Times New Roman"/>
                <a:cs typeface="Times New Roman"/>
              </a:rPr>
              <a:t>s</a:t>
            </a:r>
            <a:r>
              <a:rPr sz="1700" b="0" spc="-9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00" b="0" spc="25" dirty="0">
                <a:solidFill>
                  <a:srgbClr val="000000"/>
                </a:solidFill>
                <a:latin typeface="Times New Roman"/>
                <a:cs typeface="Times New Roman"/>
              </a:rPr>
              <a:t>t</a:t>
            </a:r>
            <a:r>
              <a:rPr sz="1700" b="0" spc="45" dirty="0">
                <a:solidFill>
                  <a:srgbClr val="000000"/>
                </a:solidFill>
                <a:latin typeface="Times New Roman"/>
                <a:cs typeface="Times New Roman"/>
              </a:rPr>
              <a:t>h</a:t>
            </a:r>
            <a:r>
              <a:rPr sz="1700" b="0" spc="40" dirty="0">
                <a:solidFill>
                  <a:srgbClr val="000000"/>
                </a:solidFill>
                <a:latin typeface="Times New Roman"/>
                <a:cs typeface="Times New Roman"/>
              </a:rPr>
              <a:t>a</a:t>
            </a:r>
            <a:r>
              <a:rPr sz="1700" b="0" dirty="0">
                <a:solidFill>
                  <a:srgbClr val="000000"/>
                </a:solidFill>
                <a:latin typeface="Times New Roman"/>
                <a:cs typeface="Times New Roman"/>
              </a:rPr>
              <a:t>t</a:t>
            </a:r>
            <a:r>
              <a:rPr sz="1700" b="0" spc="-1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00" b="0" spc="45" dirty="0">
                <a:solidFill>
                  <a:srgbClr val="000000"/>
                </a:solidFill>
                <a:latin typeface="Times New Roman"/>
                <a:cs typeface="Times New Roman"/>
              </a:rPr>
              <a:t>o</a:t>
            </a:r>
            <a:r>
              <a:rPr sz="1700" b="0" dirty="0">
                <a:solidFill>
                  <a:srgbClr val="000000"/>
                </a:solidFill>
                <a:latin typeface="Times New Roman"/>
                <a:cs typeface="Times New Roman"/>
              </a:rPr>
              <a:t>f</a:t>
            </a:r>
            <a:r>
              <a:rPr sz="1700" b="0" spc="-9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00" b="0" dirty="0">
                <a:solidFill>
                  <a:srgbClr val="000000"/>
                </a:solidFill>
                <a:latin typeface="Times New Roman"/>
                <a:cs typeface="Times New Roman"/>
              </a:rPr>
              <a:t>a</a:t>
            </a:r>
            <a:r>
              <a:rPr sz="1700" b="0" spc="-8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00" b="0" spc="45" dirty="0">
                <a:solidFill>
                  <a:srgbClr val="000000"/>
                </a:solidFill>
                <a:latin typeface="Times New Roman"/>
                <a:cs typeface="Times New Roman"/>
              </a:rPr>
              <a:t>d</a:t>
            </a:r>
            <a:r>
              <a:rPr sz="1700" b="0" spc="25" dirty="0">
                <a:solidFill>
                  <a:srgbClr val="000000"/>
                </a:solidFill>
                <a:latin typeface="Times New Roman"/>
                <a:cs typeface="Times New Roman"/>
              </a:rPr>
              <a:t>i</a:t>
            </a:r>
            <a:r>
              <a:rPr sz="1700" b="0" spc="30" dirty="0">
                <a:solidFill>
                  <a:srgbClr val="000000"/>
                </a:solidFill>
                <a:latin typeface="Times New Roman"/>
                <a:cs typeface="Times New Roman"/>
              </a:rPr>
              <a:t>r</a:t>
            </a:r>
            <a:r>
              <a:rPr sz="1700" b="0" spc="40" dirty="0">
                <a:solidFill>
                  <a:srgbClr val="000000"/>
                </a:solidFill>
                <a:latin typeface="Times New Roman"/>
                <a:cs typeface="Times New Roman"/>
              </a:rPr>
              <a:t>ec</a:t>
            </a:r>
            <a:r>
              <a:rPr sz="1700" b="0" dirty="0">
                <a:solidFill>
                  <a:srgbClr val="000000"/>
                </a:solidFill>
                <a:latin typeface="Times New Roman"/>
                <a:cs typeface="Times New Roman"/>
              </a:rPr>
              <a:t>t  </a:t>
            </a:r>
            <a:r>
              <a:rPr sz="1700" b="0" spc="15" dirty="0">
                <a:solidFill>
                  <a:srgbClr val="000000"/>
                </a:solidFill>
                <a:latin typeface="Times New Roman"/>
                <a:cs typeface="Times New Roman"/>
              </a:rPr>
              <a:t>wave</a:t>
            </a:r>
            <a:r>
              <a:rPr sz="1700" b="0" spc="-8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00" b="0" spc="25" dirty="0">
                <a:solidFill>
                  <a:srgbClr val="000000"/>
                </a:solidFill>
                <a:latin typeface="Times New Roman"/>
                <a:cs typeface="Times New Roman"/>
              </a:rPr>
              <a:t>propagation</a:t>
            </a:r>
            <a:r>
              <a:rPr sz="1700" b="0" spc="-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00" b="0" spc="10" dirty="0">
                <a:solidFill>
                  <a:srgbClr val="000000"/>
                </a:solidFill>
                <a:latin typeface="Times New Roman"/>
                <a:cs typeface="Times New Roman"/>
              </a:rPr>
              <a:t>in</a:t>
            </a:r>
            <a:r>
              <a:rPr sz="1700" b="0" spc="-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00" b="0" spc="25" dirty="0">
                <a:solidFill>
                  <a:srgbClr val="000000"/>
                </a:solidFill>
                <a:latin typeface="Times New Roman"/>
                <a:cs typeface="Times New Roman"/>
              </a:rPr>
              <a:t>free</a:t>
            </a:r>
            <a:r>
              <a:rPr sz="1700" b="0" spc="-9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00" b="0" spc="15" dirty="0">
                <a:solidFill>
                  <a:srgbClr val="000000"/>
                </a:solidFill>
                <a:latin typeface="Times New Roman"/>
                <a:cs typeface="Times New Roman"/>
              </a:rPr>
              <a:t>space</a:t>
            </a:r>
            <a:endParaRPr sz="1700" dirty="0">
              <a:latin typeface="Times New Roman"/>
              <a:cs typeface="Times New Roman"/>
            </a:endParaRPr>
          </a:p>
          <a:p>
            <a:pPr marL="518159" indent="-292735">
              <a:lnSpc>
                <a:spcPts val="2000"/>
              </a:lnSpc>
              <a:buFont typeface="Wingdings"/>
              <a:buChar char=""/>
              <a:tabLst>
                <a:tab pos="519430" algn="l"/>
              </a:tabLst>
            </a:pPr>
            <a:r>
              <a:rPr sz="1700" b="0" spc="15" dirty="0">
                <a:solidFill>
                  <a:srgbClr val="000000"/>
                </a:solidFill>
                <a:latin typeface="Times New Roman"/>
                <a:cs typeface="Times New Roman"/>
              </a:rPr>
              <a:t>In</a:t>
            </a:r>
            <a:r>
              <a:rPr sz="1700" b="0" spc="-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00" b="0" spc="20" dirty="0">
                <a:solidFill>
                  <a:srgbClr val="000000"/>
                </a:solidFill>
                <a:latin typeface="Times New Roman"/>
                <a:cs typeface="Times New Roman"/>
              </a:rPr>
              <a:t>this</a:t>
            </a:r>
            <a:r>
              <a:rPr sz="1700" b="0" spc="-9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00" b="0" spc="30" dirty="0">
                <a:solidFill>
                  <a:srgbClr val="000000"/>
                </a:solidFill>
                <a:latin typeface="Times New Roman"/>
                <a:cs typeface="Times New Roman"/>
              </a:rPr>
              <a:t>special</a:t>
            </a:r>
            <a:r>
              <a:rPr sz="1700" b="0" spc="-9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00" b="0" spc="30" dirty="0">
                <a:solidFill>
                  <a:srgbClr val="000000"/>
                </a:solidFill>
                <a:latin typeface="Times New Roman"/>
                <a:cs typeface="Times New Roman"/>
              </a:rPr>
              <a:t>case</a:t>
            </a:r>
            <a:r>
              <a:rPr sz="1700" b="0" spc="-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00" b="0" spc="20" dirty="0">
                <a:solidFill>
                  <a:srgbClr val="000000"/>
                </a:solidFill>
                <a:latin typeface="Times New Roman"/>
                <a:cs typeface="Times New Roman"/>
              </a:rPr>
              <a:t>of</a:t>
            </a:r>
            <a:r>
              <a:rPr sz="1700" b="0" spc="-9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00" b="0" spc="10" dirty="0">
                <a:solidFill>
                  <a:srgbClr val="000000"/>
                </a:solidFill>
                <a:latin typeface="Times New Roman"/>
                <a:cs typeface="Times New Roman"/>
              </a:rPr>
              <a:t>line-of-sight</a:t>
            </a:r>
            <a:r>
              <a:rPr sz="1700" b="0" spc="-1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00" b="0" spc="-20" dirty="0">
                <a:solidFill>
                  <a:srgbClr val="000000"/>
                </a:solidFill>
                <a:latin typeface="Times New Roman"/>
                <a:cs typeface="Times New Roman"/>
              </a:rPr>
              <a:t>(LOS)</a:t>
            </a:r>
            <a:r>
              <a:rPr sz="1700" b="0" spc="-9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00" b="0" spc="25" dirty="0">
                <a:solidFill>
                  <a:srgbClr val="000000"/>
                </a:solidFill>
                <a:latin typeface="Times New Roman"/>
                <a:cs typeface="Times New Roman"/>
              </a:rPr>
              <a:t>propagation</a:t>
            </a:r>
            <a:r>
              <a:rPr sz="1700" b="0" spc="-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00" b="0" spc="10" dirty="0">
                <a:solidFill>
                  <a:srgbClr val="000000"/>
                </a:solidFill>
                <a:latin typeface="Times New Roman"/>
                <a:cs typeface="Times New Roman"/>
              </a:rPr>
              <a:t>there</a:t>
            </a:r>
            <a:endParaRPr sz="1700" dirty="0">
              <a:latin typeface="Times New Roman"/>
              <a:cs typeface="Times New Roman"/>
            </a:endParaRPr>
          </a:p>
          <a:p>
            <a:pPr marL="518159" marR="913130">
              <a:lnSpc>
                <a:spcPts val="2000"/>
              </a:lnSpc>
              <a:spcBef>
                <a:spcPts val="160"/>
              </a:spcBef>
            </a:pPr>
            <a:r>
              <a:rPr sz="1700" b="0" spc="25" dirty="0">
                <a:solidFill>
                  <a:srgbClr val="000000"/>
                </a:solidFill>
                <a:latin typeface="Times New Roman"/>
                <a:cs typeface="Times New Roman"/>
              </a:rPr>
              <a:t>are</a:t>
            </a:r>
            <a:r>
              <a:rPr sz="1700" b="0" spc="-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00" b="0" spc="25" dirty="0">
                <a:solidFill>
                  <a:srgbClr val="000000"/>
                </a:solidFill>
                <a:latin typeface="Times New Roman"/>
                <a:cs typeface="Times New Roman"/>
              </a:rPr>
              <a:t>no</a:t>
            </a:r>
            <a:r>
              <a:rPr sz="1700" b="0" spc="-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00" b="0" spc="25" dirty="0">
                <a:solidFill>
                  <a:srgbClr val="000000"/>
                </a:solidFill>
                <a:latin typeface="Times New Roman"/>
                <a:cs typeface="Times New Roman"/>
              </a:rPr>
              <a:t>obstructions</a:t>
            </a:r>
            <a:r>
              <a:rPr sz="1700" b="0" spc="-8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00" b="0" spc="30" dirty="0">
                <a:solidFill>
                  <a:srgbClr val="000000"/>
                </a:solidFill>
                <a:latin typeface="Times New Roman"/>
                <a:cs typeface="Times New Roman"/>
              </a:rPr>
              <a:t>due</a:t>
            </a:r>
            <a:r>
              <a:rPr sz="1700" b="0" spc="-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00" b="0" spc="10" dirty="0">
                <a:solidFill>
                  <a:srgbClr val="000000"/>
                </a:solidFill>
                <a:latin typeface="Times New Roman"/>
                <a:cs typeface="Times New Roman"/>
              </a:rPr>
              <a:t>to</a:t>
            </a:r>
            <a:r>
              <a:rPr sz="1700" b="0" spc="-7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00" b="0" spc="25" dirty="0">
                <a:solidFill>
                  <a:srgbClr val="000000"/>
                </a:solidFill>
                <a:latin typeface="Times New Roman"/>
                <a:cs typeface="Times New Roman"/>
              </a:rPr>
              <a:t>the</a:t>
            </a:r>
            <a:r>
              <a:rPr sz="1700" b="0" spc="-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00" b="0" dirty="0">
                <a:solidFill>
                  <a:srgbClr val="000000"/>
                </a:solidFill>
                <a:latin typeface="Times New Roman"/>
                <a:cs typeface="Times New Roman"/>
              </a:rPr>
              <a:t>earth’s</a:t>
            </a:r>
            <a:r>
              <a:rPr sz="1700" b="0" spc="-8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00" b="0" spc="15" dirty="0">
                <a:solidFill>
                  <a:srgbClr val="000000"/>
                </a:solidFill>
                <a:latin typeface="Times New Roman"/>
                <a:cs typeface="Times New Roman"/>
              </a:rPr>
              <a:t>surface</a:t>
            </a:r>
            <a:r>
              <a:rPr sz="1700" b="0" spc="-1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00" b="0" spc="25" dirty="0">
                <a:solidFill>
                  <a:srgbClr val="000000"/>
                </a:solidFill>
                <a:latin typeface="Times New Roman"/>
                <a:cs typeface="Times New Roman"/>
              </a:rPr>
              <a:t>or</a:t>
            </a:r>
            <a:r>
              <a:rPr sz="1700" b="0" spc="-9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00" b="0" spc="40" dirty="0">
                <a:solidFill>
                  <a:srgbClr val="000000"/>
                </a:solidFill>
                <a:latin typeface="Times New Roman"/>
                <a:cs typeface="Times New Roman"/>
              </a:rPr>
              <a:t>other </a:t>
            </a:r>
            <a:r>
              <a:rPr sz="1700" b="0" spc="-40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00" b="0" spc="35" dirty="0">
                <a:solidFill>
                  <a:srgbClr val="000000"/>
                </a:solidFill>
                <a:latin typeface="Times New Roman"/>
                <a:cs typeface="Times New Roman"/>
              </a:rPr>
              <a:t>obstacles</a:t>
            </a:r>
            <a:endParaRPr sz="1700" dirty="0">
              <a:latin typeface="Times New Roman"/>
              <a:cs typeface="Times New Roman"/>
            </a:endParaRPr>
          </a:p>
          <a:p>
            <a:pPr marL="518159" indent="-292735">
              <a:lnSpc>
                <a:spcPts val="1939"/>
              </a:lnSpc>
              <a:buFont typeface="Wingdings"/>
              <a:buChar char=""/>
              <a:tabLst>
                <a:tab pos="519430" algn="l"/>
              </a:tabLst>
            </a:pPr>
            <a:r>
              <a:rPr sz="1700" b="0" spc="15" dirty="0">
                <a:solidFill>
                  <a:srgbClr val="000000"/>
                </a:solidFill>
                <a:latin typeface="Times New Roman"/>
                <a:cs typeface="Times New Roman"/>
              </a:rPr>
              <a:t>It</a:t>
            </a:r>
            <a:r>
              <a:rPr sz="1700" b="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00" b="0" spc="20" dirty="0">
                <a:solidFill>
                  <a:srgbClr val="000000"/>
                </a:solidFill>
                <a:latin typeface="Times New Roman"/>
                <a:cs typeface="Times New Roman"/>
              </a:rPr>
              <a:t>models</a:t>
            </a:r>
            <a:r>
              <a:rPr sz="1700" b="0" spc="-9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00" b="0" dirty="0">
                <a:solidFill>
                  <a:srgbClr val="000000"/>
                </a:solidFill>
                <a:latin typeface="Times New Roman"/>
                <a:cs typeface="Times New Roman"/>
              </a:rPr>
              <a:t>a</a:t>
            </a:r>
            <a:r>
              <a:rPr sz="1700" b="0" spc="-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00" b="0" spc="30" dirty="0">
                <a:solidFill>
                  <a:srgbClr val="000000"/>
                </a:solidFill>
                <a:latin typeface="Times New Roman"/>
                <a:cs typeface="Times New Roman"/>
              </a:rPr>
              <a:t>single</a:t>
            </a:r>
            <a:r>
              <a:rPr sz="1700" b="0" spc="-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00" b="0" spc="10" dirty="0">
                <a:solidFill>
                  <a:srgbClr val="000000"/>
                </a:solidFill>
                <a:latin typeface="Times New Roman"/>
                <a:cs typeface="Times New Roman"/>
              </a:rPr>
              <a:t>un-obstructed</a:t>
            </a:r>
            <a:r>
              <a:rPr sz="1700" b="0" spc="-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00" b="0" spc="25" dirty="0">
                <a:solidFill>
                  <a:srgbClr val="000000"/>
                </a:solidFill>
                <a:latin typeface="Times New Roman"/>
                <a:cs typeface="Times New Roman"/>
              </a:rPr>
              <a:t>path</a:t>
            </a:r>
            <a:r>
              <a:rPr sz="1700" b="0" spc="-1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00" b="0" spc="25" dirty="0">
                <a:solidFill>
                  <a:srgbClr val="000000"/>
                </a:solidFill>
                <a:latin typeface="Times New Roman"/>
                <a:cs typeface="Times New Roman"/>
              </a:rPr>
              <a:t>between</a:t>
            </a:r>
            <a:r>
              <a:rPr sz="1700" b="0" spc="-1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00" b="0" spc="25" dirty="0">
                <a:solidFill>
                  <a:srgbClr val="000000"/>
                </a:solidFill>
                <a:latin typeface="Times New Roman"/>
                <a:cs typeface="Times New Roman"/>
              </a:rPr>
              <a:t>the</a:t>
            </a:r>
            <a:r>
              <a:rPr sz="1700" b="0" spc="-8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00" b="0" spc="15" dirty="0">
                <a:solidFill>
                  <a:srgbClr val="000000"/>
                </a:solidFill>
                <a:latin typeface="Times New Roman"/>
                <a:cs typeface="Times New Roman"/>
              </a:rPr>
              <a:t>transmitter</a:t>
            </a:r>
            <a:endParaRPr sz="1700" dirty="0">
              <a:latin typeface="Times New Roman"/>
              <a:cs typeface="Times New Roman"/>
            </a:endParaRPr>
          </a:p>
          <a:p>
            <a:pPr marL="518159">
              <a:lnSpc>
                <a:spcPts val="2020"/>
              </a:lnSpc>
              <a:spcBef>
                <a:spcPts val="60"/>
              </a:spcBef>
            </a:pPr>
            <a:r>
              <a:rPr sz="1700" b="0" spc="30" dirty="0">
                <a:solidFill>
                  <a:srgbClr val="000000"/>
                </a:solidFill>
                <a:latin typeface="Times New Roman"/>
                <a:cs typeface="Times New Roman"/>
              </a:rPr>
              <a:t>and</a:t>
            </a:r>
            <a:r>
              <a:rPr sz="1700" b="0" spc="-9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00" b="0" spc="25" dirty="0">
                <a:solidFill>
                  <a:srgbClr val="000000"/>
                </a:solidFill>
                <a:latin typeface="Times New Roman"/>
                <a:cs typeface="Times New Roman"/>
              </a:rPr>
              <a:t>the</a:t>
            </a:r>
            <a:r>
              <a:rPr sz="1700" b="0" spc="-9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00" b="0" spc="20" dirty="0">
                <a:solidFill>
                  <a:srgbClr val="000000"/>
                </a:solidFill>
                <a:latin typeface="Times New Roman"/>
                <a:cs typeface="Times New Roman"/>
              </a:rPr>
              <a:t>receiver.</a:t>
            </a:r>
            <a:endParaRPr sz="1700" dirty="0">
              <a:latin typeface="Times New Roman"/>
              <a:cs typeface="Times New Roman"/>
            </a:endParaRPr>
          </a:p>
          <a:p>
            <a:pPr marL="518159" indent="-292735">
              <a:lnSpc>
                <a:spcPts val="2020"/>
              </a:lnSpc>
              <a:buFont typeface="Wingdings"/>
              <a:buChar char=""/>
              <a:tabLst>
                <a:tab pos="519430" algn="l"/>
              </a:tabLst>
            </a:pPr>
            <a:r>
              <a:rPr sz="1700" b="0" spc="-40" dirty="0">
                <a:solidFill>
                  <a:srgbClr val="000000"/>
                </a:solidFill>
                <a:latin typeface="Times New Roman"/>
                <a:cs typeface="Times New Roman"/>
              </a:rPr>
              <a:t>T</a:t>
            </a:r>
            <a:r>
              <a:rPr sz="1700" b="0" spc="45" dirty="0">
                <a:solidFill>
                  <a:srgbClr val="000000"/>
                </a:solidFill>
                <a:latin typeface="Times New Roman"/>
                <a:cs typeface="Times New Roman"/>
              </a:rPr>
              <a:t>h</a:t>
            </a:r>
            <a:r>
              <a:rPr sz="1700" b="0" dirty="0">
                <a:solidFill>
                  <a:srgbClr val="000000"/>
                </a:solidFill>
                <a:latin typeface="Times New Roman"/>
                <a:cs typeface="Times New Roman"/>
              </a:rPr>
              <a:t>e</a:t>
            </a:r>
            <a:r>
              <a:rPr sz="1700" b="0" spc="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00" b="0" spc="25" dirty="0">
                <a:solidFill>
                  <a:srgbClr val="000000"/>
                </a:solidFill>
                <a:latin typeface="Times New Roman"/>
                <a:cs typeface="Times New Roman"/>
              </a:rPr>
              <a:t>i</a:t>
            </a:r>
            <a:r>
              <a:rPr sz="1700" b="0" spc="45" dirty="0">
                <a:solidFill>
                  <a:srgbClr val="000000"/>
                </a:solidFill>
                <a:latin typeface="Times New Roman"/>
                <a:cs typeface="Times New Roman"/>
              </a:rPr>
              <a:t>n</a:t>
            </a:r>
            <a:r>
              <a:rPr sz="1700" b="0" spc="30" dirty="0">
                <a:solidFill>
                  <a:srgbClr val="000000"/>
                </a:solidFill>
                <a:latin typeface="Times New Roman"/>
                <a:cs typeface="Times New Roman"/>
              </a:rPr>
              <a:t>f</a:t>
            </a:r>
            <a:r>
              <a:rPr sz="1700" b="0" spc="25" dirty="0">
                <a:solidFill>
                  <a:srgbClr val="000000"/>
                </a:solidFill>
                <a:latin typeface="Times New Roman"/>
                <a:cs typeface="Times New Roman"/>
              </a:rPr>
              <a:t>l</a:t>
            </a:r>
            <a:r>
              <a:rPr sz="1700" b="0" spc="45" dirty="0">
                <a:solidFill>
                  <a:srgbClr val="000000"/>
                </a:solidFill>
                <a:latin typeface="Times New Roman"/>
                <a:cs typeface="Times New Roman"/>
              </a:rPr>
              <a:t>u</a:t>
            </a:r>
            <a:r>
              <a:rPr sz="1700" b="0" spc="40" dirty="0">
                <a:solidFill>
                  <a:srgbClr val="000000"/>
                </a:solidFill>
                <a:latin typeface="Times New Roman"/>
                <a:cs typeface="Times New Roman"/>
              </a:rPr>
              <a:t>e</a:t>
            </a:r>
            <a:r>
              <a:rPr sz="1700" b="0" spc="45" dirty="0">
                <a:solidFill>
                  <a:srgbClr val="000000"/>
                </a:solidFill>
                <a:latin typeface="Times New Roman"/>
                <a:cs typeface="Times New Roman"/>
              </a:rPr>
              <a:t>n</a:t>
            </a:r>
            <a:r>
              <a:rPr sz="1700" b="0" spc="40" dirty="0">
                <a:solidFill>
                  <a:srgbClr val="000000"/>
                </a:solidFill>
                <a:latin typeface="Times New Roman"/>
                <a:cs typeface="Times New Roman"/>
              </a:rPr>
              <a:t>c</a:t>
            </a:r>
            <a:r>
              <a:rPr sz="1700" b="0" dirty="0">
                <a:solidFill>
                  <a:srgbClr val="000000"/>
                </a:solidFill>
                <a:latin typeface="Times New Roman"/>
                <a:cs typeface="Times New Roman"/>
              </a:rPr>
              <a:t>e</a:t>
            </a:r>
            <a:r>
              <a:rPr sz="1700" b="0" spc="-1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00" b="0" spc="45" dirty="0">
                <a:solidFill>
                  <a:srgbClr val="000000"/>
                </a:solidFill>
                <a:latin typeface="Times New Roman"/>
                <a:cs typeface="Times New Roman"/>
              </a:rPr>
              <a:t>o</a:t>
            </a:r>
            <a:r>
              <a:rPr sz="1700" b="0" dirty="0">
                <a:solidFill>
                  <a:srgbClr val="000000"/>
                </a:solidFill>
                <a:latin typeface="Times New Roman"/>
                <a:cs typeface="Times New Roman"/>
              </a:rPr>
              <a:t>f</a:t>
            </a:r>
            <a:r>
              <a:rPr sz="1700" b="0" spc="-9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00" b="0" spc="40" dirty="0">
                <a:solidFill>
                  <a:srgbClr val="000000"/>
                </a:solidFill>
                <a:latin typeface="Times New Roman"/>
                <a:cs typeface="Times New Roman"/>
              </a:rPr>
              <a:t>a</a:t>
            </a:r>
            <a:r>
              <a:rPr sz="1700" b="0" spc="25" dirty="0">
                <a:solidFill>
                  <a:srgbClr val="000000"/>
                </a:solidFill>
                <a:latin typeface="Times New Roman"/>
                <a:cs typeface="Times New Roman"/>
              </a:rPr>
              <a:t>l</a:t>
            </a:r>
            <a:r>
              <a:rPr sz="1700" b="0" dirty="0">
                <a:solidFill>
                  <a:srgbClr val="000000"/>
                </a:solidFill>
                <a:latin typeface="Times New Roman"/>
                <a:cs typeface="Times New Roman"/>
              </a:rPr>
              <a:t>l</a:t>
            </a:r>
            <a:r>
              <a:rPr sz="1700" b="0" spc="-1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00" b="0" spc="45" dirty="0">
                <a:solidFill>
                  <a:srgbClr val="000000"/>
                </a:solidFill>
                <a:latin typeface="Times New Roman"/>
                <a:cs typeface="Times New Roman"/>
              </a:rPr>
              <a:t>ob</a:t>
            </a:r>
            <a:r>
              <a:rPr sz="1700" b="0" spc="35" dirty="0">
                <a:solidFill>
                  <a:srgbClr val="000000"/>
                </a:solidFill>
                <a:latin typeface="Times New Roman"/>
                <a:cs typeface="Times New Roman"/>
              </a:rPr>
              <a:t>s</a:t>
            </a:r>
            <a:r>
              <a:rPr sz="1700" b="0" spc="25" dirty="0">
                <a:solidFill>
                  <a:srgbClr val="000000"/>
                </a:solidFill>
                <a:latin typeface="Times New Roman"/>
                <a:cs typeface="Times New Roman"/>
              </a:rPr>
              <a:t>t</a:t>
            </a:r>
            <a:r>
              <a:rPr sz="1700" b="0" spc="40" dirty="0">
                <a:solidFill>
                  <a:srgbClr val="000000"/>
                </a:solidFill>
                <a:latin typeface="Times New Roman"/>
                <a:cs typeface="Times New Roman"/>
              </a:rPr>
              <a:t>ac</a:t>
            </a:r>
            <a:r>
              <a:rPr sz="1700" b="0" spc="-75" dirty="0">
                <a:solidFill>
                  <a:srgbClr val="000000"/>
                </a:solidFill>
                <a:latin typeface="Times New Roman"/>
                <a:cs typeface="Times New Roman"/>
              </a:rPr>
              <a:t>l</a:t>
            </a:r>
            <a:r>
              <a:rPr sz="1700" b="0" spc="40" dirty="0">
                <a:solidFill>
                  <a:srgbClr val="000000"/>
                </a:solidFill>
                <a:latin typeface="Times New Roman"/>
                <a:cs typeface="Times New Roman"/>
              </a:rPr>
              <a:t>e</a:t>
            </a:r>
            <a:r>
              <a:rPr sz="1700" b="0" dirty="0">
                <a:solidFill>
                  <a:srgbClr val="000000"/>
                </a:solidFill>
                <a:latin typeface="Times New Roman"/>
                <a:cs typeface="Times New Roman"/>
              </a:rPr>
              <a:t>s</a:t>
            </a:r>
            <a:r>
              <a:rPr sz="1700" b="0" spc="-9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00" b="0" spc="25" dirty="0">
                <a:solidFill>
                  <a:srgbClr val="000000"/>
                </a:solidFill>
                <a:latin typeface="Times New Roman"/>
                <a:cs typeface="Times New Roman"/>
              </a:rPr>
              <a:t>i</a:t>
            </a:r>
            <a:r>
              <a:rPr sz="1700" b="0" dirty="0">
                <a:solidFill>
                  <a:srgbClr val="000000"/>
                </a:solidFill>
                <a:latin typeface="Times New Roman"/>
                <a:cs typeface="Times New Roman"/>
              </a:rPr>
              <a:t>s</a:t>
            </a:r>
            <a:r>
              <a:rPr sz="1700" b="0" spc="-9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00" b="0" spc="25" dirty="0">
                <a:solidFill>
                  <a:srgbClr val="000000"/>
                </a:solidFill>
                <a:latin typeface="Times New Roman"/>
                <a:cs typeface="Times New Roman"/>
              </a:rPr>
              <a:t>i</a:t>
            </a:r>
            <a:r>
              <a:rPr sz="1700" b="0" spc="45" dirty="0">
                <a:solidFill>
                  <a:srgbClr val="000000"/>
                </a:solidFill>
                <a:latin typeface="Times New Roman"/>
                <a:cs typeface="Times New Roman"/>
              </a:rPr>
              <a:t>gno</a:t>
            </a:r>
            <a:r>
              <a:rPr sz="1700" b="0" spc="-70" dirty="0">
                <a:solidFill>
                  <a:srgbClr val="000000"/>
                </a:solidFill>
                <a:latin typeface="Times New Roman"/>
                <a:cs typeface="Times New Roman"/>
              </a:rPr>
              <a:t>r</a:t>
            </a:r>
            <a:r>
              <a:rPr sz="1700" b="0" spc="40" dirty="0">
                <a:solidFill>
                  <a:srgbClr val="000000"/>
                </a:solidFill>
                <a:latin typeface="Times New Roman"/>
                <a:cs typeface="Times New Roman"/>
              </a:rPr>
              <a:t>e</a:t>
            </a:r>
            <a:r>
              <a:rPr sz="1700" b="0" dirty="0">
                <a:solidFill>
                  <a:srgbClr val="000000"/>
                </a:solidFill>
                <a:latin typeface="Times New Roman"/>
                <a:cs typeface="Times New Roman"/>
              </a:rPr>
              <a:t>d</a:t>
            </a:r>
            <a:endParaRPr sz="1700" dirty="0">
              <a:latin typeface="Times New Roman"/>
              <a:cs typeface="Times New Roman"/>
            </a:endParaRPr>
          </a:p>
          <a:p>
            <a:pPr marL="38735">
              <a:lnSpc>
                <a:spcPct val="100000"/>
              </a:lnSpc>
              <a:spcBef>
                <a:spcPts val="275"/>
              </a:spcBef>
              <a:tabLst>
                <a:tab pos="5525135" algn="l"/>
              </a:tabLst>
            </a:pP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4294967295"/>
          </p:nvPr>
        </p:nvSpPr>
        <p:spPr>
          <a:xfrm>
            <a:off x="7300913" y="9974263"/>
            <a:ext cx="255587" cy="227012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11</a:t>
            </a:fld>
            <a:endParaRPr dirty="0"/>
          </a:p>
        </p:txBody>
      </p:sp>
      <p:sp>
        <p:nvSpPr>
          <p:cNvPr id="9" name="object 9"/>
          <p:cNvSpPr/>
          <p:nvPr/>
        </p:nvSpPr>
        <p:spPr>
          <a:xfrm>
            <a:off x="742949" y="1492249"/>
            <a:ext cx="6083300" cy="3416300"/>
          </a:xfrm>
          <a:custGeom>
            <a:avLst/>
            <a:gdLst/>
            <a:ahLst/>
            <a:cxnLst/>
            <a:rect l="l" t="t" r="r" b="b"/>
            <a:pathLst>
              <a:path w="6083300" h="3416300">
                <a:moveTo>
                  <a:pt x="0" y="0"/>
                </a:moveTo>
                <a:lnTo>
                  <a:pt x="6083300" y="0"/>
                </a:lnTo>
                <a:lnTo>
                  <a:pt x="6083300" y="3416300"/>
                </a:lnTo>
                <a:lnTo>
                  <a:pt x="0" y="341630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5" name="object 1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5120" y="7577067"/>
            <a:ext cx="1899855" cy="638836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783432" y="6057416"/>
            <a:ext cx="5995035" cy="2446888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187325">
              <a:lnSpc>
                <a:spcPct val="100000"/>
              </a:lnSpc>
              <a:spcBef>
                <a:spcPts val="705"/>
              </a:spcBef>
            </a:pPr>
            <a:r>
              <a:rPr sz="2000" b="1" spc="-45" dirty="0">
                <a:solidFill>
                  <a:srgbClr val="FF0000"/>
                </a:solidFill>
                <a:latin typeface="Cambria"/>
                <a:cs typeface="Cambria"/>
              </a:rPr>
              <a:t>Free-space</a:t>
            </a:r>
            <a:r>
              <a:rPr sz="2000" b="1" spc="3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b="1" spc="-25" dirty="0">
                <a:solidFill>
                  <a:srgbClr val="FF0000"/>
                </a:solidFill>
                <a:latin typeface="Cambria"/>
                <a:cs typeface="Cambria"/>
              </a:rPr>
              <a:t>Propagation</a:t>
            </a:r>
            <a:r>
              <a:rPr sz="2000" b="1" spc="1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b="1" spc="50" dirty="0">
                <a:solidFill>
                  <a:srgbClr val="FF0000"/>
                </a:solidFill>
                <a:latin typeface="Cambria"/>
                <a:cs typeface="Cambria"/>
              </a:rPr>
              <a:t>Model</a:t>
            </a:r>
            <a:endParaRPr sz="2000" dirty="0">
              <a:latin typeface="Cambria"/>
              <a:cs typeface="Cambria"/>
            </a:endParaRPr>
          </a:p>
          <a:p>
            <a:pPr marL="187325" marR="336550">
              <a:lnSpc>
                <a:spcPct val="101600"/>
              </a:lnSpc>
              <a:spcBef>
                <a:spcPts val="459"/>
              </a:spcBef>
            </a:pPr>
            <a:r>
              <a:rPr sz="1600" spc="-10" dirty="0">
                <a:latin typeface="Times New Roman"/>
                <a:cs typeface="Times New Roman"/>
              </a:rPr>
              <a:t>Applying </a:t>
            </a:r>
            <a:r>
              <a:rPr sz="1600" spc="-15" dirty="0">
                <a:latin typeface="Times New Roman"/>
                <a:cs typeface="Times New Roman"/>
              </a:rPr>
              <a:t>the </a:t>
            </a:r>
            <a:r>
              <a:rPr sz="1600" spc="-20" dirty="0">
                <a:latin typeface="Times New Roman"/>
                <a:cs typeface="Times New Roman"/>
              </a:rPr>
              <a:t>fact </a:t>
            </a:r>
            <a:r>
              <a:rPr sz="1600" spc="-15" dirty="0">
                <a:latin typeface="Times New Roman"/>
                <a:cs typeface="Times New Roman"/>
              </a:rPr>
              <a:t>that the </a:t>
            </a:r>
            <a:r>
              <a:rPr sz="1600" spc="-25" dirty="0">
                <a:latin typeface="Times New Roman"/>
                <a:cs typeface="Times New Roman"/>
              </a:rPr>
              <a:t>strength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 a </a:t>
            </a:r>
            <a:r>
              <a:rPr sz="1600" spc="-25" dirty="0">
                <a:latin typeface="Times New Roman"/>
                <a:cs typeface="Times New Roman"/>
              </a:rPr>
              <a:t>radiation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spc="-30" dirty="0">
                <a:latin typeface="Times New Roman"/>
                <a:cs typeface="Times New Roman"/>
              </a:rPr>
              <a:t>field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decreases </a:t>
            </a:r>
            <a:r>
              <a:rPr sz="1600" spc="-10" dirty="0">
                <a:latin typeface="Times New Roman"/>
                <a:cs typeface="Times New Roman"/>
              </a:rPr>
              <a:t>as 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</a:t>
            </a:r>
            <a:r>
              <a:rPr sz="1600" spc="-45" dirty="0">
                <a:latin typeface="Times New Roman"/>
                <a:cs typeface="Times New Roman"/>
              </a:rPr>
              <a:t>i</a:t>
            </a:r>
            <a:r>
              <a:rPr sz="1600" spc="-25" dirty="0">
                <a:latin typeface="Times New Roman"/>
                <a:cs typeface="Times New Roman"/>
              </a:rPr>
              <a:t>s</a:t>
            </a:r>
            <a:r>
              <a:rPr sz="1600" spc="-45" dirty="0">
                <a:latin typeface="Times New Roman"/>
                <a:cs typeface="Times New Roman"/>
              </a:rPr>
              <a:t>t</a:t>
            </a:r>
            <a:r>
              <a:rPr sz="1600" spc="-15" dirty="0">
                <a:latin typeface="Times New Roman"/>
                <a:cs typeface="Times New Roman"/>
              </a:rPr>
              <a:t>a</a:t>
            </a:r>
            <a:r>
              <a:rPr sz="1600" dirty="0">
                <a:latin typeface="Times New Roman"/>
                <a:cs typeface="Times New Roman"/>
              </a:rPr>
              <a:t>n</a:t>
            </a:r>
            <a:r>
              <a:rPr sz="1600" spc="-15" dirty="0">
                <a:latin typeface="Times New Roman"/>
                <a:cs typeface="Times New Roman"/>
              </a:rPr>
              <a:t>c</a:t>
            </a:r>
            <a:r>
              <a:rPr sz="1600" dirty="0">
                <a:latin typeface="Times New Roman"/>
                <a:cs typeface="Times New Roman"/>
              </a:rPr>
              <a:t>e</a:t>
            </a:r>
            <a:r>
              <a:rPr sz="1600" spc="18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</a:t>
            </a:r>
            <a:r>
              <a:rPr sz="1600" spc="-15" dirty="0">
                <a:latin typeface="Times New Roman"/>
                <a:cs typeface="Times New Roman"/>
              </a:rPr>
              <a:t>e</a:t>
            </a:r>
            <a:r>
              <a:rPr sz="1600" spc="-45" dirty="0">
                <a:latin typeface="Times New Roman"/>
                <a:cs typeface="Times New Roman"/>
              </a:rPr>
              <a:t>t</a:t>
            </a:r>
            <a:r>
              <a:rPr sz="1600" spc="40" dirty="0">
                <a:latin typeface="Times New Roman"/>
                <a:cs typeface="Times New Roman"/>
              </a:rPr>
              <a:t>w</a:t>
            </a:r>
            <a:r>
              <a:rPr sz="1600" spc="-15" dirty="0">
                <a:latin typeface="Times New Roman"/>
                <a:cs typeface="Times New Roman"/>
              </a:rPr>
              <a:t>ee</a:t>
            </a:r>
            <a:r>
              <a:rPr sz="1600" dirty="0">
                <a:latin typeface="Times New Roman"/>
                <a:cs typeface="Times New Roman"/>
              </a:rPr>
              <a:t>n </a:t>
            </a:r>
            <a:r>
              <a:rPr sz="1600" spc="20" dirty="0">
                <a:latin typeface="Times New Roman"/>
                <a:cs typeface="Times New Roman"/>
              </a:rPr>
              <a:t>T</a:t>
            </a:r>
            <a:r>
              <a:rPr sz="1600" dirty="0">
                <a:latin typeface="Times New Roman"/>
                <a:cs typeface="Times New Roman"/>
              </a:rPr>
              <a:t>x</a:t>
            </a:r>
            <a:r>
              <a:rPr sz="1600" spc="-100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a</a:t>
            </a:r>
            <a:r>
              <a:rPr sz="1600" dirty="0">
                <a:latin typeface="Times New Roman"/>
                <a:cs typeface="Times New Roman"/>
              </a:rPr>
              <a:t>nd </a:t>
            </a:r>
            <a:r>
              <a:rPr sz="1600" spc="30" dirty="0">
                <a:latin typeface="Times New Roman"/>
                <a:cs typeface="Times New Roman"/>
              </a:rPr>
              <a:t>R</a:t>
            </a:r>
            <a:r>
              <a:rPr sz="1600" dirty="0">
                <a:latin typeface="Times New Roman"/>
                <a:cs typeface="Times New Roman"/>
              </a:rPr>
              <a:t>x, </a:t>
            </a:r>
            <a:r>
              <a:rPr sz="1600" spc="-45" dirty="0">
                <a:latin typeface="Times New Roman"/>
                <a:cs typeface="Times New Roman"/>
              </a:rPr>
              <a:t>t</a:t>
            </a:r>
            <a:r>
              <a:rPr sz="1600" dirty="0">
                <a:latin typeface="Times New Roman"/>
                <a:cs typeface="Times New Roman"/>
              </a:rPr>
              <a:t>he</a:t>
            </a:r>
            <a:r>
              <a:rPr sz="1600" spc="85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a</a:t>
            </a:r>
            <a:r>
              <a:rPr sz="1600" spc="-45" dirty="0">
                <a:latin typeface="Times New Roman"/>
                <a:cs typeface="Times New Roman"/>
              </a:rPr>
              <a:t>m</a:t>
            </a:r>
            <a:r>
              <a:rPr sz="1600" dirty="0">
                <a:latin typeface="Times New Roman"/>
                <a:cs typeface="Times New Roman"/>
              </a:rPr>
              <a:t>ount</a:t>
            </a:r>
            <a:r>
              <a:rPr sz="1600" spc="5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po</a:t>
            </a:r>
            <a:r>
              <a:rPr sz="1600" spc="40" dirty="0">
                <a:latin typeface="Times New Roman"/>
                <a:cs typeface="Times New Roman"/>
              </a:rPr>
              <a:t>w</a:t>
            </a:r>
            <a:r>
              <a:rPr sz="1600" spc="-15" dirty="0">
                <a:latin typeface="Times New Roman"/>
                <a:cs typeface="Times New Roman"/>
              </a:rPr>
              <a:t>e</a:t>
            </a:r>
            <a:r>
              <a:rPr sz="1600" dirty="0">
                <a:latin typeface="Times New Roman"/>
                <a:cs typeface="Times New Roman"/>
              </a:rPr>
              <a:t>r</a:t>
            </a:r>
            <a:r>
              <a:rPr sz="1600" spc="-35" dirty="0">
                <a:latin typeface="Times New Roman"/>
                <a:cs typeface="Times New Roman"/>
              </a:rPr>
              <a:t> r</a:t>
            </a:r>
            <a:r>
              <a:rPr sz="1600" spc="-15" dirty="0">
                <a:latin typeface="Times New Roman"/>
                <a:cs typeface="Times New Roman"/>
              </a:rPr>
              <a:t>ece</a:t>
            </a:r>
            <a:r>
              <a:rPr sz="1600" spc="-45" dirty="0">
                <a:latin typeface="Times New Roman"/>
                <a:cs typeface="Times New Roman"/>
              </a:rPr>
              <a:t>i</a:t>
            </a:r>
            <a:r>
              <a:rPr sz="1600" dirty="0">
                <a:latin typeface="Times New Roman"/>
                <a:cs typeface="Times New Roman"/>
              </a:rPr>
              <a:t>v</a:t>
            </a:r>
            <a:r>
              <a:rPr sz="1600" spc="-15" dirty="0">
                <a:latin typeface="Times New Roman"/>
                <a:cs typeface="Times New Roman"/>
              </a:rPr>
              <a:t>e</a:t>
            </a:r>
            <a:r>
              <a:rPr sz="1600" dirty="0">
                <a:latin typeface="Times New Roman"/>
                <a:cs typeface="Times New Roman"/>
              </a:rPr>
              <a:t>d</a:t>
            </a:r>
            <a:r>
              <a:rPr sz="1600" spc="100" dirty="0">
                <a:latin typeface="Times New Roman"/>
                <a:cs typeface="Times New Roman"/>
              </a:rPr>
              <a:t> </a:t>
            </a:r>
            <a:r>
              <a:rPr sz="1600" spc="-35" dirty="0">
                <a:latin typeface="Times New Roman"/>
                <a:cs typeface="Times New Roman"/>
              </a:rPr>
              <a:t>r</a:t>
            </a:r>
            <a:r>
              <a:rPr sz="1600" spc="-15" dirty="0">
                <a:latin typeface="Times New Roman"/>
                <a:cs typeface="Times New Roman"/>
              </a:rPr>
              <a:t>e</a:t>
            </a:r>
            <a:r>
              <a:rPr sz="1600" spc="-45" dirty="0">
                <a:latin typeface="Times New Roman"/>
                <a:cs typeface="Times New Roman"/>
              </a:rPr>
              <a:t>l</a:t>
            </a:r>
            <a:r>
              <a:rPr sz="1600" spc="-15" dirty="0">
                <a:latin typeface="Times New Roman"/>
                <a:cs typeface="Times New Roman"/>
              </a:rPr>
              <a:t>a</a:t>
            </a:r>
            <a:r>
              <a:rPr sz="1600" spc="-45" dirty="0">
                <a:latin typeface="Times New Roman"/>
                <a:cs typeface="Times New Roman"/>
              </a:rPr>
              <a:t>ti</a:t>
            </a:r>
            <a:r>
              <a:rPr sz="1600" dirty="0">
                <a:latin typeface="Times New Roman"/>
                <a:cs typeface="Times New Roman"/>
              </a:rPr>
              <a:t>ve  </a:t>
            </a:r>
            <a:r>
              <a:rPr sz="1600" spc="-25" dirty="0">
                <a:latin typeface="Times New Roman"/>
                <a:cs typeface="Times New Roman"/>
              </a:rPr>
              <a:t>to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the</a:t>
            </a:r>
            <a:r>
              <a:rPr sz="1600" spc="85" dirty="0">
                <a:latin typeface="Times New Roman"/>
                <a:cs typeface="Times New Roman"/>
              </a:rPr>
              <a:t> </a:t>
            </a:r>
            <a:r>
              <a:rPr sz="1600" spc="5" dirty="0">
                <a:latin typeface="Times New Roman"/>
                <a:cs typeface="Times New Roman"/>
              </a:rPr>
              <a:t>power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spc="-30" dirty="0">
                <a:latin typeface="Times New Roman"/>
                <a:cs typeface="Times New Roman"/>
              </a:rPr>
              <a:t>transmitted</a:t>
            </a:r>
            <a:r>
              <a:rPr sz="1600" spc="290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is</a:t>
            </a:r>
            <a:r>
              <a:rPr sz="1600" spc="75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given</a:t>
            </a:r>
            <a:r>
              <a:rPr sz="1600" dirty="0">
                <a:latin typeface="Times New Roman"/>
                <a:cs typeface="Times New Roman"/>
              </a:rPr>
              <a:t> by:</a:t>
            </a:r>
          </a:p>
          <a:p>
            <a:pPr marL="2684780" indent="-178435">
              <a:lnSpc>
                <a:spcPts val="1540"/>
              </a:lnSpc>
              <a:spcBef>
                <a:spcPts val="620"/>
              </a:spcBef>
              <a:buFont typeface="Symbol"/>
              <a:buChar char=""/>
              <a:tabLst>
                <a:tab pos="2685415" algn="l"/>
              </a:tabLst>
            </a:pPr>
            <a:r>
              <a:rPr sz="1400" i="1" spc="40" dirty="0">
                <a:latin typeface="Times New Roman"/>
                <a:cs typeface="Times New Roman"/>
              </a:rPr>
              <a:t>P</a:t>
            </a:r>
            <a:r>
              <a:rPr sz="700" i="1" spc="25" dirty="0">
                <a:latin typeface="Times New Roman"/>
                <a:cs typeface="Times New Roman"/>
              </a:rPr>
              <a:t>r</a:t>
            </a:r>
            <a:r>
              <a:rPr sz="1400" spc="30" dirty="0">
                <a:latin typeface="Times New Roman"/>
                <a:cs typeface="Times New Roman"/>
              </a:rPr>
              <a:t>(</a:t>
            </a:r>
            <a:r>
              <a:rPr sz="1400" i="1" dirty="0">
                <a:latin typeface="Times New Roman"/>
                <a:cs typeface="Times New Roman"/>
              </a:rPr>
              <a:t>d</a:t>
            </a:r>
            <a:r>
              <a:rPr sz="1400" dirty="0">
                <a:latin typeface="Times New Roman"/>
                <a:cs typeface="Times New Roman"/>
              </a:rPr>
              <a:t>)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spc="10" dirty="0">
                <a:latin typeface="Times New Roman"/>
                <a:cs typeface="Times New Roman"/>
              </a:rPr>
              <a:t>i</a:t>
            </a:r>
            <a:r>
              <a:rPr sz="1400" dirty="0">
                <a:latin typeface="Times New Roman"/>
                <a:cs typeface="Times New Roman"/>
              </a:rPr>
              <a:t>s</a:t>
            </a:r>
            <a:r>
              <a:rPr sz="1400" spc="-95" dirty="0">
                <a:latin typeface="Times New Roman"/>
                <a:cs typeface="Times New Roman"/>
              </a:rPr>
              <a:t> </a:t>
            </a:r>
            <a:r>
              <a:rPr sz="1400" spc="10" dirty="0">
                <a:latin typeface="Times New Roman"/>
                <a:cs typeface="Times New Roman"/>
              </a:rPr>
              <a:t>t</a:t>
            </a:r>
            <a:r>
              <a:rPr sz="1400" dirty="0">
                <a:latin typeface="Times New Roman"/>
                <a:cs typeface="Times New Roman"/>
              </a:rPr>
              <a:t>he</a:t>
            </a:r>
            <a:r>
              <a:rPr sz="1400" spc="25" dirty="0">
                <a:latin typeface="Times New Roman"/>
                <a:cs typeface="Times New Roman"/>
              </a:rPr>
              <a:t> </a:t>
            </a:r>
            <a:r>
              <a:rPr sz="1400" spc="30" dirty="0">
                <a:latin typeface="Times New Roman"/>
                <a:cs typeface="Times New Roman"/>
              </a:rPr>
              <a:t>r</a:t>
            </a:r>
            <a:r>
              <a:rPr sz="1400" spc="-25" dirty="0">
                <a:latin typeface="Times New Roman"/>
                <a:cs typeface="Times New Roman"/>
              </a:rPr>
              <a:t>ece</a:t>
            </a:r>
            <a:r>
              <a:rPr sz="1400" spc="10" dirty="0">
                <a:latin typeface="Times New Roman"/>
                <a:cs typeface="Times New Roman"/>
              </a:rPr>
              <a:t>i</a:t>
            </a:r>
            <a:r>
              <a:rPr sz="1400" dirty="0">
                <a:latin typeface="Times New Roman"/>
                <a:cs typeface="Times New Roman"/>
              </a:rPr>
              <a:t>v</a:t>
            </a:r>
            <a:r>
              <a:rPr sz="1400" spc="-25" dirty="0">
                <a:latin typeface="Times New Roman"/>
                <a:cs typeface="Times New Roman"/>
              </a:rPr>
              <a:t>e</a:t>
            </a:r>
            <a:r>
              <a:rPr sz="1400" dirty="0">
                <a:latin typeface="Times New Roman"/>
                <a:cs typeface="Times New Roman"/>
              </a:rPr>
              <a:t>d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spc="-45" dirty="0">
                <a:latin typeface="Times New Roman"/>
                <a:cs typeface="Times New Roman"/>
              </a:rPr>
              <a:t>s</a:t>
            </a:r>
            <a:r>
              <a:rPr sz="1400" spc="10" dirty="0">
                <a:latin typeface="Times New Roman"/>
                <a:cs typeface="Times New Roman"/>
              </a:rPr>
              <a:t>i</a:t>
            </a:r>
            <a:r>
              <a:rPr sz="1400" dirty="0">
                <a:latin typeface="Times New Roman"/>
                <a:cs typeface="Times New Roman"/>
              </a:rPr>
              <a:t>gn</a:t>
            </a:r>
            <a:r>
              <a:rPr sz="1400" spc="-25" dirty="0">
                <a:latin typeface="Times New Roman"/>
                <a:cs typeface="Times New Roman"/>
              </a:rPr>
              <a:t>a</a:t>
            </a:r>
            <a:r>
              <a:rPr sz="1400" dirty="0">
                <a:latin typeface="Times New Roman"/>
                <a:cs typeface="Times New Roman"/>
              </a:rPr>
              <a:t>l</a:t>
            </a:r>
            <a:r>
              <a:rPr sz="1400" spc="6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po</a:t>
            </a:r>
            <a:r>
              <a:rPr sz="1400" spc="-15" dirty="0">
                <a:latin typeface="Times New Roman"/>
                <a:cs typeface="Times New Roman"/>
              </a:rPr>
              <a:t>w</a:t>
            </a:r>
            <a:r>
              <a:rPr sz="1400" spc="-25" dirty="0">
                <a:latin typeface="Times New Roman"/>
                <a:cs typeface="Times New Roman"/>
              </a:rPr>
              <a:t>e</a:t>
            </a:r>
            <a:r>
              <a:rPr sz="1400" dirty="0">
                <a:latin typeface="Times New Roman"/>
                <a:cs typeface="Times New Roman"/>
              </a:rPr>
              <a:t>r</a:t>
            </a:r>
            <a:r>
              <a:rPr sz="1400" spc="80" dirty="0">
                <a:latin typeface="Times New Roman"/>
                <a:cs typeface="Times New Roman"/>
              </a:rPr>
              <a:t> </a:t>
            </a:r>
            <a:r>
              <a:rPr sz="1400" spc="30" dirty="0">
                <a:latin typeface="Times New Roman"/>
                <a:cs typeface="Times New Roman"/>
              </a:rPr>
              <a:t>(</a:t>
            </a:r>
            <a:r>
              <a:rPr sz="1400" spc="-25" dirty="0">
                <a:latin typeface="Times New Roman"/>
                <a:cs typeface="Times New Roman"/>
              </a:rPr>
              <a:t>W</a:t>
            </a:r>
            <a:r>
              <a:rPr sz="1400" dirty="0">
                <a:latin typeface="Times New Roman"/>
                <a:cs typeface="Times New Roman"/>
              </a:rPr>
              <a:t>)</a:t>
            </a:r>
          </a:p>
          <a:p>
            <a:pPr marL="2684780" indent="-178435">
              <a:lnSpc>
                <a:spcPts val="1450"/>
              </a:lnSpc>
              <a:buFont typeface="Symbol"/>
              <a:buChar char=""/>
              <a:tabLst>
                <a:tab pos="2685415" algn="l"/>
              </a:tabLst>
            </a:pPr>
            <a:r>
              <a:rPr sz="1400" i="1" dirty="0">
                <a:latin typeface="Times New Roman"/>
                <a:cs typeface="Times New Roman"/>
              </a:rPr>
              <a:t>d</a:t>
            </a:r>
            <a:r>
              <a:rPr sz="1400" i="1" spc="50" dirty="0">
                <a:latin typeface="Times New Roman"/>
                <a:cs typeface="Times New Roman"/>
              </a:rPr>
              <a:t> </a:t>
            </a:r>
            <a:r>
              <a:rPr sz="1400" spc="10" dirty="0">
                <a:latin typeface="Times New Roman"/>
                <a:cs typeface="Times New Roman"/>
              </a:rPr>
              <a:t>i</a:t>
            </a:r>
            <a:r>
              <a:rPr sz="1400" dirty="0">
                <a:latin typeface="Times New Roman"/>
                <a:cs typeface="Times New Roman"/>
              </a:rPr>
              <a:t>s</a:t>
            </a:r>
            <a:r>
              <a:rPr sz="1400" spc="-95" dirty="0">
                <a:latin typeface="Times New Roman"/>
                <a:cs typeface="Times New Roman"/>
              </a:rPr>
              <a:t> </a:t>
            </a:r>
            <a:r>
              <a:rPr sz="1400" spc="-45" dirty="0">
                <a:latin typeface="Times New Roman"/>
                <a:cs typeface="Times New Roman"/>
              </a:rPr>
              <a:t>s</a:t>
            </a:r>
            <a:r>
              <a:rPr sz="1400" spc="-25" dirty="0">
                <a:latin typeface="Times New Roman"/>
                <a:cs typeface="Times New Roman"/>
              </a:rPr>
              <a:t>e</a:t>
            </a:r>
            <a:r>
              <a:rPr sz="1400" dirty="0">
                <a:latin typeface="Times New Roman"/>
                <a:cs typeface="Times New Roman"/>
              </a:rPr>
              <a:t>p</a:t>
            </a:r>
            <a:r>
              <a:rPr sz="1400" spc="-25" dirty="0">
                <a:latin typeface="Times New Roman"/>
                <a:cs typeface="Times New Roman"/>
              </a:rPr>
              <a:t>a</a:t>
            </a:r>
            <a:r>
              <a:rPr sz="1400" spc="30" dirty="0">
                <a:latin typeface="Times New Roman"/>
                <a:cs typeface="Times New Roman"/>
              </a:rPr>
              <a:t>r</a:t>
            </a:r>
            <a:r>
              <a:rPr sz="1400" spc="-25" dirty="0">
                <a:latin typeface="Times New Roman"/>
                <a:cs typeface="Times New Roman"/>
              </a:rPr>
              <a:t>a</a:t>
            </a:r>
            <a:r>
              <a:rPr sz="1400" spc="10" dirty="0">
                <a:latin typeface="Times New Roman"/>
                <a:cs typeface="Times New Roman"/>
              </a:rPr>
              <a:t>ti</a:t>
            </a:r>
            <a:r>
              <a:rPr sz="1400" dirty="0">
                <a:latin typeface="Times New Roman"/>
                <a:cs typeface="Times New Roman"/>
              </a:rPr>
              <a:t>on</a:t>
            </a:r>
            <a:r>
              <a:rPr sz="1400" spc="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b</a:t>
            </a:r>
            <a:r>
              <a:rPr sz="1400" spc="-25" dirty="0">
                <a:latin typeface="Times New Roman"/>
                <a:cs typeface="Times New Roman"/>
              </a:rPr>
              <a:t>e</a:t>
            </a:r>
            <a:r>
              <a:rPr sz="1400" spc="10" dirty="0">
                <a:latin typeface="Times New Roman"/>
                <a:cs typeface="Times New Roman"/>
              </a:rPr>
              <a:t>t</a:t>
            </a:r>
            <a:r>
              <a:rPr sz="1400" spc="-15" dirty="0">
                <a:latin typeface="Times New Roman"/>
                <a:cs typeface="Times New Roman"/>
              </a:rPr>
              <a:t>w</a:t>
            </a:r>
            <a:r>
              <a:rPr sz="1400" spc="-25" dirty="0">
                <a:latin typeface="Times New Roman"/>
                <a:cs typeface="Times New Roman"/>
              </a:rPr>
              <a:t>ee</a:t>
            </a:r>
            <a:r>
              <a:rPr sz="1400" dirty="0">
                <a:latin typeface="Times New Roman"/>
                <a:cs typeface="Times New Roman"/>
              </a:rPr>
              <a:t>n</a:t>
            </a:r>
            <a:r>
              <a:rPr sz="1400" spc="50" dirty="0">
                <a:latin typeface="Times New Roman"/>
                <a:cs typeface="Times New Roman"/>
              </a:rPr>
              <a:t> </a:t>
            </a:r>
            <a:r>
              <a:rPr sz="1400" spc="40" dirty="0">
                <a:latin typeface="Times New Roman"/>
                <a:cs typeface="Times New Roman"/>
              </a:rPr>
              <a:t>T</a:t>
            </a:r>
            <a:r>
              <a:rPr sz="1400" dirty="0">
                <a:latin typeface="Times New Roman"/>
                <a:cs typeface="Times New Roman"/>
              </a:rPr>
              <a:t>x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spc="-25" dirty="0">
                <a:latin typeface="Times New Roman"/>
                <a:cs typeface="Times New Roman"/>
              </a:rPr>
              <a:t>a</a:t>
            </a:r>
            <a:r>
              <a:rPr sz="1400" dirty="0">
                <a:latin typeface="Times New Roman"/>
                <a:cs typeface="Times New Roman"/>
              </a:rPr>
              <a:t>nd</a:t>
            </a:r>
            <a:r>
              <a:rPr sz="1400" spc="50" dirty="0">
                <a:latin typeface="Times New Roman"/>
                <a:cs typeface="Times New Roman"/>
              </a:rPr>
              <a:t> </a:t>
            </a:r>
            <a:r>
              <a:rPr sz="1400" spc="-35" dirty="0">
                <a:latin typeface="Times New Roman"/>
                <a:cs typeface="Times New Roman"/>
              </a:rPr>
              <a:t>R</a:t>
            </a:r>
            <a:r>
              <a:rPr sz="1400" dirty="0">
                <a:latin typeface="Times New Roman"/>
                <a:cs typeface="Times New Roman"/>
              </a:rPr>
              <a:t>x</a:t>
            </a:r>
          </a:p>
          <a:p>
            <a:pPr marL="2684780" indent="-178435">
              <a:lnSpc>
                <a:spcPts val="1450"/>
              </a:lnSpc>
              <a:buFont typeface="Symbol"/>
              <a:buChar char=""/>
              <a:tabLst>
                <a:tab pos="2685415" algn="l"/>
              </a:tabLst>
            </a:pPr>
            <a:r>
              <a:rPr sz="1400" i="1" spc="40" dirty="0">
                <a:latin typeface="Times New Roman"/>
                <a:cs typeface="Times New Roman"/>
              </a:rPr>
              <a:t>P</a:t>
            </a:r>
            <a:r>
              <a:rPr sz="700" i="1" dirty="0">
                <a:latin typeface="Times New Roman"/>
                <a:cs typeface="Times New Roman"/>
              </a:rPr>
              <a:t>t</a:t>
            </a:r>
            <a:r>
              <a:rPr sz="700" i="1" spc="30" dirty="0">
                <a:latin typeface="Times New Roman"/>
                <a:cs typeface="Times New Roman"/>
              </a:rPr>
              <a:t> </a:t>
            </a:r>
            <a:r>
              <a:rPr sz="1400" spc="10" dirty="0">
                <a:latin typeface="Times New Roman"/>
                <a:cs typeface="Times New Roman"/>
              </a:rPr>
              <a:t>i</a:t>
            </a:r>
            <a:r>
              <a:rPr sz="1400" dirty="0">
                <a:latin typeface="Times New Roman"/>
                <a:cs typeface="Times New Roman"/>
              </a:rPr>
              <a:t>s</a:t>
            </a:r>
            <a:r>
              <a:rPr sz="1400" spc="-95" dirty="0">
                <a:latin typeface="Times New Roman"/>
                <a:cs typeface="Times New Roman"/>
              </a:rPr>
              <a:t> </a:t>
            </a:r>
            <a:r>
              <a:rPr sz="1400" spc="10" dirty="0">
                <a:latin typeface="Times New Roman"/>
                <a:cs typeface="Times New Roman"/>
              </a:rPr>
              <a:t>t</a:t>
            </a:r>
            <a:r>
              <a:rPr sz="1400" dirty="0">
                <a:latin typeface="Times New Roman"/>
                <a:cs typeface="Times New Roman"/>
              </a:rPr>
              <a:t>he</a:t>
            </a:r>
            <a:r>
              <a:rPr sz="1400" spc="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po</a:t>
            </a:r>
            <a:r>
              <a:rPr sz="1400" spc="-15" dirty="0">
                <a:latin typeface="Times New Roman"/>
                <a:cs typeface="Times New Roman"/>
              </a:rPr>
              <a:t>w</a:t>
            </a:r>
            <a:r>
              <a:rPr sz="1400" spc="-25" dirty="0">
                <a:latin typeface="Times New Roman"/>
                <a:cs typeface="Times New Roman"/>
              </a:rPr>
              <a:t>e</a:t>
            </a:r>
            <a:r>
              <a:rPr sz="1400" dirty="0">
                <a:latin typeface="Times New Roman"/>
                <a:cs typeface="Times New Roman"/>
              </a:rPr>
              <a:t>r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of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spc="10" dirty="0">
                <a:latin typeface="Times New Roman"/>
                <a:cs typeface="Times New Roman"/>
              </a:rPr>
              <a:t>t</a:t>
            </a:r>
            <a:r>
              <a:rPr sz="1400" dirty="0">
                <a:latin typeface="Times New Roman"/>
                <a:cs typeface="Times New Roman"/>
              </a:rPr>
              <a:t>he</a:t>
            </a:r>
            <a:r>
              <a:rPr sz="1400" spc="25" dirty="0">
                <a:latin typeface="Times New Roman"/>
                <a:cs typeface="Times New Roman"/>
              </a:rPr>
              <a:t> </a:t>
            </a:r>
            <a:r>
              <a:rPr sz="1400" spc="10" dirty="0">
                <a:latin typeface="Times New Roman"/>
                <a:cs typeface="Times New Roman"/>
              </a:rPr>
              <a:t>t</a:t>
            </a:r>
            <a:r>
              <a:rPr sz="1400" spc="30" dirty="0">
                <a:latin typeface="Times New Roman"/>
                <a:cs typeface="Times New Roman"/>
              </a:rPr>
              <a:t>r</a:t>
            </a:r>
            <a:r>
              <a:rPr sz="1400" spc="-25" dirty="0">
                <a:latin typeface="Times New Roman"/>
                <a:cs typeface="Times New Roman"/>
              </a:rPr>
              <a:t>a</a:t>
            </a:r>
            <a:r>
              <a:rPr sz="1400" dirty="0">
                <a:latin typeface="Times New Roman"/>
                <a:cs typeface="Times New Roman"/>
              </a:rPr>
              <a:t>n</a:t>
            </a:r>
            <a:r>
              <a:rPr sz="1400" spc="-45" dirty="0">
                <a:latin typeface="Times New Roman"/>
                <a:cs typeface="Times New Roman"/>
              </a:rPr>
              <a:t>s</a:t>
            </a:r>
            <a:r>
              <a:rPr sz="1400" spc="10" dirty="0">
                <a:latin typeface="Times New Roman"/>
                <a:cs typeface="Times New Roman"/>
              </a:rPr>
              <a:t>mitt</a:t>
            </a:r>
            <a:r>
              <a:rPr sz="1400" spc="-25" dirty="0">
                <a:latin typeface="Times New Roman"/>
                <a:cs typeface="Times New Roman"/>
              </a:rPr>
              <a:t>e</a:t>
            </a:r>
            <a:r>
              <a:rPr sz="1400" dirty="0">
                <a:latin typeface="Times New Roman"/>
                <a:cs typeface="Times New Roman"/>
              </a:rPr>
              <a:t>d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spc="-45" dirty="0">
                <a:latin typeface="Times New Roman"/>
                <a:cs typeface="Times New Roman"/>
              </a:rPr>
              <a:t>s</a:t>
            </a:r>
            <a:r>
              <a:rPr sz="1400" spc="10" dirty="0">
                <a:latin typeface="Times New Roman"/>
                <a:cs typeface="Times New Roman"/>
              </a:rPr>
              <a:t>i</a:t>
            </a:r>
            <a:r>
              <a:rPr sz="1400" dirty="0">
                <a:latin typeface="Times New Roman"/>
                <a:cs typeface="Times New Roman"/>
              </a:rPr>
              <a:t>gn</a:t>
            </a:r>
            <a:r>
              <a:rPr sz="1400" spc="-25" dirty="0">
                <a:latin typeface="Times New Roman"/>
                <a:cs typeface="Times New Roman"/>
              </a:rPr>
              <a:t>a</a:t>
            </a:r>
            <a:r>
              <a:rPr sz="1400" dirty="0">
                <a:latin typeface="Times New Roman"/>
                <a:cs typeface="Times New Roman"/>
              </a:rPr>
              <a:t>l</a:t>
            </a:r>
            <a:r>
              <a:rPr sz="1400" spc="60" dirty="0">
                <a:latin typeface="Times New Roman"/>
                <a:cs typeface="Times New Roman"/>
              </a:rPr>
              <a:t> </a:t>
            </a:r>
            <a:r>
              <a:rPr sz="1400" spc="30" dirty="0">
                <a:latin typeface="Times New Roman"/>
                <a:cs typeface="Times New Roman"/>
              </a:rPr>
              <a:t>(</a:t>
            </a:r>
            <a:r>
              <a:rPr sz="1400" spc="-25" dirty="0">
                <a:latin typeface="Times New Roman"/>
                <a:cs typeface="Times New Roman"/>
              </a:rPr>
              <a:t>W</a:t>
            </a:r>
            <a:r>
              <a:rPr sz="1400" dirty="0">
                <a:latin typeface="Times New Roman"/>
                <a:cs typeface="Times New Roman"/>
              </a:rPr>
              <a:t>)</a:t>
            </a:r>
          </a:p>
          <a:p>
            <a:pPr marL="2684780" indent="-178435">
              <a:lnSpc>
                <a:spcPts val="1450"/>
              </a:lnSpc>
              <a:buFont typeface="Symbol"/>
              <a:buChar char=""/>
              <a:tabLst>
                <a:tab pos="2685415" algn="l"/>
              </a:tabLst>
            </a:pPr>
            <a:r>
              <a:rPr sz="1400" i="1" spc="-10" dirty="0">
                <a:latin typeface="Times New Roman"/>
                <a:cs typeface="Times New Roman"/>
              </a:rPr>
              <a:t>G</a:t>
            </a:r>
            <a:r>
              <a:rPr sz="700" i="1" spc="-10" dirty="0">
                <a:latin typeface="Times New Roman"/>
                <a:cs typeface="Times New Roman"/>
              </a:rPr>
              <a:t>t</a:t>
            </a:r>
            <a:r>
              <a:rPr sz="700" i="1" spc="2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and</a:t>
            </a:r>
            <a:r>
              <a:rPr sz="1400" spc="40" dirty="0">
                <a:latin typeface="Times New Roman"/>
                <a:cs typeface="Times New Roman"/>
              </a:rPr>
              <a:t> </a:t>
            </a:r>
            <a:r>
              <a:rPr sz="1400" i="1" spc="-10" dirty="0">
                <a:latin typeface="Times New Roman"/>
                <a:cs typeface="Times New Roman"/>
              </a:rPr>
              <a:t>G</a:t>
            </a:r>
            <a:r>
              <a:rPr sz="700" i="1" spc="-10" dirty="0">
                <a:latin typeface="Times New Roman"/>
                <a:cs typeface="Times New Roman"/>
              </a:rPr>
              <a:t>r</a:t>
            </a:r>
            <a:r>
              <a:rPr sz="700" i="1" spc="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are</a:t>
            </a:r>
            <a:r>
              <a:rPr sz="1400" spc="-8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8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gains</a:t>
            </a:r>
            <a:r>
              <a:rPr sz="1400" dirty="0">
                <a:latin typeface="Times New Roman"/>
                <a:cs typeface="Times New Roman"/>
              </a:rPr>
              <a:t> of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spc="20" dirty="0">
                <a:latin typeface="Times New Roman"/>
                <a:cs typeface="Times New Roman"/>
              </a:rPr>
              <a:t>Tx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and</a:t>
            </a:r>
            <a:r>
              <a:rPr sz="1400" spc="45" dirty="0">
                <a:latin typeface="Times New Roman"/>
                <a:cs typeface="Times New Roman"/>
              </a:rPr>
              <a:t> </a:t>
            </a:r>
            <a:r>
              <a:rPr sz="1400" spc="-35" dirty="0">
                <a:latin typeface="Times New Roman"/>
                <a:cs typeface="Times New Roman"/>
              </a:rPr>
              <a:t>Rz</a:t>
            </a:r>
            <a:endParaRPr sz="1400" dirty="0">
              <a:latin typeface="Times New Roman"/>
              <a:cs typeface="Times New Roman"/>
            </a:endParaRPr>
          </a:p>
          <a:p>
            <a:pPr marL="2684780" indent="-178435">
              <a:lnSpc>
                <a:spcPts val="1450"/>
              </a:lnSpc>
              <a:buFont typeface="Symbol"/>
              <a:buChar char=""/>
              <a:tabLst>
                <a:tab pos="2685415" algn="l"/>
              </a:tabLst>
            </a:pPr>
            <a:r>
              <a:rPr sz="1400" spc="20" dirty="0">
                <a:latin typeface="Times New Roman"/>
                <a:cs typeface="Times New Roman"/>
              </a:rPr>
              <a:t>λ</a:t>
            </a:r>
            <a:r>
              <a:rPr sz="1400" spc="50" dirty="0">
                <a:latin typeface="Times New Roman"/>
                <a:cs typeface="Times New Roman"/>
              </a:rPr>
              <a:t> </a:t>
            </a:r>
            <a:r>
              <a:rPr sz="1400" spc="10" dirty="0">
                <a:latin typeface="Times New Roman"/>
                <a:cs typeface="Times New Roman"/>
              </a:rPr>
              <a:t>i</a:t>
            </a:r>
            <a:r>
              <a:rPr sz="1400" dirty="0">
                <a:latin typeface="Times New Roman"/>
                <a:cs typeface="Times New Roman"/>
              </a:rPr>
              <a:t>s</a:t>
            </a:r>
            <a:r>
              <a:rPr sz="1400" spc="-95" dirty="0">
                <a:latin typeface="Times New Roman"/>
                <a:cs typeface="Times New Roman"/>
              </a:rPr>
              <a:t> </a:t>
            </a:r>
            <a:r>
              <a:rPr sz="1400" spc="10" dirty="0">
                <a:latin typeface="Times New Roman"/>
                <a:cs typeface="Times New Roman"/>
              </a:rPr>
              <a:t>t</a:t>
            </a:r>
            <a:r>
              <a:rPr sz="1400" dirty="0">
                <a:latin typeface="Times New Roman"/>
                <a:cs typeface="Times New Roman"/>
              </a:rPr>
              <a:t>he</a:t>
            </a:r>
            <a:r>
              <a:rPr sz="1400" spc="25" dirty="0">
                <a:latin typeface="Times New Roman"/>
                <a:cs typeface="Times New Roman"/>
              </a:rPr>
              <a:t> </a:t>
            </a:r>
            <a:r>
              <a:rPr sz="1400" spc="-15" dirty="0">
                <a:latin typeface="Times New Roman"/>
                <a:cs typeface="Times New Roman"/>
              </a:rPr>
              <a:t>w</a:t>
            </a:r>
            <a:r>
              <a:rPr sz="1400" spc="-25" dirty="0">
                <a:latin typeface="Times New Roman"/>
                <a:cs typeface="Times New Roman"/>
              </a:rPr>
              <a:t>a</a:t>
            </a:r>
            <a:r>
              <a:rPr sz="1400" dirty="0">
                <a:latin typeface="Times New Roman"/>
                <a:cs typeface="Times New Roman"/>
              </a:rPr>
              <a:t>v</a:t>
            </a:r>
            <a:r>
              <a:rPr sz="1400" spc="-25" dirty="0">
                <a:latin typeface="Times New Roman"/>
                <a:cs typeface="Times New Roman"/>
              </a:rPr>
              <a:t>e</a:t>
            </a:r>
            <a:r>
              <a:rPr sz="1400" spc="10" dirty="0">
                <a:latin typeface="Times New Roman"/>
                <a:cs typeface="Times New Roman"/>
              </a:rPr>
              <a:t>l</a:t>
            </a:r>
            <a:r>
              <a:rPr sz="1400" spc="-25" dirty="0">
                <a:latin typeface="Times New Roman"/>
                <a:cs typeface="Times New Roman"/>
              </a:rPr>
              <a:t>e</a:t>
            </a:r>
            <a:r>
              <a:rPr sz="1400" dirty="0">
                <a:latin typeface="Times New Roman"/>
                <a:cs typeface="Times New Roman"/>
              </a:rPr>
              <a:t>ng</a:t>
            </a:r>
            <a:r>
              <a:rPr sz="1400" spc="10" dirty="0">
                <a:latin typeface="Times New Roman"/>
                <a:cs typeface="Times New Roman"/>
              </a:rPr>
              <a:t>t</a:t>
            </a:r>
            <a:r>
              <a:rPr sz="1400" dirty="0">
                <a:latin typeface="Times New Roman"/>
                <a:cs typeface="Times New Roman"/>
              </a:rPr>
              <a:t>h</a:t>
            </a:r>
            <a:r>
              <a:rPr sz="1400" spc="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of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spc="-25" dirty="0">
                <a:latin typeface="Times New Roman"/>
                <a:cs typeface="Times New Roman"/>
              </a:rPr>
              <a:t>ca</a:t>
            </a:r>
            <a:r>
              <a:rPr sz="1400" spc="30" dirty="0">
                <a:latin typeface="Times New Roman"/>
                <a:cs typeface="Times New Roman"/>
              </a:rPr>
              <a:t>rr</a:t>
            </a:r>
            <a:r>
              <a:rPr sz="1400" spc="10" dirty="0">
                <a:latin typeface="Times New Roman"/>
                <a:cs typeface="Times New Roman"/>
              </a:rPr>
              <a:t>i</a:t>
            </a:r>
            <a:r>
              <a:rPr sz="1400" spc="-25" dirty="0">
                <a:latin typeface="Times New Roman"/>
                <a:cs typeface="Times New Roman"/>
              </a:rPr>
              <a:t>e</a:t>
            </a:r>
            <a:r>
              <a:rPr sz="1400" dirty="0">
                <a:latin typeface="Times New Roman"/>
                <a:cs typeface="Times New Roman"/>
              </a:rPr>
              <a:t>r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spc="10" dirty="0">
                <a:latin typeface="Times New Roman"/>
                <a:cs typeface="Times New Roman"/>
              </a:rPr>
              <a:t>i</a:t>
            </a:r>
            <a:r>
              <a:rPr sz="1400" dirty="0">
                <a:latin typeface="Times New Roman"/>
                <a:cs typeface="Times New Roman"/>
              </a:rPr>
              <a:t>n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spc="10" dirty="0">
                <a:latin typeface="Times New Roman"/>
                <a:cs typeface="Times New Roman"/>
              </a:rPr>
              <a:t>m</a:t>
            </a:r>
            <a:r>
              <a:rPr sz="1400" spc="-25" dirty="0">
                <a:latin typeface="Times New Roman"/>
                <a:cs typeface="Times New Roman"/>
              </a:rPr>
              <a:t>e</a:t>
            </a:r>
            <a:r>
              <a:rPr sz="1400" spc="10" dirty="0">
                <a:latin typeface="Times New Roman"/>
                <a:cs typeface="Times New Roman"/>
              </a:rPr>
              <a:t>t</a:t>
            </a:r>
            <a:r>
              <a:rPr sz="1400" spc="-25" dirty="0">
                <a:latin typeface="Times New Roman"/>
                <a:cs typeface="Times New Roman"/>
              </a:rPr>
              <a:t>e</a:t>
            </a:r>
            <a:r>
              <a:rPr sz="1400" spc="30" dirty="0">
                <a:latin typeface="Times New Roman"/>
                <a:cs typeface="Times New Roman"/>
              </a:rPr>
              <a:t>r</a:t>
            </a:r>
            <a:r>
              <a:rPr sz="1400" dirty="0">
                <a:latin typeface="Times New Roman"/>
                <a:cs typeface="Times New Roman"/>
              </a:rPr>
              <a:t>s</a:t>
            </a:r>
          </a:p>
          <a:p>
            <a:pPr marL="2684780" indent="-178435">
              <a:lnSpc>
                <a:spcPts val="1540"/>
              </a:lnSpc>
              <a:buFont typeface="Symbol"/>
              <a:buChar char=""/>
              <a:tabLst>
                <a:tab pos="2685415" algn="l"/>
              </a:tabLst>
            </a:pPr>
            <a:r>
              <a:rPr sz="1400" i="1" dirty="0">
                <a:latin typeface="Times New Roman"/>
                <a:cs typeface="Times New Roman"/>
              </a:rPr>
              <a:t>L</a:t>
            </a:r>
            <a:r>
              <a:rPr sz="1400" i="1" spc="-4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represents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other</a:t>
            </a:r>
            <a:r>
              <a:rPr sz="1400" spc="60" dirty="0">
                <a:latin typeface="Times New Roman"/>
                <a:cs typeface="Times New Roman"/>
              </a:rPr>
              <a:t> </a:t>
            </a:r>
            <a:r>
              <a:rPr sz="1400" spc="-25" dirty="0">
                <a:latin typeface="Times New Roman"/>
                <a:cs typeface="Times New Roman"/>
              </a:rPr>
              <a:t>losse</a:t>
            </a:r>
            <a:r>
              <a:rPr lang="en-US" sz="1400" spc="-25" dirty="0">
                <a:latin typeface="Times New Roman"/>
                <a:cs typeface="Times New Roman"/>
              </a:rPr>
              <a:t>s</a:t>
            </a: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742949" y="5759450"/>
            <a:ext cx="6083300" cy="3416300"/>
          </a:xfrm>
          <a:custGeom>
            <a:avLst/>
            <a:gdLst/>
            <a:ahLst/>
            <a:cxnLst/>
            <a:rect l="l" t="t" r="r" b="b"/>
            <a:pathLst>
              <a:path w="6083300" h="3416300">
                <a:moveTo>
                  <a:pt x="0" y="0"/>
                </a:moveTo>
                <a:lnTo>
                  <a:pt x="6083300" y="0"/>
                </a:lnTo>
                <a:lnTo>
                  <a:pt x="6083300" y="3416300"/>
                </a:lnTo>
                <a:lnTo>
                  <a:pt x="0" y="341630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object 25"/>
          <p:cNvSpPr txBox="1">
            <a:spLocks noGrp="1"/>
          </p:cNvSpPr>
          <p:nvPr>
            <p:ph type="sldNum" sz="quarter" idx="4294967295"/>
          </p:nvPr>
        </p:nvSpPr>
        <p:spPr>
          <a:xfrm>
            <a:off x="7300913" y="9974263"/>
            <a:ext cx="255587" cy="227012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12</a:t>
            </a:fld>
            <a:endParaRPr dirty="0"/>
          </a:p>
        </p:txBody>
      </p:sp>
      <p:sp>
        <p:nvSpPr>
          <p:cNvPr id="10" name="object 10"/>
          <p:cNvSpPr txBox="1"/>
          <p:nvPr/>
        </p:nvSpPr>
        <p:spPr>
          <a:xfrm>
            <a:off x="970087" y="2039450"/>
            <a:ext cx="5588000" cy="2316480"/>
          </a:xfrm>
          <a:prstGeom prst="rect">
            <a:avLst/>
          </a:prstGeom>
        </p:spPr>
        <p:txBody>
          <a:bodyPr vert="horz" wrap="square" lIns="0" tIns="16192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75"/>
              </a:spcBef>
            </a:pPr>
            <a:r>
              <a:rPr sz="2000" b="1" spc="-45" dirty="0">
                <a:solidFill>
                  <a:srgbClr val="FF0000"/>
                </a:solidFill>
                <a:latin typeface="Cambria"/>
                <a:cs typeface="Cambria"/>
              </a:rPr>
              <a:t>Free-space</a:t>
            </a:r>
            <a:r>
              <a:rPr sz="2000" b="1" spc="3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b="1" spc="-25" dirty="0">
                <a:solidFill>
                  <a:srgbClr val="FF0000"/>
                </a:solidFill>
                <a:latin typeface="Cambria"/>
                <a:cs typeface="Cambria"/>
              </a:rPr>
              <a:t>Propagation</a:t>
            </a:r>
            <a:r>
              <a:rPr sz="2000" b="1" spc="1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b="1" spc="50" dirty="0">
                <a:solidFill>
                  <a:srgbClr val="FF0000"/>
                </a:solidFill>
                <a:latin typeface="Cambria"/>
                <a:cs typeface="Cambria"/>
              </a:rPr>
              <a:t>Model</a:t>
            </a:r>
            <a:endParaRPr sz="2000">
              <a:latin typeface="Cambria"/>
              <a:cs typeface="Cambria"/>
            </a:endParaRPr>
          </a:p>
          <a:p>
            <a:pPr marL="228600" marR="157480" indent="-228600">
              <a:lnSpc>
                <a:spcPct val="104200"/>
              </a:lnSpc>
              <a:spcBef>
                <a:spcPts val="860"/>
              </a:spcBef>
              <a:buFont typeface="Wingdings"/>
              <a:buChar char=""/>
              <a:tabLst>
                <a:tab pos="228600" algn="l"/>
              </a:tabLst>
            </a:pPr>
            <a:r>
              <a:rPr sz="1600" spc="5" dirty="0">
                <a:latin typeface="Times New Roman"/>
                <a:cs typeface="Times New Roman"/>
              </a:rPr>
              <a:t>The </a:t>
            </a:r>
            <a:r>
              <a:rPr sz="1600" spc="-25" dirty="0">
                <a:latin typeface="Times New Roman"/>
                <a:cs typeface="Times New Roman"/>
              </a:rPr>
              <a:t>parameter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i="1" dirty="0">
                <a:latin typeface="Times New Roman"/>
                <a:cs typeface="Times New Roman"/>
              </a:rPr>
              <a:t>L </a:t>
            </a:r>
            <a:r>
              <a:rPr sz="1600" spc="-20" dirty="0">
                <a:latin typeface="Times New Roman"/>
                <a:cs typeface="Times New Roman"/>
              </a:rPr>
              <a:t>may </a:t>
            </a:r>
            <a:r>
              <a:rPr sz="1600" spc="-15" dirty="0">
                <a:latin typeface="Times New Roman"/>
                <a:cs typeface="Times New Roman"/>
              </a:rPr>
              <a:t>include </a:t>
            </a:r>
            <a:r>
              <a:rPr sz="1600" spc="-20" dirty="0">
                <a:latin typeface="Times New Roman"/>
                <a:cs typeface="Times New Roman"/>
              </a:rPr>
              <a:t>system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losses </a:t>
            </a:r>
            <a:r>
              <a:rPr sz="1600" spc="-25" dirty="0">
                <a:latin typeface="Times New Roman"/>
                <a:cs typeface="Times New Roman"/>
              </a:rPr>
              <a:t>like </a:t>
            </a:r>
            <a:r>
              <a:rPr sz="1600" spc="-20" dirty="0">
                <a:latin typeface="Times New Roman"/>
                <a:cs typeface="Times New Roman"/>
              </a:rPr>
              <a:t>loss </a:t>
            </a:r>
            <a:r>
              <a:rPr sz="1600" spc="-10" dirty="0">
                <a:latin typeface="Times New Roman"/>
                <a:cs typeface="Times New Roman"/>
              </a:rPr>
              <a:t>at </a:t>
            </a:r>
            <a:r>
              <a:rPr sz="1600" spc="-15" dirty="0">
                <a:latin typeface="Times New Roman"/>
                <a:cs typeface="Times New Roman"/>
              </a:rPr>
              <a:t>the 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antenna,</a:t>
            </a:r>
            <a:r>
              <a:rPr sz="1600" spc="105" dirty="0">
                <a:latin typeface="Times New Roman"/>
                <a:cs typeface="Times New Roman"/>
              </a:rPr>
              <a:t> </a:t>
            </a:r>
            <a:r>
              <a:rPr sz="1600" spc="-30" dirty="0">
                <a:latin typeface="Times New Roman"/>
                <a:cs typeface="Times New Roman"/>
              </a:rPr>
              <a:t>transmission</a:t>
            </a:r>
            <a:r>
              <a:rPr sz="1600" spc="310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line</a:t>
            </a:r>
            <a:r>
              <a:rPr sz="1600" spc="95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attenuation,</a:t>
            </a:r>
            <a:r>
              <a:rPr sz="1600" spc="204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loss</a:t>
            </a:r>
            <a:r>
              <a:rPr sz="1600" spc="8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at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various</a:t>
            </a:r>
            <a:r>
              <a:rPr sz="1600" spc="180" dirty="0">
                <a:latin typeface="Times New Roman"/>
                <a:cs typeface="Times New Roman"/>
              </a:rPr>
              <a:t> </a:t>
            </a:r>
            <a:r>
              <a:rPr sz="1600" spc="-35" dirty="0">
                <a:latin typeface="Times New Roman"/>
                <a:cs typeface="Times New Roman"/>
              </a:rPr>
              <a:t>filters</a:t>
            </a:r>
            <a:r>
              <a:rPr sz="1600" spc="185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etc.</a:t>
            </a:r>
            <a:endParaRPr sz="1600">
              <a:latin typeface="Times New Roman"/>
              <a:cs typeface="Times New Roman"/>
            </a:endParaRPr>
          </a:p>
          <a:p>
            <a:pPr marL="228600" marR="5080" indent="-228600">
              <a:lnSpc>
                <a:spcPts val="1900"/>
              </a:lnSpc>
              <a:spcBef>
                <a:spcPts val="60"/>
              </a:spcBef>
              <a:buFont typeface="Wingdings"/>
              <a:buChar char=""/>
              <a:tabLst>
                <a:tab pos="228600" algn="l"/>
              </a:tabLst>
            </a:pPr>
            <a:r>
              <a:rPr sz="1600" spc="5" dirty="0">
                <a:latin typeface="Times New Roman"/>
                <a:cs typeface="Times New Roman"/>
              </a:rPr>
              <a:t>The</a:t>
            </a:r>
            <a:r>
              <a:rPr sz="1600" spc="-20" dirty="0">
                <a:latin typeface="Times New Roman"/>
                <a:cs typeface="Times New Roman"/>
              </a:rPr>
              <a:t> factor</a:t>
            </a:r>
            <a:r>
              <a:rPr sz="1600" spc="65" dirty="0">
                <a:latin typeface="Times New Roman"/>
                <a:cs typeface="Times New Roman"/>
              </a:rPr>
              <a:t> </a:t>
            </a:r>
            <a:r>
              <a:rPr sz="1600" i="1" dirty="0">
                <a:latin typeface="Times New Roman"/>
                <a:cs typeface="Times New Roman"/>
              </a:rPr>
              <a:t>L</a:t>
            </a:r>
            <a:r>
              <a:rPr sz="1600" i="1" spc="10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is </a:t>
            </a:r>
            <a:r>
              <a:rPr sz="1600" spc="-20" dirty="0">
                <a:latin typeface="Times New Roman"/>
                <a:cs typeface="Times New Roman"/>
              </a:rPr>
              <a:t>usually</a:t>
            </a:r>
            <a:r>
              <a:rPr sz="1600" spc="200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greater</a:t>
            </a:r>
            <a:r>
              <a:rPr sz="1600" spc="65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than</a:t>
            </a:r>
            <a:r>
              <a:rPr sz="1600" spc="10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or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equal</a:t>
            </a:r>
            <a:r>
              <a:rPr sz="1600" spc="55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to</a:t>
            </a:r>
            <a:r>
              <a:rPr sz="1600" dirty="0">
                <a:latin typeface="Times New Roman"/>
                <a:cs typeface="Times New Roman"/>
              </a:rPr>
              <a:t> 1 </a:t>
            </a:r>
            <a:r>
              <a:rPr sz="1600" spc="-15" dirty="0">
                <a:latin typeface="Times New Roman"/>
                <a:cs typeface="Times New Roman"/>
              </a:rPr>
              <a:t>with</a:t>
            </a:r>
            <a:r>
              <a:rPr sz="1600" spc="100" dirty="0">
                <a:latin typeface="Times New Roman"/>
                <a:cs typeface="Times New Roman"/>
              </a:rPr>
              <a:t> </a:t>
            </a:r>
            <a:r>
              <a:rPr sz="1600" i="1" dirty="0">
                <a:latin typeface="Times New Roman"/>
                <a:cs typeface="Times New Roman"/>
              </a:rPr>
              <a:t>L</a:t>
            </a:r>
            <a:r>
              <a:rPr sz="1600" i="1" spc="-9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=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1 </a:t>
            </a:r>
            <a:r>
              <a:rPr sz="1600" spc="-15" dirty="0">
                <a:latin typeface="Times New Roman"/>
                <a:cs typeface="Times New Roman"/>
              </a:rPr>
              <a:t>for</a:t>
            </a:r>
            <a:r>
              <a:rPr sz="1600" spc="6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no </a:t>
            </a:r>
            <a:r>
              <a:rPr sz="1600" spc="-38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such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system</a:t>
            </a:r>
            <a:r>
              <a:rPr sz="1600" spc="155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losses.</a:t>
            </a:r>
            <a:endParaRPr sz="1600">
              <a:latin typeface="Times New Roman"/>
              <a:cs typeface="Times New Roman"/>
            </a:endParaRPr>
          </a:p>
          <a:p>
            <a:pPr marL="228600" marR="78105" indent="-228600">
              <a:lnSpc>
                <a:spcPts val="1900"/>
              </a:lnSpc>
              <a:buFont typeface="Wingdings"/>
              <a:buChar char=""/>
              <a:tabLst>
                <a:tab pos="228600" algn="l"/>
              </a:tabLst>
            </a:pPr>
            <a:r>
              <a:rPr sz="1600" spc="5" dirty="0">
                <a:latin typeface="Times New Roman"/>
                <a:cs typeface="Times New Roman"/>
              </a:rPr>
              <a:t>The </a:t>
            </a:r>
            <a:r>
              <a:rPr sz="1600" spc="-25" dirty="0">
                <a:latin typeface="Times New Roman"/>
                <a:cs typeface="Times New Roman"/>
              </a:rPr>
              <a:t>Friis </a:t>
            </a:r>
            <a:r>
              <a:rPr sz="1600" spc="-15" dirty="0">
                <a:latin typeface="Times New Roman"/>
                <a:cs typeface="Times New Roman"/>
              </a:rPr>
              <a:t>equation </a:t>
            </a:r>
            <a:r>
              <a:rPr sz="1600" spc="-10" dirty="0">
                <a:latin typeface="Times New Roman"/>
                <a:cs typeface="Times New Roman"/>
              </a:rPr>
              <a:t>can </a:t>
            </a:r>
            <a:r>
              <a:rPr sz="1600" dirty="0">
                <a:latin typeface="Times New Roman"/>
                <a:cs typeface="Times New Roman"/>
              </a:rPr>
              <a:t>be </a:t>
            </a:r>
            <a:r>
              <a:rPr sz="1600" spc="-25" dirty="0">
                <a:latin typeface="Times New Roman"/>
                <a:cs typeface="Times New Roman"/>
              </a:rPr>
              <a:t>modified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to</a:t>
            </a:r>
            <a:r>
              <a:rPr sz="1600" spc="-20" dirty="0">
                <a:latin typeface="Times New Roman"/>
                <a:cs typeface="Times New Roman"/>
              </a:rPr>
              <a:t> accommodate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different 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environments,</a:t>
            </a:r>
            <a:r>
              <a:rPr sz="1600" spc="19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on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the</a:t>
            </a:r>
            <a:r>
              <a:rPr sz="1600" spc="80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reason</a:t>
            </a:r>
            <a:r>
              <a:rPr sz="1600" spc="95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that</a:t>
            </a:r>
            <a:r>
              <a:rPr sz="1600" spc="55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the</a:t>
            </a:r>
            <a:r>
              <a:rPr sz="1600" spc="-20" dirty="0">
                <a:latin typeface="Times New Roman"/>
                <a:cs typeface="Times New Roman"/>
              </a:rPr>
              <a:t> received</a:t>
            </a:r>
            <a:r>
              <a:rPr sz="1600" spc="95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signal</a:t>
            </a:r>
            <a:r>
              <a:rPr sz="1600" spc="150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decreases</a:t>
            </a:r>
            <a:r>
              <a:rPr sz="1600" spc="7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as</a:t>
            </a:r>
            <a:endParaRPr sz="1600">
              <a:latin typeface="Times New Roman"/>
              <a:cs typeface="Times New Roman"/>
            </a:endParaRPr>
          </a:p>
          <a:p>
            <a:pPr marL="228600">
              <a:lnSpc>
                <a:spcPct val="100000"/>
              </a:lnSpc>
              <a:spcBef>
                <a:spcPts val="20"/>
              </a:spcBef>
            </a:pPr>
            <a:r>
              <a:rPr sz="1600" spc="-15" dirty="0">
                <a:latin typeface="Times New Roman"/>
                <a:cs typeface="Times New Roman"/>
              </a:rPr>
              <a:t>the</a:t>
            </a:r>
            <a:r>
              <a:rPr sz="1600" spc="65" dirty="0">
                <a:latin typeface="Times New Roman"/>
                <a:cs typeface="Times New Roman"/>
              </a:rPr>
              <a:t> </a:t>
            </a:r>
            <a:r>
              <a:rPr sz="1600" i="1" spc="-15" dirty="0">
                <a:latin typeface="Times New Roman"/>
                <a:cs typeface="Times New Roman"/>
              </a:rPr>
              <a:t>nth </a:t>
            </a:r>
            <a:r>
              <a:rPr sz="1600" spc="5" dirty="0">
                <a:latin typeface="Times New Roman"/>
                <a:cs typeface="Times New Roman"/>
              </a:rPr>
              <a:t>power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distance,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42949" y="1492249"/>
            <a:ext cx="6083300" cy="3416300"/>
          </a:xfrm>
          <a:custGeom>
            <a:avLst/>
            <a:gdLst/>
            <a:ahLst/>
            <a:cxnLst/>
            <a:rect l="l" t="t" r="r" b="b"/>
            <a:pathLst>
              <a:path w="6083300" h="3416300">
                <a:moveTo>
                  <a:pt x="0" y="0"/>
                </a:moveTo>
                <a:lnTo>
                  <a:pt x="6083300" y="0"/>
                </a:lnTo>
                <a:lnTo>
                  <a:pt x="6083300" y="3416300"/>
                </a:lnTo>
                <a:lnTo>
                  <a:pt x="0" y="341630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970087" y="6409884"/>
            <a:ext cx="5527675" cy="919480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95"/>
              </a:spcBef>
            </a:pPr>
            <a:r>
              <a:rPr sz="2000" b="1" spc="-45" dirty="0">
                <a:solidFill>
                  <a:srgbClr val="FF0000"/>
                </a:solidFill>
                <a:latin typeface="Cambria"/>
                <a:cs typeface="Cambria"/>
              </a:rPr>
              <a:t>Free-space</a:t>
            </a:r>
            <a:r>
              <a:rPr sz="2000" b="1" spc="3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b="1" spc="-25" dirty="0">
                <a:solidFill>
                  <a:srgbClr val="FF0000"/>
                </a:solidFill>
                <a:latin typeface="Cambria"/>
                <a:cs typeface="Cambria"/>
              </a:rPr>
              <a:t>Propagation</a:t>
            </a:r>
            <a:r>
              <a:rPr sz="2000" b="1" spc="1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b="1" spc="50" dirty="0">
                <a:solidFill>
                  <a:srgbClr val="FF0000"/>
                </a:solidFill>
                <a:latin typeface="Cambria"/>
                <a:cs typeface="Cambria"/>
              </a:rPr>
              <a:t>Model</a:t>
            </a:r>
            <a:endParaRPr sz="2000">
              <a:latin typeface="Cambria"/>
              <a:cs typeface="Cambria"/>
            </a:endParaRPr>
          </a:p>
          <a:p>
            <a:pPr marL="228600" marR="5080" indent="-228600">
              <a:lnSpc>
                <a:spcPct val="104200"/>
              </a:lnSpc>
              <a:spcBef>
                <a:spcPts val="240"/>
              </a:spcBef>
              <a:buFont typeface="Wingdings"/>
              <a:buChar char=""/>
              <a:tabLst>
                <a:tab pos="228600" algn="l"/>
              </a:tabLst>
            </a:pPr>
            <a:r>
              <a:rPr sz="1600" spc="-15" dirty="0">
                <a:latin typeface="Times New Roman"/>
                <a:cs typeface="Times New Roman"/>
              </a:rPr>
              <a:t>Where</a:t>
            </a:r>
            <a:r>
              <a:rPr sz="1600" spc="90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the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parameter</a:t>
            </a:r>
            <a:r>
              <a:rPr sz="1600" spc="170" dirty="0">
                <a:latin typeface="Times New Roman"/>
                <a:cs typeface="Times New Roman"/>
              </a:rPr>
              <a:t> </a:t>
            </a:r>
            <a:r>
              <a:rPr sz="1600" i="1" dirty="0">
                <a:latin typeface="Times New Roman"/>
                <a:cs typeface="Times New Roman"/>
              </a:rPr>
              <a:t>n </a:t>
            </a:r>
            <a:r>
              <a:rPr sz="1600" spc="-25" dirty="0">
                <a:latin typeface="Times New Roman"/>
                <a:cs typeface="Times New Roman"/>
              </a:rPr>
              <a:t>is</a:t>
            </a:r>
            <a:r>
              <a:rPr sz="1600" spc="80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the</a:t>
            </a:r>
            <a:r>
              <a:rPr sz="1600" spc="90" dirty="0">
                <a:latin typeface="Times New Roman"/>
                <a:cs typeface="Times New Roman"/>
              </a:rPr>
              <a:t> </a:t>
            </a:r>
            <a:r>
              <a:rPr sz="1600" i="1" spc="-20" dirty="0">
                <a:latin typeface="Times New Roman"/>
                <a:cs typeface="Times New Roman"/>
              </a:rPr>
              <a:t>path-loss</a:t>
            </a:r>
            <a:r>
              <a:rPr sz="1600" i="1" spc="75" dirty="0">
                <a:latin typeface="Times New Roman"/>
                <a:cs typeface="Times New Roman"/>
              </a:rPr>
              <a:t> </a:t>
            </a:r>
            <a:r>
              <a:rPr sz="1600" i="1" spc="-10" dirty="0">
                <a:latin typeface="Times New Roman"/>
                <a:cs typeface="Times New Roman"/>
              </a:rPr>
              <a:t>exponent</a:t>
            </a:r>
            <a:r>
              <a:rPr sz="1600" i="1" spc="6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(PLE)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that</a:t>
            </a:r>
            <a:r>
              <a:rPr sz="1600" spc="55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takes </a:t>
            </a:r>
            <a:r>
              <a:rPr sz="1600" spc="-385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constant</a:t>
            </a:r>
            <a:r>
              <a:rPr sz="1600" spc="50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values</a:t>
            </a:r>
            <a:r>
              <a:rPr sz="1600" spc="7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depending</a:t>
            </a:r>
            <a:r>
              <a:rPr sz="1600" spc="10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on </a:t>
            </a:r>
            <a:r>
              <a:rPr sz="1600" spc="-15" dirty="0">
                <a:latin typeface="Times New Roman"/>
                <a:cs typeface="Times New Roman"/>
              </a:rPr>
              <a:t>the</a:t>
            </a:r>
            <a:r>
              <a:rPr sz="1600" spc="80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environment</a:t>
            </a:r>
            <a:r>
              <a:rPr sz="1600" spc="55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that</a:t>
            </a:r>
            <a:r>
              <a:rPr sz="1600" spc="55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is</a:t>
            </a:r>
            <a:r>
              <a:rPr sz="1600" spc="75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modeled</a:t>
            </a:r>
            <a:endParaRPr sz="1600">
              <a:latin typeface="Times New Roman"/>
              <a:cs typeface="Times New Roman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736599" y="5753100"/>
            <a:ext cx="6096000" cy="3429000"/>
            <a:chOff x="736599" y="5753100"/>
            <a:chExt cx="6096000" cy="3429000"/>
          </a:xfrm>
        </p:grpSpPr>
        <p:pic>
          <p:nvPicPr>
            <p:cNvPr id="21" name="object 2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71799" y="7353300"/>
              <a:ext cx="1930400" cy="1562100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02200" y="7468140"/>
              <a:ext cx="1422400" cy="137592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66" y="7827048"/>
              <a:ext cx="1923284" cy="592281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742949" y="5759450"/>
              <a:ext cx="6083300" cy="3416300"/>
            </a:xfrm>
            <a:custGeom>
              <a:avLst/>
              <a:gdLst/>
              <a:ahLst/>
              <a:cxnLst/>
              <a:rect l="l" t="t" r="r" b="b"/>
              <a:pathLst>
                <a:path w="6083300" h="3416300">
                  <a:moveTo>
                    <a:pt x="0" y="0"/>
                  </a:moveTo>
                  <a:lnTo>
                    <a:pt x="6083300" y="0"/>
                  </a:lnTo>
                  <a:lnTo>
                    <a:pt x="6083300" y="3416300"/>
                  </a:lnTo>
                  <a:lnTo>
                    <a:pt x="0" y="34163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object 25"/>
          <p:cNvSpPr txBox="1">
            <a:spLocks noGrp="1"/>
          </p:cNvSpPr>
          <p:nvPr>
            <p:ph type="sldNum" sz="quarter" idx="4294967295"/>
          </p:nvPr>
        </p:nvSpPr>
        <p:spPr>
          <a:xfrm>
            <a:off x="7300913" y="9974263"/>
            <a:ext cx="255587" cy="227012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13</a:t>
            </a:fld>
            <a:endParaRPr dirty="0"/>
          </a:p>
        </p:txBody>
      </p:sp>
      <p:sp>
        <p:nvSpPr>
          <p:cNvPr id="10" name="object 10"/>
          <p:cNvSpPr txBox="1"/>
          <p:nvPr/>
        </p:nvSpPr>
        <p:spPr>
          <a:xfrm>
            <a:off x="944687" y="2142686"/>
            <a:ext cx="5629275" cy="1643380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495"/>
              </a:spcBef>
            </a:pPr>
            <a:r>
              <a:rPr sz="2000" b="1" spc="-45" dirty="0">
                <a:solidFill>
                  <a:srgbClr val="FF0000"/>
                </a:solidFill>
                <a:latin typeface="Cambria"/>
                <a:cs typeface="Cambria"/>
              </a:rPr>
              <a:t>Free-space</a:t>
            </a:r>
            <a:r>
              <a:rPr sz="2000" b="1" spc="3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b="1" spc="-25" dirty="0">
                <a:solidFill>
                  <a:srgbClr val="FF0000"/>
                </a:solidFill>
                <a:latin typeface="Cambria"/>
                <a:cs typeface="Cambria"/>
              </a:rPr>
              <a:t>Propagation</a:t>
            </a:r>
            <a:r>
              <a:rPr sz="2000" b="1" spc="1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b="1" spc="50" dirty="0">
                <a:solidFill>
                  <a:srgbClr val="FF0000"/>
                </a:solidFill>
                <a:latin typeface="Cambria"/>
                <a:cs typeface="Cambria"/>
              </a:rPr>
              <a:t>Model</a:t>
            </a:r>
            <a:endParaRPr sz="2000">
              <a:latin typeface="Cambria"/>
              <a:cs typeface="Cambria"/>
            </a:endParaRPr>
          </a:p>
          <a:p>
            <a:pPr marL="254000" marR="30480" indent="-228600">
              <a:lnSpc>
                <a:spcPct val="101600"/>
              </a:lnSpc>
              <a:spcBef>
                <a:spcPts val="290"/>
              </a:spcBef>
              <a:buFont typeface="Wingdings"/>
              <a:buChar char=""/>
              <a:tabLst>
                <a:tab pos="254000" algn="l"/>
              </a:tabLst>
            </a:pPr>
            <a:r>
              <a:rPr sz="1600" spc="5" dirty="0">
                <a:latin typeface="Times New Roman"/>
                <a:cs typeface="Times New Roman"/>
              </a:rPr>
              <a:t>The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i="1" spc="-20" dirty="0">
                <a:latin typeface="Times New Roman"/>
                <a:cs typeface="Times New Roman"/>
              </a:rPr>
              <a:t>propagation</a:t>
            </a:r>
            <a:r>
              <a:rPr sz="1600" i="1" spc="100" dirty="0">
                <a:latin typeface="Times New Roman"/>
                <a:cs typeface="Times New Roman"/>
              </a:rPr>
              <a:t> </a:t>
            </a:r>
            <a:r>
              <a:rPr sz="1600" i="1" spc="-15" dirty="0">
                <a:latin typeface="Times New Roman"/>
                <a:cs typeface="Times New Roman"/>
              </a:rPr>
              <a:t>path</a:t>
            </a:r>
            <a:r>
              <a:rPr sz="1600" i="1" spc="105" dirty="0">
                <a:latin typeface="Times New Roman"/>
                <a:cs typeface="Times New Roman"/>
              </a:rPr>
              <a:t> </a:t>
            </a:r>
            <a:r>
              <a:rPr sz="1600" i="1" spc="-20" dirty="0">
                <a:latin typeface="Times New Roman"/>
                <a:cs typeface="Times New Roman"/>
              </a:rPr>
              <a:t>loss</a:t>
            </a:r>
            <a:r>
              <a:rPr sz="1600" i="1" spc="80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in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free</a:t>
            </a:r>
            <a:r>
              <a:rPr sz="1600" spc="90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space,</a:t>
            </a:r>
            <a:r>
              <a:rPr sz="1600" spc="100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denoted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as</a:t>
            </a:r>
            <a:r>
              <a:rPr sz="1600" spc="75" dirty="0">
                <a:latin typeface="Times New Roman"/>
                <a:cs typeface="Times New Roman"/>
              </a:rPr>
              <a:t> </a:t>
            </a:r>
            <a:r>
              <a:rPr sz="1600" i="1" dirty="0">
                <a:latin typeface="Times New Roman"/>
                <a:cs typeface="Times New Roman"/>
              </a:rPr>
              <a:t>P</a:t>
            </a:r>
            <a:r>
              <a:rPr sz="1650" i="1" baseline="-15151" dirty="0">
                <a:latin typeface="Times New Roman"/>
                <a:cs typeface="Times New Roman"/>
              </a:rPr>
              <a:t>L</a:t>
            </a:r>
            <a:r>
              <a:rPr sz="1600" dirty="0">
                <a:latin typeface="Times New Roman"/>
                <a:cs typeface="Times New Roman"/>
              </a:rPr>
              <a:t>,</a:t>
            </a:r>
            <a:r>
              <a:rPr sz="1600" spc="-100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is</a:t>
            </a:r>
            <a:r>
              <a:rPr sz="1600" spc="80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the</a:t>
            </a:r>
            <a:r>
              <a:rPr sz="1600" spc="85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loss </a:t>
            </a:r>
            <a:r>
              <a:rPr sz="1600" spc="-385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incurred</a:t>
            </a:r>
            <a:r>
              <a:rPr sz="1600" spc="9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by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the</a:t>
            </a:r>
            <a:r>
              <a:rPr sz="1600" spc="80" dirty="0">
                <a:latin typeface="Times New Roman"/>
                <a:cs typeface="Times New Roman"/>
              </a:rPr>
              <a:t> </a:t>
            </a:r>
            <a:r>
              <a:rPr sz="1600" spc="-30" dirty="0">
                <a:latin typeface="Times New Roman"/>
                <a:cs typeface="Times New Roman"/>
              </a:rPr>
              <a:t>transmitted</a:t>
            </a:r>
            <a:r>
              <a:rPr sz="1600" spc="295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signal</a:t>
            </a:r>
            <a:r>
              <a:rPr sz="1600" spc="55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during</a:t>
            </a:r>
            <a:r>
              <a:rPr sz="1600" spc="95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propagation</a:t>
            </a:r>
            <a:r>
              <a:rPr sz="1600" spc="95" dirty="0">
                <a:latin typeface="Times New Roman"/>
                <a:cs typeface="Times New Roman"/>
              </a:rPr>
              <a:t> </a:t>
            </a:r>
            <a:r>
              <a:rPr sz="1600" spc="5" dirty="0">
                <a:latin typeface="Times New Roman"/>
                <a:cs typeface="Times New Roman"/>
              </a:rPr>
              <a:t>when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there 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are</a:t>
            </a:r>
            <a:r>
              <a:rPr sz="1600" spc="8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no </a:t>
            </a:r>
            <a:r>
              <a:rPr sz="1600" spc="-20" dirty="0">
                <a:latin typeface="Times New Roman"/>
                <a:cs typeface="Times New Roman"/>
              </a:rPr>
              <a:t>obstacles.</a:t>
            </a:r>
            <a:endParaRPr sz="1600">
              <a:latin typeface="Times New Roman"/>
              <a:cs typeface="Times New Roman"/>
            </a:endParaRPr>
          </a:p>
          <a:p>
            <a:pPr marL="254000" marR="223520" indent="-228600">
              <a:lnSpc>
                <a:spcPts val="1900"/>
              </a:lnSpc>
              <a:spcBef>
                <a:spcPts val="60"/>
              </a:spcBef>
              <a:buFont typeface="Wingdings"/>
              <a:buChar char=""/>
              <a:tabLst>
                <a:tab pos="254000" algn="l"/>
              </a:tabLst>
            </a:pPr>
            <a:r>
              <a:rPr sz="1600" spc="-20" dirty="0">
                <a:latin typeface="Times New Roman"/>
                <a:cs typeface="Times New Roman"/>
              </a:rPr>
              <a:t>It</a:t>
            </a:r>
            <a:r>
              <a:rPr sz="1600" spc="50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is </a:t>
            </a:r>
            <a:r>
              <a:rPr sz="1600" spc="-15" dirty="0">
                <a:latin typeface="Times New Roman"/>
                <a:cs typeface="Times New Roman"/>
              </a:rPr>
              <a:t>expressed</a:t>
            </a:r>
            <a:r>
              <a:rPr sz="1600" spc="19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as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the</a:t>
            </a:r>
            <a:r>
              <a:rPr sz="1600" spc="85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signal</a:t>
            </a:r>
            <a:r>
              <a:rPr sz="1600" spc="55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loss</a:t>
            </a:r>
            <a:r>
              <a:rPr sz="1600" spc="7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between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the</a:t>
            </a:r>
            <a:r>
              <a:rPr sz="1600" spc="85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feed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points</a:t>
            </a:r>
            <a:r>
              <a:rPr sz="1600" spc="7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6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two </a:t>
            </a:r>
            <a:r>
              <a:rPr sz="1600" spc="-385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isotropic</a:t>
            </a:r>
            <a:r>
              <a:rPr sz="1600" spc="185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antennas</a:t>
            </a:r>
            <a:r>
              <a:rPr sz="1600" spc="75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in</a:t>
            </a:r>
            <a:r>
              <a:rPr sz="1600" spc="100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free</a:t>
            </a:r>
            <a:r>
              <a:rPr sz="1600" spc="-15" dirty="0">
                <a:latin typeface="Times New Roman"/>
                <a:cs typeface="Times New Roman"/>
              </a:rPr>
              <a:t> space.</a:t>
            </a:r>
            <a:endParaRPr sz="1600">
              <a:latin typeface="Times New Roman"/>
              <a:cs typeface="Times New Roman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736599" y="1485899"/>
            <a:ext cx="6096000" cy="3429000"/>
            <a:chOff x="736599" y="1485899"/>
            <a:chExt cx="6096000" cy="3429000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23916" y="3940262"/>
              <a:ext cx="4362603" cy="573247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742949" y="1492249"/>
              <a:ext cx="6083300" cy="3416300"/>
            </a:xfrm>
            <a:custGeom>
              <a:avLst/>
              <a:gdLst/>
              <a:ahLst/>
              <a:cxnLst/>
              <a:rect l="l" t="t" r="r" b="b"/>
              <a:pathLst>
                <a:path w="6083300" h="3416300">
                  <a:moveTo>
                    <a:pt x="0" y="0"/>
                  </a:moveTo>
                  <a:lnTo>
                    <a:pt x="6083300" y="0"/>
                  </a:lnTo>
                  <a:lnTo>
                    <a:pt x="6083300" y="3416300"/>
                  </a:lnTo>
                  <a:lnTo>
                    <a:pt x="0" y="34163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970087" y="6307367"/>
            <a:ext cx="5465445" cy="1345565"/>
          </a:xfrm>
          <a:prstGeom prst="rect">
            <a:avLst/>
          </a:prstGeom>
        </p:spPr>
        <p:txBody>
          <a:bodyPr vert="horz" wrap="square" lIns="0" tIns="1657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5"/>
              </a:spcBef>
            </a:pPr>
            <a:r>
              <a:rPr sz="2000" b="1" spc="-45" dirty="0">
                <a:solidFill>
                  <a:srgbClr val="FF0000"/>
                </a:solidFill>
                <a:latin typeface="Cambria"/>
                <a:cs typeface="Cambria"/>
              </a:rPr>
              <a:t>Free-space</a:t>
            </a:r>
            <a:r>
              <a:rPr sz="2000" b="1" spc="3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b="1" spc="-25" dirty="0">
                <a:solidFill>
                  <a:srgbClr val="FF0000"/>
                </a:solidFill>
                <a:latin typeface="Cambria"/>
                <a:cs typeface="Cambria"/>
              </a:rPr>
              <a:t>Propagation</a:t>
            </a:r>
            <a:r>
              <a:rPr sz="2000" b="1" spc="1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b="1" spc="50" dirty="0">
                <a:solidFill>
                  <a:srgbClr val="FF0000"/>
                </a:solidFill>
                <a:latin typeface="Cambria"/>
                <a:cs typeface="Cambria"/>
              </a:rPr>
              <a:t>Model</a:t>
            </a:r>
            <a:endParaRPr sz="2000">
              <a:latin typeface="Cambria"/>
              <a:cs typeface="Cambria"/>
            </a:endParaRPr>
          </a:p>
          <a:p>
            <a:pPr marR="5080">
              <a:lnSpc>
                <a:spcPct val="101600"/>
              </a:lnSpc>
              <a:spcBef>
                <a:spcPts val="935"/>
              </a:spcBef>
            </a:pPr>
            <a:r>
              <a:rPr sz="1600" spc="5" dirty="0">
                <a:latin typeface="Times New Roman"/>
                <a:cs typeface="Times New Roman"/>
              </a:rPr>
              <a:t>The</a:t>
            </a:r>
            <a:r>
              <a:rPr sz="1600" spc="-20" dirty="0">
                <a:latin typeface="Times New Roman"/>
                <a:cs typeface="Times New Roman"/>
              </a:rPr>
              <a:t> variable</a:t>
            </a:r>
            <a:r>
              <a:rPr sz="1600" spc="9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λ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exists</a:t>
            </a:r>
            <a:r>
              <a:rPr sz="1600" spc="175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in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the</a:t>
            </a:r>
            <a:r>
              <a:rPr sz="1600" spc="80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path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loss</a:t>
            </a:r>
            <a:r>
              <a:rPr sz="1600" spc="75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equation</a:t>
            </a:r>
            <a:r>
              <a:rPr sz="1600" spc="100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to</a:t>
            </a:r>
            <a:r>
              <a:rPr sz="1600" spc="10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account</a:t>
            </a:r>
            <a:r>
              <a:rPr sz="1600" spc="55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for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the 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effective</a:t>
            </a:r>
            <a:r>
              <a:rPr sz="1600" spc="185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aperture</a:t>
            </a:r>
            <a:r>
              <a:rPr sz="1600" spc="8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the</a:t>
            </a:r>
            <a:r>
              <a:rPr sz="1600" spc="85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receiving</a:t>
            </a:r>
            <a:r>
              <a:rPr sz="1600" spc="200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antenna,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which</a:t>
            </a:r>
            <a:r>
              <a:rPr sz="1600" spc="100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is </a:t>
            </a:r>
            <a:r>
              <a:rPr sz="1600" spc="-10" dirty="0">
                <a:latin typeface="Times New Roman"/>
                <a:cs typeface="Times New Roman"/>
              </a:rPr>
              <a:t>an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indicator</a:t>
            </a:r>
            <a:r>
              <a:rPr sz="1600" spc="16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 </a:t>
            </a:r>
            <a:r>
              <a:rPr sz="1600" spc="-385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the</a:t>
            </a:r>
            <a:r>
              <a:rPr sz="1600" spc="80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antenna’s</a:t>
            </a:r>
            <a:r>
              <a:rPr sz="1600" spc="75" dirty="0">
                <a:latin typeface="Times New Roman"/>
                <a:cs typeface="Times New Roman"/>
              </a:rPr>
              <a:t> </a:t>
            </a:r>
            <a:r>
              <a:rPr sz="1600" spc="-30" dirty="0">
                <a:latin typeface="Times New Roman"/>
                <a:cs typeface="Times New Roman"/>
              </a:rPr>
              <a:t>ability</a:t>
            </a:r>
            <a:r>
              <a:rPr sz="1600" spc="200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to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collect</a:t>
            </a:r>
            <a:r>
              <a:rPr sz="1600" spc="155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power.</a:t>
            </a:r>
            <a:endParaRPr sz="1600">
              <a:latin typeface="Times New Roman"/>
              <a:cs typeface="Times New Roman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736599" y="5753100"/>
            <a:ext cx="6096000" cy="3429000"/>
            <a:chOff x="736599" y="5753100"/>
            <a:chExt cx="6096000" cy="3429000"/>
          </a:xfrm>
        </p:grpSpPr>
        <p:pic>
          <p:nvPicPr>
            <p:cNvPr id="23" name="object 2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11216" y="7853144"/>
              <a:ext cx="4362603" cy="649680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742949" y="5759450"/>
              <a:ext cx="6083300" cy="3416300"/>
            </a:xfrm>
            <a:custGeom>
              <a:avLst/>
              <a:gdLst/>
              <a:ahLst/>
              <a:cxnLst/>
              <a:rect l="l" t="t" r="r" b="b"/>
              <a:pathLst>
                <a:path w="6083300" h="3416300">
                  <a:moveTo>
                    <a:pt x="0" y="0"/>
                  </a:moveTo>
                  <a:lnTo>
                    <a:pt x="6083300" y="0"/>
                  </a:lnTo>
                  <a:lnTo>
                    <a:pt x="6083300" y="3416300"/>
                  </a:lnTo>
                  <a:lnTo>
                    <a:pt x="0" y="34163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bject 21"/>
          <p:cNvSpPr txBox="1">
            <a:spLocks noGrp="1"/>
          </p:cNvSpPr>
          <p:nvPr>
            <p:ph type="sldNum" sz="quarter" idx="4294967295"/>
          </p:nvPr>
        </p:nvSpPr>
        <p:spPr>
          <a:xfrm>
            <a:off x="7300913" y="9974263"/>
            <a:ext cx="255587" cy="227012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14</a:t>
            </a:fld>
            <a:endParaRPr dirty="0"/>
          </a:p>
        </p:txBody>
      </p:sp>
      <p:sp>
        <p:nvSpPr>
          <p:cNvPr id="8" name="object 8"/>
          <p:cNvSpPr txBox="1"/>
          <p:nvPr/>
        </p:nvSpPr>
        <p:spPr>
          <a:xfrm>
            <a:off x="763757" y="1447872"/>
            <a:ext cx="5995035" cy="2784475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87325">
              <a:lnSpc>
                <a:spcPct val="100000"/>
              </a:lnSpc>
              <a:spcBef>
                <a:spcPts val="640"/>
              </a:spcBef>
            </a:pPr>
            <a:r>
              <a:rPr sz="2000" b="1" spc="-45" dirty="0">
                <a:solidFill>
                  <a:srgbClr val="FF0000"/>
                </a:solidFill>
                <a:latin typeface="Cambria"/>
                <a:cs typeface="Cambria"/>
              </a:rPr>
              <a:t>Free-space</a:t>
            </a:r>
            <a:r>
              <a:rPr sz="2000" b="1" spc="3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b="1" spc="-25" dirty="0">
                <a:solidFill>
                  <a:srgbClr val="FF0000"/>
                </a:solidFill>
                <a:latin typeface="Cambria"/>
                <a:cs typeface="Cambria"/>
              </a:rPr>
              <a:t>Propagation</a:t>
            </a:r>
            <a:r>
              <a:rPr sz="2000" b="1" spc="1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b="1" spc="50" dirty="0">
                <a:solidFill>
                  <a:srgbClr val="FF0000"/>
                </a:solidFill>
                <a:latin typeface="Cambria"/>
                <a:cs typeface="Cambria"/>
              </a:rPr>
              <a:t>Model</a:t>
            </a:r>
            <a:endParaRPr sz="2000" dirty="0">
              <a:latin typeface="Cambria"/>
              <a:cs typeface="Cambria"/>
            </a:endParaRPr>
          </a:p>
          <a:p>
            <a:pPr marL="479425" marR="223520" indent="-292100" algn="just">
              <a:lnSpc>
                <a:spcPct val="101899"/>
              </a:lnSpc>
              <a:spcBef>
                <a:spcPts val="445"/>
              </a:spcBef>
              <a:buFont typeface="Wingdings"/>
              <a:buChar char=""/>
              <a:tabLst>
                <a:tab pos="480059" algn="l"/>
              </a:tabLst>
            </a:pPr>
            <a:r>
              <a:rPr sz="1800" spc="-15" dirty="0">
                <a:latin typeface="Times New Roman"/>
                <a:cs typeface="Times New Roman"/>
              </a:rPr>
              <a:t>Usually, </a:t>
            </a:r>
            <a:r>
              <a:rPr sz="1800" spc="-5" dirty="0">
                <a:latin typeface="Times New Roman"/>
                <a:cs typeface="Times New Roman"/>
              </a:rPr>
              <a:t>the transmitted </a:t>
            </a:r>
            <a:r>
              <a:rPr sz="1800" dirty="0">
                <a:latin typeface="Times New Roman"/>
                <a:cs typeface="Times New Roman"/>
              </a:rPr>
              <a:t>power and </a:t>
            </a:r>
            <a:r>
              <a:rPr sz="1800" spc="-5" dirty="0">
                <a:latin typeface="Times New Roman"/>
                <a:cs typeface="Times New Roman"/>
              </a:rPr>
              <a:t>the receiver </a:t>
            </a:r>
            <a:r>
              <a:rPr sz="1800" dirty="0">
                <a:latin typeface="Times New Roman"/>
                <a:cs typeface="Times New Roman"/>
              </a:rPr>
              <a:t>power are </a:t>
            </a:r>
            <a:r>
              <a:rPr sz="1800" spc="-434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specified in terms </a:t>
            </a:r>
            <a:r>
              <a:rPr sz="1800" dirty="0">
                <a:latin typeface="Times New Roman"/>
                <a:cs typeface="Times New Roman"/>
              </a:rPr>
              <a:t>of </a:t>
            </a:r>
            <a:r>
              <a:rPr sz="1800" i="1" dirty="0">
                <a:solidFill>
                  <a:srgbClr val="FF0000"/>
                </a:solidFill>
                <a:latin typeface="Times New Roman"/>
                <a:cs typeface="Times New Roman"/>
              </a:rPr>
              <a:t>dBm </a:t>
            </a:r>
            <a:r>
              <a:rPr sz="1800" dirty="0">
                <a:latin typeface="Times New Roman"/>
                <a:cs typeface="Times New Roman"/>
              </a:rPr>
              <a:t>(power </a:t>
            </a:r>
            <a:r>
              <a:rPr sz="1800" spc="-5" dirty="0">
                <a:latin typeface="Times New Roman"/>
                <a:cs typeface="Times New Roman"/>
              </a:rPr>
              <a:t>in decibels with respect </a:t>
            </a:r>
            <a:r>
              <a:rPr sz="1800" spc="-434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to</a:t>
            </a:r>
            <a:r>
              <a:rPr sz="1800" spc="45" dirty="0"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0000"/>
                </a:solidFill>
                <a:latin typeface="Times New Roman"/>
                <a:cs typeface="Times New Roman"/>
              </a:rPr>
              <a:t>1</a:t>
            </a:r>
            <a:r>
              <a:rPr sz="1800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i="1" dirty="0">
                <a:solidFill>
                  <a:srgbClr val="FF0000"/>
                </a:solidFill>
                <a:latin typeface="Times New Roman"/>
                <a:cs typeface="Times New Roman"/>
              </a:rPr>
              <a:t>mW</a:t>
            </a:r>
            <a:r>
              <a:rPr sz="1800" dirty="0">
                <a:latin typeface="Times New Roman"/>
                <a:cs typeface="Times New Roman"/>
              </a:rPr>
              <a:t>)</a:t>
            </a:r>
          </a:p>
          <a:p>
            <a:pPr marL="479425" indent="-292735" algn="just">
              <a:lnSpc>
                <a:spcPts val="2100"/>
              </a:lnSpc>
              <a:buFont typeface="Wingdings"/>
              <a:buChar char=""/>
              <a:tabLst>
                <a:tab pos="480059" algn="l"/>
              </a:tabLst>
            </a:pPr>
            <a:r>
              <a:rPr sz="1800" spc="-5" dirty="0">
                <a:latin typeface="Times New Roman"/>
                <a:cs typeface="Times New Roman"/>
              </a:rPr>
              <a:t>Antenna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gains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in</a:t>
            </a:r>
            <a:r>
              <a:rPr sz="1800" spc="60" dirty="0">
                <a:latin typeface="Times New Roman"/>
                <a:cs typeface="Times New Roman"/>
              </a:rPr>
              <a:t> </a:t>
            </a:r>
            <a:r>
              <a:rPr sz="1800" i="1" dirty="0">
                <a:solidFill>
                  <a:srgbClr val="FF0000"/>
                </a:solidFill>
                <a:latin typeface="Times New Roman"/>
                <a:cs typeface="Times New Roman"/>
              </a:rPr>
              <a:t>dBi</a:t>
            </a:r>
            <a:r>
              <a:rPr sz="1800" i="1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(gain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in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decibels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with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respect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to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</a:t>
            </a:r>
          </a:p>
          <a:p>
            <a:pPr marL="479425" algn="just">
              <a:lnSpc>
                <a:spcPts val="2130"/>
              </a:lnSpc>
              <a:spcBef>
                <a:spcPts val="40"/>
              </a:spcBef>
            </a:pPr>
            <a:r>
              <a:rPr sz="1800" spc="-5" dirty="0">
                <a:solidFill>
                  <a:srgbClr val="FF0000"/>
                </a:solidFill>
                <a:latin typeface="Times New Roman"/>
                <a:cs typeface="Times New Roman"/>
              </a:rPr>
              <a:t>isotropic</a:t>
            </a:r>
            <a:r>
              <a:rPr sz="1800" spc="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FF0000"/>
                </a:solidFill>
                <a:latin typeface="Times New Roman"/>
                <a:cs typeface="Times New Roman"/>
              </a:rPr>
              <a:t>antenna</a:t>
            </a:r>
            <a:r>
              <a:rPr sz="1800" spc="-5" dirty="0">
                <a:latin typeface="Times New Roman"/>
                <a:cs typeface="Times New Roman"/>
              </a:rPr>
              <a:t>).</a:t>
            </a:r>
            <a:endParaRPr sz="1800" dirty="0">
              <a:latin typeface="Times New Roman"/>
              <a:cs typeface="Times New Roman"/>
            </a:endParaRPr>
          </a:p>
          <a:p>
            <a:pPr marL="479425" marR="706120" indent="-292100" algn="just">
              <a:lnSpc>
                <a:spcPts val="2200"/>
              </a:lnSpc>
              <a:spcBef>
                <a:spcPts val="10"/>
              </a:spcBef>
              <a:buFont typeface="Wingdings"/>
              <a:buChar char=""/>
              <a:tabLst>
                <a:tab pos="480059" algn="l"/>
              </a:tabLst>
            </a:pPr>
            <a:r>
              <a:rPr sz="1800" dirty="0">
                <a:latin typeface="Times New Roman"/>
                <a:cs typeface="Times New Roman"/>
              </a:rPr>
              <a:t>Therefore, </a:t>
            </a:r>
            <a:r>
              <a:rPr sz="1800" spc="-5" dirty="0">
                <a:latin typeface="Times New Roman"/>
                <a:cs typeface="Times New Roman"/>
              </a:rPr>
              <a:t>it is often convenient to </a:t>
            </a:r>
            <a:r>
              <a:rPr sz="1800" dirty="0">
                <a:latin typeface="Times New Roman"/>
                <a:cs typeface="Times New Roman"/>
              </a:rPr>
              <a:t>work </a:t>
            </a:r>
            <a:r>
              <a:rPr sz="1800" spc="-5" dirty="0">
                <a:latin typeface="Times New Roman"/>
                <a:cs typeface="Times New Roman"/>
              </a:rPr>
              <a:t>in </a:t>
            </a:r>
            <a:r>
              <a:rPr sz="1800" spc="-5" dirty="0">
                <a:solidFill>
                  <a:srgbClr val="FF0000"/>
                </a:solidFill>
                <a:latin typeface="Times New Roman"/>
                <a:cs typeface="Times New Roman"/>
              </a:rPr>
              <a:t>log scale </a:t>
            </a:r>
            <a:r>
              <a:rPr sz="1800" spc="-434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instead</a:t>
            </a:r>
            <a:r>
              <a:rPr sz="1800" spc="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linear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scale.</a:t>
            </a:r>
            <a:endParaRPr sz="1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75"/>
              </a:spcBef>
              <a:tabLst>
                <a:tab pos="5485765" algn="l"/>
              </a:tabLst>
            </a:pP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42949" y="1492249"/>
            <a:ext cx="6083300" cy="3416300"/>
          </a:xfrm>
          <a:custGeom>
            <a:avLst/>
            <a:gdLst/>
            <a:ahLst/>
            <a:cxnLst/>
            <a:rect l="l" t="t" r="r" b="b"/>
            <a:pathLst>
              <a:path w="6083300" h="3416300">
                <a:moveTo>
                  <a:pt x="0" y="0"/>
                </a:moveTo>
                <a:lnTo>
                  <a:pt x="6083300" y="0"/>
                </a:lnTo>
                <a:lnTo>
                  <a:pt x="6083300" y="3416300"/>
                </a:lnTo>
                <a:lnTo>
                  <a:pt x="0" y="341630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6268720" y="8937307"/>
            <a:ext cx="508634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005599"/>
                </a:solidFill>
                <a:latin typeface="Times New Roman"/>
                <a:cs typeface="Times New Roman"/>
              </a:rPr>
              <a:t>4</a:t>
            </a:r>
            <a:endParaRPr sz="1400" dirty="0">
              <a:latin typeface="Times New Roman"/>
              <a:cs typeface="Times New Roman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997907" y="7490131"/>
            <a:ext cx="5594350" cy="981075"/>
            <a:chOff x="997907" y="7490131"/>
            <a:chExt cx="5594350" cy="981075"/>
          </a:xfrm>
        </p:grpSpPr>
        <p:pic>
          <p:nvPicPr>
            <p:cNvPr id="17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97907" y="8229599"/>
              <a:ext cx="5593783" cy="24130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37531" y="7490131"/>
              <a:ext cx="1670475" cy="536677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726395" y="6515098"/>
            <a:ext cx="6070600" cy="80278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2075" algn="ctr">
              <a:lnSpc>
                <a:spcPct val="100000"/>
              </a:lnSpc>
              <a:spcBef>
                <a:spcPts val="100"/>
              </a:spcBef>
            </a:pPr>
            <a:r>
              <a:rPr sz="2000" b="1" spc="-45" dirty="0">
                <a:solidFill>
                  <a:srgbClr val="FF0000"/>
                </a:solidFill>
                <a:latin typeface="Cambria"/>
                <a:cs typeface="Cambria"/>
              </a:rPr>
              <a:t>Free-space</a:t>
            </a:r>
            <a:r>
              <a:rPr sz="2000" b="1" spc="3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b="1" spc="-25" dirty="0">
                <a:solidFill>
                  <a:srgbClr val="FF0000"/>
                </a:solidFill>
                <a:latin typeface="Cambria"/>
                <a:cs typeface="Cambria"/>
              </a:rPr>
              <a:t>Propagation</a:t>
            </a:r>
            <a:r>
              <a:rPr sz="2000" b="1" spc="1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b="1" spc="50" dirty="0">
                <a:solidFill>
                  <a:srgbClr val="FF0000"/>
                </a:solidFill>
                <a:latin typeface="Cambria"/>
                <a:cs typeface="Cambria"/>
              </a:rPr>
              <a:t>Model</a:t>
            </a:r>
            <a:endParaRPr sz="2000" dirty="0">
              <a:latin typeface="Cambria"/>
              <a:cs typeface="Cambria"/>
            </a:endParaRPr>
          </a:p>
          <a:p>
            <a:pPr marL="164465">
              <a:lnSpc>
                <a:spcPct val="100000"/>
              </a:lnSpc>
              <a:spcBef>
                <a:spcPts val="1645"/>
              </a:spcBef>
            </a:pP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alternative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form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Friis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equation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in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log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scale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is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given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by</a:t>
            </a:r>
          </a:p>
        </p:txBody>
      </p:sp>
      <p:sp>
        <p:nvSpPr>
          <p:cNvPr id="20" name="object 20"/>
          <p:cNvSpPr/>
          <p:nvPr/>
        </p:nvSpPr>
        <p:spPr>
          <a:xfrm>
            <a:off x="742949" y="5759450"/>
            <a:ext cx="6083300" cy="3416300"/>
          </a:xfrm>
          <a:custGeom>
            <a:avLst/>
            <a:gdLst/>
            <a:ahLst/>
            <a:cxnLst/>
            <a:rect l="l" t="t" r="r" b="b"/>
            <a:pathLst>
              <a:path w="6083300" h="3416300">
                <a:moveTo>
                  <a:pt x="0" y="0"/>
                </a:moveTo>
                <a:lnTo>
                  <a:pt x="6083300" y="0"/>
                </a:lnTo>
                <a:lnTo>
                  <a:pt x="6083300" y="3416300"/>
                </a:lnTo>
                <a:lnTo>
                  <a:pt x="0" y="341630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/>
          <p:cNvSpPr txBox="1">
            <a:spLocks noGrp="1"/>
          </p:cNvSpPr>
          <p:nvPr>
            <p:ph type="sldNum" sz="quarter" idx="4294967295"/>
          </p:nvPr>
        </p:nvSpPr>
        <p:spPr>
          <a:xfrm>
            <a:off x="7300913" y="9974263"/>
            <a:ext cx="255587" cy="227012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15</a:t>
            </a:fld>
            <a:endParaRPr dirty="0"/>
          </a:p>
        </p:txBody>
      </p:sp>
      <p:sp>
        <p:nvSpPr>
          <p:cNvPr id="8" name="object 8"/>
          <p:cNvSpPr txBox="1"/>
          <p:nvPr/>
        </p:nvSpPr>
        <p:spPr>
          <a:xfrm>
            <a:off x="837564" y="1789429"/>
            <a:ext cx="5995035" cy="2715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7325">
              <a:lnSpc>
                <a:spcPct val="100000"/>
              </a:lnSpc>
              <a:spcBef>
                <a:spcPts val="100"/>
              </a:spcBef>
            </a:pPr>
            <a:r>
              <a:rPr sz="2000" b="1" spc="-45" dirty="0">
                <a:solidFill>
                  <a:srgbClr val="FF0000"/>
                </a:solidFill>
                <a:latin typeface="Cambria"/>
                <a:cs typeface="Cambria"/>
              </a:rPr>
              <a:t>Free-space</a:t>
            </a:r>
            <a:r>
              <a:rPr sz="2000" b="1" spc="3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b="1" spc="-25" dirty="0">
                <a:solidFill>
                  <a:srgbClr val="FF0000"/>
                </a:solidFill>
                <a:latin typeface="Cambria"/>
                <a:cs typeface="Cambria"/>
              </a:rPr>
              <a:t>Propagation</a:t>
            </a:r>
            <a:r>
              <a:rPr sz="2000" b="1" spc="1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b="1" spc="50" dirty="0">
                <a:solidFill>
                  <a:srgbClr val="FF0000"/>
                </a:solidFill>
                <a:latin typeface="Cambria"/>
                <a:cs typeface="Cambria"/>
              </a:rPr>
              <a:t>Model</a:t>
            </a:r>
            <a:endParaRPr sz="2000" dirty="0">
              <a:latin typeface="Cambria"/>
              <a:cs typeface="Cambria"/>
            </a:endParaRPr>
          </a:p>
          <a:p>
            <a:pPr marL="187325" marR="363220">
              <a:lnSpc>
                <a:spcPct val="100699"/>
              </a:lnSpc>
              <a:spcBef>
                <a:spcPts val="1745"/>
              </a:spcBef>
            </a:pPr>
            <a:r>
              <a:rPr sz="1800" spc="-5" dirty="0">
                <a:latin typeface="Times New Roman"/>
                <a:cs typeface="Times New Roman"/>
              </a:rPr>
              <a:t>Example: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Consider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30" dirty="0">
                <a:latin typeface="Times New Roman"/>
                <a:cs typeface="Times New Roman"/>
              </a:rPr>
              <a:t>WiFi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transmission-reception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system 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operating </a:t>
            </a:r>
            <a:r>
              <a:rPr sz="1800" dirty="0">
                <a:latin typeface="Times New Roman"/>
                <a:cs typeface="Times New Roman"/>
              </a:rPr>
              <a:t>at </a:t>
            </a:r>
            <a:r>
              <a:rPr sz="1800" i="1" dirty="0">
                <a:latin typeface="Times New Roman"/>
                <a:cs typeface="Times New Roman"/>
              </a:rPr>
              <a:t>f </a:t>
            </a:r>
            <a:r>
              <a:rPr sz="1800" dirty="0">
                <a:latin typeface="Times New Roman"/>
                <a:cs typeface="Times New Roman"/>
              </a:rPr>
              <a:t>= </a:t>
            </a:r>
            <a:r>
              <a:rPr sz="1800" spc="15" dirty="0">
                <a:latin typeface="Times New Roman"/>
                <a:cs typeface="Times New Roman"/>
              </a:rPr>
              <a:t>2.4 </a:t>
            </a:r>
            <a:r>
              <a:rPr sz="1800" i="1" spc="-5" dirty="0">
                <a:latin typeface="Times New Roman"/>
                <a:cs typeface="Times New Roman"/>
              </a:rPr>
              <a:t>GHz </a:t>
            </a:r>
            <a:r>
              <a:rPr sz="1800" dirty="0">
                <a:latin typeface="Times New Roman"/>
                <a:cs typeface="Times New Roman"/>
              </a:rPr>
              <a:t>or </a:t>
            </a:r>
            <a:r>
              <a:rPr sz="1800" i="1" dirty="0">
                <a:latin typeface="Times New Roman"/>
                <a:cs typeface="Times New Roman"/>
              </a:rPr>
              <a:t>f </a:t>
            </a:r>
            <a:r>
              <a:rPr sz="1800" dirty="0">
                <a:latin typeface="Times New Roman"/>
                <a:cs typeface="Times New Roman"/>
              </a:rPr>
              <a:t>= 5 </a:t>
            </a:r>
            <a:r>
              <a:rPr sz="1800" i="1" spc="-5" dirty="0">
                <a:latin typeface="Times New Roman"/>
                <a:cs typeface="Times New Roman"/>
              </a:rPr>
              <a:t>GHz </a:t>
            </a:r>
            <a:r>
              <a:rPr sz="1800" dirty="0">
                <a:latin typeface="Times New Roman"/>
                <a:cs typeface="Times New Roman"/>
              </a:rPr>
              <a:t>band </a:t>
            </a:r>
            <a:r>
              <a:rPr sz="1800" spc="-5" dirty="0">
                <a:latin typeface="Times New Roman"/>
                <a:cs typeface="Times New Roman"/>
              </a:rPr>
              <a:t>with </a:t>
            </a:r>
            <a:r>
              <a:rPr sz="1800" dirty="0">
                <a:latin typeface="Times New Roman"/>
                <a:cs typeface="Times New Roman"/>
              </a:rPr>
              <a:t>0 </a:t>
            </a:r>
            <a:r>
              <a:rPr sz="1800" i="1" dirty="0">
                <a:latin typeface="Times New Roman"/>
                <a:cs typeface="Times New Roman"/>
              </a:rPr>
              <a:t>dBm </a:t>
            </a:r>
            <a:r>
              <a:rPr sz="1800" dirty="0">
                <a:latin typeface="Times New Roman"/>
                <a:cs typeface="Times New Roman"/>
              </a:rPr>
              <a:t>(1 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mW</a:t>
            </a:r>
            <a:r>
              <a:rPr sz="1800" dirty="0">
                <a:latin typeface="Times New Roman"/>
                <a:cs typeface="Times New Roman"/>
              </a:rPr>
              <a:t>)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output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power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from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the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Times New Roman"/>
                <a:cs typeface="Times New Roman"/>
              </a:rPr>
              <a:t>transmitter.</a:t>
            </a:r>
            <a:r>
              <a:rPr sz="1800" spc="-10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gain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the 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transmitter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antenna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is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1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dBi</a:t>
            </a:r>
            <a:r>
              <a:rPr sz="1800" i="1" spc="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that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receiving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antenna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is </a:t>
            </a:r>
            <a:r>
              <a:rPr sz="1800" spc="-43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1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dBi</a:t>
            </a:r>
            <a:r>
              <a:rPr sz="1800" dirty="0">
                <a:latin typeface="Times New Roman"/>
                <a:cs typeface="Times New Roman"/>
              </a:rPr>
              <a:t>.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It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is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assumed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that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there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is</a:t>
            </a:r>
            <a:r>
              <a:rPr sz="1800" spc="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no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system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loss,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therefore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L</a:t>
            </a:r>
            <a:endParaRPr sz="1800" dirty="0">
              <a:latin typeface="Times New Roman"/>
              <a:cs typeface="Times New Roman"/>
            </a:endParaRPr>
          </a:p>
          <a:p>
            <a:pPr marL="187325">
              <a:lnSpc>
                <a:spcPts val="2100"/>
              </a:lnSpc>
            </a:pPr>
            <a:r>
              <a:rPr sz="1800" dirty="0">
                <a:latin typeface="Times New Roman"/>
                <a:cs typeface="Times New Roman"/>
              </a:rPr>
              <a:t>=</a:t>
            </a:r>
            <a:r>
              <a:rPr sz="1800" spc="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1.</a:t>
            </a:r>
            <a:r>
              <a:rPr sz="1800" spc="-5" dirty="0">
                <a:latin typeface="Times New Roman"/>
                <a:cs typeface="Times New Roman"/>
              </a:rPr>
              <a:t> Plot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the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received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power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in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dBm</a:t>
            </a:r>
            <a:r>
              <a:rPr sz="1800" i="1" spc="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for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range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distance</a:t>
            </a:r>
            <a:endParaRPr sz="1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05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  <a:tabLst>
                <a:tab pos="5485765" algn="l"/>
              </a:tabLst>
            </a:pP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42949" y="1492249"/>
            <a:ext cx="6083300" cy="3416300"/>
          </a:xfrm>
          <a:custGeom>
            <a:avLst/>
            <a:gdLst/>
            <a:ahLst/>
            <a:cxnLst/>
            <a:rect l="l" t="t" r="r" b="b"/>
            <a:pathLst>
              <a:path w="6083300" h="3416300">
                <a:moveTo>
                  <a:pt x="0" y="0"/>
                </a:moveTo>
                <a:lnTo>
                  <a:pt x="6083300" y="0"/>
                </a:lnTo>
                <a:lnTo>
                  <a:pt x="6083300" y="3416300"/>
                </a:lnTo>
                <a:lnTo>
                  <a:pt x="0" y="341630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0" name="object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6227411"/>
              </p:ext>
            </p:extLst>
          </p:nvPr>
        </p:nvGraphicFramePr>
        <p:xfrm>
          <a:off x="736599" y="5803900"/>
          <a:ext cx="6083933" cy="3657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7960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79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13393">
                <a:tc gridSpan="2">
                  <a:txBody>
                    <a:bodyPr/>
                    <a:lstStyle/>
                    <a:p>
                      <a:pPr marL="92075" algn="ctr">
                        <a:lnSpc>
                          <a:spcPct val="100000"/>
                        </a:lnSpc>
                        <a:spcBef>
                          <a:spcPts val="830"/>
                        </a:spcBef>
                      </a:pPr>
                      <a:r>
                        <a:rPr sz="2700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U</a:t>
                      </a:r>
                      <a:r>
                        <a:rPr sz="2700" spc="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niv</a:t>
                      </a:r>
                      <a:r>
                        <a:rPr sz="27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er</a:t>
                      </a:r>
                      <a:r>
                        <a:rPr sz="2700" spc="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sit</a:t>
                      </a:r>
                      <a:r>
                        <a:rPr sz="27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sz="2700" spc="-229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00" spc="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27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sz="2700" spc="-7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00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27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ar</a:t>
                      </a:r>
                      <a:r>
                        <a:rPr sz="2700" spc="2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es</a:t>
                      </a:r>
                      <a:r>
                        <a:rPr sz="2700" spc="7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00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7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700" spc="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l</a:t>
                      </a:r>
                      <a:r>
                        <a:rPr sz="27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aam</a:t>
                      </a:r>
                      <a:endParaRPr sz="2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054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442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1950">
                        <a:latin typeface="Times New Roman"/>
                        <a:cs typeface="Times New Roman"/>
                      </a:endParaRPr>
                    </a:p>
                    <a:p>
                      <a:pPr marL="219710">
                        <a:lnSpc>
                          <a:spcPct val="100000"/>
                        </a:lnSpc>
                      </a:pPr>
                      <a:r>
                        <a:rPr sz="1600" b="1" spc="-15" dirty="0">
                          <a:solidFill>
                            <a:srgbClr val="FF0000"/>
                          </a:solidFill>
                          <a:latin typeface="Cambria"/>
                          <a:cs typeface="Cambria"/>
                        </a:rPr>
                        <a:t>Plot</a:t>
                      </a:r>
                      <a:r>
                        <a:rPr sz="1600" b="1" spc="-5" dirty="0">
                          <a:solidFill>
                            <a:srgbClr val="FF00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600" b="1" spc="40" dirty="0">
                          <a:solidFill>
                            <a:srgbClr val="FF0000"/>
                          </a:solidFill>
                          <a:latin typeface="Cambria"/>
                          <a:cs typeface="Cambria"/>
                        </a:rPr>
                        <a:t>of</a:t>
                      </a:r>
                      <a:r>
                        <a:rPr sz="1600" b="1" spc="15" dirty="0">
                          <a:solidFill>
                            <a:srgbClr val="FF00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600" b="1" spc="-45" dirty="0">
                          <a:solidFill>
                            <a:srgbClr val="FF0000"/>
                          </a:solidFill>
                          <a:latin typeface="Cambria"/>
                          <a:cs typeface="Cambria"/>
                        </a:rPr>
                        <a:t>Pr(dBi)</a:t>
                      </a:r>
                      <a:r>
                        <a:rPr sz="1600" b="1" spc="100" dirty="0">
                          <a:solidFill>
                            <a:srgbClr val="FF00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600" b="1" spc="-25" dirty="0">
                          <a:solidFill>
                            <a:srgbClr val="FF0000"/>
                          </a:solidFill>
                          <a:latin typeface="Cambria"/>
                          <a:cs typeface="Cambria"/>
                        </a:rPr>
                        <a:t>=f(d)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3175" marB="0">
                    <a:lnL w="1270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7270">
                <a:tc>
                  <a:txBody>
                    <a:bodyPr/>
                    <a:lstStyle/>
                    <a:p>
                      <a:pPr marL="219710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1600" spc="-10" dirty="0">
                          <a:latin typeface="Palatino Linotype"/>
                          <a:cs typeface="Palatino Linotype"/>
                        </a:rPr>
                        <a:t>Using </a:t>
                      </a:r>
                      <a:r>
                        <a:rPr sz="1600" dirty="0">
                          <a:latin typeface="Palatino Linotype"/>
                          <a:cs typeface="Palatino Linotype"/>
                        </a:rPr>
                        <a:t>Free-space</a:t>
                      </a:r>
                      <a:endParaRPr sz="1600">
                        <a:latin typeface="Palatino Linotype"/>
                        <a:cs typeface="Palatino Linotype"/>
                      </a:endParaRPr>
                    </a:p>
                  </a:txBody>
                  <a:tcPr marL="0" marR="0" marT="102870" marB="0">
                    <a:lnL w="1270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39760">
                <a:tc>
                  <a:txBody>
                    <a:bodyPr/>
                    <a:lstStyle/>
                    <a:p>
                      <a:pPr marL="219710">
                        <a:lnSpc>
                          <a:spcPts val="1785"/>
                        </a:lnSpc>
                      </a:pPr>
                      <a:r>
                        <a:rPr sz="1600" spc="30" dirty="0">
                          <a:latin typeface="Palatino Linotype"/>
                          <a:cs typeface="Palatino Linotype"/>
                        </a:rPr>
                        <a:t>P</a:t>
                      </a:r>
                      <a:r>
                        <a:rPr sz="1600" spc="-35" dirty="0">
                          <a:latin typeface="Palatino Linotype"/>
                          <a:cs typeface="Palatino Linotype"/>
                        </a:rPr>
                        <a:t>r</a:t>
                      </a:r>
                      <a:r>
                        <a:rPr sz="1600" spc="25" dirty="0">
                          <a:latin typeface="Palatino Linotype"/>
                          <a:cs typeface="Palatino Linotype"/>
                        </a:rPr>
                        <a:t>o</a:t>
                      </a:r>
                      <a:r>
                        <a:rPr sz="1600" spc="35" dirty="0">
                          <a:latin typeface="Palatino Linotype"/>
                          <a:cs typeface="Palatino Linotype"/>
                        </a:rPr>
                        <a:t>p</a:t>
                      </a:r>
                      <a:r>
                        <a:rPr sz="1600" dirty="0">
                          <a:latin typeface="Palatino Linotype"/>
                          <a:cs typeface="Palatino Linotype"/>
                        </a:rPr>
                        <a:t>a</a:t>
                      </a:r>
                      <a:r>
                        <a:rPr sz="1600" spc="10" dirty="0">
                          <a:latin typeface="Palatino Linotype"/>
                          <a:cs typeface="Palatino Linotype"/>
                        </a:rPr>
                        <a:t>g</a:t>
                      </a:r>
                      <a:r>
                        <a:rPr sz="1600" dirty="0">
                          <a:latin typeface="Palatino Linotype"/>
                          <a:cs typeface="Palatino Linotype"/>
                        </a:rPr>
                        <a:t>a</a:t>
                      </a:r>
                      <a:r>
                        <a:rPr sz="1600" spc="-25" dirty="0">
                          <a:latin typeface="Palatino Linotype"/>
                          <a:cs typeface="Palatino Linotype"/>
                        </a:rPr>
                        <a:t>t</a:t>
                      </a:r>
                      <a:r>
                        <a:rPr sz="1600" spc="30" dirty="0">
                          <a:latin typeface="Palatino Linotype"/>
                          <a:cs typeface="Palatino Linotype"/>
                        </a:rPr>
                        <a:t>i</a:t>
                      </a:r>
                      <a:r>
                        <a:rPr sz="1600" spc="25" dirty="0">
                          <a:latin typeface="Palatino Linotype"/>
                          <a:cs typeface="Palatino Linotype"/>
                        </a:rPr>
                        <a:t>o</a:t>
                      </a:r>
                      <a:r>
                        <a:rPr sz="1600" dirty="0">
                          <a:latin typeface="Palatino Linotype"/>
                          <a:cs typeface="Palatino Linotype"/>
                        </a:rPr>
                        <a:t>n</a:t>
                      </a:r>
                      <a:r>
                        <a:rPr sz="1600" spc="-135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1600" spc="-15" dirty="0">
                          <a:latin typeface="Palatino Linotype"/>
                          <a:cs typeface="Palatino Linotype"/>
                        </a:rPr>
                        <a:t>m</a:t>
                      </a:r>
                      <a:r>
                        <a:rPr sz="1600" spc="25" dirty="0">
                          <a:latin typeface="Palatino Linotype"/>
                          <a:cs typeface="Palatino Linotype"/>
                        </a:rPr>
                        <a:t>o</a:t>
                      </a:r>
                      <a:r>
                        <a:rPr sz="1600" spc="20" dirty="0">
                          <a:latin typeface="Palatino Linotype"/>
                          <a:cs typeface="Palatino Linotype"/>
                        </a:rPr>
                        <a:t>d</a:t>
                      </a:r>
                      <a:r>
                        <a:rPr sz="1600" spc="30" dirty="0">
                          <a:latin typeface="Palatino Linotype"/>
                          <a:cs typeface="Palatino Linotype"/>
                        </a:rPr>
                        <a:t>e</a:t>
                      </a:r>
                      <a:r>
                        <a:rPr sz="1600" dirty="0">
                          <a:latin typeface="Palatino Linotype"/>
                          <a:cs typeface="Palatino Linotype"/>
                        </a:rPr>
                        <a:t>l</a:t>
                      </a:r>
                      <a:endParaRPr sz="1600">
                        <a:latin typeface="Palatino Linotype"/>
                        <a:cs typeface="Palatino Linotype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027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  <a:p>
                      <a:pPr marR="53975" algn="r">
                        <a:lnSpc>
                          <a:spcPts val="1675"/>
                        </a:lnSpc>
                        <a:spcBef>
                          <a:spcPts val="5"/>
                        </a:spcBef>
                      </a:pP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5" name="object 1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11500" y="6502400"/>
            <a:ext cx="2933700" cy="24257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54011" y="455423"/>
            <a:ext cx="508634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40" dirty="0">
                <a:latin typeface="Calibri"/>
                <a:cs typeface="Calibri"/>
              </a:rPr>
              <a:t>8</a:t>
            </a:r>
            <a:r>
              <a:rPr sz="1300" spc="-5" dirty="0">
                <a:latin typeface="Calibri"/>
                <a:cs typeface="Calibri"/>
              </a:rPr>
              <a:t>/</a:t>
            </a:r>
            <a:r>
              <a:rPr sz="1300" spc="40" dirty="0">
                <a:latin typeface="Calibri"/>
                <a:cs typeface="Calibri"/>
              </a:rPr>
              <a:t>5</a:t>
            </a:r>
            <a:r>
              <a:rPr sz="1300" spc="-5" dirty="0">
                <a:latin typeface="Calibri"/>
                <a:cs typeface="Calibri"/>
              </a:rPr>
              <a:t>/</a:t>
            </a:r>
            <a:r>
              <a:rPr sz="1300" spc="40" dirty="0">
                <a:latin typeface="Calibri"/>
                <a:cs typeface="Calibri"/>
              </a:rPr>
              <a:t>20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4294967295"/>
          </p:nvPr>
        </p:nvSpPr>
        <p:spPr>
          <a:xfrm>
            <a:off x="7300913" y="9974263"/>
            <a:ext cx="255587" cy="227012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16</a:t>
            </a:fld>
            <a:endParaRPr dirty="0"/>
          </a:p>
        </p:txBody>
      </p:sp>
      <p:sp>
        <p:nvSpPr>
          <p:cNvPr id="8" name="object 8"/>
          <p:cNvSpPr txBox="1"/>
          <p:nvPr/>
        </p:nvSpPr>
        <p:spPr>
          <a:xfrm>
            <a:off x="787081" y="1822147"/>
            <a:ext cx="5995035" cy="2863215"/>
          </a:xfrm>
          <a:prstGeom prst="rect">
            <a:avLst/>
          </a:prstGeom>
        </p:spPr>
        <p:txBody>
          <a:bodyPr vert="horz" wrap="square" lIns="0" tIns="146685" rIns="0" bIns="0" rtlCol="0">
            <a:spAutoFit/>
          </a:bodyPr>
          <a:lstStyle/>
          <a:p>
            <a:pPr marL="123189">
              <a:lnSpc>
                <a:spcPct val="100000"/>
              </a:lnSpc>
              <a:spcBef>
                <a:spcPts val="1155"/>
              </a:spcBef>
            </a:pPr>
            <a:r>
              <a:rPr sz="1600" b="1" spc="20" dirty="0">
                <a:solidFill>
                  <a:srgbClr val="FF0000"/>
                </a:solidFill>
                <a:latin typeface="Cambria"/>
                <a:cs typeface="Cambria"/>
              </a:rPr>
              <a:t>Two</a:t>
            </a:r>
            <a:r>
              <a:rPr sz="1600" b="1" spc="5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600" b="1" spc="40" dirty="0">
                <a:solidFill>
                  <a:srgbClr val="FF0000"/>
                </a:solidFill>
                <a:latin typeface="Cambria"/>
                <a:cs typeface="Cambria"/>
              </a:rPr>
              <a:t>Ray</a:t>
            </a:r>
            <a:r>
              <a:rPr sz="1600" b="1" spc="-5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600" b="1" spc="30" dirty="0">
                <a:solidFill>
                  <a:srgbClr val="FF0000"/>
                </a:solidFill>
                <a:latin typeface="Cambria"/>
                <a:cs typeface="Cambria"/>
              </a:rPr>
              <a:t>Ground</a:t>
            </a:r>
            <a:r>
              <a:rPr sz="1600" b="1" spc="7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600" b="1" spc="-5" dirty="0">
                <a:solidFill>
                  <a:srgbClr val="FF0000"/>
                </a:solidFill>
                <a:latin typeface="Cambria"/>
                <a:cs typeface="Cambria"/>
              </a:rPr>
              <a:t>Reflection</a:t>
            </a:r>
            <a:r>
              <a:rPr sz="1600" b="1" spc="16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600" b="1" spc="50" dirty="0">
                <a:solidFill>
                  <a:srgbClr val="FF0000"/>
                </a:solidFill>
                <a:latin typeface="Cambria"/>
                <a:cs typeface="Cambria"/>
              </a:rPr>
              <a:t>Model</a:t>
            </a:r>
            <a:endParaRPr sz="1600" dirty="0">
              <a:latin typeface="Cambria"/>
              <a:cs typeface="Cambria"/>
            </a:endParaRPr>
          </a:p>
          <a:p>
            <a:pPr marL="415290" marR="287655" indent="-292100">
              <a:lnSpc>
                <a:spcPct val="101899"/>
              </a:lnSpc>
              <a:spcBef>
                <a:spcPts val="1145"/>
              </a:spcBef>
              <a:buFont typeface="Wingdings"/>
              <a:buChar char=""/>
              <a:tabLst>
                <a:tab pos="415925" algn="l"/>
              </a:tabLst>
            </a:pPr>
            <a:r>
              <a:rPr sz="1800" spc="-5" dirty="0">
                <a:latin typeface="Times New Roman"/>
                <a:cs typeface="Times New Roman"/>
              </a:rPr>
              <a:t>Friis</a:t>
            </a:r>
            <a:r>
              <a:rPr sz="1800" spc="6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propagation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model</a:t>
            </a:r>
            <a:r>
              <a:rPr sz="1800" spc="6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considers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the</a:t>
            </a:r>
            <a:r>
              <a:rPr sz="1800" spc="6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line-of-sight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(LOS) </a:t>
            </a:r>
            <a:r>
              <a:rPr sz="1800" spc="-434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path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between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the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transmitter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the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Times New Roman"/>
                <a:cs typeface="Times New Roman"/>
              </a:rPr>
              <a:t>receiver.</a:t>
            </a:r>
            <a:endParaRPr sz="1800" dirty="0">
              <a:latin typeface="Times New Roman"/>
              <a:cs typeface="Times New Roman"/>
            </a:endParaRPr>
          </a:p>
          <a:p>
            <a:pPr marL="415290" marR="720090" indent="-292100">
              <a:lnSpc>
                <a:spcPct val="99500"/>
              </a:lnSpc>
              <a:spcBef>
                <a:spcPts val="50"/>
              </a:spcBef>
              <a:buFont typeface="Wingdings"/>
              <a:buChar char=""/>
              <a:tabLst>
                <a:tab pos="415925" algn="l"/>
              </a:tabLst>
            </a:pP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expression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for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the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received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power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becomes 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complicated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if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the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effect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reflections</a:t>
            </a:r>
            <a:r>
              <a:rPr sz="1800" spc="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from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the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earth </a:t>
            </a:r>
            <a:r>
              <a:rPr sz="1800" spc="-434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surface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has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to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be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incorporated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in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the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modeling.</a:t>
            </a:r>
            <a:endParaRPr sz="1800" dirty="0">
              <a:latin typeface="Times New Roman"/>
              <a:cs typeface="Times New Roman"/>
            </a:endParaRPr>
          </a:p>
          <a:p>
            <a:pPr marL="415290" indent="-292735">
              <a:lnSpc>
                <a:spcPts val="2100"/>
              </a:lnSpc>
              <a:buFont typeface="Wingdings"/>
              <a:buChar char=""/>
              <a:tabLst>
                <a:tab pos="415925" algn="l"/>
              </a:tabLst>
            </a:pPr>
            <a:r>
              <a:rPr sz="1800" dirty="0">
                <a:latin typeface="Times New Roman"/>
                <a:cs typeface="Times New Roman"/>
              </a:rPr>
              <a:t>In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addition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to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the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line-of-sight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path,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single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reflected</a:t>
            </a:r>
            <a:endParaRPr sz="1800" dirty="0">
              <a:latin typeface="Times New Roman"/>
              <a:cs typeface="Times New Roman"/>
            </a:endParaRPr>
          </a:p>
          <a:p>
            <a:pPr marL="415290">
              <a:lnSpc>
                <a:spcPct val="100000"/>
              </a:lnSpc>
              <a:spcBef>
                <a:spcPts val="40"/>
              </a:spcBef>
            </a:pPr>
            <a:r>
              <a:rPr sz="1800" spc="-5" dirty="0">
                <a:latin typeface="Times New Roman"/>
                <a:cs typeface="Times New Roman"/>
              </a:rPr>
              <a:t>path</a:t>
            </a:r>
            <a:r>
              <a:rPr sz="1800" spc="4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is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added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in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the</a:t>
            </a:r>
            <a:r>
              <a:rPr sz="1800" spc="45" dirty="0">
                <a:latin typeface="Times New Roman"/>
                <a:cs typeface="Times New Roman"/>
              </a:rPr>
              <a:t> </a:t>
            </a:r>
            <a:r>
              <a:rPr sz="1800" i="1" spc="-5" dirty="0">
                <a:latin typeface="Times New Roman"/>
                <a:cs typeface="Times New Roman"/>
              </a:rPr>
              <a:t>two-ray</a:t>
            </a:r>
            <a:r>
              <a:rPr sz="1800" i="1" spc="-50" dirty="0">
                <a:latin typeface="Times New Roman"/>
                <a:cs typeface="Times New Roman"/>
              </a:rPr>
              <a:t> </a:t>
            </a:r>
            <a:r>
              <a:rPr sz="1800" i="1" spc="-20" dirty="0">
                <a:latin typeface="Times New Roman"/>
                <a:cs typeface="Times New Roman"/>
              </a:rPr>
              <a:t>ground</a:t>
            </a:r>
            <a:r>
              <a:rPr sz="1800" i="1" spc="50" dirty="0">
                <a:latin typeface="Times New Roman"/>
                <a:cs typeface="Times New Roman"/>
              </a:rPr>
              <a:t> </a:t>
            </a:r>
            <a:r>
              <a:rPr sz="1800" i="1" spc="-15" dirty="0">
                <a:latin typeface="Times New Roman"/>
                <a:cs typeface="Times New Roman"/>
              </a:rPr>
              <a:t>reflection</a:t>
            </a:r>
            <a:r>
              <a:rPr sz="1800" i="1" spc="50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model</a:t>
            </a:r>
            <a:endParaRPr sz="1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40"/>
              </a:spcBef>
              <a:tabLst>
                <a:tab pos="5485765" algn="l"/>
              </a:tabLst>
            </a:pP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42949" y="1492249"/>
            <a:ext cx="6083300" cy="3416300"/>
          </a:xfrm>
          <a:custGeom>
            <a:avLst/>
            <a:gdLst/>
            <a:ahLst/>
            <a:cxnLst/>
            <a:rect l="l" t="t" r="r" b="b"/>
            <a:pathLst>
              <a:path w="6083300" h="3416300">
                <a:moveTo>
                  <a:pt x="0" y="0"/>
                </a:moveTo>
                <a:lnTo>
                  <a:pt x="6083300" y="0"/>
                </a:lnTo>
                <a:lnTo>
                  <a:pt x="6083300" y="3416300"/>
                </a:lnTo>
                <a:lnTo>
                  <a:pt x="0" y="341630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749299" y="5852587"/>
            <a:ext cx="607060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2075" algn="ctr">
              <a:lnSpc>
                <a:spcPct val="100000"/>
              </a:lnSpc>
              <a:spcBef>
                <a:spcPts val="100"/>
              </a:spcBef>
            </a:pPr>
            <a:r>
              <a:rPr sz="2700" spc="-50" dirty="0">
                <a:solidFill>
                  <a:srgbClr val="FFFFFF"/>
                </a:solidFill>
                <a:latin typeface="Times New Roman"/>
                <a:cs typeface="Times New Roman"/>
              </a:rPr>
              <a:t>U</a:t>
            </a:r>
            <a:r>
              <a:rPr sz="2700" spc="50" dirty="0">
                <a:solidFill>
                  <a:srgbClr val="FFFFFF"/>
                </a:solidFill>
                <a:latin typeface="Times New Roman"/>
                <a:cs typeface="Times New Roman"/>
              </a:rPr>
              <a:t>niv</a:t>
            </a:r>
            <a:r>
              <a:rPr sz="2700" dirty="0">
                <a:solidFill>
                  <a:srgbClr val="FFFFFF"/>
                </a:solidFill>
                <a:latin typeface="Times New Roman"/>
                <a:cs typeface="Times New Roman"/>
              </a:rPr>
              <a:t>er</a:t>
            </a:r>
            <a:r>
              <a:rPr sz="2700" spc="50" dirty="0">
                <a:solidFill>
                  <a:srgbClr val="FFFFFF"/>
                </a:solidFill>
                <a:latin typeface="Times New Roman"/>
                <a:cs typeface="Times New Roman"/>
              </a:rPr>
              <a:t>sit</a:t>
            </a:r>
            <a:r>
              <a:rPr sz="2700" dirty="0">
                <a:solidFill>
                  <a:srgbClr val="FFFFFF"/>
                </a:solidFill>
                <a:latin typeface="Times New Roman"/>
                <a:cs typeface="Times New Roman"/>
              </a:rPr>
              <a:t>y</a:t>
            </a:r>
            <a:r>
              <a:rPr sz="2700" spc="-229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700" spc="50" dirty="0">
                <a:solidFill>
                  <a:srgbClr val="FFFFFF"/>
                </a:solidFill>
                <a:latin typeface="Times New Roman"/>
                <a:cs typeface="Times New Roman"/>
              </a:rPr>
              <a:t>o</a:t>
            </a:r>
            <a:r>
              <a:rPr sz="2700" dirty="0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r>
              <a:rPr sz="27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700" spc="-50" dirty="0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sz="2700" dirty="0">
                <a:solidFill>
                  <a:srgbClr val="FFFFFF"/>
                </a:solidFill>
                <a:latin typeface="Times New Roman"/>
                <a:cs typeface="Times New Roman"/>
              </a:rPr>
              <a:t>ar</a:t>
            </a:r>
            <a:r>
              <a:rPr sz="2700"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700" dirty="0">
                <a:solidFill>
                  <a:srgbClr val="FFFFFF"/>
                </a:solidFill>
                <a:latin typeface="Times New Roman"/>
                <a:cs typeface="Times New Roman"/>
              </a:rPr>
              <a:t>es</a:t>
            </a:r>
            <a:r>
              <a:rPr sz="2700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700" spc="-5" dirty="0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sz="27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700" spc="50" dirty="0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sz="2700" dirty="0">
                <a:solidFill>
                  <a:srgbClr val="FFFFFF"/>
                </a:solidFill>
                <a:latin typeface="Times New Roman"/>
                <a:cs typeface="Times New Roman"/>
              </a:rPr>
              <a:t>aam</a:t>
            </a:r>
            <a:endParaRPr sz="27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05794" y="6446907"/>
            <a:ext cx="330644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600" b="1" spc="20" dirty="0">
                <a:solidFill>
                  <a:srgbClr val="FF0000"/>
                </a:solidFill>
                <a:latin typeface="Cambria"/>
                <a:cs typeface="Cambria"/>
              </a:rPr>
              <a:t>Two</a:t>
            </a:r>
            <a:r>
              <a:rPr sz="1600" b="1" spc="5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600" b="1" spc="40" dirty="0">
                <a:solidFill>
                  <a:srgbClr val="FF0000"/>
                </a:solidFill>
                <a:latin typeface="Cambria"/>
                <a:cs typeface="Cambria"/>
              </a:rPr>
              <a:t>Ray</a:t>
            </a:r>
            <a:r>
              <a:rPr sz="1600" b="1" spc="-5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600" b="1" spc="30" dirty="0">
                <a:solidFill>
                  <a:srgbClr val="FF0000"/>
                </a:solidFill>
                <a:latin typeface="Cambria"/>
                <a:cs typeface="Cambria"/>
              </a:rPr>
              <a:t>Ground</a:t>
            </a:r>
            <a:r>
              <a:rPr sz="1600" b="1" spc="6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600" b="1" spc="-5" dirty="0">
                <a:solidFill>
                  <a:srgbClr val="FF0000"/>
                </a:solidFill>
                <a:latin typeface="Cambria"/>
                <a:cs typeface="Cambria"/>
              </a:rPr>
              <a:t>Reflection</a:t>
            </a:r>
            <a:r>
              <a:rPr sz="1600" b="1" spc="16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600" b="1" spc="50" dirty="0">
                <a:solidFill>
                  <a:srgbClr val="FF0000"/>
                </a:solidFill>
                <a:latin typeface="Cambria"/>
                <a:cs typeface="Cambria"/>
              </a:rPr>
              <a:t>Model</a:t>
            </a:r>
            <a:endParaRPr sz="1600">
              <a:latin typeface="Cambria"/>
              <a:cs typeface="Cambria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736599" y="5753100"/>
            <a:ext cx="6096000" cy="3429000"/>
            <a:chOff x="736599" y="5753100"/>
            <a:chExt cx="6096000" cy="3429000"/>
          </a:xfrm>
        </p:grpSpPr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21231" y="6982460"/>
              <a:ext cx="4974336" cy="1773381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742949" y="5759450"/>
              <a:ext cx="6083300" cy="3416300"/>
            </a:xfrm>
            <a:custGeom>
              <a:avLst/>
              <a:gdLst/>
              <a:ahLst/>
              <a:cxnLst/>
              <a:rect l="l" t="t" r="r" b="b"/>
              <a:pathLst>
                <a:path w="6083300" h="3416300">
                  <a:moveTo>
                    <a:pt x="0" y="0"/>
                  </a:moveTo>
                  <a:lnTo>
                    <a:pt x="6083300" y="0"/>
                  </a:lnTo>
                  <a:lnTo>
                    <a:pt x="6083300" y="3416300"/>
                  </a:lnTo>
                  <a:lnTo>
                    <a:pt x="0" y="34163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54011" y="455423"/>
            <a:ext cx="508634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40" dirty="0">
                <a:latin typeface="Calibri"/>
                <a:cs typeface="Calibri"/>
              </a:rPr>
              <a:t>8</a:t>
            </a:r>
            <a:r>
              <a:rPr sz="1300" spc="-5" dirty="0">
                <a:latin typeface="Calibri"/>
                <a:cs typeface="Calibri"/>
              </a:rPr>
              <a:t>/</a:t>
            </a:r>
            <a:r>
              <a:rPr sz="1300" spc="40" dirty="0">
                <a:latin typeface="Calibri"/>
                <a:cs typeface="Calibri"/>
              </a:rPr>
              <a:t>5</a:t>
            </a:r>
            <a:r>
              <a:rPr sz="1300" spc="-5" dirty="0">
                <a:latin typeface="Calibri"/>
                <a:cs typeface="Calibri"/>
              </a:rPr>
              <a:t>/</a:t>
            </a:r>
            <a:r>
              <a:rPr sz="1300" spc="40" dirty="0">
                <a:latin typeface="Calibri"/>
                <a:cs typeface="Calibri"/>
              </a:rPr>
              <a:t>20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4294967295"/>
          </p:nvPr>
        </p:nvSpPr>
        <p:spPr>
          <a:xfrm>
            <a:off x="7300913" y="9974263"/>
            <a:ext cx="255587" cy="227012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17</a:t>
            </a:fld>
            <a:endParaRPr dirty="0"/>
          </a:p>
        </p:txBody>
      </p:sp>
      <p:sp>
        <p:nvSpPr>
          <p:cNvPr id="8" name="object 8"/>
          <p:cNvSpPr txBox="1"/>
          <p:nvPr/>
        </p:nvSpPr>
        <p:spPr>
          <a:xfrm>
            <a:off x="736599" y="1614258"/>
            <a:ext cx="6045835" cy="2871470"/>
          </a:xfrm>
          <a:prstGeom prst="rect">
            <a:avLst/>
          </a:prstGeom>
        </p:spPr>
        <p:txBody>
          <a:bodyPr vert="horz" wrap="square" lIns="0" tIns="154305" rIns="0" bIns="0" rtlCol="0">
            <a:spAutoFit/>
          </a:bodyPr>
          <a:lstStyle/>
          <a:p>
            <a:pPr marL="148590">
              <a:lnSpc>
                <a:spcPct val="100000"/>
              </a:lnSpc>
              <a:spcBef>
                <a:spcPts val="1215"/>
              </a:spcBef>
            </a:pPr>
            <a:r>
              <a:rPr sz="1600" b="1" spc="20" dirty="0">
                <a:solidFill>
                  <a:srgbClr val="FF0000"/>
                </a:solidFill>
                <a:latin typeface="Cambria"/>
                <a:cs typeface="Cambria"/>
              </a:rPr>
              <a:t>Two</a:t>
            </a:r>
            <a:r>
              <a:rPr sz="1600" b="1" spc="5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600" b="1" spc="40" dirty="0">
                <a:solidFill>
                  <a:srgbClr val="FF0000"/>
                </a:solidFill>
                <a:latin typeface="Cambria"/>
                <a:cs typeface="Cambria"/>
              </a:rPr>
              <a:t>Ray</a:t>
            </a:r>
            <a:r>
              <a:rPr sz="1600" b="1" spc="-5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600" b="1" spc="30" dirty="0">
                <a:solidFill>
                  <a:srgbClr val="FF0000"/>
                </a:solidFill>
                <a:latin typeface="Cambria"/>
                <a:cs typeface="Cambria"/>
              </a:rPr>
              <a:t>Ground</a:t>
            </a:r>
            <a:r>
              <a:rPr sz="1600" b="1" spc="7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600" b="1" spc="-5" dirty="0">
                <a:solidFill>
                  <a:srgbClr val="FF0000"/>
                </a:solidFill>
                <a:latin typeface="Cambria"/>
                <a:cs typeface="Cambria"/>
              </a:rPr>
              <a:t>Reflection</a:t>
            </a:r>
            <a:r>
              <a:rPr sz="1600" b="1" spc="16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600" b="1" spc="50" dirty="0">
                <a:solidFill>
                  <a:srgbClr val="FF0000"/>
                </a:solidFill>
                <a:latin typeface="Cambria"/>
                <a:cs typeface="Cambria"/>
              </a:rPr>
              <a:t>Model</a:t>
            </a:r>
            <a:endParaRPr sz="1600" dirty="0">
              <a:latin typeface="Cambria"/>
              <a:cs typeface="Cambria"/>
            </a:endParaRPr>
          </a:p>
          <a:p>
            <a:pPr marL="512445" marR="287020" indent="-292100">
              <a:lnSpc>
                <a:spcPct val="102899"/>
              </a:lnSpc>
              <a:spcBef>
                <a:spcPts val="1130"/>
              </a:spcBef>
              <a:buFont typeface="Wingdings"/>
              <a:buChar char=""/>
              <a:tabLst>
                <a:tab pos="513080" algn="l"/>
              </a:tabLst>
            </a:pPr>
            <a:r>
              <a:rPr sz="1700" spc="5" dirty="0">
                <a:latin typeface="Times New Roman"/>
                <a:cs typeface="Times New Roman"/>
              </a:rPr>
              <a:t>This </a:t>
            </a:r>
            <a:r>
              <a:rPr sz="1700" spc="20" dirty="0">
                <a:latin typeface="Times New Roman"/>
                <a:cs typeface="Times New Roman"/>
              </a:rPr>
              <a:t>model</a:t>
            </a:r>
            <a:r>
              <a:rPr sz="1700" spc="-100" dirty="0">
                <a:latin typeface="Times New Roman"/>
                <a:cs typeface="Times New Roman"/>
              </a:rPr>
              <a:t> </a:t>
            </a:r>
            <a:r>
              <a:rPr sz="1700" spc="30" dirty="0">
                <a:latin typeface="Times New Roman"/>
                <a:cs typeface="Times New Roman"/>
              </a:rPr>
              <a:t>takes</a:t>
            </a:r>
            <a:r>
              <a:rPr sz="1700" spc="-90" dirty="0">
                <a:latin typeface="Times New Roman"/>
                <a:cs typeface="Times New Roman"/>
              </a:rPr>
              <a:t> </a:t>
            </a:r>
            <a:r>
              <a:rPr sz="1700" spc="20" dirty="0">
                <a:latin typeface="Times New Roman"/>
                <a:cs typeface="Times New Roman"/>
              </a:rPr>
              <a:t>into</a:t>
            </a:r>
            <a:r>
              <a:rPr sz="1700" spc="-80" dirty="0">
                <a:latin typeface="Times New Roman"/>
                <a:cs typeface="Times New Roman"/>
              </a:rPr>
              <a:t> </a:t>
            </a:r>
            <a:r>
              <a:rPr sz="1700" spc="20" dirty="0">
                <a:latin typeface="Times New Roman"/>
                <a:cs typeface="Times New Roman"/>
              </a:rPr>
              <a:t>account</a:t>
            </a:r>
            <a:r>
              <a:rPr sz="1700" spc="-100" dirty="0">
                <a:latin typeface="Times New Roman"/>
                <a:cs typeface="Times New Roman"/>
              </a:rPr>
              <a:t> </a:t>
            </a:r>
            <a:r>
              <a:rPr sz="1700" spc="20" dirty="0">
                <a:latin typeface="Times New Roman"/>
                <a:cs typeface="Times New Roman"/>
              </a:rPr>
              <a:t>the</a:t>
            </a:r>
            <a:r>
              <a:rPr sz="1700" spc="-8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phenomenon</a:t>
            </a:r>
            <a:r>
              <a:rPr sz="1700" spc="-80" dirty="0">
                <a:latin typeface="Times New Roman"/>
                <a:cs typeface="Times New Roman"/>
              </a:rPr>
              <a:t> </a:t>
            </a:r>
            <a:r>
              <a:rPr sz="1700" spc="20" dirty="0">
                <a:latin typeface="Times New Roman"/>
                <a:cs typeface="Times New Roman"/>
              </a:rPr>
              <a:t>of</a:t>
            </a:r>
            <a:r>
              <a:rPr sz="1700" spc="-95" dirty="0">
                <a:latin typeface="Times New Roman"/>
                <a:cs typeface="Times New Roman"/>
              </a:rPr>
              <a:t> </a:t>
            </a:r>
            <a:r>
              <a:rPr sz="1700" spc="10" dirty="0">
                <a:latin typeface="Times New Roman"/>
                <a:cs typeface="Times New Roman"/>
              </a:rPr>
              <a:t>reflection </a:t>
            </a:r>
            <a:r>
              <a:rPr sz="1700" spc="-409" dirty="0">
                <a:latin typeface="Times New Roman"/>
                <a:cs typeface="Times New Roman"/>
              </a:rPr>
              <a:t> </a:t>
            </a:r>
            <a:r>
              <a:rPr sz="1700" spc="30" dirty="0">
                <a:latin typeface="Times New Roman"/>
                <a:cs typeface="Times New Roman"/>
              </a:rPr>
              <a:t>fr</a:t>
            </a:r>
            <a:r>
              <a:rPr sz="1700" spc="50" dirty="0">
                <a:latin typeface="Times New Roman"/>
                <a:cs typeface="Times New Roman"/>
              </a:rPr>
              <a:t>o</a:t>
            </a:r>
            <a:r>
              <a:rPr sz="1700" dirty="0">
                <a:latin typeface="Times New Roman"/>
                <a:cs typeface="Times New Roman"/>
              </a:rPr>
              <a:t>m</a:t>
            </a:r>
            <a:r>
              <a:rPr sz="1700" spc="-150" dirty="0">
                <a:latin typeface="Times New Roman"/>
                <a:cs typeface="Times New Roman"/>
              </a:rPr>
              <a:t> </a:t>
            </a:r>
            <a:r>
              <a:rPr sz="1700" spc="25" dirty="0">
                <a:latin typeface="Times New Roman"/>
                <a:cs typeface="Times New Roman"/>
              </a:rPr>
              <a:t>t</a:t>
            </a:r>
            <a:r>
              <a:rPr sz="1700" spc="50" dirty="0">
                <a:latin typeface="Times New Roman"/>
                <a:cs typeface="Times New Roman"/>
              </a:rPr>
              <a:t>h</a:t>
            </a:r>
            <a:r>
              <a:rPr sz="1700" dirty="0">
                <a:latin typeface="Times New Roman"/>
                <a:cs typeface="Times New Roman"/>
              </a:rPr>
              <a:t>e</a:t>
            </a:r>
            <a:r>
              <a:rPr sz="1700" spc="-80" dirty="0">
                <a:latin typeface="Times New Roman"/>
                <a:cs typeface="Times New Roman"/>
              </a:rPr>
              <a:t> </a:t>
            </a:r>
            <a:r>
              <a:rPr sz="1700" spc="50" dirty="0">
                <a:latin typeface="Times New Roman"/>
                <a:cs typeface="Times New Roman"/>
              </a:rPr>
              <a:t>g</a:t>
            </a:r>
            <a:r>
              <a:rPr sz="1700" spc="30" dirty="0">
                <a:latin typeface="Times New Roman"/>
                <a:cs typeface="Times New Roman"/>
              </a:rPr>
              <a:t>r</a:t>
            </a:r>
            <a:r>
              <a:rPr sz="1700" spc="50" dirty="0">
                <a:latin typeface="Times New Roman"/>
                <a:cs typeface="Times New Roman"/>
              </a:rPr>
              <a:t>oun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-75" dirty="0">
                <a:latin typeface="Times New Roman"/>
                <a:cs typeface="Times New Roman"/>
              </a:rPr>
              <a:t> </a:t>
            </a:r>
            <a:r>
              <a:rPr sz="1700" spc="45" dirty="0">
                <a:latin typeface="Times New Roman"/>
                <a:cs typeface="Times New Roman"/>
              </a:rPr>
              <a:t>a</a:t>
            </a:r>
            <a:r>
              <a:rPr sz="1700" spc="50" dirty="0">
                <a:latin typeface="Times New Roman"/>
                <a:cs typeface="Times New Roman"/>
              </a:rPr>
              <a:t>n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-75" dirty="0">
                <a:latin typeface="Times New Roman"/>
                <a:cs typeface="Times New Roman"/>
              </a:rPr>
              <a:t> </a:t>
            </a:r>
            <a:r>
              <a:rPr sz="1700" spc="25" dirty="0">
                <a:latin typeface="Times New Roman"/>
                <a:cs typeface="Times New Roman"/>
              </a:rPr>
              <a:t>t</a:t>
            </a:r>
            <a:r>
              <a:rPr sz="1700" spc="50" dirty="0">
                <a:latin typeface="Times New Roman"/>
                <a:cs typeface="Times New Roman"/>
              </a:rPr>
              <a:t>h</a:t>
            </a:r>
            <a:r>
              <a:rPr sz="1700" dirty="0">
                <a:latin typeface="Times New Roman"/>
                <a:cs typeface="Times New Roman"/>
              </a:rPr>
              <a:t>e</a:t>
            </a:r>
            <a:r>
              <a:rPr sz="1700" spc="-80" dirty="0">
                <a:latin typeface="Times New Roman"/>
                <a:cs typeface="Times New Roman"/>
              </a:rPr>
              <a:t> </a:t>
            </a:r>
            <a:r>
              <a:rPr sz="1700" spc="45" dirty="0">
                <a:latin typeface="Times New Roman"/>
                <a:cs typeface="Times New Roman"/>
              </a:rPr>
              <a:t>a</a:t>
            </a:r>
            <a:r>
              <a:rPr sz="1700" spc="50" dirty="0">
                <a:latin typeface="Times New Roman"/>
                <a:cs typeface="Times New Roman"/>
              </a:rPr>
              <a:t>n</a:t>
            </a:r>
            <a:r>
              <a:rPr sz="1700" spc="25" dirty="0">
                <a:latin typeface="Times New Roman"/>
                <a:cs typeface="Times New Roman"/>
              </a:rPr>
              <a:t>t</a:t>
            </a:r>
            <a:r>
              <a:rPr sz="1700" spc="45" dirty="0">
                <a:latin typeface="Times New Roman"/>
                <a:cs typeface="Times New Roman"/>
              </a:rPr>
              <a:t>e</a:t>
            </a:r>
            <a:r>
              <a:rPr sz="1700" spc="50" dirty="0">
                <a:latin typeface="Times New Roman"/>
                <a:cs typeface="Times New Roman"/>
              </a:rPr>
              <a:t>n</a:t>
            </a:r>
            <a:r>
              <a:rPr sz="1700" spc="-50" dirty="0">
                <a:latin typeface="Times New Roman"/>
                <a:cs typeface="Times New Roman"/>
              </a:rPr>
              <a:t>n</a:t>
            </a:r>
            <a:r>
              <a:rPr sz="1700" dirty="0">
                <a:latin typeface="Times New Roman"/>
                <a:cs typeface="Times New Roman"/>
              </a:rPr>
              <a:t>a</a:t>
            </a:r>
            <a:r>
              <a:rPr sz="1700" spc="-80" dirty="0">
                <a:latin typeface="Times New Roman"/>
                <a:cs typeface="Times New Roman"/>
              </a:rPr>
              <a:t> </a:t>
            </a:r>
            <a:r>
              <a:rPr sz="1700" spc="50" dirty="0">
                <a:latin typeface="Times New Roman"/>
                <a:cs typeface="Times New Roman"/>
              </a:rPr>
              <a:t>h</a:t>
            </a:r>
            <a:r>
              <a:rPr sz="1700" spc="45" dirty="0">
                <a:latin typeface="Times New Roman"/>
                <a:cs typeface="Times New Roman"/>
              </a:rPr>
              <a:t>e</a:t>
            </a:r>
            <a:r>
              <a:rPr sz="1700" spc="25" dirty="0">
                <a:latin typeface="Times New Roman"/>
                <a:cs typeface="Times New Roman"/>
              </a:rPr>
              <a:t>i</a:t>
            </a:r>
            <a:r>
              <a:rPr sz="1700" spc="-50" dirty="0">
                <a:latin typeface="Times New Roman"/>
                <a:cs typeface="Times New Roman"/>
              </a:rPr>
              <a:t>g</a:t>
            </a:r>
            <a:r>
              <a:rPr sz="1700" spc="50" dirty="0">
                <a:latin typeface="Times New Roman"/>
                <a:cs typeface="Times New Roman"/>
              </a:rPr>
              <a:t>h</a:t>
            </a:r>
            <a:r>
              <a:rPr sz="1700" spc="25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190" dirty="0">
                <a:latin typeface="Times New Roman"/>
                <a:cs typeface="Times New Roman"/>
              </a:rPr>
              <a:t> </a:t>
            </a:r>
            <a:r>
              <a:rPr sz="1700" spc="45" dirty="0">
                <a:latin typeface="Times New Roman"/>
                <a:cs typeface="Times New Roman"/>
              </a:rPr>
              <a:t>a</a:t>
            </a:r>
            <a:r>
              <a:rPr sz="1700" spc="50" dirty="0">
                <a:latin typeface="Times New Roman"/>
                <a:cs typeface="Times New Roman"/>
              </a:rPr>
              <a:t>bo</a:t>
            </a:r>
            <a:r>
              <a:rPr sz="1700" spc="-50" dirty="0">
                <a:latin typeface="Times New Roman"/>
                <a:cs typeface="Times New Roman"/>
              </a:rPr>
              <a:t>v</a:t>
            </a:r>
            <a:r>
              <a:rPr sz="1700" dirty="0">
                <a:latin typeface="Times New Roman"/>
                <a:cs typeface="Times New Roman"/>
              </a:rPr>
              <a:t>e</a:t>
            </a:r>
            <a:r>
              <a:rPr sz="1700" spc="-80" dirty="0">
                <a:latin typeface="Times New Roman"/>
                <a:cs typeface="Times New Roman"/>
              </a:rPr>
              <a:t> </a:t>
            </a:r>
            <a:r>
              <a:rPr sz="1700" spc="25" dirty="0">
                <a:latin typeface="Times New Roman"/>
                <a:cs typeface="Times New Roman"/>
              </a:rPr>
              <a:t>t</a:t>
            </a:r>
            <a:r>
              <a:rPr sz="1700" spc="50" dirty="0">
                <a:latin typeface="Times New Roman"/>
                <a:cs typeface="Times New Roman"/>
              </a:rPr>
              <a:t>h</a:t>
            </a:r>
            <a:r>
              <a:rPr sz="1700" dirty="0">
                <a:latin typeface="Times New Roman"/>
                <a:cs typeface="Times New Roman"/>
              </a:rPr>
              <a:t>e</a:t>
            </a:r>
            <a:r>
              <a:rPr sz="1700" spc="-80" dirty="0">
                <a:latin typeface="Times New Roman"/>
                <a:cs typeface="Times New Roman"/>
              </a:rPr>
              <a:t> </a:t>
            </a:r>
            <a:r>
              <a:rPr sz="1700" spc="50" dirty="0">
                <a:latin typeface="Times New Roman"/>
                <a:cs typeface="Times New Roman"/>
              </a:rPr>
              <a:t>g</a:t>
            </a:r>
            <a:r>
              <a:rPr sz="1700" spc="30" dirty="0">
                <a:latin typeface="Times New Roman"/>
                <a:cs typeface="Times New Roman"/>
              </a:rPr>
              <a:t>r</a:t>
            </a:r>
            <a:r>
              <a:rPr sz="1700" spc="50" dirty="0">
                <a:latin typeface="Times New Roman"/>
                <a:cs typeface="Times New Roman"/>
              </a:rPr>
              <a:t>ou</a:t>
            </a:r>
            <a:r>
              <a:rPr sz="1700" spc="-50" dirty="0">
                <a:latin typeface="Times New Roman"/>
                <a:cs typeface="Times New Roman"/>
              </a:rPr>
              <a:t>n</a:t>
            </a:r>
            <a:r>
              <a:rPr sz="1700" spc="50" dirty="0">
                <a:latin typeface="Times New Roman"/>
                <a:cs typeface="Times New Roman"/>
              </a:rPr>
              <a:t>d</a:t>
            </a:r>
            <a:r>
              <a:rPr sz="1700" dirty="0">
                <a:latin typeface="Times New Roman"/>
                <a:cs typeface="Times New Roman"/>
              </a:rPr>
              <a:t>.</a:t>
            </a:r>
          </a:p>
          <a:p>
            <a:pPr marL="512445" indent="-292735">
              <a:lnSpc>
                <a:spcPts val="2000"/>
              </a:lnSpc>
              <a:buFont typeface="Wingdings"/>
              <a:buChar char=""/>
              <a:tabLst>
                <a:tab pos="513080" algn="l"/>
              </a:tabLst>
            </a:pPr>
            <a:r>
              <a:rPr sz="1700" dirty="0">
                <a:latin typeface="Times New Roman"/>
                <a:cs typeface="Times New Roman"/>
              </a:rPr>
              <a:t>The</a:t>
            </a:r>
            <a:r>
              <a:rPr sz="1700" spc="25" dirty="0">
                <a:latin typeface="Times New Roman"/>
                <a:cs typeface="Times New Roman"/>
              </a:rPr>
              <a:t> </a:t>
            </a:r>
            <a:r>
              <a:rPr sz="1700" spc="35" dirty="0">
                <a:latin typeface="Times New Roman"/>
                <a:cs typeface="Times New Roman"/>
              </a:rPr>
              <a:t>ground</a:t>
            </a:r>
            <a:r>
              <a:rPr sz="1700" spc="-75" dirty="0">
                <a:latin typeface="Times New Roman"/>
                <a:cs typeface="Times New Roman"/>
              </a:rPr>
              <a:t> </a:t>
            </a:r>
            <a:r>
              <a:rPr sz="1700" spc="15" dirty="0">
                <a:latin typeface="Times New Roman"/>
                <a:cs typeface="Times New Roman"/>
              </a:rPr>
              <a:t>surface</a:t>
            </a:r>
            <a:r>
              <a:rPr sz="1700" spc="-75" dirty="0">
                <a:latin typeface="Times New Roman"/>
                <a:cs typeface="Times New Roman"/>
              </a:rPr>
              <a:t> </a:t>
            </a:r>
            <a:r>
              <a:rPr sz="1700" spc="10" dirty="0">
                <a:latin typeface="Times New Roman"/>
                <a:cs typeface="Times New Roman"/>
              </a:rPr>
              <a:t>is</a:t>
            </a:r>
            <a:r>
              <a:rPr sz="1700" spc="-85" dirty="0">
                <a:latin typeface="Times New Roman"/>
                <a:cs typeface="Times New Roman"/>
              </a:rPr>
              <a:t> </a:t>
            </a:r>
            <a:r>
              <a:rPr sz="1700" spc="10" dirty="0">
                <a:latin typeface="Times New Roman"/>
                <a:cs typeface="Times New Roman"/>
              </a:rPr>
              <a:t>characterized</a:t>
            </a:r>
            <a:r>
              <a:rPr sz="1700" spc="-180" dirty="0">
                <a:latin typeface="Times New Roman"/>
                <a:cs typeface="Times New Roman"/>
              </a:rPr>
              <a:t> </a:t>
            </a:r>
            <a:r>
              <a:rPr sz="1700" spc="25" dirty="0">
                <a:latin typeface="Times New Roman"/>
                <a:cs typeface="Times New Roman"/>
              </a:rPr>
              <a:t>by</a:t>
            </a:r>
            <a:r>
              <a:rPr sz="1700" spc="-60" dirty="0">
                <a:latin typeface="Times New Roman"/>
                <a:cs typeface="Times New Roman"/>
              </a:rPr>
              <a:t> </a:t>
            </a:r>
            <a:r>
              <a:rPr sz="1700" i="1" spc="10" dirty="0">
                <a:latin typeface="Times New Roman"/>
                <a:cs typeface="Times New Roman"/>
              </a:rPr>
              <a:t>reflection</a:t>
            </a:r>
            <a:r>
              <a:rPr sz="1700" i="1" spc="-170" dirty="0">
                <a:latin typeface="Times New Roman"/>
                <a:cs typeface="Times New Roman"/>
              </a:rPr>
              <a:t> </a:t>
            </a:r>
            <a:r>
              <a:rPr sz="1700" i="1" spc="5" dirty="0">
                <a:latin typeface="Times New Roman"/>
                <a:cs typeface="Times New Roman"/>
              </a:rPr>
              <a:t>coefficient</a:t>
            </a:r>
            <a:r>
              <a:rPr sz="1700" i="1" spc="-19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-</a:t>
            </a:r>
          </a:p>
          <a:p>
            <a:pPr marL="512445" marR="511175">
              <a:lnSpc>
                <a:spcPts val="2000"/>
              </a:lnSpc>
              <a:spcBef>
                <a:spcPts val="160"/>
              </a:spcBef>
            </a:pPr>
            <a:r>
              <a:rPr sz="1700" i="1" dirty="0">
                <a:latin typeface="Times New Roman"/>
                <a:cs typeface="Times New Roman"/>
              </a:rPr>
              <a:t>R</a:t>
            </a:r>
            <a:r>
              <a:rPr sz="1700" i="1" spc="35" dirty="0">
                <a:latin typeface="Times New Roman"/>
                <a:cs typeface="Times New Roman"/>
              </a:rPr>
              <a:t> </a:t>
            </a:r>
            <a:r>
              <a:rPr sz="1700" spc="-30" dirty="0">
                <a:latin typeface="Times New Roman"/>
                <a:cs typeface="Times New Roman"/>
              </a:rPr>
              <a:t>w</a:t>
            </a:r>
            <a:r>
              <a:rPr sz="1700" spc="50" dirty="0">
                <a:latin typeface="Times New Roman"/>
                <a:cs typeface="Times New Roman"/>
              </a:rPr>
              <a:t>h</a:t>
            </a:r>
            <a:r>
              <a:rPr sz="1700" spc="25" dirty="0">
                <a:latin typeface="Times New Roman"/>
                <a:cs typeface="Times New Roman"/>
              </a:rPr>
              <a:t>i</a:t>
            </a:r>
            <a:r>
              <a:rPr sz="1700" spc="45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h</a:t>
            </a:r>
            <a:r>
              <a:rPr sz="1700" spc="-75" dirty="0">
                <a:latin typeface="Times New Roman"/>
                <a:cs typeface="Times New Roman"/>
              </a:rPr>
              <a:t> </a:t>
            </a:r>
            <a:r>
              <a:rPr sz="1700" spc="50" dirty="0">
                <a:latin typeface="Times New Roman"/>
                <a:cs typeface="Times New Roman"/>
              </a:rPr>
              <a:t>d</a:t>
            </a:r>
            <a:r>
              <a:rPr sz="1700" spc="45" dirty="0">
                <a:latin typeface="Times New Roman"/>
                <a:cs typeface="Times New Roman"/>
              </a:rPr>
              <a:t>e</a:t>
            </a:r>
            <a:r>
              <a:rPr sz="1700" spc="50" dirty="0">
                <a:latin typeface="Times New Roman"/>
                <a:cs typeface="Times New Roman"/>
              </a:rPr>
              <a:t>p</a:t>
            </a:r>
            <a:r>
              <a:rPr sz="1700" spc="45" dirty="0">
                <a:latin typeface="Times New Roman"/>
                <a:cs typeface="Times New Roman"/>
              </a:rPr>
              <a:t>e</a:t>
            </a:r>
            <a:r>
              <a:rPr sz="1700" spc="50" dirty="0">
                <a:latin typeface="Times New Roman"/>
                <a:cs typeface="Times New Roman"/>
              </a:rPr>
              <a:t>nd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190" dirty="0">
                <a:latin typeface="Times New Roman"/>
                <a:cs typeface="Times New Roman"/>
              </a:rPr>
              <a:t> </a:t>
            </a:r>
            <a:r>
              <a:rPr sz="1700" spc="50" dirty="0">
                <a:latin typeface="Times New Roman"/>
                <a:cs typeface="Times New Roman"/>
              </a:rPr>
              <a:t>o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-75" dirty="0">
                <a:latin typeface="Times New Roman"/>
                <a:cs typeface="Times New Roman"/>
              </a:rPr>
              <a:t> </a:t>
            </a:r>
            <a:r>
              <a:rPr sz="1700" spc="25" dirty="0">
                <a:latin typeface="Times New Roman"/>
                <a:cs typeface="Times New Roman"/>
              </a:rPr>
              <a:t>t</a:t>
            </a:r>
            <a:r>
              <a:rPr sz="1700" spc="50" dirty="0">
                <a:latin typeface="Times New Roman"/>
                <a:cs typeface="Times New Roman"/>
              </a:rPr>
              <a:t>h</a:t>
            </a:r>
            <a:r>
              <a:rPr sz="1700" dirty="0">
                <a:latin typeface="Times New Roman"/>
                <a:cs typeface="Times New Roman"/>
              </a:rPr>
              <a:t>e</a:t>
            </a:r>
            <a:r>
              <a:rPr sz="1700" spc="-80" dirty="0">
                <a:latin typeface="Times New Roman"/>
                <a:cs typeface="Times New Roman"/>
              </a:rPr>
              <a:t> </a:t>
            </a:r>
            <a:r>
              <a:rPr sz="1700" spc="-25" dirty="0">
                <a:latin typeface="Times New Roman"/>
                <a:cs typeface="Times New Roman"/>
              </a:rPr>
              <a:t>m</a:t>
            </a:r>
            <a:r>
              <a:rPr sz="1700" spc="45" dirty="0">
                <a:latin typeface="Times New Roman"/>
                <a:cs typeface="Times New Roman"/>
              </a:rPr>
              <a:t>a</a:t>
            </a:r>
            <a:r>
              <a:rPr sz="1700" spc="25" dirty="0">
                <a:latin typeface="Times New Roman"/>
                <a:cs typeface="Times New Roman"/>
              </a:rPr>
              <a:t>t</a:t>
            </a:r>
            <a:r>
              <a:rPr sz="1700" spc="45" dirty="0">
                <a:latin typeface="Times New Roman"/>
                <a:cs typeface="Times New Roman"/>
              </a:rPr>
              <a:t>e</a:t>
            </a:r>
            <a:r>
              <a:rPr sz="1700" spc="30" dirty="0">
                <a:latin typeface="Times New Roman"/>
                <a:cs typeface="Times New Roman"/>
              </a:rPr>
              <a:t>r</a:t>
            </a:r>
            <a:r>
              <a:rPr sz="1700" spc="25" dirty="0">
                <a:latin typeface="Times New Roman"/>
                <a:cs typeface="Times New Roman"/>
              </a:rPr>
              <a:t>i</a:t>
            </a:r>
            <a:r>
              <a:rPr sz="1700" spc="45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l</a:t>
            </a:r>
            <a:r>
              <a:rPr sz="1700" spc="-100" dirty="0">
                <a:latin typeface="Times New Roman"/>
                <a:cs typeface="Times New Roman"/>
              </a:rPr>
              <a:t> </a:t>
            </a:r>
            <a:r>
              <a:rPr sz="1700" spc="50" dirty="0">
                <a:latin typeface="Times New Roman"/>
                <a:cs typeface="Times New Roman"/>
              </a:rPr>
              <a:t>p</a:t>
            </a:r>
            <a:r>
              <a:rPr sz="1700" spc="30" dirty="0">
                <a:latin typeface="Times New Roman"/>
                <a:cs typeface="Times New Roman"/>
              </a:rPr>
              <a:t>r</a:t>
            </a:r>
            <a:r>
              <a:rPr sz="1700" spc="50" dirty="0">
                <a:latin typeface="Times New Roman"/>
                <a:cs typeface="Times New Roman"/>
              </a:rPr>
              <a:t>o</a:t>
            </a:r>
            <a:r>
              <a:rPr sz="1700" spc="-50" dirty="0">
                <a:latin typeface="Times New Roman"/>
                <a:cs typeface="Times New Roman"/>
              </a:rPr>
              <a:t>p</a:t>
            </a:r>
            <a:r>
              <a:rPr sz="1700" spc="45" dirty="0">
                <a:latin typeface="Times New Roman"/>
                <a:cs typeface="Times New Roman"/>
              </a:rPr>
              <a:t>e</a:t>
            </a:r>
            <a:r>
              <a:rPr sz="1700" spc="-70" dirty="0">
                <a:latin typeface="Times New Roman"/>
                <a:cs typeface="Times New Roman"/>
              </a:rPr>
              <a:t>r</a:t>
            </a:r>
            <a:r>
              <a:rPr sz="1700" spc="25" dirty="0">
                <a:latin typeface="Times New Roman"/>
                <a:cs typeface="Times New Roman"/>
              </a:rPr>
              <a:t>ti</a:t>
            </a:r>
            <a:r>
              <a:rPr sz="1700" spc="-55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90" dirty="0">
                <a:latin typeface="Times New Roman"/>
                <a:cs typeface="Times New Roman"/>
              </a:rPr>
              <a:t> </a:t>
            </a:r>
            <a:r>
              <a:rPr sz="1700" spc="50" dirty="0">
                <a:latin typeface="Times New Roman"/>
                <a:cs typeface="Times New Roman"/>
              </a:rPr>
              <a:t>o</a:t>
            </a:r>
            <a:r>
              <a:rPr sz="1700" dirty="0">
                <a:latin typeface="Times New Roman"/>
                <a:cs typeface="Times New Roman"/>
              </a:rPr>
              <a:t>f</a:t>
            </a:r>
            <a:r>
              <a:rPr sz="1700" spc="-95" dirty="0">
                <a:latin typeface="Times New Roman"/>
                <a:cs typeface="Times New Roman"/>
              </a:rPr>
              <a:t> </a:t>
            </a:r>
            <a:r>
              <a:rPr sz="1700" spc="25" dirty="0">
                <a:latin typeface="Times New Roman"/>
                <a:cs typeface="Times New Roman"/>
              </a:rPr>
              <a:t>t</a:t>
            </a:r>
            <a:r>
              <a:rPr sz="1700" spc="50" dirty="0">
                <a:latin typeface="Times New Roman"/>
                <a:cs typeface="Times New Roman"/>
              </a:rPr>
              <a:t>h</a:t>
            </a:r>
            <a:r>
              <a:rPr sz="1700" dirty="0">
                <a:latin typeface="Times New Roman"/>
                <a:cs typeface="Times New Roman"/>
              </a:rPr>
              <a:t>e</a:t>
            </a:r>
            <a:r>
              <a:rPr sz="1700" spc="-80" dirty="0">
                <a:latin typeface="Times New Roman"/>
                <a:cs typeface="Times New Roman"/>
              </a:rPr>
              <a:t> </a:t>
            </a:r>
            <a:r>
              <a:rPr sz="1700" spc="35" dirty="0">
                <a:latin typeface="Times New Roman"/>
                <a:cs typeface="Times New Roman"/>
              </a:rPr>
              <a:t>s</a:t>
            </a:r>
            <a:r>
              <a:rPr sz="1700" spc="50" dirty="0">
                <a:latin typeface="Times New Roman"/>
                <a:cs typeface="Times New Roman"/>
              </a:rPr>
              <a:t>u</a:t>
            </a:r>
            <a:r>
              <a:rPr sz="1700" spc="30" dirty="0">
                <a:latin typeface="Times New Roman"/>
                <a:cs typeface="Times New Roman"/>
              </a:rPr>
              <a:t>rf</a:t>
            </a:r>
            <a:r>
              <a:rPr sz="1700" spc="45" dirty="0">
                <a:latin typeface="Times New Roman"/>
                <a:cs typeface="Times New Roman"/>
              </a:rPr>
              <a:t>a</a:t>
            </a:r>
            <a:r>
              <a:rPr sz="1700" spc="-55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e  </a:t>
            </a:r>
            <a:r>
              <a:rPr sz="1700" spc="30" dirty="0">
                <a:latin typeface="Times New Roman"/>
                <a:cs typeface="Times New Roman"/>
              </a:rPr>
              <a:t>and</a:t>
            </a:r>
            <a:r>
              <a:rPr sz="1700" spc="-80" dirty="0">
                <a:latin typeface="Times New Roman"/>
                <a:cs typeface="Times New Roman"/>
              </a:rPr>
              <a:t> </a:t>
            </a:r>
            <a:r>
              <a:rPr sz="1700" spc="25" dirty="0">
                <a:latin typeface="Times New Roman"/>
                <a:cs typeface="Times New Roman"/>
              </a:rPr>
              <a:t>the</a:t>
            </a:r>
            <a:r>
              <a:rPr sz="1700" spc="-80" dirty="0">
                <a:latin typeface="Times New Roman"/>
                <a:cs typeface="Times New Roman"/>
              </a:rPr>
              <a:t> </a:t>
            </a:r>
            <a:r>
              <a:rPr sz="1700" spc="30" dirty="0">
                <a:latin typeface="Times New Roman"/>
                <a:cs typeface="Times New Roman"/>
              </a:rPr>
              <a:t>type</a:t>
            </a:r>
            <a:r>
              <a:rPr sz="1700" spc="-80" dirty="0">
                <a:latin typeface="Times New Roman"/>
                <a:cs typeface="Times New Roman"/>
              </a:rPr>
              <a:t> </a:t>
            </a:r>
            <a:r>
              <a:rPr sz="1700" spc="25" dirty="0">
                <a:latin typeface="Times New Roman"/>
                <a:cs typeface="Times New Roman"/>
              </a:rPr>
              <a:t>of</a:t>
            </a:r>
            <a:r>
              <a:rPr sz="1700" spc="-100" dirty="0">
                <a:latin typeface="Times New Roman"/>
                <a:cs typeface="Times New Roman"/>
              </a:rPr>
              <a:t> </a:t>
            </a:r>
            <a:r>
              <a:rPr sz="1700" spc="15" dirty="0">
                <a:latin typeface="Times New Roman"/>
                <a:cs typeface="Times New Roman"/>
              </a:rPr>
              <a:t>wave</a:t>
            </a:r>
            <a:r>
              <a:rPr sz="1700" spc="-80" dirty="0">
                <a:latin typeface="Times New Roman"/>
                <a:cs typeface="Times New Roman"/>
              </a:rPr>
              <a:t> </a:t>
            </a:r>
            <a:r>
              <a:rPr sz="1700" spc="20" dirty="0">
                <a:latin typeface="Times New Roman"/>
                <a:cs typeface="Times New Roman"/>
              </a:rPr>
              <a:t>polarization.</a:t>
            </a:r>
            <a:endParaRPr sz="1700" dirty="0">
              <a:latin typeface="Times New Roman"/>
              <a:cs typeface="Times New Roman"/>
            </a:endParaRPr>
          </a:p>
          <a:p>
            <a:pPr marL="512445" indent="-292735">
              <a:lnSpc>
                <a:spcPts val="1939"/>
              </a:lnSpc>
              <a:buFont typeface="Wingdings"/>
              <a:buChar char=""/>
              <a:tabLst>
                <a:tab pos="513080" algn="l"/>
              </a:tabLst>
            </a:pPr>
            <a:r>
              <a:rPr sz="1700" dirty="0">
                <a:latin typeface="Times New Roman"/>
                <a:cs typeface="Times New Roman"/>
              </a:rPr>
              <a:t>The</a:t>
            </a:r>
            <a:r>
              <a:rPr sz="1700" spc="-85" dirty="0">
                <a:latin typeface="Times New Roman"/>
                <a:cs typeface="Times New Roman"/>
              </a:rPr>
              <a:t> </a:t>
            </a:r>
            <a:r>
              <a:rPr sz="1700" spc="-20" dirty="0">
                <a:latin typeface="Times New Roman"/>
                <a:cs typeface="Times New Roman"/>
              </a:rPr>
              <a:t>Tx</a:t>
            </a:r>
            <a:r>
              <a:rPr sz="1700" spc="120" dirty="0">
                <a:latin typeface="Times New Roman"/>
                <a:cs typeface="Times New Roman"/>
              </a:rPr>
              <a:t> </a:t>
            </a:r>
            <a:r>
              <a:rPr sz="1700" spc="30" dirty="0">
                <a:latin typeface="Times New Roman"/>
                <a:cs typeface="Times New Roman"/>
              </a:rPr>
              <a:t>and</a:t>
            </a:r>
            <a:r>
              <a:rPr sz="1700" spc="-80" dirty="0">
                <a:latin typeface="Times New Roman"/>
                <a:cs typeface="Times New Roman"/>
              </a:rPr>
              <a:t> </a:t>
            </a:r>
            <a:r>
              <a:rPr sz="1700" spc="-20" dirty="0">
                <a:latin typeface="Times New Roman"/>
                <a:cs typeface="Times New Roman"/>
              </a:rPr>
              <a:t>Rx</a:t>
            </a:r>
            <a:r>
              <a:rPr sz="1700" spc="-80" dirty="0">
                <a:latin typeface="Times New Roman"/>
                <a:cs typeface="Times New Roman"/>
              </a:rPr>
              <a:t> </a:t>
            </a:r>
            <a:r>
              <a:rPr sz="1700" spc="35" dirty="0">
                <a:latin typeface="Times New Roman"/>
                <a:cs typeface="Times New Roman"/>
              </a:rPr>
              <a:t>antennas</a:t>
            </a:r>
            <a:r>
              <a:rPr sz="1700" spc="-95" dirty="0">
                <a:latin typeface="Times New Roman"/>
                <a:cs typeface="Times New Roman"/>
              </a:rPr>
              <a:t> </a:t>
            </a:r>
            <a:r>
              <a:rPr sz="1700" spc="25" dirty="0">
                <a:latin typeface="Times New Roman"/>
                <a:cs typeface="Times New Roman"/>
              </a:rPr>
              <a:t>are</a:t>
            </a:r>
            <a:r>
              <a:rPr sz="1700" spc="-80" dirty="0">
                <a:latin typeface="Times New Roman"/>
                <a:cs typeface="Times New Roman"/>
              </a:rPr>
              <a:t> </a:t>
            </a:r>
            <a:r>
              <a:rPr sz="1700" spc="25" dirty="0">
                <a:latin typeface="Times New Roman"/>
                <a:cs typeface="Times New Roman"/>
              </a:rPr>
              <a:t>of</a:t>
            </a:r>
            <a:r>
              <a:rPr sz="1700" spc="-95" dirty="0">
                <a:latin typeface="Times New Roman"/>
                <a:cs typeface="Times New Roman"/>
              </a:rPr>
              <a:t> </a:t>
            </a:r>
            <a:r>
              <a:rPr sz="1700" spc="20" dirty="0">
                <a:latin typeface="Times New Roman"/>
                <a:cs typeface="Times New Roman"/>
              </a:rPr>
              <a:t>heights</a:t>
            </a:r>
            <a:r>
              <a:rPr sz="1700" spc="-95" dirty="0">
                <a:latin typeface="Times New Roman"/>
                <a:cs typeface="Times New Roman"/>
              </a:rPr>
              <a:t> </a:t>
            </a:r>
            <a:r>
              <a:rPr sz="1700" i="1" spc="25" dirty="0">
                <a:latin typeface="Times New Roman"/>
                <a:cs typeface="Times New Roman"/>
              </a:rPr>
              <a:t>h</a:t>
            </a:r>
            <a:r>
              <a:rPr sz="1650" i="1" spc="37" baseline="-15151" dirty="0">
                <a:latin typeface="Times New Roman"/>
                <a:cs typeface="Times New Roman"/>
              </a:rPr>
              <a:t>t</a:t>
            </a:r>
            <a:r>
              <a:rPr sz="1650" i="1" spc="22" baseline="-15151" dirty="0">
                <a:latin typeface="Times New Roman"/>
                <a:cs typeface="Times New Roman"/>
              </a:rPr>
              <a:t> </a:t>
            </a:r>
            <a:r>
              <a:rPr sz="1700" spc="30" dirty="0">
                <a:latin typeface="Times New Roman"/>
                <a:cs typeface="Times New Roman"/>
              </a:rPr>
              <a:t>and</a:t>
            </a:r>
            <a:r>
              <a:rPr sz="1700" spc="-85" dirty="0">
                <a:latin typeface="Times New Roman"/>
                <a:cs typeface="Times New Roman"/>
              </a:rPr>
              <a:t> </a:t>
            </a:r>
            <a:r>
              <a:rPr sz="1700" i="1" spc="25" dirty="0">
                <a:latin typeface="Times New Roman"/>
                <a:cs typeface="Times New Roman"/>
              </a:rPr>
              <a:t>h</a:t>
            </a:r>
            <a:r>
              <a:rPr sz="1650" i="1" spc="37" baseline="-15151" dirty="0">
                <a:latin typeface="Times New Roman"/>
                <a:cs typeface="Times New Roman"/>
              </a:rPr>
              <a:t>r</a:t>
            </a:r>
            <a:r>
              <a:rPr sz="1650" i="1" spc="-7" baseline="-15151" dirty="0">
                <a:latin typeface="Times New Roman"/>
                <a:cs typeface="Times New Roman"/>
              </a:rPr>
              <a:t> </a:t>
            </a:r>
            <a:r>
              <a:rPr sz="1700" spc="25" dirty="0">
                <a:latin typeface="Times New Roman"/>
                <a:cs typeface="Times New Roman"/>
              </a:rPr>
              <a:t>respectively</a:t>
            </a:r>
            <a:endParaRPr sz="1700" dirty="0">
              <a:latin typeface="Times New Roman"/>
              <a:cs typeface="Times New Roman"/>
            </a:endParaRPr>
          </a:p>
          <a:p>
            <a:pPr marL="512445">
              <a:lnSpc>
                <a:spcPct val="100000"/>
              </a:lnSpc>
              <a:spcBef>
                <a:spcPts val="60"/>
              </a:spcBef>
            </a:pPr>
            <a:r>
              <a:rPr sz="1700" spc="45" dirty="0">
                <a:latin typeface="Times New Roman"/>
                <a:cs typeface="Times New Roman"/>
              </a:rPr>
              <a:t>a</a:t>
            </a:r>
            <a:r>
              <a:rPr sz="1700" spc="50" dirty="0">
                <a:latin typeface="Times New Roman"/>
                <a:cs typeface="Times New Roman"/>
              </a:rPr>
              <a:t>n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-75" dirty="0">
                <a:latin typeface="Times New Roman"/>
                <a:cs typeface="Times New Roman"/>
              </a:rPr>
              <a:t> </a:t>
            </a:r>
            <a:r>
              <a:rPr sz="1700" spc="45" dirty="0">
                <a:latin typeface="Times New Roman"/>
                <a:cs typeface="Times New Roman"/>
              </a:rPr>
              <a:t>a</a:t>
            </a:r>
            <a:r>
              <a:rPr sz="1700" spc="30" dirty="0">
                <a:latin typeface="Times New Roman"/>
                <a:cs typeface="Times New Roman"/>
              </a:rPr>
              <a:t>r</a:t>
            </a:r>
            <a:r>
              <a:rPr sz="1700" dirty="0">
                <a:latin typeface="Times New Roman"/>
                <a:cs typeface="Times New Roman"/>
              </a:rPr>
              <a:t>e</a:t>
            </a:r>
            <a:r>
              <a:rPr sz="1700" spc="-80" dirty="0">
                <a:latin typeface="Times New Roman"/>
                <a:cs typeface="Times New Roman"/>
              </a:rPr>
              <a:t> </a:t>
            </a:r>
            <a:r>
              <a:rPr sz="1700" spc="35" dirty="0">
                <a:latin typeface="Times New Roman"/>
                <a:cs typeface="Times New Roman"/>
              </a:rPr>
              <a:t>s</a:t>
            </a:r>
            <a:r>
              <a:rPr sz="1700" spc="45" dirty="0">
                <a:latin typeface="Times New Roman"/>
                <a:cs typeface="Times New Roman"/>
              </a:rPr>
              <a:t>e</a:t>
            </a:r>
            <a:r>
              <a:rPr sz="1700" spc="50" dirty="0">
                <a:latin typeface="Times New Roman"/>
                <a:cs typeface="Times New Roman"/>
              </a:rPr>
              <a:t>p</a:t>
            </a:r>
            <a:r>
              <a:rPr sz="1700" spc="45" dirty="0">
                <a:latin typeface="Times New Roman"/>
                <a:cs typeface="Times New Roman"/>
              </a:rPr>
              <a:t>a</a:t>
            </a:r>
            <a:r>
              <a:rPr sz="1700" spc="30" dirty="0">
                <a:latin typeface="Times New Roman"/>
                <a:cs typeface="Times New Roman"/>
              </a:rPr>
              <a:t>r</a:t>
            </a:r>
            <a:r>
              <a:rPr sz="1700" spc="45" dirty="0">
                <a:latin typeface="Times New Roman"/>
                <a:cs typeface="Times New Roman"/>
              </a:rPr>
              <a:t>a</a:t>
            </a:r>
            <a:r>
              <a:rPr sz="1700" spc="25" dirty="0">
                <a:latin typeface="Times New Roman"/>
                <a:cs typeface="Times New Roman"/>
              </a:rPr>
              <a:t>t</a:t>
            </a:r>
            <a:r>
              <a:rPr sz="1700" spc="45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-175" dirty="0">
                <a:latin typeface="Times New Roman"/>
                <a:cs typeface="Times New Roman"/>
              </a:rPr>
              <a:t> </a:t>
            </a:r>
            <a:r>
              <a:rPr sz="1700" spc="50" dirty="0">
                <a:latin typeface="Times New Roman"/>
                <a:cs typeface="Times New Roman"/>
              </a:rPr>
              <a:t>b</a:t>
            </a:r>
            <a:r>
              <a:rPr sz="1700" dirty="0">
                <a:latin typeface="Times New Roman"/>
                <a:cs typeface="Times New Roman"/>
              </a:rPr>
              <a:t>y</a:t>
            </a:r>
            <a:r>
              <a:rPr sz="1700" spc="-75" dirty="0">
                <a:latin typeface="Times New Roman"/>
                <a:cs typeface="Times New Roman"/>
              </a:rPr>
              <a:t> </a:t>
            </a:r>
            <a:r>
              <a:rPr sz="1700" spc="25" dirty="0">
                <a:latin typeface="Times New Roman"/>
                <a:cs typeface="Times New Roman"/>
              </a:rPr>
              <a:t>t</a:t>
            </a:r>
            <a:r>
              <a:rPr sz="1700" spc="50" dirty="0">
                <a:latin typeface="Times New Roman"/>
                <a:cs typeface="Times New Roman"/>
              </a:rPr>
              <a:t>h</a:t>
            </a:r>
            <a:r>
              <a:rPr sz="1700" dirty="0">
                <a:latin typeface="Times New Roman"/>
                <a:cs typeface="Times New Roman"/>
              </a:rPr>
              <a:t>e</a:t>
            </a:r>
            <a:r>
              <a:rPr sz="1700" spc="-80" dirty="0">
                <a:latin typeface="Times New Roman"/>
                <a:cs typeface="Times New Roman"/>
              </a:rPr>
              <a:t> </a:t>
            </a:r>
            <a:r>
              <a:rPr sz="1700" spc="50" dirty="0">
                <a:latin typeface="Times New Roman"/>
                <a:cs typeface="Times New Roman"/>
              </a:rPr>
              <a:t>d</a:t>
            </a:r>
            <a:r>
              <a:rPr sz="1700" spc="25" dirty="0">
                <a:latin typeface="Times New Roman"/>
                <a:cs typeface="Times New Roman"/>
              </a:rPr>
              <a:t>i</a:t>
            </a:r>
            <a:r>
              <a:rPr sz="1700" spc="35" dirty="0">
                <a:latin typeface="Times New Roman"/>
                <a:cs typeface="Times New Roman"/>
              </a:rPr>
              <a:t>s</a:t>
            </a:r>
            <a:r>
              <a:rPr sz="1700" spc="25" dirty="0">
                <a:latin typeface="Times New Roman"/>
                <a:cs typeface="Times New Roman"/>
              </a:rPr>
              <a:t>t</a:t>
            </a:r>
            <a:r>
              <a:rPr sz="1700" spc="45" dirty="0">
                <a:latin typeface="Times New Roman"/>
                <a:cs typeface="Times New Roman"/>
              </a:rPr>
              <a:t>a</a:t>
            </a:r>
            <a:r>
              <a:rPr sz="1700" spc="-50" dirty="0">
                <a:latin typeface="Times New Roman"/>
                <a:cs typeface="Times New Roman"/>
              </a:rPr>
              <a:t>n</a:t>
            </a:r>
            <a:r>
              <a:rPr sz="1700" spc="45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e</a:t>
            </a:r>
            <a:r>
              <a:rPr sz="1700" spc="-80" dirty="0">
                <a:latin typeface="Times New Roman"/>
                <a:cs typeface="Times New Roman"/>
              </a:rPr>
              <a:t> </a:t>
            </a:r>
            <a:r>
              <a:rPr sz="1700" spc="50" dirty="0">
                <a:latin typeface="Times New Roman"/>
                <a:cs typeface="Times New Roman"/>
              </a:rPr>
              <a:t>o</a:t>
            </a:r>
            <a:r>
              <a:rPr sz="1700" dirty="0">
                <a:latin typeface="Times New Roman"/>
                <a:cs typeface="Times New Roman"/>
              </a:rPr>
              <a:t>f</a:t>
            </a:r>
            <a:r>
              <a:rPr sz="1700" spc="-95" dirty="0">
                <a:latin typeface="Times New Roman"/>
                <a:cs typeface="Times New Roman"/>
              </a:rPr>
              <a:t> </a:t>
            </a:r>
            <a:r>
              <a:rPr sz="1700" i="1" dirty="0">
                <a:latin typeface="Times New Roman"/>
                <a:cs typeface="Times New Roman"/>
              </a:rPr>
              <a:t>d</a:t>
            </a:r>
            <a:r>
              <a:rPr sz="1700" i="1" spc="-75" dirty="0">
                <a:latin typeface="Times New Roman"/>
                <a:cs typeface="Times New Roman"/>
              </a:rPr>
              <a:t> </a:t>
            </a:r>
            <a:r>
              <a:rPr sz="1700" spc="-25" dirty="0">
                <a:latin typeface="Times New Roman"/>
                <a:cs typeface="Times New Roman"/>
              </a:rPr>
              <a:t>m</a:t>
            </a:r>
            <a:r>
              <a:rPr sz="1700" spc="45" dirty="0">
                <a:latin typeface="Times New Roman"/>
                <a:cs typeface="Times New Roman"/>
              </a:rPr>
              <a:t>e</a:t>
            </a:r>
            <a:r>
              <a:rPr sz="1700" spc="25" dirty="0">
                <a:latin typeface="Times New Roman"/>
                <a:cs typeface="Times New Roman"/>
              </a:rPr>
              <a:t>t</a:t>
            </a:r>
            <a:r>
              <a:rPr sz="1700" spc="45" dirty="0">
                <a:latin typeface="Times New Roman"/>
                <a:cs typeface="Times New Roman"/>
              </a:rPr>
              <a:t>e</a:t>
            </a:r>
            <a:r>
              <a:rPr sz="1700" spc="30" dirty="0">
                <a:latin typeface="Times New Roman"/>
                <a:cs typeface="Times New Roman"/>
              </a:rPr>
              <a:t>r</a:t>
            </a:r>
            <a:r>
              <a:rPr sz="1700" spc="35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.</a:t>
            </a: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850" dirty="0">
              <a:latin typeface="Times New Roman"/>
              <a:cs typeface="Times New Roman"/>
            </a:endParaRPr>
          </a:p>
          <a:p>
            <a:pPr marL="25400">
              <a:lnSpc>
                <a:spcPct val="100000"/>
              </a:lnSpc>
              <a:spcBef>
                <a:spcPts val="5"/>
              </a:spcBef>
              <a:tabLst>
                <a:tab pos="5511165" algn="l"/>
              </a:tabLst>
            </a:pP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42949" y="1492249"/>
            <a:ext cx="6083300" cy="3416300"/>
          </a:xfrm>
          <a:custGeom>
            <a:avLst/>
            <a:gdLst/>
            <a:ahLst/>
            <a:cxnLst/>
            <a:rect l="l" t="t" r="r" b="b"/>
            <a:pathLst>
              <a:path w="6083300" h="3416300">
                <a:moveTo>
                  <a:pt x="0" y="0"/>
                </a:moveTo>
                <a:lnTo>
                  <a:pt x="6083300" y="0"/>
                </a:lnTo>
                <a:lnTo>
                  <a:pt x="6083300" y="3416300"/>
                </a:lnTo>
                <a:lnTo>
                  <a:pt x="0" y="341630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64277" y="8092319"/>
            <a:ext cx="1895835" cy="707571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905794" y="6401214"/>
            <a:ext cx="5634355" cy="1664335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59"/>
              </a:spcBef>
            </a:pPr>
            <a:r>
              <a:rPr sz="1600" b="1" spc="20" dirty="0">
                <a:solidFill>
                  <a:srgbClr val="FF0000"/>
                </a:solidFill>
                <a:latin typeface="Cambria"/>
                <a:cs typeface="Cambria"/>
              </a:rPr>
              <a:t>Two</a:t>
            </a:r>
            <a:r>
              <a:rPr sz="1600" b="1" spc="5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600" b="1" spc="40" dirty="0">
                <a:solidFill>
                  <a:srgbClr val="FF0000"/>
                </a:solidFill>
                <a:latin typeface="Cambria"/>
                <a:cs typeface="Cambria"/>
              </a:rPr>
              <a:t>Ray</a:t>
            </a:r>
            <a:r>
              <a:rPr sz="1600" b="1" spc="-5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600" b="1" spc="30" dirty="0">
                <a:solidFill>
                  <a:srgbClr val="FF0000"/>
                </a:solidFill>
                <a:latin typeface="Cambria"/>
                <a:cs typeface="Cambria"/>
              </a:rPr>
              <a:t>Ground</a:t>
            </a:r>
            <a:r>
              <a:rPr sz="1600" b="1" spc="7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600" b="1" spc="-5" dirty="0">
                <a:solidFill>
                  <a:srgbClr val="FF0000"/>
                </a:solidFill>
                <a:latin typeface="Cambria"/>
                <a:cs typeface="Cambria"/>
              </a:rPr>
              <a:t>Reflection</a:t>
            </a:r>
            <a:r>
              <a:rPr sz="1600" b="1" spc="16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600" b="1" spc="50" dirty="0">
                <a:solidFill>
                  <a:srgbClr val="FF0000"/>
                </a:solidFill>
                <a:latin typeface="Cambria"/>
                <a:cs typeface="Cambria"/>
              </a:rPr>
              <a:t>Model</a:t>
            </a:r>
            <a:endParaRPr sz="1600">
              <a:latin typeface="Cambria"/>
              <a:cs typeface="Cambria"/>
            </a:endParaRPr>
          </a:p>
          <a:p>
            <a:pPr marL="228600" marR="5080" indent="-228600">
              <a:lnSpc>
                <a:spcPct val="100499"/>
              </a:lnSpc>
              <a:spcBef>
                <a:spcPts val="370"/>
              </a:spcBef>
              <a:buFont typeface="Wingdings"/>
              <a:buChar char=""/>
              <a:tabLst>
                <a:tab pos="228600" algn="l"/>
              </a:tabLst>
            </a:pPr>
            <a:r>
              <a:rPr sz="1700" dirty="0">
                <a:latin typeface="Times New Roman"/>
                <a:cs typeface="Times New Roman"/>
              </a:rPr>
              <a:t>The</a:t>
            </a:r>
            <a:r>
              <a:rPr sz="1700" spc="15" dirty="0">
                <a:latin typeface="Times New Roman"/>
                <a:cs typeface="Times New Roman"/>
              </a:rPr>
              <a:t> </a:t>
            </a:r>
            <a:r>
              <a:rPr sz="1700" spc="30" dirty="0">
                <a:latin typeface="Times New Roman"/>
                <a:cs typeface="Times New Roman"/>
              </a:rPr>
              <a:t>received</a:t>
            </a:r>
            <a:r>
              <a:rPr sz="1700" spc="-80" dirty="0">
                <a:latin typeface="Times New Roman"/>
                <a:cs typeface="Times New Roman"/>
              </a:rPr>
              <a:t> </a:t>
            </a:r>
            <a:r>
              <a:rPr sz="1700" spc="15" dirty="0">
                <a:latin typeface="Times New Roman"/>
                <a:cs typeface="Times New Roman"/>
              </a:rPr>
              <a:t>signal</a:t>
            </a:r>
            <a:r>
              <a:rPr sz="1700" spc="-100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consists</a:t>
            </a:r>
            <a:r>
              <a:rPr sz="1700" spc="-90" dirty="0">
                <a:latin typeface="Times New Roman"/>
                <a:cs typeface="Times New Roman"/>
              </a:rPr>
              <a:t> </a:t>
            </a:r>
            <a:r>
              <a:rPr sz="1700" spc="20" dirty="0">
                <a:latin typeface="Times New Roman"/>
                <a:cs typeface="Times New Roman"/>
              </a:rPr>
              <a:t>of</a:t>
            </a:r>
            <a:r>
              <a:rPr sz="1700" spc="-9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two</a:t>
            </a:r>
            <a:r>
              <a:rPr sz="1700" spc="-80" dirty="0">
                <a:latin typeface="Times New Roman"/>
                <a:cs typeface="Times New Roman"/>
              </a:rPr>
              <a:t> </a:t>
            </a:r>
            <a:r>
              <a:rPr sz="1700" spc="10" dirty="0">
                <a:latin typeface="Times New Roman"/>
                <a:cs typeface="Times New Roman"/>
              </a:rPr>
              <a:t>components:</a:t>
            </a:r>
            <a:r>
              <a:rPr sz="1700" spc="-100" dirty="0">
                <a:latin typeface="Times New Roman"/>
                <a:cs typeface="Times New Roman"/>
              </a:rPr>
              <a:t> </a:t>
            </a:r>
            <a:r>
              <a:rPr sz="1700" spc="-25" dirty="0">
                <a:latin typeface="Times New Roman"/>
                <a:cs typeface="Times New Roman"/>
              </a:rPr>
              <a:t>LOS</a:t>
            </a:r>
            <a:r>
              <a:rPr sz="1700" spc="-75" dirty="0">
                <a:latin typeface="Times New Roman"/>
                <a:cs typeface="Times New Roman"/>
              </a:rPr>
              <a:t> </a:t>
            </a:r>
            <a:r>
              <a:rPr sz="1700" spc="20" dirty="0">
                <a:latin typeface="Times New Roman"/>
                <a:cs typeface="Times New Roman"/>
              </a:rPr>
              <a:t>ray</a:t>
            </a:r>
            <a:r>
              <a:rPr sz="1700" spc="-80" dirty="0">
                <a:latin typeface="Times New Roman"/>
                <a:cs typeface="Times New Roman"/>
              </a:rPr>
              <a:t> </a:t>
            </a:r>
            <a:r>
              <a:rPr sz="1700" spc="25" dirty="0">
                <a:latin typeface="Times New Roman"/>
                <a:cs typeface="Times New Roman"/>
              </a:rPr>
              <a:t>that </a:t>
            </a:r>
            <a:r>
              <a:rPr sz="1700" spc="-409" dirty="0">
                <a:latin typeface="Times New Roman"/>
                <a:cs typeface="Times New Roman"/>
              </a:rPr>
              <a:t> </a:t>
            </a:r>
            <a:r>
              <a:rPr sz="1700" spc="25" dirty="0">
                <a:latin typeface="Times New Roman"/>
                <a:cs typeface="Times New Roman"/>
              </a:rPr>
              <a:t>t</a:t>
            </a:r>
            <a:r>
              <a:rPr sz="1700" spc="30" dirty="0">
                <a:latin typeface="Times New Roman"/>
                <a:cs typeface="Times New Roman"/>
              </a:rPr>
              <a:t>r</a:t>
            </a:r>
            <a:r>
              <a:rPr sz="1700" spc="45" dirty="0">
                <a:latin typeface="Times New Roman"/>
                <a:cs typeface="Times New Roman"/>
              </a:rPr>
              <a:t>ave</a:t>
            </a:r>
            <a:r>
              <a:rPr sz="1700" spc="25" dirty="0">
                <a:latin typeface="Times New Roman"/>
                <a:cs typeface="Times New Roman"/>
              </a:rPr>
              <a:t>l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90" dirty="0">
                <a:latin typeface="Times New Roman"/>
                <a:cs typeface="Times New Roman"/>
              </a:rPr>
              <a:t> </a:t>
            </a:r>
            <a:r>
              <a:rPr sz="1700" spc="25" dirty="0">
                <a:latin typeface="Times New Roman"/>
                <a:cs typeface="Times New Roman"/>
              </a:rPr>
              <a:t>t</a:t>
            </a:r>
            <a:r>
              <a:rPr sz="1700" spc="45" dirty="0">
                <a:latin typeface="Times New Roman"/>
                <a:cs typeface="Times New Roman"/>
              </a:rPr>
              <a:t>h</a:t>
            </a:r>
            <a:r>
              <a:rPr sz="1700" dirty="0">
                <a:latin typeface="Times New Roman"/>
                <a:cs typeface="Times New Roman"/>
              </a:rPr>
              <a:t>e</a:t>
            </a:r>
            <a:r>
              <a:rPr sz="1700" spc="-80" dirty="0">
                <a:latin typeface="Times New Roman"/>
                <a:cs typeface="Times New Roman"/>
              </a:rPr>
              <a:t> </a:t>
            </a:r>
            <a:r>
              <a:rPr sz="1700" spc="30" dirty="0">
                <a:latin typeface="Times New Roman"/>
                <a:cs typeface="Times New Roman"/>
              </a:rPr>
              <a:t>fr</a:t>
            </a:r>
            <a:r>
              <a:rPr sz="1700" spc="45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e</a:t>
            </a:r>
            <a:r>
              <a:rPr sz="1700" spc="-80" dirty="0">
                <a:latin typeface="Times New Roman"/>
                <a:cs typeface="Times New Roman"/>
              </a:rPr>
              <a:t> </a:t>
            </a:r>
            <a:r>
              <a:rPr sz="1700" spc="35" dirty="0">
                <a:latin typeface="Times New Roman"/>
                <a:cs typeface="Times New Roman"/>
              </a:rPr>
              <a:t>s</a:t>
            </a:r>
            <a:r>
              <a:rPr sz="1700" spc="45" dirty="0">
                <a:latin typeface="Times New Roman"/>
                <a:cs typeface="Times New Roman"/>
              </a:rPr>
              <a:t>pac</a:t>
            </a:r>
            <a:r>
              <a:rPr sz="1700" dirty="0">
                <a:latin typeface="Times New Roman"/>
                <a:cs typeface="Times New Roman"/>
              </a:rPr>
              <a:t>e</a:t>
            </a:r>
            <a:r>
              <a:rPr sz="1700" spc="-80" dirty="0">
                <a:latin typeface="Times New Roman"/>
                <a:cs typeface="Times New Roman"/>
              </a:rPr>
              <a:t> </a:t>
            </a:r>
            <a:r>
              <a:rPr sz="1700" spc="30" dirty="0">
                <a:latin typeface="Times New Roman"/>
                <a:cs typeface="Times New Roman"/>
              </a:rPr>
              <a:t>fr</a:t>
            </a:r>
            <a:r>
              <a:rPr sz="1700" spc="-55" dirty="0">
                <a:latin typeface="Times New Roman"/>
                <a:cs typeface="Times New Roman"/>
              </a:rPr>
              <a:t>o</a:t>
            </a:r>
            <a:r>
              <a:rPr sz="1700" dirty="0">
                <a:latin typeface="Times New Roman"/>
                <a:cs typeface="Times New Roman"/>
              </a:rPr>
              <a:t>m</a:t>
            </a:r>
            <a:r>
              <a:rPr sz="1700" spc="-150" dirty="0">
                <a:latin typeface="Times New Roman"/>
                <a:cs typeface="Times New Roman"/>
              </a:rPr>
              <a:t> </a:t>
            </a:r>
            <a:r>
              <a:rPr sz="1700" spc="25" dirty="0">
                <a:latin typeface="Times New Roman"/>
                <a:cs typeface="Times New Roman"/>
              </a:rPr>
              <a:t>t</a:t>
            </a:r>
            <a:r>
              <a:rPr sz="1700" spc="45" dirty="0">
                <a:latin typeface="Times New Roman"/>
                <a:cs typeface="Times New Roman"/>
              </a:rPr>
              <a:t>h</a:t>
            </a:r>
            <a:r>
              <a:rPr sz="1700" dirty="0">
                <a:latin typeface="Times New Roman"/>
                <a:cs typeface="Times New Roman"/>
              </a:rPr>
              <a:t>e</a:t>
            </a:r>
            <a:r>
              <a:rPr sz="1700" spc="-80" dirty="0">
                <a:latin typeface="Times New Roman"/>
                <a:cs typeface="Times New Roman"/>
              </a:rPr>
              <a:t> </a:t>
            </a:r>
            <a:r>
              <a:rPr sz="1700" spc="25" dirty="0">
                <a:latin typeface="Times New Roman"/>
                <a:cs typeface="Times New Roman"/>
              </a:rPr>
              <a:t>t</a:t>
            </a:r>
            <a:r>
              <a:rPr sz="1700" spc="30" dirty="0">
                <a:latin typeface="Times New Roman"/>
                <a:cs typeface="Times New Roman"/>
              </a:rPr>
              <a:t>r</a:t>
            </a:r>
            <a:r>
              <a:rPr sz="1700" spc="45" dirty="0">
                <a:latin typeface="Times New Roman"/>
                <a:cs typeface="Times New Roman"/>
              </a:rPr>
              <a:t>an</a:t>
            </a:r>
            <a:r>
              <a:rPr sz="1700" spc="35" dirty="0">
                <a:latin typeface="Times New Roman"/>
                <a:cs typeface="Times New Roman"/>
              </a:rPr>
              <a:t>s</a:t>
            </a:r>
            <a:r>
              <a:rPr sz="1700" spc="-25" dirty="0">
                <a:latin typeface="Times New Roman"/>
                <a:cs typeface="Times New Roman"/>
              </a:rPr>
              <a:t>m</a:t>
            </a:r>
            <a:r>
              <a:rPr sz="1700" spc="25" dirty="0">
                <a:latin typeface="Times New Roman"/>
                <a:cs typeface="Times New Roman"/>
              </a:rPr>
              <a:t>itt</a:t>
            </a:r>
            <a:r>
              <a:rPr sz="1700" spc="-55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95" dirty="0">
                <a:latin typeface="Times New Roman"/>
                <a:cs typeface="Times New Roman"/>
              </a:rPr>
              <a:t> </a:t>
            </a:r>
            <a:r>
              <a:rPr sz="1700" spc="45" dirty="0">
                <a:latin typeface="Times New Roman"/>
                <a:cs typeface="Times New Roman"/>
              </a:rPr>
              <a:t>an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-8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</a:t>
            </a:r>
            <a:r>
              <a:rPr sz="1700" spc="-80" dirty="0">
                <a:latin typeface="Times New Roman"/>
                <a:cs typeface="Times New Roman"/>
              </a:rPr>
              <a:t> </a:t>
            </a:r>
            <a:r>
              <a:rPr sz="1700" spc="30" dirty="0">
                <a:latin typeface="Times New Roman"/>
                <a:cs typeface="Times New Roman"/>
              </a:rPr>
              <a:t>r</a:t>
            </a:r>
            <a:r>
              <a:rPr sz="1700" spc="45" dirty="0">
                <a:latin typeface="Times New Roman"/>
                <a:cs typeface="Times New Roman"/>
              </a:rPr>
              <a:t>e</a:t>
            </a:r>
            <a:r>
              <a:rPr sz="1700" spc="30" dirty="0">
                <a:latin typeface="Times New Roman"/>
                <a:cs typeface="Times New Roman"/>
              </a:rPr>
              <a:t>f</a:t>
            </a:r>
            <a:r>
              <a:rPr sz="1700" spc="25" dirty="0">
                <a:latin typeface="Times New Roman"/>
                <a:cs typeface="Times New Roman"/>
              </a:rPr>
              <a:t>l</a:t>
            </a:r>
            <a:r>
              <a:rPr sz="1700" spc="45" dirty="0">
                <a:latin typeface="Times New Roman"/>
                <a:cs typeface="Times New Roman"/>
              </a:rPr>
              <a:t>ec</a:t>
            </a:r>
            <a:r>
              <a:rPr sz="1700" spc="-75" dirty="0">
                <a:latin typeface="Times New Roman"/>
                <a:cs typeface="Times New Roman"/>
              </a:rPr>
              <a:t>t</a:t>
            </a:r>
            <a:r>
              <a:rPr sz="1700" spc="45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-80" dirty="0">
                <a:latin typeface="Times New Roman"/>
                <a:cs typeface="Times New Roman"/>
              </a:rPr>
              <a:t> </a:t>
            </a:r>
            <a:r>
              <a:rPr sz="1700" spc="30" dirty="0">
                <a:latin typeface="Times New Roman"/>
                <a:cs typeface="Times New Roman"/>
              </a:rPr>
              <a:t>r</a:t>
            </a:r>
            <a:r>
              <a:rPr sz="1700" spc="45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y  </a:t>
            </a:r>
            <a:r>
              <a:rPr sz="1700" spc="30" dirty="0">
                <a:latin typeface="Times New Roman"/>
                <a:cs typeface="Times New Roman"/>
              </a:rPr>
              <a:t>fr</a:t>
            </a:r>
            <a:r>
              <a:rPr sz="1700" spc="50" dirty="0">
                <a:latin typeface="Times New Roman"/>
                <a:cs typeface="Times New Roman"/>
              </a:rPr>
              <a:t>o</a:t>
            </a:r>
            <a:r>
              <a:rPr sz="1700" dirty="0">
                <a:latin typeface="Times New Roman"/>
                <a:cs typeface="Times New Roman"/>
              </a:rPr>
              <a:t>m</a:t>
            </a:r>
            <a:r>
              <a:rPr sz="1700" spc="-150" dirty="0">
                <a:latin typeface="Times New Roman"/>
                <a:cs typeface="Times New Roman"/>
              </a:rPr>
              <a:t> </a:t>
            </a:r>
            <a:r>
              <a:rPr sz="1700" spc="25" dirty="0">
                <a:latin typeface="Times New Roman"/>
                <a:cs typeface="Times New Roman"/>
              </a:rPr>
              <a:t>t</a:t>
            </a:r>
            <a:r>
              <a:rPr sz="1700" spc="50" dirty="0">
                <a:latin typeface="Times New Roman"/>
                <a:cs typeface="Times New Roman"/>
              </a:rPr>
              <a:t>h</a:t>
            </a:r>
            <a:r>
              <a:rPr sz="1700" dirty="0">
                <a:latin typeface="Times New Roman"/>
                <a:cs typeface="Times New Roman"/>
              </a:rPr>
              <a:t>e</a:t>
            </a:r>
            <a:r>
              <a:rPr sz="1700" spc="-80" dirty="0">
                <a:latin typeface="Times New Roman"/>
                <a:cs typeface="Times New Roman"/>
              </a:rPr>
              <a:t> </a:t>
            </a:r>
            <a:r>
              <a:rPr sz="1700" spc="50" dirty="0">
                <a:latin typeface="Times New Roman"/>
                <a:cs typeface="Times New Roman"/>
              </a:rPr>
              <a:t>g</a:t>
            </a:r>
            <a:r>
              <a:rPr sz="1700" spc="30" dirty="0">
                <a:latin typeface="Times New Roman"/>
                <a:cs typeface="Times New Roman"/>
              </a:rPr>
              <a:t>r</a:t>
            </a:r>
            <a:r>
              <a:rPr sz="1700" spc="50" dirty="0">
                <a:latin typeface="Times New Roman"/>
                <a:cs typeface="Times New Roman"/>
              </a:rPr>
              <a:t>oun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-75" dirty="0">
                <a:latin typeface="Times New Roman"/>
                <a:cs typeface="Times New Roman"/>
              </a:rPr>
              <a:t> </a:t>
            </a:r>
            <a:r>
              <a:rPr sz="1700" spc="35" dirty="0">
                <a:latin typeface="Times New Roman"/>
                <a:cs typeface="Times New Roman"/>
              </a:rPr>
              <a:t>s</a:t>
            </a:r>
            <a:r>
              <a:rPr sz="1700" spc="50" dirty="0">
                <a:latin typeface="Times New Roman"/>
                <a:cs typeface="Times New Roman"/>
              </a:rPr>
              <a:t>u</a:t>
            </a:r>
            <a:r>
              <a:rPr sz="1700" spc="30" dirty="0">
                <a:latin typeface="Times New Roman"/>
                <a:cs typeface="Times New Roman"/>
              </a:rPr>
              <a:t>rf</a:t>
            </a:r>
            <a:r>
              <a:rPr sz="1700" spc="45" dirty="0">
                <a:latin typeface="Times New Roman"/>
                <a:cs typeface="Times New Roman"/>
              </a:rPr>
              <a:t>ac</a:t>
            </a:r>
            <a:r>
              <a:rPr sz="1700" spc="-65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.</a:t>
            </a:r>
            <a:endParaRPr sz="1700">
              <a:latin typeface="Times New Roman"/>
              <a:cs typeface="Times New Roman"/>
            </a:endParaRPr>
          </a:p>
          <a:p>
            <a:pPr marL="228600" marR="163830" indent="-228600">
              <a:lnSpc>
                <a:spcPts val="2000"/>
              </a:lnSpc>
              <a:spcBef>
                <a:spcPts val="160"/>
              </a:spcBef>
              <a:buFont typeface="Wingdings"/>
              <a:buChar char=""/>
              <a:tabLst>
                <a:tab pos="228600" algn="l"/>
              </a:tabLst>
            </a:pPr>
            <a:r>
              <a:rPr sz="1700" dirty="0">
                <a:latin typeface="Times New Roman"/>
                <a:cs typeface="Times New Roman"/>
              </a:rPr>
              <a:t>The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30" dirty="0">
                <a:latin typeface="Times New Roman"/>
                <a:cs typeface="Times New Roman"/>
              </a:rPr>
              <a:t>received</a:t>
            </a:r>
            <a:r>
              <a:rPr sz="1700" spc="-8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power</a:t>
            </a:r>
            <a:r>
              <a:rPr sz="1700" spc="-95" dirty="0">
                <a:latin typeface="Times New Roman"/>
                <a:cs typeface="Times New Roman"/>
              </a:rPr>
              <a:t> </a:t>
            </a:r>
            <a:r>
              <a:rPr sz="1700" spc="30" dirty="0">
                <a:latin typeface="Times New Roman"/>
                <a:cs typeface="Times New Roman"/>
              </a:rPr>
              <a:t>due</a:t>
            </a:r>
            <a:r>
              <a:rPr sz="1700" spc="-90" dirty="0">
                <a:latin typeface="Times New Roman"/>
                <a:cs typeface="Times New Roman"/>
              </a:rPr>
              <a:t> </a:t>
            </a:r>
            <a:r>
              <a:rPr sz="1700" spc="10" dirty="0">
                <a:latin typeface="Times New Roman"/>
                <a:cs typeface="Times New Roman"/>
              </a:rPr>
              <a:t>to</a:t>
            </a:r>
            <a:r>
              <a:rPr sz="1700" spc="-80" dirty="0">
                <a:latin typeface="Times New Roman"/>
                <a:cs typeface="Times New Roman"/>
              </a:rPr>
              <a:t> </a:t>
            </a:r>
            <a:r>
              <a:rPr sz="1700" spc="15" dirty="0">
                <a:latin typeface="Times New Roman"/>
                <a:cs typeface="Times New Roman"/>
              </a:rPr>
              <a:t>reflected</a:t>
            </a:r>
            <a:r>
              <a:rPr sz="1700" spc="-80" dirty="0">
                <a:latin typeface="Times New Roman"/>
                <a:cs typeface="Times New Roman"/>
              </a:rPr>
              <a:t> </a:t>
            </a:r>
            <a:r>
              <a:rPr sz="1700" spc="20" dirty="0">
                <a:latin typeface="Times New Roman"/>
                <a:cs typeface="Times New Roman"/>
              </a:rPr>
              <a:t>ray</a:t>
            </a:r>
            <a:r>
              <a:rPr sz="1700" spc="-80" dirty="0">
                <a:latin typeface="Times New Roman"/>
                <a:cs typeface="Times New Roman"/>
              </a:rPr>
              <a:t> </a:t>
            </a:r>
            <a:r>
              <a:rPr sz="1700" spc="20" dirty="0">
                <a:latin typeface="Times New Roman"/>
                <a:cs typeface="Times New Roman"/>
              </a:rPr>
              <a:t>at</a:t>
            </a:r>
            <a:r>
              <a:rPr sz="1700" spc="-10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</a:t>
            </a:r>
            <a:r>
              <a:rPr sz="1700" spc="-85" dirty="0">
                <a:latin typeface="Times New Roman"/>
                <a:cs typeface="Times New Roman"/>
              </a:rPr>
              <a:t> </a:t>
            </a:r>
            <a:r>
              <a:rPr sz="1700" spc="20" dirty="0">
                <a:latin typeface="Times New Roman"/>
                <a:cs typeface="Times New Roman"/>
              </a:rPr>
              <a:t>distance</a:t>
            </a:r>
            <a:r>
              <a:rPr sz="1700" spc="-8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-80" dirty="0">
                <a:latin typeface="Times New Roman"/>
                <a:cs typeface="Times New Roman"/>
              </a:rPr>
              <a:t> </a:t>
            </a:r>
            <a:r>
              <a:rPr sz="1700" spc="25" dirty="0">
                <a:latin typeface="Times New Roman"/>
                <a:cs typeface="Times New Roman"/>
              </a:rPr>
              <a:t>from </a:t>
            </a:r>
            <a:r>
              <a:rPr sz="1700" spc="-409" dirty="0">
                <a:latin typeface="Times New Roman"/>
                <a:cs typeface="Times New Roman"/>
              </a:rPr>
              <a:t> </a:t>
            </a:r>
            <a:r>
              <a:rPr sz="1700" spc="25" dirty="0">
                <a:latin typeface="Times New Roman"/>
                <a:cs typeface="Times New Roman"/>
              </a:rPr>
              <a:t>t</a:t>
            </a:r>
            <a:r>
              <a:rPr sz="1700" spc="45" dirty="0">
                <a:latin typeface="Times New Roman"/>
                <a:cs typeface="Times New Roman"/>
              </a:rPr>
              <a:t>h</a:t>
            </a:r>
            <a:r>
              <a:rPr sz="1700" dirty="0">
                <a:latin typeface="Times New Roman"/>
                <a:cs typeface="Times New Roman"/>
              </a:rPr>
              <a:t>e</a:t>
            </a:r>
            <a:r>
              <a:rPr sz="1700" spc="-80" dirty="0">
                <a:latin typeface="Times New Roman"/>
                <a:cs typeface="Times New Roman"/>
              </a:rPr>
              <a:t> </a:t>
            </a:r>
            <a:r>
              <a:rPr sz="1700" spc="-40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x</a:t>
            </a:r>
            <a:r>
              <a:rPr sz="1700" spc="25" dirty="0">
                <a:latin typeface="Times New Roman"/>
                <a:cs typeface="Times New Roman"/>
              </a:rPr>
              <a:t> </a:t>
            </a:r>
            <a:r>
              <a:rPr sz="1700" spc="45" dirty="0">
                <a:latin typeface="Times New Roman"/>
                <a:cs typeface="Times New Roman"/>
              </a:rPr>
              <a:t>ca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-75" dirty="0">
                <a:latin typeface="Times New Roman"/>
                <a:cs typeface="Times New Roman"/>
              </a:rPr>
              <a:t> </a:t>
            </a:r>
            <a:r>
              <a:rPr sz="1700" spc="50" dirty="0">
                <a:latin typeface="Times New Roman"/>
                <a:cs typeface="Times New Roman"/>
              </a:rPr>
              <a:t>b</a:t>
            </a:r>
            <a:r>
              <a:rPr sz="1700" dirty="0">
                <a:latin typeface="Times New Roman"/>
                <a:cs typeface="Times New Roman"/>
              </a:rPr>
              <a:t>e</a:t>
            </a:r>
            <a:r>
              <a:rPr sz="1700" spc="-80" dirty="0">
                <a:latin typeface="Times New Roman"/>
                <a:cs typeface="Times New Roman"/>
              </a:rPr>
              <a:t> </a:t>
            </a:r>
            <a:r>
              <a:rPr sz="1700" spc="45" dirty="0">
                <a:latin typeface="Times New Roman"/>
                <a:cs typeface="Times New Roman"/>
              </a:rPr>
              <a:t>e</a:t>
            </a:r>
            <a:r>
              <a:rPr sz="1700" spc="50" dirty="0">
                <a:latin typeface="Times New Roman"/>
                <a:cs typeface="Times New Roman"/>
              </a:rPr>
              <a:t>xp</a:t>
            </a:r>
            <a:r>
              <a:rPr sz="1700" spc="30" dirty="0">
                <a:latin typeface="Times New Roman"/>
                <a:cs typeface="Times New Roman"/>
              </a:rPr>
              <a:t>r</a:t>
            </a:r>
            <a:r>
              <a:rPr sz="1700" spc="45" dirty="0">
                <a:latin typeface="Times New Roman"/>
                <a:cs typeface="Times New Roman"/>
              </a:rPr>
              <a:t>e</a:t>
            </a:r>
            <a:r>
              <a:rPr sz="1700" spc="35" dirty="0">
                <a:latin typeface="Times New Roman"/>
                <a:cs typeface="Times New Roman"/>
              </a:rPr>
              <a:t>ss</a:t>
            </a:r>
            <a:r>
              <a:rPr sz="1700" spc="45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-175" dirty="0">
                <a:latin typeface="Times New Roman"/>
                <a:cs typeface="Times New Roman"/>
              </a:rPr>
              <a:t> </a:t>
            </a:r>
            <a:r>
              <a:rPr sz="1700" spc="45" dirty="0">
                <a:latin typeface="Times New Roman"/>
                <a:cs typeface="Times New Roman"/>
              </a:rPr>
              <a:t>a</a:t>
            </a:r>
            <a:r>
              <a:rPr sz="1700" spc="35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: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742949" y="5759450"/>
            <a:ext cx="6083300" cy="3416300"/>
          </a:xfrm>
          <a:custGeom>
            <a:avLst/>
            <a:gdLst/>
            <a:ahLst/>
            <a:cxnLst/>
            <a:rect l="l" t="t" r="r" b="b"/>
            <a:pathLst>
              <a:path w="6083300" h="3416300">
                <a:moveTo>
                  <a:pt x="0" y="0"/>
                </a:moveTo>
                <a:lnTo>
                  <a:pt x="6083300" y="0"/>
                </a:lnTo>
                <a:lnTo>
                  <a:pt x="6083300" y="3416300"/>
                </a:lnTo>
                <a:lnTo>
                  <a:pt x="0" y="341630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bject 22"/>
          <p:cNvSpPr txBox="1">
            <a:spLocks noGrp="1"/>
          </p:cNvSpPr>
          <p:nvPr>
            <p:ph type="sldNum" sz="quarter" idx="4294967295"/>
          </p:nvPr>
        </p:nvSpPr>
        <p:spPr>
          <a:xfrm>
            <a:off x="7300913" y="9974263"/>
            <a:ext cx="255587" cy="227012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18</a:t>
            </a:fld>
            <a:endParaRPr dirty="0"/>
          </a:p>
        </p:txBody>
      </p:sp>
      <p:sp>
        <p:nvSpPr>
          <p:cNvPr id="8" name="object 8"/>
          <p:cNvSpPr txBox="1"/>
          <p:nvPr/>
        </p:nvSpPr>
        <p:spPr>
          <a:xfrm>
            <a:off x="742949" y="2184955"/>
            <a:ext cx="5995035" cy="2842260"/>
          </a:xfrm>
          <a:prstGeom prst="rect">
            <a:avLst/>
          </a:prstGeom>
        </p:spPr>
        <p:txBody>
          <a:bodyPr vert="horz" wrap="square" lIns="0" tIns="125730" rIns="0" bIns="0" rtlCol="0">
            <a:spAutoFit/>
          </a:bodyPr>
          <a:lstStyle/>
          <a:p>
            <a:pPr marL="123189">
              <a:lnSpc>
                <a:spcPct val="100000"/>
              </a:lnSpc>
              <a:spcBef>
                <a:spcPts val="990"/>
              </a:spcBef>
            </a:pPr>
            <a:r>
              <a:rPr sz="1600" b="1" spc="20" dirty="0">
                <a:solidFill>
                  <a:srgbClr val="FF0000"/>
                </a:solidFill>
                <a:latin typeface="Cambria"/>
                <a:cs typeface="Cambria"/>
              </a:rPr>
              <a:t>Two</a:t>
            </a:r>
            <a:r>
              <a:rPr sz="1600" b="1" spc="5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600" b="1" spc="40" dirty="0">
                <a:solidFill>
                  <a:srgbClr val="FF0000"/>
                </a:solidFill>
                <a:latin typeface="Cambria"/>
                <a:cs typeface="Cambria"/>
              </a:rPr>
              <a:t>Ray</a:t>
            </a:r>
            <a:r>
              <a:rPr sz="1600" b="1" spc="-5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600" b="1" spc="30" dirty="0">
                <a:solidFill>
                  <a:srgbClr val="FF0000"/>
                </a:solidFill>
                <a:latin typeface="Cambria"/>
                <a:cs typeface="Cambria"/>
              </a:rPr>
              <a:t>Ground</a:t>
            </a:r>
            <a:r>
              <a:rPr sz="1600" b="1" spc="7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600" b="1" spc="-5" dirty="0">
                <a:solidFill>
                  <a:srgbClr val="FF0000"/>
                </a:solidFill>
                <a:latin typeface="Cambria"/>
                <a:cs typeface="Cambria"/>
              </a:rPr>
              <a:t>Reflection</a:t>
            </a:r>
            <a:r>
              <a:rPr sz="1600" b="1" spc="16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600" b="1" spc="50" dirty="0">
                <a:solidFill>
                  <a:srgbClr val="FF0000"/>
                </a:solidFill>
                <a:latin typeface="Cambria"/>
                <a:cs typeface="Cambria"/>
              </a:rPr>
              <a:t>Model</a:t>
            </a:r>
            <a:endParaRPr sz="1600" dirty="0">
              <a:latin typeface="Cambria"/>
              <a:cs typeface="Cambria"/>
            </a:endParaRPr>
          </a:p>
          <a:p>
            <a:pPr marL="292100" marR="170180" indent="-292100">
              <a:lnSpc>
                <a:spcPct val="101899"/>
              </a:lnSpc>
              <a:spcBef>
                <a:spcPts val="960"/>
              </a:spcBef>
              <a:buFont typeface="Wingdings"/>
              <a:buChar char=""/>
              <a:tabLst>
                <a:tab pos="292100" algn="l"/>
              </a:tabLst>
            </a:pPr>
            <a:r>
              <a:rPr sz="1800" dirty="0">
                <a:latin typeface="Times New Roman"/>
                <a:cs typeface="Times New Roman"/>
              </a:rPr>
              <a:t>Under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the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assumed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conditions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the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received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signal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level </a:t>
            </a:r>
            <a:r>
              <a:rPr sz="1800" dirty="0">
                <a:latin typeface="Times New Roman"/>
                <a:cs typeface="Times New Roman"/>
              </a:rPr>
              <a:t> depends</a:t>
            </a:r>
            <a:r>
              <a:rPr sz="1800" spc="4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only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on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the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transmitted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power,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antenna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heights,</a:t>
            </a:r>
            <a:r>
              <a:rPr sz="1800" dirty="0">
                <a:latin typeface="Times New Roman"/>
                <a:cs typeface="Times New Roman"/>
              </a:rPr>
              <a:t> and </a:t>
            </a:r>
            <a:r>
              <a:rPr sz="1800" spc="-434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separation</a:t>
            </a:r>
            <a:r>
              <a:rPr sz="1800" spc="4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distance.</a:t>
            </a:r>
            <a:r>
              <a:rPr sz="1800" spc="-10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There</a:t>
            </a:r>
            <a:r>
              <a:rPr sz="1800" spc="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is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no</a:t>
            </a:r>
            <a:r>
              <a:rPr sz="1800" spc="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frequency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dependence</a:t>
            </a:r>
          </a:p>
          <a:p>
            <a:pPr marL="292100" indent="-292100">
              <a:lnSpc>
                <a:spcPts val="2100"/>
              </a:lnSpc>
              <a:buFont typeface="Wingdings"/>
              <a:buChar char=""/>
              <a:tabLst>
                <a:tab pos="292100" algn="l"/>
              </a:tabLst>
            </a:pP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received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power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falls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with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distance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raised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to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the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fourth</a:t>
            </a:r>
            <a:endParaRPr sz="1800" dirty="0">
              <a:latin typeface="Times New Roman"/>
              <a:cs typeface="Times New Roman"/>
            </a:endParaRPr>
          </a:p>
          <a:p>
            <a:pPr marL="292100">
              <a:lnSpc>
                <a:spcPts val="2130"/>
              </a:lnSpc>
              <a:spcBef>
                <a:spcPts val="40"/>
              </a:spcBef>
            </a:pPr>
            <a:r>
              <a:rPr sz="1800" spc="-20" dirty="0">
                <a:latin typeface="Times New Roman"/>
                <a:cs typeface="Times New Roman"/>
              </a:rPr>
              <a:t>power,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or</a:t>
            </a:r>
            <a:r>
              <a:rPr sz="1800" spc="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at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4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rate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4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40dB/decade</a:t>
            </a:r>
            <a:endParaRPr sz="1800" dirty="0">
              <a:latin typeface="Times New Roman"/>
              <a:cs typeface="Times New Roman"/>
            </a:endParaRPr>
          </a:p>
          <a:p>
            <a:pPr marL="292100" marR="449580" indent="-292100">
              <a:lnSpc>
                <a:spcPts val="2200"/>
              </a:lnSpc>
              <a:spcBef>
                <a:spcPts val="10"/>
              </a:spcBef>
              <a:buFont typeface="Wingdings"/>
              <a:buChar char=""/>
              <a:tabLst>
                <a:tab pos="292100" algn="l"/>
              </a:tabLst>
            </a:pPr>
            <a:r>
              <a:rPr sz="1800" spc="-5" dirty="0">
                <a:latin typeface="Times New Roman"/>
                <a:cs typeface="Times New Roman"/>
              </a:rPr>
              <a:t>This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is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much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more</a:t>
            </a:r>
            <a:r>
              <a:rPr sz="1800" spc="6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rapid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path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lost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that</a:t>
            </a:r>
            <a:r>
              <a:rPr sz="1800" spc="6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is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experienced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in </a:t>
            </a:r>
            <a:r>
              <a:rPr sz="1800" spc="-43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free</a:t>
            </a:r>
            <a:r>
              <a:rPr sz="1800" spc="4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space</a:t>
            </a:r>
            <a:endParaRPr sz="1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445"/>
              </a:spcBef>
              <a:tabLst>
                <a:tab pos="5485765" algn="l"/>
              </a:tabLst>
            </a:pP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42949" y="1492249"/>
            <a:ext cx="6083300" cy="3416300"/>
          </a:xfrm>
          <a:custGeom>
            <a:avLst/>
            <a:gdLst/>
            <a:ahLst/>
            <a:cxnLst/>
            <a:rect l="l" t="t" r="r" b="b"/>
            <a:pathLst>
              <a:path w="6083300" h="3416300">
                <a:moveTo>
                  <a:pt x="0" y="0"/>
                </a:moveTo>
                <a:lnTo>
                  <a:pt x="6083300" y="0"/>
                </a:lnTo>
                <a:lnTo>
                  <a:pt x="6083300" y="3416300"/>
                </a:lnTo>
                <a:lnTo>
                  <a:pt x="0" y="341630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749299" y="5852587"/>
            <a:ext cx="607060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2075" algn="ctr">
              <a:lnSpc>
                <a:spcPct val="100000"/>
              </a:lnSpc>
              <a:spcBef>
                <a:spcPts val="100"/>
              </a:spcBef>
            </a:pPr>
            <a:r>
              <a:rPr sz="2700" spc="-50" dirty="0">
                <a:solidFill>
                  <a:srgbClr val="FFFFFF"/>
                </a:solidFill>
                <a:latin typeface="Times New Roman"/>
                <a:cs typeface="Times New Roman"/>
              </a:rPr>
              <a:t>U</a:t>
            </a:r>
            <a:r>
              <a:rPr sz="2700" spc="50" dirty="0">
                <a:solidFill>
                  <a:srgbClr val="FFFFFF"/>
                </a:solidFill>
                <a:latin typeface="Times New Roman"/>
                <a:cs typeface="Times New Roman"/>
              </a:rPr>
              <a:t>niv</a:t>
            </a:r>
            <a:r>
              <a:rPr sz="2700" dirty="0">
                <a:solidFill>
                  <a:srgbClr val="FFFFFF"/>
                </a:solidFill>
                <a:latin typeface="Times New Roman"/>
                <a:cs typeface="Times New Roman"/>
              </a:rPr>
              <a:t>er</a:t>
            </a:r>
            <a:r>
              <a:rPr sz="2700" spc="50" dirty="0">
                <a:solidFill>
                  <a:srgbClr val="FFFFFF"/>
                </a:solidFill>
                <a:latin typeface="Times New Roman"/>
                <a:cs typeface="Times New Roman"/>
              </a:rPr>
              <a:t>sit</a:t>
            </a:r>
            <a:r>
              <a:rPr sz="2700" dirty="0">
                <a:solidFill>
                  <a:srgbClr val="FFFFFF"/>
                </a:solidFill>
                <a:latin typeface="Times New Roman"/>
                <a:cs typeface="Times New Roman"/>
              </a:rPr>
              <a:t>y</a:t>
            </a:r>
            <a:r>
              <a:rPr sz="2700" spc="-229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700" spc="50" dirty="0">
                <a:solidFill>
                  <a:srgbClr val="FFFFFF"/>
                </a:solidFill>
                <a:latin typeface="Times New Roman"/>
                <a:cs typeface="Times New Roman"/>
              </a:rPr>
              <a:t>o</a:t>
            </a:r>
            <a:r>
              <a:rPr sz="2700" dirty="0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r>
              <a:rPr sz="27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700" spc="-50" dirty="0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sz="2700" dirty="0">
                <a:solidFill>
                  <a:srgbClr val="FFFFFF"/>
                </a:solidFill>
                <a:latin typeface="Times New Roman"/>
                <a:cs typeface="Times New Roman"/>
              </a:rPr>
              <a:t>ar</a:t>
            </a:r>
            <a:r>
              <a:rPr sz="2700"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700" dirty="0">
                <a:solidFill>
                  <a:srgbClr val="FFFFFF"/>
                </a:solidFill>
                <a:latin typeface="Times New Roman"/>
                <a:cs typeface="Times New Roman"/>
              </a:rPr>
              <a:t>es</a:t>
            </a:r>
            <a:r>
              <a:rPr sz="2700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700" spc="-5" dirty="0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sz="27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700" spc="50" dirty="0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sz="2700" dirty="0">
                <a:solidFill>
                  <a:srgbClr val="FFFFFF"/>
                </a:solidFill>
                <a:latin typeface="Times New Roman"/>
                <a:cs typeface="Times New Roman"/>
              </a:rPr>
              <a:t>aam</a:t>
            </a:r>
            <a:endParaRPr sz="27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05794" y="6333903"/>
            <a:ext cx="5461000" cy="1063625"/>
          </a:xfrm>
          <a:prstGeom prst="rect">
            <a:avLst/>
          </a:prstGeom>
        </p:spPr>
        <p:txBody>
          <a:bodyPr vert="horz" wrap="square" lIns="0" tIns="1257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90"/>
              </a:spcBef>
            </a:pPr>
            <a:r>
              <a:rPr sz="1600" b="1" spc="20" dirty="0">
                <a:solidFill>
                  <a:srgbClr val="FF0000"/>
                </a:solidFill>
                <a:latin typeface="Cambria"/>
                <a:cs typeface="Cambria"/>
              </a:rPr>
              <a:t>Two</a:t>
            </a:r>
            <a:r>
              <a:rPr sz="1600" b="1" spc="5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600" b="1" spc="40" dirty="0">
                <a:solidFill>
                  <a:srgbClr val="FF0000"/>
                </a:solidFill>
                <a:latin typeface="Cambria"/>
                <a:cs typeface="Cambria"/>
              </a:rPr>
              <a:t>Ray</a:t>
            </a:r>
            <a:r>
              <a:rPr sz="1600" b="1" spc="-5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600" b="1" spc="30" dirty="0">
                <a:solidFill>
                  <a:srgbClr val="FF0000"/>
                </a:solidFill>
                <a:latin typeface="Cambria"/>
                <a:cs typeface="Cambria"/>
              </a:rPr>
              <a:t>Ground</a:t>
            </a:r>
            <a:r>
              <a:rPr sz="1600" b="1" spc="7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600" b="1" spc="-5" dirty="0">
                <a:solidFill>
                  <a:srgbClr val="FF0000"/>
                </a:solidFill>
                <a:latin typeface="Cambria"/>
                <a:cs typeface="Cambria"/>
              </a:rPr>
              <a:t>Reflection</a:t>
            </a:r>
            <a:r>
              <a:rPr sz="1600" b="1" spc="16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600" b="1" spc="50" dirty="0">
                <a:solidFill>
                  <a:srgbClr val="FF0000"/>
                </a:solidFill>
                <a:latin typeface="Cambria"/>
                <a:cs typeface="Cambria"/>
              </a:rPr>
              <a:t>Model</a:t>
            </a:r>
            <a:endParaRPr sz="1600">
              <a:latin typeface="Cambria"/>
              <a:cs typeface="Cambria"/>
            </a:endParaRPr>
          </a:p>
          <a:p>
            <a:pPr marR="5080">
              <a:lnSpc>
                <a:spcPct val="101899"/>
              </a:lnSpc>
              <a:spcBef>
                <a:spcPts val="960"/>
              </a:spcBef>
            </a:pP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path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loss</a:t>
            </a:r>
            <a:r>
              <a:rPr sz="1800" spc="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for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the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2-ray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model(with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antena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gains)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can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be </a:t>
            </a:r>
            <a:r>
              <a:rPr sz="1800" spc="-434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expressed</a:t>
            </a:r>
            <a:r>
              <a:rPr sz="1800" spc="4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in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dB</a:t>
            </a:r>
            <a:r>
              <a:rPr sz="1800" spc="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as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736599" y="5753100"/>
            <a:ext cx="6096000" cy="3429000"/>
            <a:chOff x="736599" y="5753100"/>
            <a:chExt cx="6096000" cy="3429000"/>
          </a:xfrm>
        </p:grpSpPr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34955" y="8131548"/>
              <a:ext cx="5690625" cy="301998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83074" y="7241419"/>
              <a:ext cx="1906309" cy="707571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742949" y="5759450"/>
              <a:ext cx="6083300" cy="3416300"/>
            </a:xfrm>
            <a:custGeom>
              <a:avLst/>
              <a:gdLst/>
              <a:ahLst/>
              <a:cxnLst/>
              <a:rect l="l" t="t" r="r" b="b"/>
              <a:pathLst>
                <a:path w="6083300" h="3416300">
                  <a:moveTo>
                    <a:pt x="0" y="0"/>
                  </a:moveTo>
                  <a:lnTo>
                    <a:pt x="6083300" y="0"/>
                  </a:lnTo>
                  <a:lnTo>
                    <a:pt x="6083300" y="3416300"/>
                  </a:lnTo>
                  <a:lnTo>
                    <a:pt x="0" y="34163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>
            <a:spLocks noGrp="1"/>
          </p:cNvSpPr>
          <p:nvPr>
            <p:ph idx="1"/>
          </p:nvPr>
        </p:nvSpPr>
        <p:spPr>
          <a:xfrm>
            <a:off x="742949" y="1686134"/>
            <a:ext cx="6517481" cy="2854115"/>
          </a:xfrm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lstStyle/>
          <a:p>
            <a:pPr marL="356235">
              <a:lnSpc>
                <a:spcPct val="100000"/>
              </a:lnSpc>
              <a:spcBef>
                <a:spcPts val="1105"/>
              </a:spcBef>
            </a:pPr>
            <a:r>
              <a:rPr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Fresnel</a:t>
            </a:r>
            <a:r>
              <a:rPr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zone</a:t>
            </a:r>
          </a:p>
          <a:p>
            <a:pPr marL="648335" marR="587375" indent="-292100">
              <a:lnSpc>
                <a:spcPct val="101899"/>
              </a:lnSpc>
              <a:spcBef>
                <a:spcPts val="860"/>
              </a:spcBef>
              <a:buFont typeface="Wingdings"/>
              <a:buChar char=""/>
              <a:tabLst>
                <a:tab pos="649605" algn="l"/>
              </a:tabLst>
            </a:pPr>
            <a:r>
              <a:rPr sz="1800" b="0" dirty="0">
                <a:solidFill>
                  <a:srgbClr val="454545"/>
                </a:solidFill>
                <a:latin typeface="Times New Roman"/>
                <a:cs typeface="Times New Roman"/>
              </a:rPr>
              <a:t>The</a:t>
            </a:r>
            <a:r>
              <a:rPr sz="1800" b="0" spc="55" dirty="0">
                <a:solidFill>
                  <a:srgbClr val="454545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454545"/>
                </a:solidFill>
                <a:latin typeface="Times New Roman"/>
                <a:cs typeface="Times New Roman"/>
              </a:rPr>
              <a:t>Fresnel</a:t>
            </a:r>
            <a:r>
              <a:rPr sz="1800" spc="-45" dirty="0">
                <a:solidFill>
                  <a:srgbClr val="454545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454545"/>
                </a:solidFill>
                <a:latin typeface="Times New Roman"/>
                <a:cs typeface="Times New Roman"/>
              </a:rPr>
              <a:t>zone</a:t>
            </a:r>
            <a:r>
              <a:rPr sz="1800" spc="-45" dirty="0">
                <a:solidFill>
                  <a:srgbClr val="454545"/>
                </a:solidFill>
                <a:latin typeface="Times New Roman"/>
                <a:cs typeface="Times New Roman"/>
              </a:rPr>
              <a:t> </a:t>
            </a:r>
            <a:r>
              <a:rPr sz="1800" b="0" dirty="0">
                <a:solidFill>
                  <a:srgbClr val="454545"/>
                </a:solidFill>
                <a:latin typeface="Times New Roman"/>
                <a:cs typeface="Times New Roman"/>
              </a:rPr>
              <a:t>is</a:t>
            </a:r>
            <a:r>
              <a:rPr sz="1800" b="0" spc="60" dirty="0">
                <a:solidFill>
                  <a:srgbClr val="454545"/>
                </a:solidFill>
                <a:latin typeface="Times New Roman"/>
                <a:cs typeface="Times New Roman"/>
              </a:rPr>
              <a:t> </a:t>
            </a:r>
            <a:r>
              <a:rPr sz="1800" b="0" dirty="0">
                <a:solidFill>
                  <a:srgbClr val="454545"/>
                </a:solidFill>
                <a:latin typeface="Times New Roman"/>
                <a:cs typeface="Times New Roman"/>
              </a:rPr>
              <a:t>a</a:t>
            </a:r>
            <a:r>
              <a:rPr sz="1800" b="0" spc="-40" dirty="0">
                <a:solidFill>
                  <a:srgbClr val="0563C1"/>
                </a:solidFill>
                <a:latin typeface="Times New Roman"/>
                <a:cs typeface="Times New Roman"/>
              </a:rPr>
              <a:t> </a:t>
            </a:r>
            <a:r>
              <a:rPr sz="1800" b="0" u="sng" spc="-5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Times New Roman"/>
                <a:cs typeface="Times New Roman"/>
              </a:rPr>
              <a:t>three-dimensional</a:t>
            </a:r>
            <a:r>
              <a:rPr sz="1800" b="0" spc="-5" dirty="0">
                <a:solidFill>
                  <a:srgbClr val="454545"/>
                </a:solidFill>
                <a:latin typeface="Times New Roman"/>
                <a:cs typeface="Times New Roman"/>
              </a:rPr>
              <a:t>,</a:t>
            </a:r>
            <a:r>
              <a:rPr sz="1800" b="0" spc="5" dirty="0">
                <a:solidFill>
                  <a:srgbClr val="454545"/>
                </a:solidFill>
                <a:latin typeface="Times New Roman"/>
                <a:cs typeface="Times New Roman"/>
              </a:rPr>
              <a:t> </a:t>
            </a:r>
            <a:r>
              <a:rPr sz="1800" b="0" spc="-5" dirty="0">
                <a:solidFill>
                  <a:srgbClr val="454545"/>
                </a:solidFill>
                <a:latin typeface="Times New Roman"/>
                <a:cs typeface="Times New Roman"/>
              </a:rPr>
              <a:t>concentric, </a:t>
            </a:r>
            <a:r>
              <a:rPr sz="1800" b="0" spc="-434" dirty="0">
                <a:solidFill>
                  <a:srgbClr val="454545"/>
                </a:solidFill>
                <a:latin typeface="Times New Roman"/>
                <a:cs typeface="Times New Roman"/>
              </a:rPr>
              <a:t> </a:t>
            </a:r>
            <a:r>
              <a:rPr sz="1800" b="0" spc="-5" dirty="0">
                <a:solidFill>
                  <a:srgbClr val="454545"/>
                </a:solidFill>
                <a:latin typeface="Times New Roman"/>
                <a:cs typeface="Times New Roman"/>
              </a:rPr>
              <a:t>ellipse</a:t>
            </a:r>
            <a:r>
              <a:rPr sz="1800" b="0" dirty="0">
                <a:solidFill>
                  <a:srgbClr val="454545"/>
                </a:solidFill>
                <a:latin typeface="Times New Roman"/>
                <a:cs typeface="Times New Roman"/>
              </a:rPr>
              <a:t> </a:t>
            </a:r>
            <a:r>
              <a:rPr sz="1800" b="0" spc="-5" dirty="0">
                <a:solidFill>
                  <a:srgbClr val="454545"/>
                </a:solidFill>
                <a:latin typeface="Times New Roman"/>
                <a:cs typeface="Times New Roman"/>
              </a:rPr>
              <a:t>which defines</a:t>
            </a:r>
            <a:r>
              <a:rPr sz="1800" b="0" dirty="0">
                <a:solidFill>
                  <a:srgbClr val="454545"/>
                </a:solidFill>
                <a:latin typeface="Times New Roman"/>
                <a:cs typeface="Times New Roman"/>
              </a:rPr>
              <a:t> </a:t>
            </a:r>
            <a:r>
              <a:rPr sz="1800" b="0" spc="-5" dirty="0">
                <a:solidFill>
                  <a:srgbClr val="454545"/>
                </a:solidFill>
                <a:latin typeface="Times New Roman"/>
                <a:cs typeface="Times New Roman"/>
              </a:rPr>
              <a:t>the pattern</a:t>
            </a:r>
            <a:r>
              <a:rPr sz="1800" b="0" spc="440" dirty="0">
                <a:solidFill>
                  <a:srgbClr val="454545"/>
                </a:solidFill>
                <a:latin typeface="Times New Roman"/>
                <a:cs typeface="Times New Roman"/>
              </a:rPr>
              <a:t> </a:t>
            </a:r>
            <a:r>
              <a:rPr sz="1800" b="0" dirty="0">
                <a:solidFill>
                  <a:srgbClr val="454545"/>
                </a:solidFill>
                <a:latin typeface="Times New Roman"/>
                <a:cs typeface="Times New Roman"/>
              </a:rPr>
              <a:t>of</a:t>
            </a:r>
            <a:r>
              <a:rPr sz="1800" b="0" dirty="0">
                <a:solidFill>
                  <a:srgbClr val="0563C1"/>
                </a:solidFill>
                <a:latin typeface="Times New Roman"/>
                <a:cs typeface="Times New Roman"/>
              </a:rPr>
              <a:t> </a:t>
            </a:r>
            <a:r>
              <a:rPr sz="1800" b="0" u="sng" spc="-5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Times New Roman"/>
                <a:cs typeface="Times New Roman"/>
              </a:rPr>
              <a:t>radiation</a:t>
            </a:r>
            <a:r>
              <a:rPr sz="1800" b="0" spc="440" dirty="0">
                <a:solidFill>
                  <a:srgbClr val="0563C1"/>
                </a:solidFill>
                <a:latin typeface="Times New Roman"/>
                <a:cs typeface="Times New Roman"/>
              </a:rPr>
              <a:t> </a:t>
            </a:r>
            <a:r>
              <a:rPr sz="1800" b="0" spc="-5" dirty="0">
                <a:solidFill>
                  <a:srgbClr val="454545"/>
                </a:solidFill>
                <a:latin typeface="Times New Roman"/>
                <a:cs typeface="Times New Roman"/>
              </a:rPr>
              <a:t>in </a:t>
            </a:r>
            <a:r>
              <a:rPr sz="1800" b="0" dirty="0">
                <a:solidFill>
                  <a:srgbClr val="0563C1"/>
                </a:solidFill>
                <a:latin typeface="Times New Roman"/>
                <a:cs typeface="Times New Roman"/>
              </a:rPr>
              <a:t> </a:t>
            </a:r>
            <a:r>
              <a:rPr sz="1800" b="0" u="sng" spc="-5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Times New Roman"/>
                <a:cs typeface="Times New Roman"/>
              </a:rPr>
              <a:t>radio</a:t>
            </a:r>
            <a:r>
              <a:rPr sz="1800" b="0" spc="50" dirty="0">
                <a:solidFill>
                  <a:srgbClr val="0563C1"/>
                </a:solidFill>
                <a:latin typeface="Times New Roman"/>
                <a:cs typeface="Times New Roman"/>
              </a:rPr>
              <a:t> </a:t>
            </a:r>
            <a:r>
              <a:rPr sz="1800" b="0" spc="-5" dirty="0">
                <a:solidFill>
                  <a:srgbClr val="454545"/>
                </a:solidFill>
                <a:latin typeface="Times New Roman"/>
                <a:cs typeface="Times New Roman"/>
              </a:rPr>
              <a:t>transmissions</a:t>
            </a:r>
            <a:r>
              <a:rPr sz="1800" b="0" spc="-55" dirty="0">
                <a:solidFill>
                  <a:srgbClr val="454545"/>
                </a:solidFill>
                <a:latin typeface="Times New Roman"/>
                <a:cs typeface="Times New Roman"/>
              </a:rPr>
              <a:t> </a:t>
            </a:r>
            <a:r>
              <a:rPr sz="1800" b="0" spc="-5" dirty="0">
                <a:solidFill>
                  <a:srgbClr val="454545"/>
                </a:solidFill>
                <a:latin typeface="Times New Roman"/>
                <a:cs typeface="Times New Roman"/>
              </a:rPr>
              <a:t>(Theoretical</a:t>
            </a:r>
            <a:r>
              <a:rPr sz="1800" b="0" spc="55" dirty="0">
                <a:solidFill>
                  <a:srgbClr val="454545"/>
                </a:solidFill>
                <a:latin typeface="Times New Roman"/>
                <a:cs typeface="Times New Roman"/>
              </a:rPr>
              <a:t> </a:t>
            </a:r>
            <a:r>
              <a:rPr sz="1800" b="0" spc="-5" dirty="0">
                <a:solidFill>
                  <a:srgbClr val="454545"/>
                </a:solidFill>
                <a:latin typeface="Times New Roman"/>
                <a:cs typeface="Times New Roman"/>
              </a:rPr>
              <a:t>Envelop)</a:t>
            </a:r>
            <a:endParaRPr sz="1800" dirty="0">
              <a:latin typeface="Times New Roman"/>
              <a:cs typeface="Times New Roman"/>
            </a:endParaRPr>
          </a:p>
          <a:p>
            <a:pPr marL="648335" indent="-292735">
              <a:lnSpc>
                <a:spcPts val="2100"/>
              </a:lnSpc>
              <a:buFont typeface="Wingdings"/>
              <a:buChar char=""/>
              <a:tabLst>
                <a:tab pos="649605" algn="l"/>
              </a:tabLst>
            </a:pPr>
            <a:r>
              <a:rPr sz="1800" b="0" spc="-5" dirty="0">
                <a:solidFill>
                  <a:srgbClr val="454545"/>
                </a:solidFill>
                <a:latin typeface="Times New Roman"/>
                <a:cs typeface="Times New Roman"/>
              </a:rPr>
              <a:t>Named</a:t>
            </a:r>
            <a:r>
              <a:rPr sz="1800" b="0" spc="55" dirty="0">
                <a:solidFill>
                  <a:srgbClr val="454545"/>
                </a:solidFill>
                <a:latin typeface="Times New Roman"/>
                <a:cs typeface="Times New Roman"/>
              </a:rPr>
              <a:t> </a:t>
            </a:r>
            <a:r>
              <a:rPr sz="1800" b="0" spc="-5" dirty="0">
                <a:solidFill>
                  <a:srgbClr val="454545"/>
                </a:solidFill>
                <a:latin typeface="Times New Roman"/>
                <a:cs typeface="Times New Roman"/>
              </a:rPr>
              <a:t>after</a:t>
            </a:r>
            <a:r>
              <a:rPr sz="1800" b="0" spc="-45" dirty="0">
                <a:solidFill>
                  <a:srgbClr val="454545"/>
                </a:solidFill>
                <a:latin typeface="Times New Roman"/>
                <a:cs typeface="Times New Roman"/>
              </a:rPr>
              <a:t> </a:t>
            </a:r>
            <a:r>
              <a:rPr sz="1800" b="0" spc="-5" dirty="0">
                <a:solidFill>
                  <a:srgbClr val="454545"/>
                </a:solidFill>
                <a:latin typeface="Times New Roman"/>
                <a:cs typeface="Times New Roman"/>
              </a:rPr>
              <a:t>the</a:t>
            </a:r>
            <a:r>
              <a:rPr sz="1800" b="0" spc="60" dirty="0">
                <a:solidFill>
                  <a:srgbClr val="454545"/>
                </a:solidFill>
                <a:latin typeface="Times New Roman"/>
                <a:cs typeface="Times New Roman"/>
              </a:rPr>
              <a:t> </a:t>
            </a:r>
            <a:r>
              <a:rPr sz="1800" b="0" spc="-5" dirty="0">
                <a:solidFill>
                  <a:srgbClr val="454545"/>
                </a:solidFill>
                <a:latin typeface="Times New Roman"/>
                <a:cs typeface="Times New Roman"/>
              </a:rPr>
              <a:t>physicist</a:t>
            </a:r>
            <a:r>
              <a:rPr sz="1800" b="0" spc="-150" dirty="0">
                <a:solidFill>
                  <a:srgbClr val="454545"/>
                </a:solidFill>
                <a:latin typeface="Times New Roman"/>
                <a:cs typeface="Times New Roman"/>
              </a:rPr>
              <a:t> </a:t>
            </a:r>
            <a:r>
              <a:rPr sz="1800" b="0" spc="-5" dirty="0">
                <a:solidFill>
                  <a:srgbClr val="454545"/>
                </a:solidFill>
                <a:latin typeface="Times New Roman"/>
                <a:cs typeface="Times New Roman"/>
              </a:rPr>
              <a:t>Augustin-Jean</a:t>
            </a:r>
            <a:r>
              <a:rPr sz="1800" b="0" spc="60" dirty="0">
                <a:solidFill>
                  <a:srgbClr val="454545"/>
                </a:solidFill>
                <a:latin typeface="Times New Roman"/>
                <a:cs typeface="Times New Roman"/>
              </a:rPr>
              <a:t> </a:t>
            </a:r>
            <a:r>
              <a:rPr sz="1800" b="0" spc="-5" dirty="0">
                <a:solidFill>
                  <a:srgbClr val="454545"/>
                </a:solidFill>
                <a:latin typeface="Times New Roman"/>
                <a:cs typeface="Times New Roman"/>
              </a:rPr>
              <a:t>Fresnel.</a:t>
            </a:r>
            <a:endParaRPr sz="1800" dirty="0">
              <a:latin typeface="Times New Roman"/>
              <a:cs typeface="Times New Roman"/>
            </a:endParaRPr>
          </a:p>
          <a:p>
            <a:pPr marL="648335" marR="542925" indent="-292100">
              <a:lnSpc>
                <a:spcPct val="99500"/>
              </a:lnSpc>
              <a:spcBef>
                <a:spcPts val="55"/>
              </a:spcBef>
              <a:buFont typeface="Wingdings"/>
              <a:buChar char=""/>
              <a:tabLst>
                <a:tab pos="649605" algn="l"/>
              </a:tabLst>
            </a:pPr>
            <a:r>
              <a:rPr sz="1800" b="0" spc="-5" dirty="0">
                <a:solidFill>
                  <a:srgbClr val="454545"/>
                </a:solidFill>
                <a:latin typeface="Times New Roman"/>
                <a:cs typeface="Times New Roman"/>
              </a:rPr>
              <a:t>These</a:t>
            </a:r>
            <a:r>
              <a:rPr sz="1800" b="0" spc="50" dirty="0">
                <a:solidFill>
                  <a:srgbClr val="454545"/>
                </a:solidFill>
                <a:latin typeface="Times New Roman"/>
                <a:cs typeface="Times New Roman"/>
              </a:rPr>
              <a:t> </a:t>
            </a:r>
            <a:r>
              <a:rPr sz="1800" b="0" dirty="0">
                <a:solidFill>
                  <a:srgbClr val="454545"/>
                </a:solidFill>
                <a:latin typeface="Times New Roman"/>
                <a:cs typeface="Times New Roman"/>
              </a:rPr>
              <a:t>zones</a:t>
            </a:r>
            <a:r>
              <a:rPr sz="1800" b="0" spc="-55" dirty="0">
                <a:solidFill>
                  <a:srgbClr val="454545"/>
                </a:solidFill>
                <a:latin typeface="Times New Roman"/>
                <a:cs typeface="Times New Roman"/>
              </a:rPr>
              <a:t> </a:t>
            </a:r>
            <a:r>
              <a:rPr sz="1800" b="0" dirty="0">
                <a:solidFill>
                  <a:srgbClr val="454545"/>
                </a:solidFill>
                <a:latin typeface="Times New Roman"/>
                <a:cs typeface="Times New Roman"/>
              </a:rPr>
              <a:t>are</a:t>
            </a:r>
            <a:r>
              <a:rPr sz="1800" b="0" spc="50" dirty="0">
                <a:solidFill>
                  <a:srgbClr val="454545"/>
                </a:solidFill>
                <a:latin typeface="Times New Roman"/>
                <a:cs typeface="Times New Roman"/>
              </a:rPr>
              <a:t> </a:t>
            </a:r>
            <a:r>
              <a:rPr sz="1800" b="0" spc="-5" dirty="0">
                <a:solidFill>
                  <a:srgbClr val="454545"/>
                </a:solidFill>
                <a:latin typeface="Times New Roman"/>
                <a:cs typeface="Times New Roman"/>
              </a:rPr>
              <a:t>used</a:t>
            </a:r>
            <a:r>
              <a:rPr sz="1800" b="0" spc="-50" dirty="0">
                <a:solidFill>
                  <a:srgbClr val="454545"/>
                </a:solidFill>
                <a:latin typeface="Times New Roman"/>
                <a:cs typeface="Times New Roman"/>
              </a:rPr>
              <a:t> </a:t>
            </a:r>
            <a:r>
              <a:rPr sz="1800" b="0" spc="-5" dirty="0">
                <a:solidFill>
                  <a:srgbClr val="454545"/>
                </a:solidFill>
                <a:latin typeface="Times New Roman"/>
                <a:cs typeface="Times New Roman"/>
              </a:rPr>
              <a:t>to</a:t>
            </a:r>
            <a:r>
              <a:rPr sz="1800" b="0" spc="50" dirty="0">
                <a:solidFill>
                  <a:srgbClr val="454545"/>
                </a:solidFill>
                <a:latin typeface="Times New Roman"/>
                <a:cs typeface="Times New Roman"/>
              </a:rPr>
              <a:t> </a:t>
            </a:r>
            <a:r>
              <a:rPr sz="1800" b="0" spc="-5" dirty="0">
                <a:solidFill>
                  <a:srgbClr val="454545"/>
                </a:solidFill>
                <a:latin typeface="Times New Roman"/>
                <a:cs typeface="Times New Roman"/>
              </a:rPr>
              <a:t>calculate</a:t>
            </a:r>
            <a:r>
              <a:rPr sz="1800" b="0" spc="-50" dirty="0">
                <a:solidFill>
                  <a:srgbClr val="454545"/>
                </a:solidFill>
                <a:latin typeface="Times New Roman"/>
                <a:cs typeface="Times New Roman"/>
              </a:rPr>
              <a:t> </a:t>
            </a:r>
            <a:r>
              <a:rPr sz="1800" b="0" spc="-5" dirty="0">
                <a:solidFill>
                  <a:srgbClr val="454545"/>
                </a:solidFill>
                <a:latin typeface="Times New Roman"/>
                <a:cs typeface="Times New Roman"/>
              </a:rPr>
              <a:t>optimal</a:t>
            </a:r>
            <a:r>
              <a:rPr sz="1800" b="0" spc="50" dirty="0">
                <a:solidFill>
                  <a:srgbClr val="454545"/>
                </a:solidFill>
                <a:latin typeface="Times New Roman"/>
                <a:cs typeface="Times New Roman"/>
              </a:rPr>
              <a:t> </a:t>
            </a:r>
            <a:r>
              <a:rPr sz="1800" b="0" spc="-5" dirty="0">
                <a:solidFill>
                  <a:srgbClr val="454545"/>
                </a:solidFill>
                <a:latin typeface="Times New Roman"/>
                <a:cs typeface="Times New Roman"/>
              </a:rPr>
              <a:t>signal </a:t>
            </a:r>
            <a:r>
              <a:rPr sz="1800" b="0" dirty="0">
                <a:solidFill>
                  <a:srgbClr val="454545"/>
                </a:solidFill>
                <a:latin typeface="Times New Roman"/>
                <a:cs typeface="Times New Roman"/>
              </a:rPr>
              <a:t> </a:t>
            </a:r>
            <a:r>
              <a:rPr sz="1800" b="0" spc="-5" dirty="0">
                <a:solidFill>
                  <a:srgbClr val="454545"/>
                </a:solidFill>
                <a:latin typeface="Times New Roman"/>
                <a:cs typeface="Times New Roman"/>
              </a:rPr>
              <a:t>transmission</a:t>
            </a:r>
            <a:r>
              <a:rPr sz="1800" b="0" spc="55" dirty="0">
                <a:solidFill>
                  <a:srgbClr val="454545"/>
                </a:solidFill>
                <a:latin typeface="Times New Roman"/>
                <a:cs typeface="Times New Roman"/>
              </a:rPr>
              <a:t> </a:t>
            </a:r>
            <a:r>
              <a:rPr sz="1800" b="0" spc="-5" dirty="0">
                <a:solidFill>
                  <a:srgbClr val="454545"/>
                </a:solidFill>
                <a:latin typeface="Times New Roman"/>
                <a:cs typeface="Times New Roman"/>
              </a:rPr>
              <a:t>between</a:t>
            </a:r>
            <a:r>
              <a:rPr sz="1800" b="0" spc="-45" dirty="0">
                <a:solidFill>
                  <a:srgbClr val="454545"/>
                </a:solidFill>
                <a:latin typeface="Times New Roman"/>
                <a:cs typeface="Times New Roman"/>
              </a:rPr>
              <a:t> </a:t>
            </a:r>
            <a:r>
              <a:rPr sz="1800" b="0" spc="-5" dirty="0">
                <a:solidFill>
                  <a:srgbClr val="454545"/>
                </a:solidFill>
                <a:latin typeface="Times New Roman"/>
                <a:cs typeface="Times New Roman"/>
              </a:rPr>
              <a:t>two</a:t>
            </a:r>
            <a:r>
              <a:rPr sz="1800" b="0" spc="55" dirty="0">
                <a:solidFill>
                  <a:srgbClr val="454545"/>
                </a:solidFill>
                <a:latin typeface="Times New Roman"/>
                <a:cs typeface="Times New Roman"/>
              </a:rPr>
              <a:t> </a:t>
            </a:r>
            <a:r>
              <a:rPr sz="1800" b="0" spc="-5" dirty="0">
                <a:solidFill>
                  <a:srgbClr val="454545"/>
                </a:solidFill>
                <a:latin typeface="Times New Roman"/>
                <a:cs typeface="Times New Roman"/>
              </a:rPr>
              <a:t>objects</a:t>
            </a:r>
            <a:r>
              <a:rPr sz="1800" b="0" spc="-50" dirty="0">
                <a:solidFill>
                  <a:srgbClr val="454545"/>
                </a:solidFill>
                <a:latin typeface="Times New Roman"/>
                <a:cs typeface="Times New Roman"/>
              </a:rPr>
              <a:t> </a:t>
            </a:r>
            <a:r>
              <a:rPr sz="1800" b="0" dirty="0">
                <a:solidFill>
                  <a:srgbClr val="454545"/>
                </a:solidFill>
                <a:latin typeface="Times New Roman"/>
                <a:cs typeface="Times New Roman"/>
              </a:rPr>
              <a:t>where</a:t>
            </a:r>
            <a:r>
              <a:rPr sz="1800" b="0" spc="55" dirty="0">
                <a:solidFill>
                  <a:srgbClr val="454545"/>
                </a:solidFill>
                <a:latin typeface="Times New Roman"/>
                <a:cs typeface="Times New Roman"/>
              </a:rPr>
              <a:t> </a:t>
            </a:r>
            <a:r>
              <a:rPr sz="1800" b="0" spc="-5" dirty="0">
                <a:solidFill>
                  <a:srgbClr val="454545"/>
                </a:solidFill>
                <a:latin typeface="Times New Roman"/>
                <a:cs typeface="Times New Roman"/>
              </a:rPr>
              <a:t>obstructions </a:t>
            </a:r>
            <a:r>
              <a:rPr sz="1800" b="0" spc="-434" dirty="0">
                <a:solidFill>
                  <a:srgbClr val="454545"/>
                </a:solidFill>
                <a:latin typeface="Times New Roman"/>
                <a:cs typeface="Times New Roman"/>
              </a:rPr>
              <a:t> </a:t>
            </a:r>
            <a:r>
              <a:rPr sz="1800" b="0" dirty="0">
                <a:solidFill>
                  <a:srgbClr val="454545"/>
                </a:solidFill>
                <a:latin typeface="Times New Roman"/>
                <a:cs typeface="Times New Roman"/>
              </a:rPr>
              <a:t>are</a:t>
            </a:r>
            <a:r>
              <a:rPr sz="1800" b="0" spc="45" dirty="0">
                <a:solidFill>
                  <a:srgbClr val="454545"/>
                </a:solidFill>
                <a:latin typeface="Times New Roman"/>
                <a:cs typeface="Times New Roman"/>
              </a:rPr>
              <a:t> </a:t>
            </a:r>
            <a:r>
              <a:rPr sz="1800" b="0" spc="-5" dirty="0">
                <a:solidFill>
                  <a:srgbClr val="454545"/>
                </a:solidFill>
                <a:latin typeface="Times New Roman"/>
                <a:cs typeface="Times New Roman"/>
              </a:rPr>
              <a:t>present.</a:t>
            </a:r>
            <a:endParaRPr sz="1800" dirty="0">
              <a:latin typeface="Times New Roman"/>
              <a:cs typeface="Times New Roman"/>
            </a:endParaRPr>
          </a:p>
          <a:p>
            <a:pPr marL="0" indent="0">
              <a:lnSpc>
                <a:spcPct val="100000"/>
              </a:lnSpc>
              <a:spcBef>
                <a:spcPts val="580"/>
              </a:spcBef>
              <a:buNone/>
              <a:tabLst>
                <a:tab pos="5525135" algn="l"/>
              </a:tabLst>
            </a:pP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4294967295"/>
          </p:nvPr>
        </p:nvSpPr>
        <p:spPr>
          <a:xfrm>
            <a:off x="7300913" y="9974263"/>
            <a:ext cx="255587" cy="227012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19</a:t>
            </a:fld>
            <a:endParaRPr dirty="0"/>
          </a:p>
        </p:txBody>
      </p:sp>
      <p:sp>
        <p:nvSpPr>
          <p:cNvPr id="9" name="object 9"/>
          <p:cNvSpPr/>
          <p:nvPr/>
        </p:nvSpPr>
        <p:spPr>
          <a:xfrm>
            <a:off x="742949" y="1492249"/>
            <a:ext cx="6083300" cy="3416300"/>
          </a:xfrm>
          <a:custGeom>
            <a:avLst/>
            <a:gdLst/>
            <a:ahLst/>
            <a:cxnLst/>
            <a:rect l="l" t="t" r="r" b="b"/>
            <a:pathLst>
              <a:path w="6083300" h="3416300">
                <a:moveTo>
                  <a:pt x="0" y="0"/>
                </a:moveTo>
                <a:lnTo>
                  <a:pt x="6083300" y="0"/>
                </a:lnTo>
                <a:lnTo>
                  <a:pt x="6083300" y="3416300"/>
                </a:lnTo>
                <a:lnTo>
                  <a:pt x="0" y="341630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749299" y="5289549"/>
            <a:ext cx="4095751" cy="9925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2075" algn="ctr">
              <a:lnSpc>
                <a:spcPct val="100000"/>
              </a:lnSpc>
              <a:spcBef>
                <a:spcPts val="100"/>
              </a:spcBef>
            </a:pPr>
            <a:r>
              <a:rPr sz="2700" spc="-50" dirty="0">
                <a:solidFill>
                  <a:srgbClr val="FFFFFF"/>
                </a:solidFill>
                <a:latin typeface="Times New Roman"/>
                <a:cs typeface="Times New Roman"/>
              </a:rPr>
              <a:t>U</a:t>
            </a:r>
            <a:r>
              <a:rPr sz="2700" spc="50" dirty="0">
                <a:solidFill>
                  <a:srgbClr val="FFFFFF"/>
                </a:solidFill>
                <a:latin typeface="Times New Roman"/>
                <a:cs typeface="Times New Roman"/>
              </a:rPr>
              <a:t>niv</a:t>
            </a:r>
            <a:r>
              <a:rPr sz="2700" dirty="0">
                <a:solidFill>
                  <a:srgbClr val="FFFFFF"/>
                </a:solidFill>
                <a:latin typeface="Times New Roman"/>
                <a:cs typeface="Times New Roman"/>
              </a:rPr>
              <a:t>er</a:t>
            </a:r>
            <a:r>
              <a:rPr sz="2700" spc="50" dirty="0">
                <a:solidFill>
                  <a:srgbClr val="FFFFFF"/>
                </a:solidFill>
                <a:latin typeface="Times New Roman"/>
                <a:cs typeface="Times New Roman"/>
              </a:rPr>
              <a:t>sit</a:t>
            </a:r>
            <a:r>
              <a:rPr sz="2700" dirty="0">
                <a:solidFill>
                  <a:srgbClr val="FFFFFF"/>
                </a:solidFill>
                <a:latin typeface="Times New Roman"/>
                <a:cs typeface="Times New Roman"/>
              </a:rPr>
              <a:t>y</a:t>
            </a:r>
            <a:r>
              <a:rPr sz="2700" spc="-229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700" spc="50" dirty="0">
                <a:solidFill>
                  <a:srgbClr val="FFFFFF"/>
                </a:solidFill>
                <a:latin typeface="Times New Roman"/>
                <a:cs typeface="Times New Roman"/>
              </a:rPr>
              <a:t>o</a:t>
            </a:r>
            <a:r>
              <a:rPr sz="2700" dirty="0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r>
              <a:rPr sz="27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700" spc="-50" dirty="0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sz="2700" dirty="0">
                <a:solidFill>
                  <a:srgbClr val="FFFFFF"/>
                </a:solidFill>
                <a:latin typeface="Times New Roman"/>
                <a:cs typeface="Times New Roman"/>
              </a:rPr>
              <a:t>ar</a:t>
            </a:r>
            <a:r>
              <a:rPr sz="2700"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700" dirty="0">
                <a:solidFill>
                  <a:srgbClr val="FFFFFF"/>
                </a:solidFill>
                <a:latin typeface="Times New Roman"/>
                <a:cs typeface="Times New Roman"/>
              </a:rPr>
              <a:t>es</a:t>
            </a:r>
            <a:r>
              <a:rPr sz="2700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700" spc="-5" dirty="0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sz="27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700" spc="50" dirty="0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sz="2700" dirty="0">
                <a:solidFill>
                  <a:srgbClr val="FFFFFF"/>
                </a:solidFill>
                <a:latin typeface="Times New Roman"/>
                <a:cs typeface="Times New Roman"/>
              </a:rPr>
              <a:t>aam</a:t>
            </a:r>
            <a:endParaRPr sz="2700" dirty="0">
              <a:latin typeface="Times New Roman"/>
              <a:cs typeface="Times New Roman"/>
            </a:endParaRPr>
          </a:p>
          <a:p>
            <a:pPr marL="350520">
              <a:lnSpc>
                <a:spcPct val="100000"/>
              </a:lnSpc>
              <a:spcBef>
                <a:spcPts val="2000"/>
              </a:spcBef>
            </a:pPr>
            <a:r>
              <a:rPr sz="2000" b="1" spc="-35" dirty="0">
                <a:solidFill>
                  <a:srgbClr val="FF0000"/>
                </a:solidFill>
                <a:latin typeface="Cambria"/>
                <a:cs typeface="Cambria"/>
              </a:rPr>
              <a:t>Fresnel</a:t>
            </a:r>
            <a:r>
              <a:rPr sz="2000" b="1" spc="5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b="1" spc="-20" dirty="0">
                <a:solidFill>
                  <a:srgbClr val="FF0000"/>
                </a:solidFill>
                <a:latin typeface="Cambria"/>
                <a:cs typeface="Cambria"/>
              </a:rPr>
              <a:t>zone</a:t>
            </a:r>
            <a:endParaRPr sz="2000" dirty="0">
              <a:latin typeface="Cambria"/>
              <a:cs typeface="Cambria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742949" y="5759450"/>
            <a:ext cx="6083300" cy="3416300"/>
            <a:chOff x="742949" y="5759450"/>
            <a:chExt cx="6083300" cy="3416300"/>
          </a:xfrm>
        </p:grpSpPr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97000" y="6705600"/>
              <a:ext cx="4318000" cy="200660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02371" y="6619847"/>
              <a:ext cx="4318000" cy="2207271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742949" y="5759450"/>
              <a:ext cx="6083300" cy="3416300"/>
            </a:xfrm>
            <a:custGeom>
              <a:avLst/>
              <a:gdLst/>
              <a:ahLst/>
              <a:cxnLst/>
              <a:rect l="l" t="t" r="r" b="b"/>
              <a:pathLst>
                <a:path w="6083300" h="3416300">
                  <a:moveTo>
                    <a:pt x="0" y="0"/>
                  </a:moveTo>
                  <a:lnTo>
                    <a:pt x="6083300" y="0"/>
                  </a:lnTo>
                  <a:lnTo>
                    <a:pt x="6083300" y="3416300"/>
                  </a:lnTo>
                  <a:lnTo>
                    <a:pt x="0" y="34163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54011" y="455423"/>
            <a:ext cx="508634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40" dirty="0">
                <a:latin typeface="Calibri"/>
                <a:cs typeface="Calibri"/>
              </a:rPr>
              <a:t>8</a:t>
            </a:r>
            <a:r>
              <a:rPr sz="1300" spc="-5" dirty="0">
                <a:latin typeface="Calibri"/>
                <a:cs typeface="Calibri"/>
              </a:rPr>
              <a:t>/</a:t>
            </a:r>
            <a:r>
              <a:rPr sz="1300" spc="40" dirty="0">
                <a:latin typeface="Calibri"/>
                <a:cs typeface="Calibri"/>
              </a:rPr>
              <a:t>5</a:t>
            </a:r>
            <a:r>
              <a:rPr sz="1300" spc="-5" dirty="0">
                <a:latin typeface="Calibri"/>
                <a:cs typeface="Calibri"/>
              </a:rPr>
              <a:t>/</a:t>
            </a:r>
            <a:r>
              <a:rPr sz="1300" spc="40" dirty="0">
                <a:latin typeface="Calibri"/>
                <a:cs typeface="Calibri"/>
              </a:rPr>
              <a:t>20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4294967295"/>
          </p:nvPr>
        </p:nvSpPr>
        <p:spPr>
          <a:xfrm>
            <a:off x="7300913" y="9974263"/>
            <a:ext cx="255587" cy="227012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20</a:t>
            </a:fld>
            <a:endParaRPr dirty="0"/>
          </a:p>
        </p:txBody>
      </p:sp>
      <p:sp>
        <p:nvSpPr>
          <p:cNvPr id="10" name="object 10"/>
          <p:cNvSpPr txBox="1"/>
          <p:nvPr/>
        </p:nvSpPr>
        <p:spPr>
          <a:xfrm>
            <a:off x="1099991" y="2251103"/>
            <a:ext cx="147320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000" b="1" spc="-35" dirty="0">
                <a:solidFill>
                  <a:srgbClr val="FF0000"/>
                </a:solidFill>
                <a:latin typeface="Cambria"/>
                <a:cs typeface="Cambria"/>
              </a:rPr>
              <a:t>Fresnel</a:t>
            </a:r>
            <a:r>
              <a:rPr sz="2000" b="1" spc="2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b="1" spc="-20" dirty="0">
                <a:solidFill>
                  <a:srgbClr val="FF0000"/>
                </a:solidFill>
                <a:latin typeface="Cambria"/>
                <a:cs typeface="Cambria"/>
              </a:rPr>
              <a:t>zone</a:t>
            </a:r>
            <a:endParaRPr sz="2000">
              <a:latin typeface="Cambria"/>
              <a:cs typeface="Cambri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736599" y="1485899"/>
            <a:ext cx="6096000" cy="3429000"/>
            <a:chOff x="736599" y="1485899"/>
            <a:chExt cx="6096000" cy="3429000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11400" y="2527299"/>
              <a:ext cx="3975100" cy="191769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742949" y="1492249"/>
              <a:ext cx="6083300" cy="3416300"/>
            </a:xfrm>
            <a:custGeom>
              <a:avLst/>
              <a:gdLst/>
              <a:ahLst/>
              <a:cxnLst/>
              <a:rect l="l" t="t" r="r" b="b"/>
              <a:pathLst>
                <a:path w="6083300" h="3416300">
                  <a:moveTo>
                    <a:pt x="0" y="0"/>
                  </a:moveTo>
                  <a:lnTo>
                    <a:pt x="6083300" y="0"/>
                  </a:lnTo>
                  <a:lnTo>
                    <a:pt x="6083300" y="3416300"/>
                  </a:lnTo>
                  <a:lnTo>
                    <a:pt x="0" y="34163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671460" y="6180829"/>
            <a:ext cx="6070600" cy="1565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0520">
              <a:lnSpc>
                <a:spcPct val="100000"/>
              </a:lnSpc>
              <a:spcBef>
                <a:spcPts val="2000"/>
              </a:spcBef>
            </a:pPr>
            <a:r>
              <a:rPr sz="2000" b="1" spc="-35" dirty="0">
                <a:solidFill>
                  <a:srgbClr val="FF0000"/>
                </a:solidFill>
                <a:latin typeface="Cambria"/>
                <a:cs typeface="Cambria"/>
              </a:rPr>
              <a:t>Fresnel</a:t>
            </a:r>
            <a:r>
              <a:rPr sz="2000" b="1" spc="6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b="1" spc="-25" dirty="0">
                <a:solidFill>
                  <a:srgbClr val="FF0000"/>
                </a:solidFill>
                <a:latin typeface="Cambria"/>
                <a:cs typeface="Cambria"/>
              </a:rPr>
              <a:t>zones</a:t>
            </a:r>
            <a:endParaRPr sz="2000" dirty="0">
              <a:latin typeface="Cambria"/>
              <a:cs typeface="Cambria"/>
            </a:endParaRPr>
          </a:p>
          <a:p>
            <a:pPr marL="642620" marR="226060" indent="-292100">
              <a:lnSpc>
                <a:spcPct val="101899"/>
              </a:lnSpc>
              <a:spcBef>
                <a:spcPts val="865"/>
              </a:spcBef>
              <a:buFont typeface="Wingdings"/>
              <a:buChar char=""/>
              <a:tabLst>
                <a:tab pos="643255" algn="l"/>
              </a:tabLst>
            </a:pPr>
            <a:r>
              <a:rPr sz="1800" dirty="0">
                <a:latin typeface="Times New Roman"/>
                <a:cs typeface="Times New Roman"/>
              </a:rPr>
              <a:t>Is</a:t>
            </a:r>
            <a:r>
              <a:rPr sz="1800" spc="4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made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up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multiple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zones,</a:t>
            </a:r>
            <a:r>
              <a:rPr sz="1800" dirty="0">
                <a:latin typeface="Times New Roman"/>
                <a:cs typeface="Times New Roman"/>
              </a:rPr>
              <a:t> Zone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1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being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the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strongest </a:t>
            </a:r>
            <a:r>
              <a:rPr sz="1800" spc="-43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area</a:t>
            </a:r>
            <a:r>
              <a:rPr sz="1800" spc="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for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signal</a:t>
            </a:r>
            <a:r>
              <a:rPr sz="1800" spc="4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strength,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followed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by</a:t>
            </a:r>
            <a:r>
              <a:rPr sz="1800" spc="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Zone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2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Zone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3</a:t>
            </a:r>
          </a:p>
          <a:p>
            <a:pPr marL="642620" marR="378460" indent="-292100">
              <a:lnSpc>
                <a:spcPts val="2100"/>
              </a:lnSpc>
              <a:spcBef>
                <a:spcPts val="160"/>
              </a:spcBef>
              <a:buFont typeface="Wingdings"/>
              <a:buChar char=""/>
              <a:tabLst>
                <a:tab pos="643255" algn="l"/>
              </a:tabLst>
            </a:pPr>
            <a:r>
              <a:rPr sz="1800" dirty="0">
                <a:latin typeface="Times New Roman"/>
                <a:cs typeface="Times New Roman"/>
              </a:rPr>
              <a:t>There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are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many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Fresnel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zones,</a:t>
            </a:r>
            <a:r>
              <a:rPr sz="1800" dirty="0">
                <a:latin typeface="Times New Roman"/>
                <a:cs typeface="Times New Roman"/>
              </a:rPr>
              <a:t> but</a:t>
            </a:r>
            <a:r>
              <a:rPr sz="1800" spc="4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only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the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first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3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have </a:t>
            </a:r>
            <a:r>
              <a:rPr sz="1800" spc="-434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the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any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major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effects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on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signal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strength.</a:t>
            </a:r>
            <a:endParaRPr sz="1800" dirty="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742949" y="5759450"/>
            <a:ext cx="6083300" cy="3416300"/>
          </a:xfrm>
          <a:custGeom>
            <a:avLst/>
            <a:gdLst/>
            <a:ahLst/>
            <a:cxnLst/>
            <a:rect l="l" t="t" r="r" b="b"/>
            <a:pathLst>
              <a:path w="6083300" h="3416300">
                <a:moveTo>
                  <a:pt x="0" y="0"/>
                </a:moveTo>
                <a:lnTo>
                  <a:pt x="6083300" y="0"/>
                </a:lnTo>
                <a:lnTo>
                  <a:pt x="6083300" y="3416300"/>
                </a:lnTo>
                <a:lnTo>
                  <a:pt x="0" y="341630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54011" y="455423"/>
            <a:ext cx="508634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40" dirty="0">
                <a:latin typeface="Calibri"/>
                <a:cs typeface="Calibri"/>
              </a:rPr>
              <a:t>8</a:t>
            </a:r>
            <a:r>
              <a:rPr sz="1300" spc="-5" dirty="0">
                <a:latin typeface="Calibri"/>
                <a:cs typeface="Calibri"/>
              </a:rPr>
              <a:t>/</a:t>
            </a:r>
            <a:r>
              <a:rPr sz="1300" spc="40" dirty="0">
                <a:latin typeface="Calibri"/>
                <a:cs typeface="Calibri"/>
              </a:rPr>
              <a:t>5</a:t>
            </a:r>
            <a:r>
              <a:rPr sz="1300" spc="-5" dirty="0">
                <a:latin typeface="Calibri"/>
                <a:cs typeface="Calibri"/>
              </a:rPr>
              <a:t>/</a:t>
            </a:r>
            <a:r>
              <a:rPr sz="1300" spc="40" dirty="0">
                <a:latin typeface="Calibri"/>
                <a:cs typeface="Calibri"/>
              </a:rPr>
              <a:t>20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4294967295"/>
          </p:nvPr>
        </p:nvSpPr>
        <p:spPr>
          <a:xfrm>
            <a:off x="7300913" y="9974263"/>
            <a:ext cx="255587" cy="227012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21</a:t>
            </a:fld>
            <a:endParaRPr dirty="0"/>
          </a:p>
        </p:txBody>
      </p:sp>
      <p:sp>
        <p:nvSpPr>
          <p:cNvPr id="8" name="object 8"/>
          <p:cNvSpPr txBox="1"/>
          <p:nvPr/>
        </p:nvSpPr>
        <p:spPr>
          <a:xfrm>
            <a:off x="782319" y="2063086"/>
            <a:ext cx="5995035" cy="2355388"/>
          </a:xfrm>
          <a:prstGeom prst="rect">
            <a:avLst/>
          </a:prstGeom>
        </p:spPr>
        <p:txBody>
          <a:bodyPr vert="horz" wrap="square" lIns="0" tIns="117475" rIns="0" bIns="0" rtlCol="0">
            <a:spAutoFit/>
          </a:bodyPr>
          <a:lstStyle/>
          <a:p>
            <a:pPr marL="317500">
              <a:lnSpc>
                <a:spcPct val="100000"/>
              </a:lnSpc>
              <a:spcBef>
                <a:spcPts val="925"/>
              </a:spcBef>
            </a:pPr>
            <a:r>
              <a:rPr sz="2000" b="1" spc="-35" dirty="0">
                <a:solidFill>
                  <a:srgbClr val="FF0000"/>
                </a:solidFill>
                <a:latin typeface="Cambria"/>
                <a:cs typeface="Cambria"/>
              </a:rPr>
              <a:t>Fresnel</a:t>
            </a:r>
            <a:r>
              <a:rPr sz="2000" b="1" spc="2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b="1" spc="-25" dirty="0">
                <a:solidFill>
                  <a:srgbClr val="FF0000"/>
                </a:solidFill>
                <a:latin typeface="Cambria"/>
                <a:cs typeface="Cambria"/>
              </a:rPr>
              <a:t>zones</a:t>
            </a:r>
            <a:endParaRPr sz="2000" dirty="0">
              <a:latin typeface="Cambria"/>
              <a:cs typeface="Cambria"/>
            </a:endParaRPr>
          </a:p>
          <a:p>
            <a:pPr marL="506095" marR="393065" indent="-228600">
              <a:lnSpc>
                <a:spcPct val="102899"/>
              </a:lnSpc>
              <a:spcBef>
                <a:spcPts val="640"/>
              </a:spcBef>
              <a:buFont typeface="Wingdings"/>
              <a:buChar char=""/>
              <a:tabLst>
                <a:tab pos="506730" algn="l"/>
              </a:tabLst>
            </a:pPr>
            <a:r>
              <a:rPr sz="1700" dirty="0">
                <a:latin typeface="Times New Roman"/>
                <a:cs typeface="Times New Roman"/>
              </a:rPr>
              <a:t>The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20" dirty="0">
                <a:latin typeface="Times New Roman"/>
                <a:cs typeface="Times New Roman"/>
              </a:rPr>
              <a:t>Fresnel</a:t>
            </a:r>
            <a:r>
              <a:rPr sz="1700" spc="-100" dirty="0">
                <a:latin typeface="Times New Roman"/>
                <a:cs typeface="Times New Roman"/>
              </a:rPr>
              <a:t> </a:t>
            </a:r>
            <a:r>
              <a:rPr sz="1700" spc="10" dirty="0">
                <a:latin typeface="Times New Roman"/>
                <a:cs typeface="Times New Roman"/>
              </a:rPr>
              <a:t>Zone</a:t>
            </a:r>
            <a:r>
              <a:rPr sz="1700" spc="-85" dirty="0">
                <a:latin typeface="Times New Roman"/>
                <a:cs typeface="Times New Roman"/>
              </a:rPr>
              <a:t> </a:t>
            </a:r>
            <a:r>
              <a:rPr sz="1700" spc="20" dirty="0">
                <a:latin typeface="Times New Roman"/>
                <a:cs typeface="Times New Roman"/>
              </a:rPr>
              <a:t>clearance</a:t>
            </a:r>
            <a:r>
              <a:rPr sz="1700" spc="-90" dirty="0">
                <a:latin typeface="Times New Roman"/>
                <a:cs typeface="Times New Roman"/>
              </a:rPr>
              <a:t> </a:t>
            </a:r>
            <a:r>
              <a:rPr sz="1700" spc="10" dirty="0">
                <a:latin typeface="Times New Roman"/>
                <a:cs typeface="Times New Roman"/>
              </a:rPr>
              <a:t>is</a:t>
            </a:r>
            <a:r>
              <a:rPr sz="1700" spc="-90" dirty="0">
                <a:latin typeface="Times New Roman"/>
                <a:cs typeface="Times New Roman"/>
              </a:rPr>
              <a:t> </a:t>
            </a:r>
            <a:r>
              <a:rPr sz="1700" spc="15" dirty="0">
                <a:latin typeface="Times New Roman"/>
                <a:cs typeface="Times New Roman"/>
              </a:rPr>
              <a:t>important</a:t>
            </a:r>
            <a:r>
              <a:rPr sz="1700" spc="-100" dirty="0">
                <a:latin typeface="Times New Roman"/>
                <a:cs typeface="Times New Roman"/>
              </a:rPr>
              <a:t> </a:t>
            </a:r>
            <a:r>
              <a:rPr sz="1700" spc="10" dirty="0">
                <a:latin typeface="Times New Roman"/>
                <a:cs typeface="Times New Roman"/>
              </a:rPr>
              <a:t>to</a:t>
            </a:r>
            <a:r>
              <a:rPr sz="1700" spc="-85" dirty="0">
                <a:latin typeface="Times New Roman"/>
                <a:cs typeface="Times New Roman"/>
              </a:rPr>
              <a:t> </a:t>
            </a:r>
            <a:r>
              <a:rPr sz="1700" spc="20" dirty="0">
                <a:latin typeface="Times New Roman"/>
                <a:cs typeface="Times New Roman"/>
              </a:rPr>
              <a:t>the</a:t>
            </a:r>
            <a:r>
              <a:rPr sz="1700" spc="-85" dirty="0">
                <a:latin typeface="Times New Roman"/>
                <a:cs typeface="Times New Roman"/>
              </a:rPr>
              <a:t> </a:t>
            </a:r>
            <a:r>
              <a:rPr sz="1700" spc="15" dirty="0">
                <a:latin typeface="Times New Roman"/>
                <a:cs typeface="Times New Roman"/>
              </a:rPr>
              <a:t>integrity</a:t>
            </a:r>
            <a:r>
              <a:rPr sz="1700" spc="-80" dirty="0">
                <a:latin typeface="Times New Roman"/>
                <a:cs typeface="Times New Roman"/>
              </a:rPr>
              <a:t> </a:t>
            </a:r>
            <a:r>
              <a:rPr sz="1700" spc="20" dirty="0">
                <a:latin typeface="Times New Roman"/>
                <a:cs typeface="Times New Roman"/>
              </a:rPr>
              <a:t>of </a:t>
            </a:r>
            <a:r>
              <a:rPr sz="1700" spc="-409" dirty="0">
                <a:latin typeface="Times New Roman"/>
                <a:cs typeface="Times New Roman"/>
              </a:rPr>
              <a:t> </a:t>
            </a:r>
            <a:r>
              <a:rPr sz="1700" spc="20" dirty="0">
                <a:latin typeface="Times New Roman"/>
                <a:cs typeface="Times New Roman"/>
              </a:rPr>
              <a:t>the</a:t>
            </a:r>
            <a:r>
              <a:rPr sz="1700" spc="-80" dirty="0">
                <a:latin typeface="Times New Roman"/>
                <a:cs typeface="Times New Roman"/>
              </a:rPr>
              <a:t> </a:t>
            </a:r>
            <a:r>
              <a:rPr sz="1700" spc="-20" dirty="0">
                <a:latin typeface="Times New Roman"/>
                <a:cs typeface="Times New Roman"/>
              </a:rPr>
              <a:t>RF</a:t>
            </a:r>
            <a:r>
              <a:rPr sz="1700" spc="25" dirty="0">
                <a:latin typeface="Times New Roman"/>
                <a:cs typeface="Times New Roman"/>
              </a:rPr>
              <a:t> </a:t>
            </a:r>
            <a:r>
              <a:rPr sz="1700" spc="20" dirty="0">
                <a:latin typeface="Times New Roman"/>
                <a:cs typeface="Times New Roman"/>
              </a:rPr>
              <a:t>link</a:t>
            </a:r>
            <a:r>
              <a:rPr sz="1700" spc="-75" dirty="0">
                <a:latin typeface="Times New Roman"/>
                <a:cs typeface="Times New Roman"/>
              </a:rPr>
              <a:t> </a:t>
            </a:r>
            <a:r>
              <a:rPr sz="1700" spc="35" dirty="0">
                <a:latin typeface="Times New Roman"/>
                <a:cs typeface="Times New Roman"/>
              </a:rPr>
              <a:t>because</a:t>
            </a:r>
            <a:r>
              <a:rPr sz="1700" spc="-80" dirty="0">
                <a:latin typeface="Times New Roman"/>
                <a:cs typeface="Times New Roman"/>
              </a:rPr>
              <a:t> </a:t>
            </a:r>
            <a:r>
              <a:rPr sz="1700" spc="10" dirty="0">
                <a:latin typeface="Times New Roman"/>
                <a:cs typeface="Times New Roman"/>
              </a:rPr>
              <a:t>it</a:t>
            </a:r>
            <a:r>
              <a:rPr sz="1700" spc="-95" dirty="0">
                <a:latin typeface="Times New Roman"/>
                <a:cs typeface="Times New Roman"/>
              </a:rPr>
              <a:t> </a:t>
            </a:r>
            <a:r>
              <a:rPr sz="1700" spc="15" dirty="0">
                <a:latin typeface="Times New Roman"/>
                <a:cs typeface="Times New Roman"/>
              </a:rPr>
              <a:t>defines</a:t>
            </a:r>
            <a:r>
              <a:rPr sz="1700" spc="-9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</a:t>
            </a:r>
            <a:r>
              <a:rPr sz="1700" spc="-80" dirty="0">
                <a:latin typeface="Times New Roman"/>
                <a:cs typeface="Times New Roman"/>
              </a:rPr>
              <a:t> </a:t>
            </a:r>
            <a:r>
              <a:rPr sz="1700" spc="20" dirty="0">
                <a:latin typeface="Times New Roman"/>
                <a:cs typeface="Times New Roman"/>
              </a:rPr>
              <a:t>volume</a:t>
            </a:r>
            <a:r>
              <a:rPr sz="1700" spc="-75" dirty="0">
                <a:latin typeface="Times New Roman"/>
                <a:cs typeface="Times New Roman"/>
              </a:rPr>
              <a:t> </a:t>
            </a:r>
            <a:r>
              <a:rPr sz="1700" spc="15" dirty="0">
                <a:latin typeface="Times New Roman"/>
                <a:cs typeface="Times New Roman"/>
              </a:rPr>
              <a:t>around</a:t>
            </a:r>
            <a:r>
              <a:rPr sz="1700" spc="-80" dirty="0">
                <a:latin typeface="Times New Roman"/>
                <a:cs typeface="Times New Roman"/>
              </a:rPr>
              <a:t> </a:t>
            </a:r>
            <a:r>
              <a:rPr sz="1700" spc="20" dirty="0">
                <a:latin typeface="Times New Roman"/>
                <a:cs typeface="Times New Roman"/>
              </a:rPr>
              <a:t>the</a:t>
            </a:r>
            <a:r>
              <a:rPr sz="1700" spc="-80" dirty="0">
                <a:latin typeface="Times New Roman"/>
                <a:cs typeface="Times New Roman"/>
              </a:rPr>
              <a:t> </a:t>
            </a:r>
            <a:r>
              <a:rPr sz="1700" spc="-25" dirty="0">
                <a:latin typeface="Times New Roman"/>
                <a:cs typeface="Times New Roman"/>
              </a:rPr>
              <a:t>LOS</a:t>
            </a:r>
            <a:endParaRPr sz="1700" dirty="0">
              <a:latin typeface="Times New Roman"/>
              <a:cs typeface="Times New Roman"/>
            </a:endParaRPr>
          </a:p>
          <a:p>
            <a:pPr marL="506095">
              <a:lnSpc>
                <a:spcPts val="2000"/>
              </a:lnSpc>
            </a:pPr>
            <a:r>
              <a:rPr sz="1700" spc="25" dirty="0">
                <a:latin typeface="Times New Roman"/>
                <a:cs typeface="Times New Roman"/>
              </a:rPr>
              <a:t>that</a:t>
            </a:r>
            <a:r>
              <a:rPr sz="1700" spc="-105" dirty="0">
                <a:latin typeface="Times New Roman"/>
                <a:cs typeface="Times New Roman"/>
              </a:rPr>
              <a:t> </a:t>
            </a:r>
            <a:r>
              <a:rPr sz="1700" spc="10" dirty="0">
                <a:latin typeface="Times New Roman"/>
                <a:cs typeface="Times New Roman"/>
              </a:rPr>
              <a:t>must</a:t>
            </a:r>
            <a:r>
              <a:rPr sz="1700" spc="-100" dirty="0">
                <a:latin typeface="Times New Roman"/>
                <a:cs typeface="Times New Roman"/>
              </a:rPr>
              <a:t> </a:t>
            </a:r>
            <a:r>
              <a:rPr sz="1700" spc="20" dirty="0">
                <a:latin typeface="Times New Roman"/>
                <a:cs typeface="Times New Roman"/>
              </a:rPr>
              <a:t>be</a:t>
            </a:r>
            <a:r>
              <a:rPr sz="1700" spc="15" dirty="0">
                <a:latin typeface="Times New Roman"/>
                <a:cs typeface="Times New Roman"/>
              </a:rPr>
              <a:t> </a:t>
            </a:r>
            <a:r>
              <a:rPr sz="1700" spc="30" dirty="0">
                <a:latin typeface="Times New Roman"/>
                <a:cs typeface="Times New Roman"/>
              </a:rPr>
              <a:t>clear</a:t>
            </a:r>
            <a:r>
              <a:rPr sz="1700" spc="-95" dirty="0">
                <a:latin typeface="Times New Roman"/>
                <a:cs typeface="Times New Roman"/>
              </a:rPr>
              <a:t> </a:t>
            </a:r>
            <a:r>
              <a:rPr sz="1700" spc="20" dirty="0">
                <a:latin typeface="Times New Roman"/>
                <a:cs typeface="Times New Roman"/>
              </a:rPr>
              <a:t>of</a:t>
            </a:r>
            <a:r>
              <a:rPr sz="1700" spc="-95" dirty="0">
                <a:latin typeface="Times New Roman"/>
                <a:cs typeface="Times New Roman"/>
              </a:rPr>
              <a:t> </a:t>
            </a:r>
            <a:r>
              <a:rPr sz="1700" spc="30" dirty="0">
                <a:latin typeface="Times New Roman"/>
                <a:cs typeface="Times New Roman"/>
              </a:rPr>
              <a:t>any</a:t>
            </a:r>
            <a:r>
              <a:rPr sz="1700" spc="-85" dirty="0">
                <a:latin typeface="Times New Roman"/>
                <a:cs typeface="Times New Roman"/>
              </a:rPr>
              <a:t> </a:t>
            </a:r>
            <a:r>
              <a:rPr sz="1700" spc="20" dirty="0">
                <a:latin typeface="Times New Roman"/>
                <a:cs typeface="Times New Roman"/>
              </a:rPr>
              <a:t>obstacle</a:t>
            </a:r>
            <a:r>
              <a:rPr sz="1700" spc="-80" dirty="0">
                <a:latin typeface="Times New Roman"/>
                <a:cs typeface="Times New Roman"/>
              </a:rPr>
              <a:t> </a:t>
            </a:r>
            <a:r>
              <a:rPr sz="1700" spc="25" dirty="0">
                <a:latin typeface="Times New Roman"/>
                <a:cs typeface="Times New Roman"/>
              </a:rPr>
              <a:t>for</a:t>
            </a:r>
            <a:r>
              <a:rPr sz="1700" spc="-95" dirty="0">
                <a:latin typeface="Times New Roman"/>
                <a:cs typeface="Times New Roman"/>
              </a:rPr>
              <a:t> </a:t>
            </a:r>
            <a:r>
              <a:rPr sz="1700" spc="20" dirty="0">
                <a:latin typeface="Times New Roman"/>
                <a:cs typeface="Times New Roman"/>
              </a:rPr>
              <a:t>the</a:t>
            </a:r>
            <a:r>
              <a:rPr sz="1700" spc="-85" dirty="0">
                <a:latin typeface="Times New Roman"/>
                <a:cs typeface="Times New Roman"/>
              </a:rPr>
              <a:t> </a:t>
            </a:r>
            <a:r>
              <a:rPr sz="1700" spc="20" dirty="0">
                <a:latin typeface="Times New Roman"/>
                <a:cs typeface="Times New Roman"/>
              </a:rPr>
              <a:t>the</a:t>
            </a:r>
            <a:r>
              <a:rPr sz="1700" spc="-80" dirty="0">
                <a:latin typeface="Times New Roman"/>
                <a:cs typeface="Times New Roman"/>
              </a:rPr>
              <a:t> </a:t>
            </a:r>
            <a:r>
              <a:rPr sz="1700" spc="15" dirty="0">
                <a:latin typeface="Times New Roman"/>
                <a:cs typeface="Times New Roman"/>
              </a:rPr>
              <a:t>maximum</a:t>
            </a:r>
            <a:endParaRPr sz="1700" dirty="0">
              <a:latin typeface="Times New Roman"/>
              <a:cs typeface="Times New Roman"/>
            </a:endParaRPr>
          </a:p>
          <a:p>
            <a:pPr marL="506095">
              <a:lnSpc>
                <a:spcPts val="2020"/>
              </a:lnSpc>
              <a:spcBef>
                <a:spcPts val="60"/>
              </a:spcBef>
            </a:pPr>
            <a:r>
              <a:rPr sz="1700" spc="20" dirty="0">
                <a:latin typeface="Times New Roman"/>
                <a:cs typeface="Times New Roman"/>
              </a:rPr>
              <a:t>power</a:t>
            </a:r>
            <a:r>
              <a:rPr sz="1700" spc="-95" dirty="0">
                <a:latin typeface="Times New Roman"/>
                <a:cs typeface="Times New Roman"/>
              </a:rPr>
              <a:t> </a:t>
            </a:r>
            <a:r>
              <a:rPr sz="1700" spc="10" dirty="0">
                <a:latin typeface="Times New Roman"/>
                <a:cs typeface="Times New Roman"/>
              </a:rPr>
              <a:t>to</a:t>
            </a:r>
            <a:r>
              <a:rPr sz="1700" spc="-80" dirty="0">
                <a:latin typeface="Times New Roman"/>
                <a:cs typeface="Times New Roman"/>
              </a:rPr>
              <a:t> </a:t>
            </a:r>
            <a:r>
              <a:rPr sz="1700" spc="30" dirty="0">
                <a:latin typeface="Times New Roman"/>
                <a:cs typeface="Times New Roman"/>
              </a:rPr>
              <a:t>reach</a:t>
            </a:r>
            <a:r>
              <a:rPr sz="1700" spc="-80" dirty="0">
                <a:latin typeface="Times New Roman"/>
                <a:cs typeface="Times New Roman"/>
              </a:rPr>
              <a:t> </a:t>
            </a:r>
            <a:r>
              <a:rPr sz="1700" spc="25" dirty="0">
                <a:latin typeface="Times New Roman"/>
                <a:cs typeface="Times New Roman"/>
              </a:rPr>
              <a:t>the</a:t>
            </a:r>
            <a:r>
              <a:rPr sz="1700" spc="-85" dirty="0">
                <a:latin typeface="Times New Roman"/>
                <a:cs typeface="Times New Roman"/>
              </a:rPr>
              <a:t> </a:t>
            </a:r>
            <a:r>
              <a:rPr sz="1700" spc="20" dirty="0">
                <a:latin typeface="Times New Roman"/>
                <a:cs typeface="Times New Roman"/>
              </a:rPr>
              <a:t>receiving</a:t>
            </a:r>
            <a:r>
              <a:rPr sz="1700" spc="-70" dirty="0">
                <a:latin typeface="Times New Roman"/>
                <a:cs typeface="Times New Roman"/>
              </a:rPr>
              <a:t> </a:t>
            </a:r>
            <a:r>
              <a:rPr sz="1700" spc="15" dirty="0">
                <a:latin typeface="Times New Roman"/>
                <a:cs typeface="Times New Roman"/>
              </a:rPr>
              <a:t>antenna.</a:t>
            </a:r>
            <a:endParaRPr sz="1700" dirty="0">
              <a:latin typeface="Times New Roman"/>
              <a:cs typeface="Times New Roman"/>
            </a:endParaRPr>
          </a:p>
          <a:p>
            <a:pPr marL="506095" marR="379730" indent="-228600">
              <a:lnSpc>
                <a:spcPts val="2000"/>
              </a:lnSpc>
              <a:spcBef>
                <a:spcPts val="80"/>
              </a:spcBef>
              <a:buFont typeface="Wingdings"/>
              <a:buChar char=""/>
              <a:tabLst>
                <a:tab pos="506730" algn="l"/>
              </a:tabLst>
            </a:pPr>
            <a:r>
              <a:rPr sz="1700" spc="-30" dirty="0">
                <a:latin typeface="Times New Roman"/>
                <a:cs typeface="Times New Roman"/>
              </a:rPr>
              <a:t>O</a:t>
            </a:r>
            <a:r>
              <a:rPr sz="1700" spc="50" dirty="0">
                <a:latin typeface="Times New Roman"/>
                <a:cs typeface="Times New Roman"/>
              </a:rPr>
              <a:t>b</a:t>
            </a:r>
            <a:r>
              <a:rPr sz="1700" spc="25" dirty="0">
                <a:latin typeface="Times New Roman"/>
                <a:cs typeface="Times New Roman"/>
              </a:rPr>
              <a:t>j</a:t>
            </a:r>
            <a:r>
              <a:rPr sz="1700" spc="45" dirty="0">
                <a:latin typeface="Times New Roman"/>
                <a:cs typeface="Times New Roman"/>
              </a:rPr>
              <a:t>ec</a:t>
            </a:r>
            <a:r>
              <a:rPr sz="1700" spc="25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90" dirty="0">
                <a:latin typeface="Times New Roman"/>
                <a:cs typeface="Times New Roman"/>
              </a:rPr>
              <a:t> </a:t>
            </a:r>
            <a:r>
              <a:rPr sz="1700" spc="25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-80" dirty="0">
                <a:latin typeface="Times New Roman"/>
                <a:cs typeface="Times New Roman"/>
              </a:rPr>
              <a:t> </a:t>
            </a:r>
            <a:r>
              <a:rPr sz="1700" spc="25" dirty="0">
                <a:latin typeface="Times New Roman"/>
                <a:cs typeface="Times New Roman"/>
              </a:rPr>
              <a:t>t</a:t>
            </a:r>
            <a:r>
              <a:rPr sz="1700" spc="45" dirty="0">
                <a:latin typeface="Times New Roman"/>
                <a:cs typeface="Times New Roman"/>
              </a:rPr>
              <a:t>h</a:t>
            </a:r>
            <a:r>
              <a:rPr sz="1700" dirty="0">
                <a:latin typeface="Times New Roman"/>
                <a:cs typeface="Times New Roman"/>
              </a:rPr>
              <a:t>e</a:t>
            </a:r>
            <a:r>
              <a:rPr sz="1700" spc="-80" dirty="0">
                <a:latin typeface="Times New Roman"/>
                <a:cs typeface="Times New Roman"/>
              </a:rPr>
              <a:t> </a:t>
            </a:r>
            <a:r>
              <a:rPr sz="1700" spc="-50" dirty="0">
                <a:latin typeface="Times New Roman"/>
                <a:cs typeface="Times New Roman"/>
              </a:rPr>
              <a:t>F</a:t>
            </a:r>
            <a:r>
              <a:rPr sz="1700" spc="30" dirty="0">
                <a:latin typeface="Times New Roman"/>
                <a:cs typeface="Times New Roman"/>
              </a:rPr>
              <a:t>r</a:t>
            </a:r>
            <a:r>
              <a:rPr sz="1700" spc="45" dirty="0">
                <a:latin typeface="Times New Roman"/>
                <a:cs typeface="Times New Roman"/>
              </a:rPr>
              <a:t>e</a:t>
            </a:r>
            <a:r>
              <a:rPr sz="1700" spc="35" dirty="0">
                <a:latin typeface="Times New Roman"/>
                <a:cs typeface="Times New Roman"/>
              </a:rPr>
              <a:t>s</a:t>
            </a:r>
            <a:r>
              <a:rPr sz="1700" spc="45" dirty="0">
                <a:latin typeface="Times New Roman"/>
                <a:cs typeface="Times New Roman"/>
              </a:rPr>
              <a:t>ne</a:t>
            </a:r>
            <a:r>
              <a:rPr sz="1700" dirty="0">
                <a:latin typeface="Times New Roman"/>
                <a:cs typeface="Times New Roman"/>
              </a:rPr>
              <a:t>l</a:t>
            </a:r>
            <a:r>
              <a:rPr sz="1700" spc="-100" dirty="0">
                <a:latin typeface="Times New Roman"/>
                <a:cs typeface="Times New Roman"/>
              </a:rPr>
              <a:t> </a:t>
            </a:r>
            <a:r>
              <a:rPr sz="1700" spc="-40" dirty="0">
                <a:latin typeface="Times New Roman"/>
                <a:cs typeface="Times New Roman"/>
              </a:rPr>
              <a:t>Z</a:t>
            </a:r>
            <a:r>
              <a:rPr sz="1700" spc="45" dirty="0">
                <a:latin typeface="Times New Roman"/>
                <a:cs typeface="Times New Roman"/>
              </a:rPr>
              <a:t>on</a:t>
            </a:r>
            <a:r>
              <a:rPr sz="1700" dirty="0">
                <a:latin typeface="Times New Roman"/>
                <a:cs typeface="Times New Roman"/>
              </a:rPr>
              <a:t>e</a:t>
            </a:r>
            <a:r>
              <a:rPr sz="1700" spc="-80" dirty="0">
                <a:latin typeface="Times New Roman"/>
                <a:cs typeface="Times New Roman"/>
              </a:rPr>
              <a:t> </a:t>
            </a:r>
            <a:r>
              <a:rPr sz="1700" spc="45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90" dirty="0">
                <a:latin typeface="Times New Roman"/>
                <a:cs typeface="Times New Roman"/>
              </a:rPr>
              <a:t> </a:t>
            </a:r>
            <a:r>
              <a:rPr sz="1700" spc="25" dirty="0">
                <a:latin typeface="Times New Roman"/>
                <a:cs typeface="Times New Roman"/>
              </a:rPr>
              <a:t>t</a:t>
            </a:r>
            <a:r>
              <a:rPr sz="1700" spc="30" dirty="0">
                <a:latin typeface="Times New Roman"/>
                <a:cs typeface="Times New Roman"/>
              </a:rPr>
              <a:t>r</a:t>
            </a:r>
            <a:r>
              <a:rPr sz="1700" spc="45" dirty="0">
                <a:latin typeface="Times New Roman"/>
                <a:cs typeface="Times New Roman"/>
              </a:rPr>
              <a:t>ee</a:t>
            </a:r>
            <a:r>
              <a:rPr sz="1700" spc="35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,</a:t>
            </a:r>
            <a:r>
              <a:rPr sz="1700" spc="-155" dirty="0">
                <a:latin typeface="Times New Roman"/>
                <a:cs typeface="Times New Roman"/>
              </a:rPr>
              <a:t> </a:t>
            </a:r>
            <a:r>
              <a:rPr sz="1700" spc="45" dirty="0">
                <a:latin typeface="Times New Roman"/>
                <a:cs typeface="Times New Roman"/>
              </a:rPr>
              <a:t>h</a:t>
            </a:r>
            <a:r>
              <a:rPr sz="1700" spc="25" dirty="0">
                <a:latin typeface="Times New Roman"/>
                <a:cs typeface="Times New Roman"/>
              </a:rPr>
              <a:t>illt</a:t>
            </a:r>
            <a:r>
              <a:rPr sz="1700" spc="45" dirty="0">
                <a:latin typeface="Times New Roman"/>
                <a:cs typeface="Times New Roman"/>
              </a:rPr>
              <a:t>op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90" dirty="0">
                <a:latin typeface="Times New Roman"/>
                <a:cs typeface="Times New Roman"/>
              </a:rPr>
              <a:t> </a:t>
            </a:r>
            <a:r>
              <a:rPr sz="1700" spc="45" dirty="0">
                <a:latin typeface="Times New Roman"/>
                <a:cs typeface="Times New Roman"/>
              </a:rPr>
              <a:t>an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-80" dirty="0">
                <a:latin typeface="Times New Roman"/>
                <a:cs typeface="Times New Roman"/>
              </a:rPr>
              <a:t> </a:t>
            </a:r>
            <a:r>
              <a:rPr sz="1700" spc="45" dirty="0">
                <a:latin typeface="Times New Roman"/>
                <a:cs typeface="Times New Roman"/>
              </a:rPr>
              <a:t>bu</a:t>
            </a:r>
            <a:r>
              <a:rPr sz="1700" spc="-75" dirty="0">
                <a:latin typeface="Times New Roman"/>
                <a:cs typeface="Times New Roman"/>
              </a:rPr>
              <a:t>i</a:t>
            </a:r>
            <a:r>
              <a:rPr sz="1700" spc="25" dirty="0">
                <a:latin typeface="Times New Roman"/>
                <a:cs typeface="Times New Roman"/>
              </a:rPr>
              <a:t>l</a:t>
            </a:r>
            <a:r>
              <a:rPr sz="1700" spc="45" dirty="0">
                <a:latin typeface="Times New Roman"/>
                <a:cs typeface="Times New Roman"/>
              </a:rPr>
              <a:t>d</a:t>
            </a:r>
            <a:r>
              <a:rPr sz="1700" spc="-75" dirty="0">
                <a:latin typeface="Times New Roman"/>
                <a:cs typeface="Times New Roman"/>
              </a:rPr>
              <a:t>i</a:t>
            </a:r>
            <a:r>
              <a:rPr sz="1700" spc="45" dirty="0">
                <a:latin typeface="Times New Roman"/>
                <a:cs typeface="Times New Roman"/>
              </a:rPr>
              <a:t>n</a:t>
            </a:r>
            <a:r>
              <a:rPr sz="1700" spc="-55" dirty="0">
                <a:latin typeface="Times New Roman"/>
                <a:cs typeface="Times New Roman"/>
              </a:rPr>
              <a:t>g</a:t>
            </a:r>
            <a:r>
              <a:rPr sz="1700" dirty="0">
                <a:latin typeface="Times New Roman"/>
                <a:cs typeface="Times New Roman"/>
              </a:rPr>
              <a:t>s  </a:t>
            </a:r>
            <a:r>
              <a:rPr sz="1700" spc="45" dirty="0">
                <a:latin typeface="Times New Roman"/>
                <a:cs typeface="Times New Roman"/>
              </a:rPr>
              <a:t>ca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-75" dirty="0">
                <a:latin typeface="Times New Roman"/>
                <a:cs typeface="Times New Roman"/>
              </a:rPr>
              <a:t> </a:t>
            </a:r>
            <a:r>
              <a:rPr sz="1700" spc="45" dirty="0">
                <a:latin typeface="Times New Roman"/>
                <a:cs typeface="Times New Roman"/>
              </a:rPr>
              <a:t>c</a:t>
            </a:r>
            <a:r>
              <a:rPr sz="1700" spc="50" dirty="0">
                <a:latin typeface="Times New Roman"/>
                <a:cs typeface="Times New Roman"/>
              </a:rPr>
              <a:t>on</a:t>
            </a:r>
            <a:r>
              <a:rPr sz="1700" spc="35" dirty="0">
                <a:latin typeface="Times New Roman"/>
                <a:cs typeface="Times New Roman"/>
              </a:rPr>
              <a:t>s</a:t>
            </a:r>
            <a:r>
              <a:rPr sz="1700" spc="25" dirty="0">
                <a:latin typeface="Times New Roman"/>
                <a:cs typeface="Times New Roman"/>
              </a:rPr>
              <a:t>i</a:t>
            </a:r>
            <a:r>
              <a:rPr sz="1700" spc="50" dirty="0">
                <a:latin typeface="Times New Roman"/>
                <a:cs typeface="Times New Roman"/>
              </a:rPr>
              <a:t>d</a:t>
            </a:r>
            <a:r>
              <a:rPr sz="1700" spc="45" dirty="0">
                <a:latin typeface="Times New Roman"/>
                <a:cs typeface="Times New Roman"/>
              </a:rPr>
              <a:t>e</a:t>
            </a:r>
            <a:r>
              <a:rPr sz="1700" spc="30" dirty="0">
                <a:latin typeface="Times New Roman"/>
                <a:cs typeface="Times New Roman"/>
              </a:rPr>
              <a:t>r</a:t>
            </a:r>
            <a:r>
              <a:rPr sz="1700" spc="-55" dirty="0">
                <a:latin typeface="Times New Roman"/>
                <a:cs typeface="Times New Roman"/>
              </a:rPr>
              <a:t>a</a:t>
            </a:r>
            <a:r>
              <a:rPr sz="1700" spc="50" dirty="0">
                <a:latin typeface="Times New Roman"/>
                <a:cs typeface="Times New Roman"/>
              </a:rPr>
              <a:t>b</a:t>
            </a:r>
            <a:r>
              <a:rPr sz="1700" spc="-75" dirty="0">
                <a:latin typeface="Times New Roman"/>
                <a:cs typeface="Times New Roman"/>
              </a:rPr>
              <a:t>l</a:t>
            </a:r>
            <a:r>
              <a:rPr sz="1700" dirty="0">
                <a:latin typeface="Times New Roman"/>
                <a:cs typeface="Times New Roman"/>
              </a:rPr>
              <a:t>y</a:t>
            </a:r>
            <a:r>
              <a:rPr sz="1700" spc="-75" dirty="0">
                <a:latin typeface="Times New Roman"/>
                <a:cs typeface="Times New Roman"/>
              </a:rPr>
              <a:t> </a:t>
            </a:r>
            <a:r>
              <a:rPr sz="1700" spc="45" dirty="0">
                <a:latin typeface="Times New Roman"/>
                <a:cs typeface="Times New Roman"/>
              </a:rPr>
              <a:t>a</a:t>
            </a:r>
            <a:r>
              <a:rPr sz="1700" spc="25" dirty="0">
                <a:latin typeface="Times New Roman"/>
                <a:cs typeface="Times New Roman"/>
              </a:rPr>
              <a:t>tt</a:t>
            </a:r>
            <a:r>
              <a:rPr sz="1700" spc="45" dirty="0">
                <a:latin typeface="Times New Roman"/>
                <a:cs typeface="Times New Roman"/>
              </a:rPr>
              <a:t>e</a:t>
            </a:r>
            <a:r>
              <a:rPr sz="1700" spc="-50" dirty="0">
                <a:latin typeface="Times New Roman"/>
                <a:cs typeface="Times New Roman"/>
              </a:rPr>
              <a:t>n</a:t>
            </a:r>
            <a:r>
              <a:rPr sz="1700" spc="50" dirty="0">
                <a:latin typeface="Times New Roman"/>
                <a:cs typeface="Times New Roman"/>
              </a:rPr>
              <a:t>u</a:t>
            </a:r>
            <a:r>
              <a:rPr sz="1700" spc="-55" dirty="0">
                <a:latin typeface="Times New Roman"/>
                <a:cs typeface="Times New Roman"/>
              </a:rPr>
              <a:t>a</a:t>
            </a:r>
            <a:r>
              <a:rPr sz="1700" spc="25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e</a:t>
            </a:r>
            <a:r>
              <a:rPr sz="1700" spc="-80" dirty="0">
                <a:latin typeface="Times New Roman"/>
                <a:cs typeface="Times New Roman"/>
              </a:rPr>
              <a:t> </a:t>
            </a:r>
            <a:r>
              <a:rPr sz="1700" spc="25" dirty="0">
                <a:latin typeface="Times New Roman"/>
                <a:cs typeface="Times New Roman"/>
              </a:rPr>
              <a:t>t</a:t>
            </a:r>
            <a:r>
              <a:rPr sz="1700" spc="50" dirty="0">
                <a:latin typeface="Times New Roman"/>
                <a:cs typeface="Times New Roman"/>
              </a:rPr>
              <a:t>h</a:t>
            </a:r>
            <a:r>
              <a:rPr sz="1700" dirty="0">
                <a:latin typeface="Times New Roman"/>
                <a:cs typeface="Times New Roman"/>
              </a:rPr>
              <a:t>e</a:t>
            </a:r>
            <a:r>
              <a:rPr sz="1700" spc="-80" dirty="0">
                <a:latin typeface="Times New Roman"/>
                <a:cs typeface="Times New Roman"/>
              </a:rPr>
              <a:t> </a:t>
            </a:r>
            <a:r>
              <a:rPr sz="1700" spc="30" dirty="0">
                <a:latin typeface="Times New Roman"/>
                <a:cs typeface="Times New Roman"/>
              </a:rPr>
              <a:t>r</a:t>
            </a:r>
            <a:r>
              <a:rPr sz="1700" spc="45" dirty="0">
                <a:latin typeface="Times New Roman"/>
                <a:cs typeface="Times New Roman"/>
              </a:rPr>
              <a:t>ec</a:t>
            </a:r>
            <a:r>
              <a:rPr sz="1700" spc="-55" dirty="0">
                <a:latin typeface="Times New Roman"/>
                <a:cs typeface="Times New Roman"/>
              </a:rPr>
              <a:t>e</a:t>
            </a:r>
            <a:r>
              <a:rPr sz="1700" spc="25" dirty="0">
                <a:latin typeface="Times New Roman"/>
                <a:cs typeface="Times New Roman"/>
              </a:rPr>
              <a:t>i</a:t>
            </a:r>
            <a:r>
              <a:rPr sz="1700" spc="50" dirty="0">
                <a:latin typeface="Times New Roman"/>
                <a:cs typeface="Times New Roman"/>
              </a:rPr>
              <a:t>v</a:t>
            </a:r>
            <a:r>
              <a:rPr sz="1700" spc="-55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-75" dirty="0">
                <a:latin typeface="Times New Roman"/>
                <a:cs typeface="Times New Roman"/>
              </a:rPr>
              <a:t> </a:t>
            </a:r>
            <a:r>
              <a:rPr sz="1700" spc="35" dirty="0">
                <a:latin typeface="Times New Roman"/>
                <a:cs typeface="Times New Roman"/>
              </a:rPr>
              <a:t>s</a:t>
            </a:r>
            <a:r>
              <a:rPr sz="1700" spc="25" dirty="0">
                <a:latin typeface="Times New Roman"/>
                <a:cs typeface="Times New Roman"/>
              </a:rPr>
              <a:t>i</a:t>
            </a:r>
            <a:r>
              <a:rPr sz="1700" spc="50" dirty="0">
                <a:latin typeface="Times New Roman"/>
                <a:cs typeface="Times New Roman"/>
              </a:rPr>
              <a:t>g</a:t>
            </a:r>
            <a:r>
              <a:rPr sz="1700" spc="-50" dirty="0">
                <a:latin typeface="Times New Roman"/>
                <a:cs typeface="Times New Roman"/>
              </a:rPr>
              <a:t>n</a:t>
            </a:r>
            <a:r>
              <a:rPr sz="1700" spc="45" dirty="0">
                <a:latin typeface="Times New Roman"/>
                <a:cs typeface="Times New Roman"/>
              </a:rPr>
              <a:t>a</a:t>
            </a:r>
            <a:r>
              <a:rPr sz="1700" spc="25" dirty="0">
                <a:latin typeface="Times New Roman"/>
                <a:cs typeface="Times New Roman"/>
              </a:rPr>
              <a:t>l</a:t>
            </a:r>
            <a:r>
              <a:rPr sz="1700" dirty="0">
                <a:latin typeface="Times New Roman"/>
                <a:cs typeface="Times New Roman"/>
              </a:rPr>
              <a:t>,</a:t>
            </a:r>
            <a:r>
              <a:rPr sz="1700" spc="-150" dirty="0">
                <a:latin typeface="Times New Roman"/>
                <a:cs typeface="Times New Roman"/>
              </a:rPr>
              <a:t> </a:t>
            </a:r>
            <a:r>
              <a:rPr sz="1700" spc="45" dirty="0">
                <a:latin typeface="Times New Roman"/>
                <a:cs typeface="Times New Roman"/>
              </a:rPr>
              <a:t>e</a:t>
            </a:r>
            <a:r>
              <a:rPr sz="1700" spc="50" dirty="0">
                <a:latin typeface="Times New Roman"/>
                <a:cs typeface="Times New Roman"/>
              </a:rPr>
              <a:t>v</a:t>
            </a:r>
            <a:r>
              <a:rPr sz="1700" spc="45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-175" dirty="0">
                <a:latin typeface="Times New Roman"/>
                <a:cs typeface="Times New Roman"/>
              </a:rPr>
              <a:t> </a:t>
            </a:r>
            <a:r>
              <a:rPr sz="1700" spc="-30" dirty="0">
                <a:latin typeface="Times New Roman"/>
                <a:cs typeface="Times New Roman"/>
              </a:rPr>
              <a:t>w</a:t>
            </a:r>
            <a:r>
              <a:rPr sz="1700" spc="50" dirty="0">
                <a:latin typeface="Times New Roman"/>
                <a:cs typeface="Times New Roman"/>
              </a:rPr>
              <a:t>h</a:t>
            </a:r>
            <a:r>
              <a:rPr sz="1700" spc="45" dirty="0">
                <a:latin typeface="Times New Roman"/>
                <a:cs typeface="Times New Roman"/>
              </a:rPr>
              <a:t>en</a:t>
            </a:r>
            <a:endParaRPr sz="1700" dirty="0">
              <a:latin typeface="Times New Roman"/>
              <a:cs typeface="Times New Roman"/>
            </a:endParaRPr>
          </a:p>
          <a:p>
            <a:pPr marL="506095">
              <a:lnSpc>
                <a:spcPct val="100000"/>
              </a:lnSpc>
            </a:pPr>
            <a:r>
              <a:rPr sz="1700" spc="25" dirty="0">
                <a:latin typeface="Times New Roman"/>
                <a:cs typeface="Times New Roman"/>
              </a:rPr>
              <a:t>t</a:t>
            </a:r>
            <a:r>
              <a:rPr sz="1700" spc="45" dirty="0">
                <a:latin typeface="Times New Roman"/>
                <a:cs typeface="Times New Roman"/>
              </a:rPr>
              <a:t>he</a:t>
            </a:r>
            <a:r>
              <a:rPr sz="1700" spc="30" dirty="0">
                <a:latin typeface="Times New Roman"/>
                <a:cs typeface="Times New Roman"/>
              </a:rPr>
              <a:t>r</a:t>
            </a:r>
            <a:r>
              <a:rPr sz="1700" dirty="0">
                <a:latin typeface="Times New Roman"/>
                <a:cs typeface="Times New Roman"/>
              </a:rPr>
              <a:t>e</a:t>
            </a:r>
            <a:r>
              <a:rPr sz="1700" spc="-80" dirty="0">
                <a:latin typeface="Times New Roman"/>
                <a:cs typeface="Times New Roman"/>
              </a:rPr>
              <a:t> </a:t>
            </a:r>
            <a:r>
              <a:rPr sz="1700" spc="25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90" dirty="0">
                <a:latin typeface="Times New Roman"/>
                <a:cs typeface="Times New Roman"/>
              </a:rPr>
              <a:t> </a:t>
            </a:r>
            <a:r>
              <a:rPr sz="1700" spc="45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-80" dirty="0">
                <a:latin typeface="Times New Roman"/>
                <a:cs typeface="Times New Roman"/>
              </a:rPr>
              <a:t> </a:t>
            </a:r>
            <a:r>
              <a:rPr sz="1700" spc="45" dirty="0">
                <a:latin typeface="Times New Roman"/>
                <a:cs typeface="Times New Roman"/>
              </a:rPr>
              <a:t>unob</a:t>
            </a:r>
            <a:r>
              <a:rPr sz="1700" spc="35" dirty="0">
                <a:latin typeface="Times New Roman"/>
                <a:cs typeface="Times New Roman"/>
              </a:rPr>
              <a:t>s</a:t>
            </a:r>
            <a:r>
              <a:rPr sz="1700" spc="25" dirty="0">
                <a:latin typeface="Times New Roman"/>
                <a:cs typeface="Times New Roman"/>
              </a:rPr>
              <a:t>t</a:t>
            </a:r>
            <a:r>
              <a:rPr sz="1700" spc="30" dirty="0">
                <a:latin typeface="Times New Roman"/>
                <a:cs typeface="Times New Roman"/>
              </a:rPr>
              <a:t>r</a:t>
            </a:r>
            <a:r>
              <a:rPr sz="1700" spc="45" dirty="0">
                <a:latin typeface="Times New Roman"/>
                <a:cs typeface="Times New Roman"/>
              </a:rPr>
              <a:t>u</a:t>
            </a:r>
            <a:r>
              <a:rPr sz="1700" spc="-55" dirty="0">
                <a:latin typeface="Times New Roman"/>
                <a:cs typeface="Times New Roman"/>
              </a:rPr>
              <a:t>c</a:t>
            </a:r>
            <a:r>
              <a:rPr sz="1700" spc="25" dirty="0">
                <a:latin typeface="Times New Roman"/>
                <a:cs typeface="Times New Roman"/>
              </a:rPr>
              <a:t>t</a:t>
            </a:r>
            <a:r>
              <a:rPr sz="1700" spc="45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-180" dirty="0">
                <a:latin typeface="Times New Roman"/>
                <a:cs typeface="Times New Roman"/>
              </a:rPr>
              <a:t> </a:t>
            </a:r>
            <a:r>
              <a:rPr sz="1700" spc="25" dirty="0">
                <a:latin typeface="Times New Roman"/>
                <a:cs typeface="Times New Roman"/>
              </a:rPr>
              <a:t>li</a:t>
            </a:r>
            <a:r>
              <a:rPr sz="1700" spc="45" dirty="0">
                <a:latin typeface="Times New Roman"/>
                <a:cs typeface="Times New Roman"/>
              </a:rPr>
              <a:t>n</a:t>
            </a:r>
            <a:r>
              <a:rPr sz="1700" dirty="0">
                <a:latin typeface="Times New Roman"/>
                <a:cs typeface="Times New Roman"/>
              </a:rPr>
              <a:t>e</a:t>
            </a:r>
            <a:r>
              <a:rPr sz="1700" spc="-80" dirty="0">
                <a:latin typeface="Times New Roman"/>
                <a:cs typeface="Times New Roman"/>
              </a:rPr>
              <a:t> </a:t>
            </a:r>
            <a:r>
              <a:rPr sz="1700" spc="45" dirty="0">
                <a:latin typeface="Times New Roman"/>
                <a:cs typeface="Times New Roman"/>
              </a:rPr>
              <a:t>be</a:t>
            </a:r>
            <a:r>
              <a:rPr sz="1700" spc="25" dirty="0">
                <a:latin typeface="Times New Roman"/>
                <a:cs typeface="Times New Roman"/>
              </a:rPr>
              <a:t>t</a:t>
            </a:r>
            <a:r>
              <a:rPr sz="1700" spc="-30" dirty="0">
                <a:latin typeface="Times New Roman"/>
                <a:cs typeface="Times New Roman"/>
              </a:rPr>
              <a:t>w</a:t>
            </a:r>
            <a:r>
              <a:rPr sz="1700" spc="45" dirty="0">
                <a:latin typeface="Times New Roman"/>
                <a:cs typeface="Times New Roman"/>
              </a:rPr>
              <a:t>e</a:t>
            </a:r>
            <a:r>
              <a:rPr sz="1700" spc="-55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-80" dirty="0">
                <a:latin typeface="Times New Roman"/>
                <a:cs typeface="Times New Roman"/>
              </a:rPr>
              <a:t> </a:t>
            </a:r>
            <a:r>
              <a:rPr sz="1700" spc="25" dirty="0">
                <a:latin typeface="Times New Roman"/>
                <a:cs typeface="Times New Roman"/>
              </a:rPr>
              <a:t>t</a:t>
            </a:r>
            <a:r>
              <a:rPr sz="1700" spc="45" dirty="0">
                <a:latin typeface="Times New Roman"/>
                <a:cs typeface="Times New Roman"/>
              </a:rPr>
              <a:t>h</a:t>
            </a:r>
            <a:r>
              <a:rPr sz="1700" dirty="0">
                <a:latin typeface="Times New Roman"/>
                <a:cs typeface="Times New Roman"/>
              </a:rPr>
              <a:t>e</a:t>
            </a:r>
            <a:r>
              <a:rPr sz="1700" spc="-80" dirty="0">
                <a:latin typeface="Times New Roman"/>
                <a:cs typeface="Times New Roman"/>
              </a:rPr>
              <a:t> </a:t>
            </a:r>
            <a:r>
              <a:rPr sz="1700" spc="-40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X</a:t>
            </a:r>
            <a:r>
              <a:rPr sz="1700" spc="-155" dirty="0">
                <a:latin typeface="Times New Roman"/>
                <a:cs typeface="Times New Roman"/>
              </a:rPr>
              <a:t> </a:t>
            </a:r>
            <a:r>
              <a:rPr sz="1700" spc="45" dirty="0">
                <a:latin typeface="Times New Roman"/>
                <a:cs typeface="Times New Roman"/>
              </a:rPr>
              <a:t>an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-80" dirty="0">
                <a:latin typeface="Times New Roman"/>
                <a:cs typeface="Times New Roman"/>
              </a:rPr>
              <a:t> </a:t>
            </a:r>
            <a:r>
              <a:rPr sz="1700" spc="-35" dirty="0">
                <a:latin typeface="Times New Roman"/>
                <a:cs typeface="Times New Roman"/>
              </a:rPr>
              <a:t>R</a:t>
            </a:r>
            <a:r>
              <a:rPr sz="1700" dirty="0">
                <a:latin typeface="Times New Roman"/>
                <a:cs typeface="Times New Roman"/>
              </a:rPr>
              <a:t>X</a:t>
            </a:r>
          </a:p>
        </p:txBody>
      </p:sp>
      <p:sp>
        <p:nvSpPr>
          <p:cNvPr id="9" name="object 9"/>
          <p:cNvSpPr/>
          <p:nvPr/>
        </p:nvSpPr>
        <p:spPr>
          <a:xfrm>
            <a:off x="742949" y="1492249"/>
            <a:ext cx="6083300" cy="3416300"/>
          </a:xfrm>
          <a:custGeom>
            <a:avLst/>
            <a:gdLst/>
            <a:ahLst/>
            <a:cxnLst/>
            <a:rect l="l" t="t" r="r" b="b"/>
            <a:pathLst>
              <a:path w="6083300" h="3416300">
                <a:moveTo>
                  <a:pt x="0" y="0"/>
                </a:moveTo>
                <a:lnTo>
                  <a:pt x="6083300" y="0"/>
                </a:lnTo>
                <a:lnTo>
                  <a:pt x="6083300" y="3416300"/>
                </a:lnTo>
                <a:lnTo>
                  <a:pt x="0" y="341630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0" name="object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8336130"/>
              </p:ext>
            </p:extLst>
          </p:nvPr>
        </p:nvGraphicFramePr>
        <p:xfrm>
          <a:off x="736599" y="5753100"/>
          <a:ext cx="6082665" cy="343007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724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583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66750">
                <a:tc gridSpan="2">
                  <a:txBody>
                    <a:bodyPr/>
                    <a:lstStyle/>
                    <a:p>
                      <a:pPr marL="92075" algn="ctr">
                        <a:lnSpc>
                          <a:spcPct val="100000"/>
                        </a:lnSpc>
                        <a:spcBef>
                          <a:spcPts val="830"/>
                        </a:spcBef>
                      </a:pPr>
                      <a:r>
                        <a:rPr sz="2700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U</a:t>
                      </a:r>
                      <a:r>
                        <a:rPr sz="2700" spc="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niv</a:t>
                      </a:r>
                      <a:r>
                        <a:rPr sz="27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er</a:t>
                      </a:r>
                      <a:r>
                        <a:rPr sz="2700" spc="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sit</a:t>
                      </a:r>
                      <a:r>
                        <a:rPr sz="27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sz="2700" spc="-229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00" spc="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27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sz="2700" spc="-7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00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27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ar</a:t>
                      </a:r>
                      <a:r>
                        <a:rPr sz="2700" spc="2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es</a:t>
                      </a:r>
                      <a:r>
                        <a:rPr sz="2700" spc="7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00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7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700" spc="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l</a:t>
                      </a:r>
                      <a:r>
                        <a:rPr sz="27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aam</a:t>
                      </a: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1054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1333">
                <a:tc>
                  <a:txBody>
                    <a:bodyPr/>
                    <a:lstStyle/>
                    <a:p>
                      <a:pPr marL="278130"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r>
                        <a:rPr sz="2000" b="1" spc="-35" dirty="0">
                          <a:solidFill>
                            <a:srgbClr val="FF0000"/>
                          </a:solidFill>
                          <a:latin typeface="Cambria"/>
                          <a:cs typeface="Cambria"/>
                        </a:rPr>
                        <a:t>Fresnel</a:t>
                      </a:r>
                      <a:r>
                        <a:rPr sz="2000" b="1" spc="60" dirty="0">
                          <a:solidFill>
                            <a:srgbClr val="FF00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2000" b="1" spc="-25" dirty="0">
                          <a:solidFill>
                            <a:srgbClr val="FF0000"/>
                          </a:solidFill>
                          <a:latin typeface="Cambria"/>
                          <a:cs typeface="Cambria"/>
                        </a:rPr>
                        <a:t>zones</a:t>
                      </a:r>
                      <a:endParaRPr sz="2000">
                        <a:latin typeface="Cambria"/>
                        <a:cs typeface="Cambria"/>
                      </a:endParaRPr>
                    </a:p>
                  </a:txBody>
                  <a:tcPr marL="0" marR="0" marT="95250" marB="0">
                    <a:lnL w="1270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841">
                <a:tc>
                  <a:txBody>
                    <a:bodyPr/>
                    <a:lstStyle/>
                    <a:p>
                      <a:pPr marL="27813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600" spc="5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6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radius</a:t>
                      </a:r>
                      <a:r>
                        <a:rPr sz="1600" spc="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6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5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600" spc="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i="1" spc="-10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650" i="1" spc="-15" baseline="25252" dirty="0">
                          <a:latin typeface="Times New Roman"/>
                          <a:cs typeface="Times New Roman"/>
                        </a:rPr>
                        <a:t>th</a:t>
                      </a:r>
                      <a:endParaRPr sz="1650" baseline="25252">
                        <a:latin typeface="Times New Roman"/>
                        <a:cs typeface="Times New Roman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278130">
                        <a:lnSpc>
                          <a:spcPts val="1800"/>
                        </a:lnSpc>
                      </a:pPr>
                      <a:r>
                        <a:rPr sz="1600" spc="-15" dirty="0">
                          <a:latin typeface="Times New Roman"/>
                          <a:cs typeface="Times New Roman"/>
                        </a:rPr>
                        <a:t>Fresnel</a:t>
                      </a:r>
                      <a:r>
                        <a:rPr sz="1600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zone</a:t>
                      </a:r>
                      <a:r>
                        <a:rPr sz="16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is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70253">
                <a:tc>
                  <a:txBody>
                    <a:bodyPr/>
                    <a:lstStyle/>
                    <a:p>
                      <a:pPr marL="278130">
                        <a:lnSpc>
                          <a:spcPts val="1760"/>
                        </a:lnSpc>
                      </a:pP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approximated</a:t>
                      </a:r>
                      <a:r>
                        <a:rPr sz="1600" spc="1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as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4982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1250" dirty="0">
                        <a:latin typeface="Times New Roman"/>
                        <a:cs typeface="Times New Roman"/>
                      </a:endParaRPr>
                    </a:p>
                    <a:p>
                      <a:pPr marL="39370">
                        <a:lnSpc>
                          <a:spcPts val="1675"/>
                        </a:lnSpc>
                      </a:pP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1250" dirty="0">
                        <a:latin typeface="Times New Roman"/>
                        <a:cs typeface="Times New Roman"/>
                      </a:endParaRPr>
                    </a:p>
                    <a:p>
                      <a:pPr marR="53975" algn="r">
                        <a:lnSpc>
                          <a:spcPts val="1675"/>
                        </a:lnSpc>
                      </a:pP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15" name="object 1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52472" y="6611405"/>
            <a:ext cx="3853150" cy="1853636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12639" y="7948172"/>
            <a:ext cx="1642872" cy="720117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bject 21"/>
          <p:cNvSpPr txBox="1">
            <a:spLocks noGrp="1"/>
          </p:cNvSpPr>
          <p:nvPr>
            <p:ph type="sldNum" sz="quarter" idx="4294967295"/>
          </p:nvPr>
        </p:nvSpPr>
        <p:spPr>
          <a:xfrm>
            <a:off x="7300913" y="9974263"/>
            <a:ext cx="255587" cy="227012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22</a:t>
            </a:fld>
            <a:endParaRPr dirty="0"/>
          </a:p>
        </p:txBody>
      </p:sp>
      <p:sp>
        <p:nvSpPr>
          <p:cNvPr id="10" name="object 10"/>
          <p:cNvSpPr txBox="1"/>
          <p:nvPr/>
        </p:nvSpPr>
        <p:spPr>
          <a:xfrm>
            <a:off x="996010" y="2241534"/>
            <a:ext cx="4889500" cy="785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2000" b="1" spc="-35" dirty="0">
                <a:solidFill>
                  <a:srgbClr val="FF0000"/>
                </a:solidFill>
                <a:latin typeface="Cambria"/>
                <a:cs typeface="Cambria"/>
              </a:rPr>
              <a:t>Fresnel</a:t>
            </a:r>
            <a:r>
              <a:rPr sz="2000" b="1" spc="6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b="1" spc="-25" dirty="0">
                <a:solidFill>
                  <a:srgbClr val="FF0000"/>
                </a:solidFill>
                <a:latin typeface="Cambria"/>
                <a:cs typeface="Cambria"/>
              </a:rPr>
              <a:t>zones</a:t>
            </a:r>
            <a:endParaRPr sz="2000">
              <a:latin typeface="Cambria"/>
              <a:cs typeface="Cambria"/>
            </a:endParaRPr>
          </a:p>
          <a:p>
            <a:pPr marL="25400">
              <a:lnSpc>
                <a:spcPct val="100000"/>
              </a:lnSpc>
              <a:spcBef>
                <a:spcPts val="1420"/>
              </a:spcBef>
            </a:pP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radius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the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i="1" spc="10" dirty="0">
                <a:latin typeface="Times New Roman"/>
                <a:cs typeface="Times New Roman"/>
              </a:rPr>
              <a:t>1</a:t>
            </a:r>
            <a:r>
              <a:rPr sz="1800" i="1" spc="15" baseline="23148" dirty="0">
                <a:latin typeface="Times New Roman"/>
                <a:cs typeface="Times New Roman"/>
              </a:rPr>
              <a:t>st</a:t>
            </a:r>
            <a:r>
              <a:rPr sz="1800" i="1" spc="254" baseline="23148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Fresnel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zone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is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approximated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as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736599" y="1485899"/>
            <a:ext cx="6096000" cy="3429000"/>
            <a:chOff x="736599" y="1485899"/>
            <a:chExt cx="6096000" cy="3429000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85458" y="3326492"/>
              <a:ext cx="2934559" cy="922337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742949" y="1492249"/>
              <a:ext cx="6083300" cy="3416300"/>
            </a:xfrm>
            <a:custGeom>
              <a:avLst/>
              <a:gdLst/>
              <a:ahLst/>
              <a:cxnLst/>
              <a:rect l="l" t="t" r="r" b="b"/>
              <a:pathLst>
                <a:path w="6083300" h="3416300">
                  <a:moveTo>
                    <a:pt x="0" y="0"/>
                  </a:moveTo>
                  <a:lnTo>
                    <a:pt x="6083300" y="0"/>
                  </a:lnTo>
                  <a:lnTo>
                    <a:pt x="6083300" y="3416300"/>
                  </a:lnTo>
                  <a:lnTo>
                    <a:pt x="0" y="34163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749299" y="5852587"/>
            <a:ext cx="607060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2075" algn="ctr">
              <a:lnSpc>
                <a:spcPct val="100000"/>
              </a:lnSpc>
              <a:spcBef>
                <a:spcPts val="100"/>
              </a:spcBef>
            </a:pPr>
            <a:r>
              <a:rPr sz="2700" spc="-50" dirty="0">
                <a:solidFill>
                  <a:srgbClr val="FFFFFF"/>
                </a:solidFill>
                <a:latin typeface="Times New Roman"/>
                <a:cs typeface="Times New Roman"/>
              </a:rPr>
              <a:t>U</a:t>
            </a:r>
            <a:r>
              <a:rPr sz="2700" spc="50" dirty="0">
                <a:solidFill>
                  <a:srgbClr val="FFFFFF"/>
                </a:solidFill>
                <a:latin typeface="Times New Roman"/>
                <a:cs typeface="Times New Roman"/>
              </a:rPr>
              <a:t>niv</a:t>
            </a:r>
            <a:r>
              <a:rPr sz="2700" dirty="0">
                <a:solidFill>
                  <a:srgbClr val="FFFFFF"/>
                </a:solidFill>
                <a:latin typeface="Times New Roman"/>
                <a:cs typeface="Times New Roman"/>
              </a:rPr>
              <a:t>er</a:t>
            </a:r>
            <a:r>
              <a:rPr sz="2700" spc="50" dirty="0">
                <a:solidFill>
                  <a:srgbClr val="FFFFFF"/>
                </a:solidFill>
                <a:latin typeface="Times New Roman"/>
                <a:cs typeface="Times New Roman"/>
              </a:rPr>
              <a:t>sit</a:t>
            </a:r>
            <a:r>
              <a:rPr sz="2700" dirty="0">
                <a:solidFill>
                  <a:srgbClr val="FFFFFF"/>
                </a:solidFill>
                <a:latin typeface="Times New Roman"/>
                <a:cs typeface="Times New Roman"/>
              </a:rPr>
              <a:t>y</a:t>
            </a:r>
            <a:r>
              <a:rPr sz="2700" spc="-229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700" spc="50" dirty="0">
                <a:solidFill>
                  <a:srgbClr val="FFFFFF"/>
                </a:solidFill>
                <a:latin typeface="Times New Roman"/>
                <a:cs typeface="Times New Roman"/>
              </a:rPr>
              <a:t>o</a:t>
            </a:r>
            <a:r>
              <a:rPr sz="2700" dirty="0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r>
              <a:rPr sz="27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700" spc="-50" dirty="0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sz="2700" dirty="0">
                <a:solidFill>
                  <a:srgbClr val="FFFFFF"/>
                </a:solidFill>
                <a:latin typeface="Times New Roman"/>
                <a:cs typeface="Times New Roman"/>
              </a:rPr>
              <a:t>ar</a:t>
            </a:r>
            <a:r>
              <a:rPr sz="2700"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700" dirty="0">
                <a:solidFill>
                  <a:srgbClr val="FFFFFF"/>
                </a:solidFill>
                <a:latin typeface="Times New Roman"/>
                <a:cs typeface="Times New Roman"/>
              </a:rPr>
              <a:t>es</a:t>
            </a:r>
            <a:r>
              <a:rPr sz="2700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700" spc="-5" dirty="0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sz="27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700" spc="50" dirty="0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sz="2700" dirty="0">
                <a:solidFill>
                  <a:srgbClr val="FFFFFF"/>
                </a:solidFill>
                <a:latin typeface="Times New Roman"/>
                <a:cs typeface="Times New Roman"/>
              </a:rPr>
              <a:t>aam</a:t>
            </a:r>
            <a:endParaRPr sz="27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37564" y="6071027"/>
            <a:ext cx="5995035" cy="2842260"/>
          </a:xfrm>
          <a:prstGeom prst="rect">
            <a:avLst/>
          </a:prstGeom>
        </p:spPr>
        <p:txBody>
          <a:bodyPr vert="horz" wrap="square" lIns="0" tIns="125730" rIns="0" bIns="0" rtlCol="0">
            <a:spAutoFit/>
          </a:bodyPr>
          <a:lstStyle/>
          <a:p>
            <a:pPr marL="123189">
              <a:lnSpc>
                <a:spcPct val="100000"/>
              </a:lnSpc>
              <a:spcBef>
                <a:spcPts val="990"/>
              </a:spcBef>
            </a:pPr>
            <a:r>
              <a:rPr sz="1600" b="1" spc="35" dirty="0">
                <a:solidFill>
                  <a:srgbClr val="FF0000"/>
                </a:solidFill>
                <a:latin typeface="Cambria"/>
                <a:cs typeface="Cambria"/>
              </a:rPr>
              <a:t>Single </a:t>
            </a:r>
            <a:r>
              <a:rPr sz="1600" b="1" spc="25" dirty="0">
                <a:solidFill>
                  <a:srgbClr val="FF0000"/>
                </a:solidFill>
                <a:latin typeface="Cambria"/>
                <a:cs typeface="Cambria"/>
              </a:rPr>
              <a:t>Knife-Edge</a:t>
            </a:r>
            <a:r>
              <a:rPr sz="1600" b="1" spc="4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600" b="1" spc="-5" dirty="0">
                <a:solidFill>
                  <a:srgbClr val="FF0000"/>
                </a:solidFill>
                <a:latin typeface="Cambria"/>
                <a:cs typeface="Cambria"/>
              </a:rPr>
              <a:t>Diffraction</a:t>
            </a:r>
            <a:r>
              <a:rPr sz="1600" b="1" spc="254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600" b="1" spc="50" dirty="0">
                <a:solidFill>
                  <a:srgbClr val="FF0000"/>
                </a:solidFill>
                <a:latin typeface="Cambria"/>
                <a:cs typeface="Cambria"/>
              </a:rPr>
              <a:t>Model</a:t>
            </a:r>
            <a:endParaRPr sz="1600" dirty="0">
              <a:latin typeface="Cambria"/>
              <a:cs typeface="Cambria"/>
            </a:endParaRPr>
          </a:p>
          <a:p>
            <a:pPr marL="415290" marR="173990" indent="-292100">
              <a:lnSpc>
                <a:spcPct val="101899"/>
              </a:lnSpc>
              <a:spcBef>
                <a:spcPts val="960"/>
              </a:spcBef>
              <a:buFont typeface="Wingdings"/>
              <a:buChar char=""/>
              <a:tabLst>
                <a:tab pos="415925" algn="l"/>
              </a:tabLst>
            </a:pPr>
            <a:r>
              <a:rPr sz="1800" spc="-5" dirty="0">
                <a:latin typeface="Times New Roman"/>
                <a:cs typeface="Times New Roman"/>
              </a:rPr>
              <a:t>Propagation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environments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may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have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obstacles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that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hinder 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the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radio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transmission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path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between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the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transmitter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the </a:t>
            </a:r>
            <a:r>
              <a:rPr sz="1800" spc="-434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Times New Roman"/>
                <a:cs typeface="Times New Roman"/>
              </a:rPr>
              <a:t>receiver.</a:t>
            </a:r>
            <a:endParaRPr sz="1800" dirty="0">
              <a:latin typeface="Times New Roman"/>
              <a:cs typeface="Times New Roman"/>
            </a:endParaRPr>
          </a:p>
          <a:p>
            <a:pPr marL="415290" indent="-292735">
              <a:lnSpc>
                <a:spcPts val="2100"/>
              </a:lnSpc>
              <a:buFont typeface="Wingdings"/>
              <a:buChar char=""/>
              <a:tabLst>
                <a:tab pos="415925" algn="l"/>
              </a:tabLst>
            </a:pPr>
            <a:r>
              <a:rPr sz="1800" spc="-5" dirty="0">
                <a:latin typeface="Times New Roman"/>
                <a:cs typeface="Times New Roman"/>
              </a:rPr>
              <a:t>Idealized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models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for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estimating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the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signal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loss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associated</a:t>
            </a:r>
            <a:endParaRPr sz="1800" dirty="0">
              <a:latin typeface="Times New Roman"/>
              <a:cs typeface="Times New Roman"/>
            </a:endParaRPr>
          </a:p>
          <a:p>
            <a:pPr marL="415290">
              <a:lnSpc>
                <a:spcPts val="2130"/>
              </a:lnSpc>
              <a:spcBef>
                <a:spcPts val="40"/>
              </a:spcBef>
            </a:pPr>
            <a:r>
              <a:rPr sz="1800" spc="-5" dirty="0">
                <a:latin typeface="Times New Roman"/>
                <a:cs typeface="Times New Roman"/>
              </a:rPr>
              <a:t>with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diffraction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by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such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obstacles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are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available</a:t>
            </a:r>
            <a:endParaRPr sz="1800" dirty="0">
              <a:latin typeface="Times New Roman"/>
              <a:cs typeface="Times New Roman"/>
            </a:endParaRPr>
          </a:p>
          <a:p>
            <a:pPr marL="415290" marR="490855" indent="-292100">
              <a:lnSpc>
                <a:spcPts val="2200"/>
              </a:lnSpc>
              <a:spcBef>
                <a:spcPts val="10"/>
              </a:spcBef>
              <a:buFont typeface="Wingdings"/>
              <a:buChar char=""/>
              <a:tabLst>
                <a:tab pos="415925" algn="l"/>
              </a:tabLst>
            </a:pPr>
            <a:r>
              <a:rPr sz="1800" spc="-5" dirty="0">
                <a:latin typeface="Times New Roman"/>
                <a:cs typeface="Times New Roman"/>
              </a:rPr>
              <a:t>Considers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two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idealized</a:t>
            </a:r>
            <a:r>
              <a:rPr sz="1800" spc="6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cases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where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sharp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obstacle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is </a:t>
            </a:r>
            <a:r>
              <a:rPr sz="1800" spc="-434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placed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between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the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transmitter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the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receive</a:t>
            </a:r>
            <a:endParaRPr sz="1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445"/>
              </a:spcBef>
              <a:tabLst>
                <a:tab pos="5485765" algn="l"/>
              </a:tabLst>
            </a:pP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742949" y="5759450"/>
            <a:ext cx="6083300" cy="3416300"/>
          </a:xfrm>
          <a:custGeom>
            <a:avLst/>
            <a:gdLst/>
            <a:ahLst/>
            <a:cxnLst/>
            <a:rect l="l" t="t" r="r" b="b"/>
            <a:pathLst>
              <a:path w="6083300" h="3416300">
                <a:moveTo>
                  <a:pt x="0" y="0"/>
                </a:moveTo>
                <a:lnTo>
                  <a:pt x="6083300" y="0"/>
                </a:lnTo>
                <a:lnTo>
                  <a:pt x="6083300" y="3416300"/>
                </a:lnTo>
                <a:lnTo>
                  <a:pt x="0" y="341630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54011" y="455423"/>
            <a:ext cx="508634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40" dirty="0">
                <a:latin typeface="Calibri"/>
                <a:cs typeface="Calibri"/>
              </a:rPr>
              <a:t>8</a:t>
            </a:r>
            <a:r>
              <a:rPr sz="1300" spc="-5" dirty="0">
                <a:latin typeface="Calibri"/>
                <a:cs typeface="Calibri"/>
              </a:rPr>
              <a:t>/</a:t>
            </a:r>
            <a:r>
              <a:rPr sz="1300" spc="40" dirty="0">
                <a:latin typeface="Calibri"/>
                <a:cs typeface="Calibri"/>
              </a:rPr>
              <a:t>5</a:t>
            </a:r>
            <a:r>
              <a:rPr sz="1300" spc="-5" dirty="0">
                <a:latin typeface="Calibri"/>
                <a:cs typeface="Calibri"/>
              </a:rPr>
              <a:t>/</a:t>
            </a:r>
            <a:r>
              <a:rPr sz="1300" spc="40" dirty="0">
                <a:latin typeface="Calibri"/>
                <a:cs typeface="Calibri"/>
              </a:rPr>
              <a:t>20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sldNum" sz="quarter" idx="4294967295"/>
          </p:nvPr>
        </p:nvSpPr>
        <p:spPr>
          <a:xfrm>
            <a:off x="7300913" y="9974263"/>
            <a:ext cx="255587" cy="227012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23</a:t>
            </a:fld>
            <a:endParaRPr dirty="0"/>
          </a:p>
        </p:txBody>
      </p:sp>
      <p:sp>
        <p:nvSpPr>
          <p:cNvPr id="10" name="object 10"/>
          <p:cNvSpPr txBox="1"/>
          <p:nvPr/>
        </p:nvSpPr>
        <p:spPr>
          <a:xfrm>
            <a:off x="905794" y="2179708"/>
            <a:ext cx="347154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600" b="1" spc="35" dirty="0">
                <a:solidFill>
                  <a:srgbClr val="FF0000"/>
                </a:solidFill>
                <a:latin typeface="Cambria"/>
                <a:cs typeface="Cambria"/>
              </a:rPr>
              <a:t>Single </a:t>
            </a:r>
            <a:r>
              <a:rPr sz="1600" b="1" spc="25" dirty="0">
                <a:solidFill>
                  <a:srgbClr val="FF0000"/>
                </a:solidFill>
                <a:latin typeface="Cambria"/>
                <a:cs typeface="Cambria"/>
              </a:rPr>
              <a:t>Knife-Edge</a:t>
            </a:r>
            <a:r>
              <a:rPr sz="1600" b="1" spc="3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600" b="1" spc="-5" dirty="0">
                <a:solidFill>
                  <a:srgbClr val="FF0000"/>
                </a:solidFill>
                <a:latin typeface="Cambria"/>
                <a:cs typeface="Cambria"/>
              </a:rPr>
              <a:t>Diffraction</a:t>
            </a:r>
            <a:r>
              <a:rPr sz="1600" b="1" spc="254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600" b="1" spc="50" dirty="0">
                <a:solidFill>
                  <a:srgbClr val="FF0000"/>
                </a:solidFill>
                <a:latin typeface="Cambria"/>
                <a:cs typeface="Cambria"/>
              </a:rPr>
              <a:t>Model</a:t>
            </a:r>
            <a:endParaRPr sz="1600">
              <a:latin typeface="Cambria"/>
              <a:cs typeface="Cambri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736599" y="1485899"/>
            <a:ext cx="6096000" cy="3429000"/>
            <a:chOff x="736599" y="1485899"/>
            <a:chExt cx="6096000" cy="3429000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26830" y="2596718"/>
              <a:ext cx="2312071" cy="1798467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50982" y="2848141"/>
              <a:ext cx="2681939" cy="1632746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742949" y="1492249"/>
              <a:ext cx="6083300" cy="3416300"/>
            </a:xfrm>
            <a:custGeom>
              <a:avLst/>
              <a:gdLst/>
              <a:ahLst/>
              <a:cxnLst/>
              <a:rect l="l" t="t" r="r" b="b"/>
              <a:pathLst>
                <a:path w="6083300" h="3416300">
                  <a:moveTo>
                    <a:pt x="0" y="0"/>
                  </a:moveTo>
                  <a:lnTo>
                    <a:pt x="6083300" y="0"/>
                  </a:lnTo>
                  <a:lnTo>
                    <a:pt x="6083300" y="3416300"/>
                  </a:lnTo>
                  <a:lnTo>
                    <a:pt x="0" y="34163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749299" y="5852587"/>
            <a:ext cx="607060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2075" algn="ctr">
              <a:lnSpc>
                <a:spcPct val="100000"/>
              </a:lnSpc>
              <a:spcBef>
                <a:spcPts val="100"/>
              </a:spcBef>
            </a:pPr>
            <a:r>
              <a:rPr sz="2700" spc="-50" dirty="0">
                <a:solidFill>
                  <a:srgbClr val="FFFFFF"/>
                </a:solidFill>
                <a:latin typeface="Times New Roman"/>
                <a:cs typeface="Times New Roman"/>
              </a:rPr>
              <a:t>U</a:t>
            </a:r>
            <a:r>
              <a:rPr sz="2700" spc="50" dirty="0">
                <a:solidFill>
                  <a:srgbClr val="FFFFFF"/>
                </a:solidFill>
                <a:latin typeface="Times New Roman"/>
                <a:cs typeface="Times New Roman"/>
              </a:rPr>
              <a:t>niv</a:t>
            </a:r>
            <a:r>
              <a:rPr sz="2700" dirty="0">
                <a:solidFill>
                  <a:srgbClr val="FFFFFF"/>
                </a:solidFill>
                <a:latin typeface="Times New Roman"/>
                <a:cs typeface="Times New Roman"/>
              </a:rPr>
              <a:t>er</a:t>
            </a:r>
            <a:r>
              <a:rPr sz="2700" spc="50" dirty="0">
                <a:solidFill>
                  <a:srgbClr val="FFFFFF"/>
                </a:solidFill>
                <a:latin typeface="Times New Roman"/>
                <a:cs typeface="Times New Roman"/>
              </a:rPr>
              <a:t>sit</a:t>
            </a:r>
            <a:r>
              <a:rPr sz="2700" dirty="0">
                <a:solidFill>
                  <a:srgbClr val="FFFFFF"/>
                </a:solidFill>
                <a:latin typeface="Times New Roman"/>
                <a:cs typeface="Times New Roman"/>
              </a:rPr>
              <a:t>y</a:t>
            </a:r>
            <a:r>
              <a:rPr sz="2700" spc="-229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700" spc="50" dirty="0">
                <a:solidFill>
                  <a:srgbClr val="FFFFFF"/>
                </a:solidFill>
                <a:latin typeface="Times New Roman"/>
                <a:cs typeface="Times New Roman"/>
              </a:rPr>
              <a:t>o</a:t>
            </a:r>
            <a:r>
              <a:rPr sz="2700" dirty="0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r>
              <a:rPr sz="27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700" spc="-50" dirty="0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sz="2700" dirty="0">
                <a:solidFill>
                  <a:srgbClr val="FFFFFF"/>
                </a:solidFill>
                <a:latin typeface="Times New Roman"/>
                <a:cs typeface="Times New Roman"/>
              </a:rPr>
              <a:t>ar</a:t>
            </a:r>
            <a:r>
              <a:rPr sz="2700"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700" dirty="0">
                <a:solidFill>
                  <a:srgbClr val="FFFFFF"/>
                </a:solidFill>
                <a:latin typeface="Times New Roman"/>
                <a:cs typeface="Times New Roman"/>
              </a:rPr>
              <a:t>es</a:t>
            </a:r>
            <a:r>
              <a:rPr sz="2700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700" spc="-5" dirty="0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sz="27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700" spc="50" dirty="0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sz="2700" dirty="0">
                <a:solidFill>
                  <a:srgbClr val="FFFFFF"/>
                </a:solidFill>
                <a:latin typeface="Times New Roman"/>
                <a:cs typeface="Times New Roman"/>
              </a:rPr>
              <a:t>aam</a:t>
            </a:r>
            <a:endParaRPr sz="27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020094" y="6458782"/>
            <a:ext cx="5337175" cy="1058545"/>
          </a:xfrm>
          <a:prstGeom prst="rect">
            <a:avLst/>
          </a:prstGeom>
        </p:spPr>
        <p:txBody>
          <a:bodyPr vert="horz" wrap="square" lIns="0" tIns="123189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69"/>
              </a:spcBef>
            </a:pPr>
            <a:r>
              <a:rPr sz="1600" b="1" spc="35" dirty="0">
                <a:solidFill>
                  <a:srgbClr val="FF0000"/>
                </a:solidFill>
                <a:latin typeface="Cambria"/>
                <a:cs typeface="Cambria"/>
              </a:rPr>
              <a:t>Single </a:t>
            </a:r>
            <a:r>
              <a:rPr sz="1600" b="1" spc="25" dirty="0">
                <a:solidFill>
                  <a:srgbClr val="FF0000"/>
                </a:solidFill>
                <a:latin typeface="Cambria"/>
                <a:cs typeface="Cambria"/>
              </a:rPr>
              <a:t>Knife-Edge</a:t>
            </a:r>
            <a:r>
              <a:rPr sz="1600" b="1" spc="4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600" b="1" spc="-5" dirty="0">
                <a:solidFill>
                  <a:srgbClr val="FF0000"/>
                </a:solidFill>
                <a:latin typeface="Cambria"/>
                <a:cs typeface="Cambria"/>
              </a:rPr>
              <a:t>Diffraction</a:t>
            </a:r>
            <a:r>
              <a:rPr sz="1600" b="1" spc="254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600" b="1" spc="50" dirty="0">
                <a:solidFill>
                  <a:srgbClr val="FF0000"/>
                </a:solidFill>
                <a:latin typeface="Cambria"/>
                <a:cs typeface="Cambria"/>
              </a:rPr>
              <a:t>Model</a:t>
            </a:r>
            <a:endParaRPr sz="1600">
              <a:latin typeface="Cambria"/>
              <a:cs typeface="Cambria"/>
            </a:endParaRPr>
          </a:p>
          <a:p>
            <a:pPr marL="79375" marR="5080">
              <a:lnSpc>
                <a:spcPct val="101899"/>
              </a:lnSpc>
              <a:spcBef>
                <a:spcPts val="940"/>
              </a:spcBef>
            </a:pPr>
            <a:r>
              <a:rPr sz="1800" spc="-5" dirty="0">
                <a:latin typeface="Times New Roman"/>
                <a:cs typeface="Times New Roman"/>
              </a:rPr>
              <a:t>For</a:t>
            </a:r>
            <a:r>
              <a:rPr sz="1800" spc="6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large-scale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propagation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Times New Roman"/>
                <a:cs typeface="Times New Roman"/>
              </a:rPr>
              <a:t>geometry,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the</a:t>
            </a:r>
            <a:r>
              <a:rPr sz="1800" spc="6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path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difference </a:t>
            </a:r>
            <a:r>
              <a:rPr sz="1800" spc="-434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between</a:t>
            </a:r>
            <a:r>
              <a:rPr sz="1800" spc="4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the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LOS</a:t>
            </a:r>
            <a:r>
              <a:rPr sz="1800" spc="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the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diffracted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rays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is: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736599" y="4908549"/>
            <a:ext cx="6096000" cy="4273551"/>
            <a:chOff x="736599" y="5753100"/>
            <a:chExt cx="6096000" cy="3429000"/>
          </a:xfrm>
        </p:grpSpPr>
        <p:pic>
          <p:nvPicPr>
            <p:cNvPr id="24" name="object 2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43150" y="7766050"/>
              <a:ext cx="2159000" cy="692150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742949" y="5759450"/>
              <a:ext cx="6083300" cy="3416300"/>
            </a:xfrm>
            <a:custGeom>
              <a:avLst/>
              <a:gdLst/>
              <a:ahLst/>
              <a:cxnLst/>
              <a:rect l="l" t="t" r="r" b="b"/>
              <a:pathLst>
                <a:path w="6083300" h="3416300">
                  <a:moveTo>
                    <a:pt x="0" y="0"/>
                  </a:moveTo>
                  <a:lnTo>
                    <a:pt x="6083300" y="0"/>
                  </a:lnTo>
                  <a:lnTo>
                    <a:pt x="6083300" y="3416300"/>
                  </a:lnTo>
                  <a:lnTo>
                    <a:pt x="0" y="34163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54011" y="455423"/>
            <a:ext cx="508634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40" dirty="0">
                <a:latin typeface="Calibri"/>
                <a:cs typeface="Calibri"/>
              </a:rPr>
              <a:t>8</a:t>
            </a:r>
            <a:r>
              <a:rPr sz="1300" spc="-5" dirty="0">
                <a:latin typeface="Calibri"/>
                <a:cs typeface="Calibri"/>
              </a:rPr>
              <a:t>/</a:t>
            </a:r>
            <a:r>
              <a:rPr sz="1300" spc="40" dirty="0">
                <a:latin typeface="Calibri"/>
                <a:cs typeface="Calibri"/>
              </a:rPr>
              <a:t>5</a:t>
            </a:r>
            <a:r>
              <a:rPr sz="1300" spc="-5" dirty="0">
                <a:latin typeface="Calibri"/>
                <a:cs typeface="Calibri"/>
              </a:rPr>
              <a:t>/</a:t>
            </a:r>
            <a:r>
              <a:rPr sz="1300" spc="40" dirty="0">
                <a:latin typeface="Calibri"/>
                <a:cs typeface="Calibri"/>
              </a:rPr>
              <a:t>20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4294967295"/>
          </p:nvPr>
        </p:nvSpPr>
        <p:spPr>
          <a:xfrm>
            <a:off x="7300913" y="9974263"/>
            <a:ext cx="255587" cy="227012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24</a:t>
            </a:fld>
            <a:endParaRPr dirty="0"/>
          </a:p>
        </p:txBody>
      </p:sp>
      <p:sp>
        <p:nvSpPr>
          <p:cNvPr id="10" name="object 10"/>
          <p:cNvSpPr txBox="1"/>
          <p:nvPr/>
        </p:nvSpPr>
        <p:spPr>
          <a:xfrm>
            <a:off x="994694" y="2191582"/>
            <a:ext cx="5483860" cy="1337945"/>
          </a:xfrm>
          <a:prstGeom prst="rect">
            <a:avLst/>
          </a:prstGeom>
        </p:spPr>
        <p:txBody>
          <a:bodyPr vert="horz" wrap="square" lIns="0" tIns="123189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69"/>
              </a:spcBef>
            </a:pPr>
            <a:r>
              <a:rPr sz="1600" b="1" spc="35" dirty="0">
                <a:solidFill>
                  <a:srgbClr val="FF0000"/>
                </a:solidFill>
                <a:latin typeface="Cambria"/>
                <a:cs typeface="Cambria"/>
              </a:rPr>
              <a:t>Single </a:t>
            </a:r>
            <a:r>
              <a:rPr sz="1600" b="1" spc="25" dirty="0">
                <a:solidFill>
                  <a:srgbClr val="FF0000"/>
                </a:solidFill>
                <a:latin typeface="Cambria"/>
                <a:cs typeface="Cambria"/>
              </a:rPr>
              <a:t>Knife-Edge</a:t>
            </a:r>
            <a:r>
              <a:rPr sz="1600" b="1" spc="4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600" b="1" spc="-5" dirty="0">
                <a:solidFill>
                  <a:srgbClr val="FF0000"/>
                </a:solidFill>
                <a:latin typeface="Cambria"/>
                <a:cs typeface="Cambria"/>
              </a:rPr>
              <a:t>Diffraction</a:t>
            </a:r>
            <a:r>
              <a:rPr sz="1600" b="1" spc="254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600" b="1" spc="50" dirty="0">
                <a:solidFill>
                  <a:srgbClr val="FF0000"/>
                </a:solidFill>
                <a:latin typeface="Cambria"/>
                <a:cs typeface="Cambria"/>
              </a:rPr>
              <a:t>Model</a:t>
            </a:r>
            <a:endParaRPr sz="1600">
              <a:latin typeface="Cambria"/>
              <a:cs typeface="Cambria"/>
            </a:endParaRPr>
          </a:p>
          <a:p>
            <a:pPr marL="396875" marR="30480" indent="-292100">
              <a:lnSpc>
                <a:spcPct val="101899"/>
              </a:lnSpc>
              <a:spcBef>
                <a:spcPts val="940"/>
              </a:spcBef>
              <a:buFont typeface="Wingdings"/>
              <a:buChar char=""/>
              <a:tabLst>
                <a:tab pos="397510" algn="l"/>
              </a:tabLst>
            </a:pPr>
            <a:r>
              <a:rPr sz="1800" spc="-5" dirty="0">
                <a:latin typeface="Times New Roman"/>
                <a:cs typeface="Times New Roman"/>
              </a:rPr>
              <a:t>Given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the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height</a:t>
            </a:r>
            <a:r>
              <a:rPr sz="1800" spc="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the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obstruction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h</a:t>
            </a:r>
            <a:r>
              <a:rPr sz="1800" dirty="0">
                <a:latin typeface="Times New Roman"/>
                <a:cs typeface="Times New Roman"/>
              </a:rPr>
              <a:t>, we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can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find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out 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which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i="1" spc="-15" dirty="0">
                <a:latin typeface="Times New Roman"/>
                <a:cs typeface="Times New Roman"/>
              </a:rPr>
              <a:t>n</a:t>
            </a:r>
            <a:r>
              <a:rPr sz="1800" i="1" spc="-22" baseline="23148" dirty="0">
                <a:latin typeface="Times New Roman"/>
                <a:cs typeface="Times New Roman"/>
              </a:rPr>
              <a:t>th</a:t>
            </a:r>
            <a:r>
              <a:rPr sz="1800" i="1" spc="157" baseline="23148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Fresnel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zone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is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obstructed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by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the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obstruction.</a:t>
            </a:r>
            <a:endParaRPr sz="1800">
              <a:latin typeface="Times New Roman"/>
              <a:cs typeface="Times New Roman"/>
            </a:endParaRPr>
          </a:p>
          <a:p>
            <a:pPr marL="396875" indent="-292735">
              <a:lnSpc>
                <a:spcPct val="100000"/>
              </a:lnSpc>
              <a:spcBef>
                <a:spcPts val="40"/>
              </a:spcBef>
              <a:buFont typeface="Wingdings"/>
              <a:buChar char=""/>
              <a:tabLst>
                <a:tab pos="397510" algn="l"/>
              </a:tabLst>
            </a:pPr>
            <a:r>
              <a:rPr sz="1800" spc="-5" dirty="0">
                <a:latin typeface="Times New Roman"/>
                <a:cs typeface="Times New Roman"/>
              </a:rPr>
              <a:t>Setting</a:t>
            </a:r>
            <a:r>
              <a:rPr sz="1800" spc="40" dirty="0">
                <a:latin typeface="Times New Roman"/>
                <a:cs typeface="Times New Roman"/>
              </a:rPr>
              <a:t> </a:t>
            </a:r>
            <a:r>
              <a:rPr sz="1800" i="1" spc="-5" dirty="0">
                <a:latin typeface="Times New Roman"/>
                <a:cs typeface="Times New Roman"/>
              </a:rPr>
              <a:t>r</a:t>
            </a:r>
            <a:r>
              <a:rPr sz="1800" i="1" spc="-7" baseline="-13888" dirty="0">
                <a:latin typeface="Times New Roman"/>
                <a:cs typeface="Times New Roman"/>
              </a:rPr>
              <a:t>n</a:t>
            </a:r>
            <a:r>
              <a:rPr sz="1800" i="1" spc="142" baseline="-13888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=</a:t>
            </a:r>
            <a:r>
              <a:rPr sz="1800" spc="25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h</a:t>
            </a:r>
            <a:r>
              <a:rPr sz="1800" i="1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solving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for</a:t>
            </a:r>
            <a:r>
              <a:rPr sz="1800" spc="45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i="1" spc="-55" dirty="0">
                <a:latin typeface="Times New Roman"/>
                <a:cs typeface="Times New Roman"/>
              </a:rPr>
              <a:t> </a:t>
            </a:r>
            <a:r>
              <a:rPr sz="1800" i="1" spc="-5" dirty="0">
                <a:latin typeface="Times New Roman"/>
                <a:cs typeface="Times New Roman"/>
              </a:rPr>
              <a:t>we</a:t>
            </a:r>
            <a:r>
              <a:rPr sz="1800" i="1" spc="50" dirty="0">
                <a:latin typeface="Times New Roman"/>
                <a:cs typeface="Times New Roman"/>
              </a:rPr>
              <a:t> </a:t>
            </a:r>
            <a:r>
              <a:rPr sz="1800" i="1" spc="-5" dirty="0">
                <a:latin typeface="Times New Roman"/>
                <a:cs typeface="Times New Roman"/>
              </a:rPr>
              <a:t>get: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736599" y="1485899"/>
            <a:ext cx="6096000" cy="3429000"/>
            <a:chOff x="736599" y="1485899"/>
            <a:chExt cx="6096000" cy="3429000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43873" y="3772270"/>
              <a:ext cx="2532693" cy="623505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742949" y="1492249"/>
              <a:ext cx="6083300" cy="3416300"/>
            </a:xfrm>
            <a:custGeom>
              <a:avLst/>
              <a:gdLst/>
              <a:ahLst/>
              <a:cxnLst/>
              <a:rect l="l" t="t" r="r" b="b"/>
              <a:pathLst>
                <a:path w="6083300" h="3416300">
                  <a:moveTo>
                    <a:pt x="0" y="0"/>
                  </a:moveTo>
                  <a:lnTo>
                    <a:pt x="6083300" y="0"/>
                  </a:lnTo>
                  <a:lnTo>
                    <a:pt x="6083300" y="3416300"/>
                  </a:lnTo>
                  <a:lnTo>
                    <a:pt x="0" y="34163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749299" y="5852587"/>
            <a:ext cx="607060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2075" algn="ctr">
              <a:lnSpc>
                <a:spcPct val="100000"/>
              </a:lnSpc>
              <a:spcBef>
                <a:spcPts val="100"/>
              </a:spcBef>
            </a:pPr>
            <a:r>
              <a:rPr sz="2700" spc="-50" dirty="0">
                <a:solidFill>
                  <a:srgbClr val="FFFFFF"/>
                </a:solidFill>
                <a:latin typeface="Times New Roman"/>
                <a:cs typeface="Times New Roman"/>
              </a:rPr>
              <a:t>U</a:t>
            </a:r>
            <a:r>
              <a:rPr sz="2700" spc="50" dirty="0">
                <a:solidFill>
                  <a:srgbClr val="FFFFFF"/>
                </a:solidFill>
                <a:latin typeface="Times New Roman"/>
                <a:cs typeface="Times New Roman"/>
              </a:rPr>
              <a:t>niv</a:t>
            </a:r>
            <a:r>
              <a:rPr sz="2700" dirty="0">
                <a:solidFill>
                  <a:srgbClr val="FFFFFF"/>
                </a:solidFill>
                <a:latin typeface="Times New Roman"/>
                <a:cs typeface="Times New Roman"/>
              </a:rPr>
              <a:t>er</a:t>
            </a:r>
            <a:r>
              <a:rPr sz="2700" spc="50" dirty="0">
                <a:solidFill>
                  <a:srgbClr val="FFFFFF"/>
                </a:solidFill>
                <a:latin typeface="Times New Roman"/>
                <a:cs typeface="Times New Roman"/>
              </a:rPr>
              <a:t>sit</a:t>
            </a:r>
            <a:r>
              <a:rPr sz="2700" dirty="0">
                <a:solidFill>
                  <a:srgbClr val="FFFFFF"/>
                </a:solidFill>
                <a:latin typeface="Times New Roman"/>
                <a:cs typeface="Times New Roman"/>
              </a:rPr>
              <a:t>y</a:t>
            </a:r>
            <a:r>
              <a:rPr sz="2700" spc="-229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700" spc="50" dirty="0">
                <a:solidFill>
                  <a:srgbClr val="FFFFFF"/>
                </a:solidFill>
                <a:latin typeface="Times New Roman"/>
                <a:cs typeface="Times New Roman"/>
              </a:rPr>
              <a:t>o</a:t>
            </a:r>
            <a:r>
              <a:rPr sz="2700" dirty="0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r>
              <a:rPr sz="27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700" spc="-50" dirty="0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sz="2700" dirty="0">
                <a:solidFill>
                  <a:srgbClr val="FFFFFF"/>
                </a:solidFill>
                <a:latin typeface="Times New Roman"/>
                <a:cs typeface="Times New Roman"/>
              </a:rPr>
              <a:t>ar</a:t>
            </a:r>
            <a:r>
              <a:rPr sz="2700"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700" dirty="0">
                <a:solidFill>
                  <a:srgbClr val="FFFFFF"/>
                </a:solidFill>
                <a:latin typeface="Times New Roman"/>
                <a:cs typeface="Times New Roman"/>
              </a:rPr>
              <a:t>es</a:t>
            </a:r>
            <a:r>
              <a:rPr sz="2700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700" spc="-5" dirty="0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sz="27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700" spc="50" dirty="0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sz="2700" dirty="0">
                <a:solidFill>
                  <a:srgbClr val="FFFFFF"/>
                </a:solidFill>
                <a:latin typeface="Times New Roman"/>
                <a:cs typeface="Times New Roman"/>
              </a:rPr>
              <a:t>aam</a:t>
            </a:r>
            <a:endParaRPr sz="27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020094" y="6458782"/>
            <a:ext cx="5509260" cy="1884045"/>
          </a:xfrm>
          <a:prstGeom prst="rect">
            <a:avLst/>
          </a:prstGeom>
        </p:spPr>
        <p:txBody>
          <a:bodyPr vert="horz" wrap="square" lIns="0" tIns="123189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69"/>
              </a:spcBef>
            </a:pPr>
            <a:r>
              <a:rPr sz="1600" b="1" spc="35" dirty="0">
                <a:solidFill>
                  <a:srgbClr val="FF0000"/>
                </a:solidFill>
                <a:latin typeface="Cambria"/>
                <a:cs typeface="Cambria"/>
              </a:rPr>
              <a:t>Single </a:t>
            </a:r>
            <a:r>
              <a:rPr sz="1600" b="1" spc="25" dirty="0">
                <a:solidFill>
                  <a:srgbClr val="FF0000"/>
                </a:solidFill>
                <a:latin typeface="Cambria"/>
                <a:cs typeface="Cambria"/>
              </a:rPr>
              <a:t>Knife-Edge</a:t>
            </a:r>
            <a:r>
              <a:rPr sz="1600" b="1" spc="4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600" b="1" spc="-5" dirty="0">
                <a:solidFill>
                  <a:srgbClr val="FF0000"/>
                </a:solidFill>
                <a:latin typeface="Cambria"/>
                <a:cs typeface="Cambria"/>
              </a:rPr>
              <a:t>Diffraction</a:t>
            </a:r>
            <a:r>
              <a:rPr sz="1600" b="1" spc="254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600" b="1" spc="50" dirty="0">
                <a:solidFill>
                  <a:srgbClr val="FF0000"/>
                </a:solidFill>
                <a:latin typeface="Cambria"/>
                <a:cs typeface="Cambria"/>
              </a:rPr>
              <a:t>Model</a:t>
            </a:r>
            <a:endParaRPr sz="1600">
              <a:latin typeface="Cambria"/>
              <a:cs typeface="Cambria"/>
            </a:endParaRPr>
          </a:p>
          <a:p>
            <a:pPr marL="371475" marR="5080" indent="-292100">
              <a:lnSpc>
                <a:spcPct val="101899"/>
              </a:lnSpc>
              <a:spcBef>
                <a:spcPts val="940"/>
              </a:spcBef>
              <a:buFont typeface="Wingdings"/>
              <a:buChar char=""/>
              <a:tabLst>
                <a:tab pos="372110" algn="l"/>
              </a:tabLst>
            </a:pPr>
            <a:r>
              <a:rPr sz="1800" dirty="0">
                <a:latin typeface="Times New Roman"/>
                <a:cs typeface="Times New Roman"/>
              </a:rPr>
              <a:t>As general </a:t>
            </a:r>
            <a:r>
              <a:rPr sz="1800" spc="-5" dirty="0">
                <a:latin typeface="Times New Roman"/>
                <a:cs typeface="Times New Roman"/>
              </a:rPr>
              <a:t>rule </a:t>
            </a:r>
            <a:r>
              <a:rPr sz="1800" dirty="0">
                <a:latin typeface="Times New Roman"/>
                <a:cs typeface="Times New Roman"/>
              </a:rPr>
              <a:t>of </a:t>
            </a:r>
            <a:r>
              <a:rPr sz="1800" spc="-5" dirty="0">
                <a:latin typeface="Times New Roman"/>
                <a:cs typeface="Times New Roman"/>
              </a:rPr>
              <a:t>thumb </a:t>
            </a:r>
            <a:r>
              <a:rPr sz="1800" dirty="0">
                <a:latin typeface="Times New Roman"/>
                <a:cs typeface="Times New Roman"/>
              </a:rPr>
              <a:t>for </a:t>
            </a:r>
            <a:r>
              <a:rPr sz="1800" spc="-5" dirty="0">
                <a:latin typeface="Times New Roman"/>
                <a:cs typeface="Times New Roman"/>
              </a:rPr>
              <a:t>point-to-point 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communication,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if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60%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the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first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Fresnel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zone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is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clear </a:t>
            </a:r>
            <a:r>
              <a:rPr sz="1800" spc="-43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obstructions,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the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diffraction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loss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would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be</a:t>
            </a:r>
            <a:r>
              <a:rPr sz="1800" spc="6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negligible.</a:t>
            </a:r>
            <a:endParaRPr sz="1800">
              <a:latin typeface="Times New Roman"/>
              <a:cs typeface="Times New Roman"/>
            </a:endParaRPr>
          </a:p>
          <a:p>
            <a:pPr marL="371475" indent="-292735">
              <a:lnSpc>
                <a:spcPts val="2100"/>
              </a:lnSpc>
              <a:buFont typeface="Wingdings"/>
              <a:buChar char=""/>
              <a:tabLst>
                <a:tab pos="372110" algn="l"/>
              </a:tabLst>
            </a:pPr>
            <a:r>
              <a:rPr sz="1800" dirty="0">
                <a:latin typeface="Times New Roman"/>
                <a:cs typeface="Times New Roman"/>
              </a:rPr>
              <a:t>Any</a:t>
            </a:r>
            <a:r>
              <a:rPr sz="1800" spc="4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further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Fresnel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zone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clearance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does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not</a:t>
            </a:r>
            <a:endParaRPr sz="1800">
              <a:latin typeface="Times New Roman"/>
              <a:cs typeface="Times New Roman"/>
            </a:endParaRPr>
          </a:p>
          <a:p>
            <a:pPr marL="371475">
              <a:lnSpc>
                <a:spcPct val="100000"/>
              </a:lnSpc>
              <a:spcBef>
                <a:spcPts val="40"/>
              </a:spcBef>
            </a:pPr>
            <a:r>
              <a:rPr sz="1800" spc="-5" dirty="0">
                <a:latin typeface="Times New Roman"/>
                <a:cs typeface="Times New Roman"/>
              </a:rPr>
              <a:t>significantly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alter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the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diffraction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loss.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742949" y="5759450"/>
            <a:ext cx="6083300" cy="3416300"/>
          </a:xfrm>
          <a:custGeom>
            <a:avLst/>
            <a:gdLst/>
            <a:ahLst/>
            <a:cxnLst/>
            <a:rect l="l" t="t" r="r" b="b"/>
            <a:pathLst>
              <a:path w="6083300" h="3416300">
                <a:moveTo>
                  <a:pt x="0" y="0"/>
                </a:moveTo>
                <a:lnTo>
                  <a:pt x="6083300" y="0"/>
                </a:lnTo>
                <a:lnTo>
                  <a:pt x="6083300" y="3416300"/>
                </a:lnTo>
                <a:lnTo>
                  <a:pt x="0" y="341630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object 20"/>
          <p:cNvSpPr txBox="1">
            <a:spLocks noGrp="1"/>
          </p:cNvSpPr>
          <p:nvPr>
            <p:ph type="sldNum" sz="quarter" idx="4294967295"/>
          </p:nvPr>
        </p:nvSpPr>
        <p:spPr>
          <a:xfrm>
            <a:off x="7300913" y="9974263"/>
            <a:ext cx="255587" cy="227012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25</a:t>
            </a:fld>
            <a:endParaRPr dirty="0"/>
          </a:p>
        </p:txBody>
      </p:sp>
      <p:sp>
        <p:nvSpPr>
          <p:cNvPr id="8" name="object 8"/>
          <p:cNvSpPr txBox="1"/>
          <p:nvPr/>
        </p:nvSpPr>
        <p:spPr>
          <a:xfrm>
            <a:off x="749299" y="1963587"/>
            <a:ext cx="5995035" cy="2797175"/>
          </a:xfrm>
          <a:prstGeom prst="rect">
            <a:avLst/>
          </a:prstGeom>
        </p:spPr>
        <p:txBody>
          <a:bodyPr vert="horz" wrap="square" lIns="0" tIns="138430" rIns="0" bIns="0" rtlCol="0">
            <a:spAutoFit/>
          </a:bodyPr>
          <a:lstStyle/>
          <a:p>
            <a:pPr marL="188595">
              <a:lnSpc>
                <a:spcPct val="100000"/>
              </a:lnSpc>
              <a:spcBef>
                <a:spcPts val="1090"/>
              </a:spcBef>
            </a:pPr>
            <a:r>
              <a:rPr sz="2000" b="1" spc="40" dirty="0">
                <a:solidFill>
                  <a:srgbClr val="FF0000"/>
                </a:solidFill>
                <a:latin typeface="Cambria"/>
                <a:cs typeface="Cambria"/>
              </a:rPr>
              <a:t>Log</a:t>
            </a:r>
            <a:r>
              <a:rPr sz="2000" b="1" spc="3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b="1" spc="10" dirty="0">
                <a:solidFill>
                  <a:srgbClr val="FF0000"/>
                </a:solidFill>
                <a:latin typeface="Cambria"/>
                <a:cs typeface="Cambria"/>
              </a:rPr>
              <a:t>Distance</a:t>
            </a:r>
            <a:r>
              <a:rPr sz="2000" b="1" spc="-5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b="1" spc="-30" dirty="0">
                <a:solidFill>
                  <a:srgbClr val="FF0000"/>
                </a:solidFill>
                <a:latin typeface="Cambria"/>
                <a:cs typeface="Cambria"/>
              </a:rPr>
              <a:t>Path</a:t>
            </a:r>
            <a:r>
              <a:rPr sz="2000" b="1" spc="13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ambria"/>
                <a:cs typeface="Cambria"/>
              </a:rPr>
              <a:t>Loss</a:t>
            </a:r>
            <a:r>
              <a:rPr sz="2000" b="1" spc="6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b="1" spc="50" dirty="0">
                <a:solidFill>
                  <a:srgbClr val="FF0000"/>
                </a:solidFill>
                <a:latin typeface="Cambria"/>
                <a:cs typeface="Cambria"/>
              </a:rPr>
              <a:t>Model</a:t>
            </a:r>
            <a:endParaRPr sz="2000" dirty="0">
              <a:latin typeface="Cambria"/>
              <a:cs typeface="Cambria"/>
            </a:endParaRPr>
          </a:p>
          <a:p>
            <a:pPr marL="403860" indent="-229235">
              <a:lnSpc>
                <a:spcPct val="100000"/>
              </a:lnSpc>
              <a:spcBef>
                <a:spcPts val="844"/>
              </a:spcBef>
              <a:buFont typeface="Wingdings"/>
              <a:buChar char=""/>
              <a:tabLst>
                <a:tab pos="404495" algn="l"/>
              </a:tabLst>
            </a:pPr>
            <a:r>
              <a:rPr sz="1700" spc="15" dirty="0">
                <a:latin typeface="Times New Roman"/>
                <a:cs typeface="Times New Roman"/>
              </a:rPr>
              <a:t>It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spc="10" dirty="0">
                <a:latin typeface="Times New Roman"/>
                <a:cs typeface="Times New Roman"/>
              </a:rPr>
              <a:t>is</a:t>
            </a:r>
            <a:r>
              <a:rPr sz="1700" spc="-90" dirty="0">
                <a:latin typeface="Times New Roman"/>
                <a:cs typeface="Times New Roman"/>
              </a:rPr>
              <a:t> </a:t>
            </a:r>
            <a:r>
              <a:rPr sz="1700" spc="25" dirty="0">
                <a:latin typeface="Times New Roman"/>
                <a:cs typeface="Times New Roman"/>
              </a:rPr>
              <a:t>also</a:t>
            </a:r>
            <a:r>
              <a:rPr sz="1700" spc="-80" dirty="0">
                <a:latin typeface="Times New Roman"/>
                <a:cs typeface="Times New Roman"/>
              </a:rPr>
              <a:t> </a:t>
            </a:r>
            <a:r>
              <a:rPr sz="1700" spc="30" dirty="0">
                <a:latin typeface="Times New Roman"/>
                <a:cs typeface="Times New Roman"/>
              </a:rPr>
              <a:t>referred</a:t>
            </a:r>
            <a:r>
              <a:rPr sz="1700" spc="-75" dirty="0">
                <a:latin typeface="Times New Roman"/>
                <a:cs typeface="Times New Roman"/>
              </a:rPr>
              <a:t> </a:t>
            </a:r>
            <a:r>
              <a:rPr sz="1700" spc="20" dirty="0">
                <a:latin typeface="Times New Roman"/>
                <a:cs typeface="Times New Roman"/>
              </a:rPr>
              <a:t>as</a:t>
            </a:r>
            <a:r>
              <a:rPr sz="1700" spc="-95" dirty="0">
                <a:latin typeface="Times New Roman"/>
                <a:cs typeface="Times New Roman"/>
              </a:rPr>
              <a:t> </a:t>
            </a:r>
            <a:r>
              <a:rPr sz="1700" spc="25" dirty="0">
                <a:latin typeface="Times New Roman"/>
                <a:cs typeface="Times New Roman"/>
              </a:rPr>
              <a:t>log</a:t>
            </a:r>
            <a:r>
              <a:rPr sz="1700" spc="-75" dirty="0">
                <a:latin typeface="Times New Roman"/>
                <a:cs typeface="Times New Roman"/>
              </a:rPr>
              <a:t> </a:t>
            </a:r>
            <a:r>
              <a:rPr sz="1700" spc="25" dirty="0">
                <a:latin typeface="Times New Roman"/>
                <a:cs typeface="Times New Roman"/>
              </a:rPr>
              <a:t>normal</a:t>
            </a:r>
            <a:r>
              <a:rPr sz="1700" spc="-100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shadowing</a:t>
            </a:r>
            <a:r>
              <a:rPr sz="1700" spc="-80" dirty="0">
                <a:latin typeface="Times New Roman"/>
                <a:cs typeface="Times New Roman"/>
              </a:rPr>
              <a:t> </a:t>
            </a:r>
            <a:r>
              <a:rPr sz="1700" spc="20" dirty="0">
                <a:latin typeface="Times New Roman"/>
                <a:cs typeface="Times New Roman"/>
              </a:rPr>
              <a:t>model</a:t>
            </a:r>
            <a:endParaRPr sz="1700" dirty="0">
              <a:latin typeface="Times New Roman"/>
              <a:cs typeface="Times New Roman"/>
            </a:endParaRPr>
          </a:p>
          <a:p>
            <a:pPr marL="403860" marR="317500" indent="-228600">
              <a:lnSpc>
                <a:spcPts val="2000"/>
              </a:lnSpc>
              <a:spcBef>
                <a:spcPts val="160"/>
              </a:spcBef>
              <a:buFont typeface="Wingdings"/>
              <a:buChar char=""/>
              <a:tabLst>
                <a:tab pos="404495" algn="l"/>
              </a:tabLst>
            </a:pPr>
            <a:r>
              <a:rPr sz="1700" dirty="0">
                <a:latin typeface="Times New Roman"/>
                <a:cs typeface="Times New Roman"/>
              </a:rPr>
              <a:t>Log</a:t>
            </a:r>
            <a:r>
              <a:rPr sz="1700" spc="25" dirty="0">
                <a:latin typeface="Times New Roman"/>
                <a:cs typeface="Times New Roman"/>
              </a:rPr>
              <a:t> </a:t>
            </a:r>
            <a:r>
              <a:rPr sz="1700" spc="30" dirty="0">
                <a:latin typeface="Times New Roman"/>
                <a:cs typeface="Times New Roman"/>
              </a:rPr>
              <a:t>distance</a:t>
            </a:r>
            <a:r>
              <a:rPr sz="1700" spc="-80" dirty="0">
                <a:latin typeface="Times New Roman"/>
                <a:cs typeface="Times New Roman"/>
              </a:rPr>
              <a:t> </a:t>
            </a:r>
            <a:r>
              <a:rPr sz="1700" spc="25" dirty="0">
                <a:latin typeface="Times New Roman"/>
                <a:cs typeface="Times New Roman"/>
              </a:rPr>
              <a:t>path</a:t>
            </a:r>
            <a:r>
              <a:rPr sz="1700" spc="-180" dirty="0">
                <a:latin typeface="Times New Roman"/>
                <a:cs typeface="Times New Roman"/>
              </a:rPr>
              <a:t> </a:t>
            </a:r>
            <a:r>
              <a:rPr sz="1700" spc="25" dirty="0">
                <a:latin typeface="Times New Roman"/>
                <a:cs typeface="Times New Roman"/>
              </a:rPr>
              <a:t>loss</a:t>
            </a:r>
            <a:r>
              <a:rPr sz="1700" spc="-90" dirty="0">
                <a:latin typeface="Times New Roman"/>
                <a:cs typeface="Times New Roman"/>
              </a:rPr>
              <a:t> </a:t>
            </a:r>
            <a:r>
              <a:rPr sz="1700" spc="20" dirty="0">
                <a:latin typeface="Times New Roman"/>
                <a:cs typeface="Times New Roman"/>
              </a:rPr>
              <a:t>model</a:t>
            </a:r>
            <a:r>
              <a:rPr sz="1700" spc="-100" dirty="0">
                <a:latin typeface="Times New Roman"/>
                <a:cs typeface="Times New Roman"/>
              </a:rPr>
              <a:t> </a:t>
            </a:r>
            <a:r>
              <a:rPr sz="1700" spc="10" dirty="0">
                <a:latin typeface="Times New Roman"/>
                <a:cs typeface="Times New Roman"/>
              </a:rPr>
              <a:t>is</a:t>
            </a:r>
            <a:r>
              <a:rPr sz="1700" spc="-90" dirty="0">
                <a:latin typeface="Times New Roman"/>
                <a:cs typeface="Times New Roman"/>
              </a:rPr>
              <a:t> </a:t>
            </a:r>
            <a:r>
              <a:rPr sz="1700" spc="20" dirty="0">
                <a:latin typeface="Times New Roman"/>
                <a:cs typeface="Times New Roman"/>
              </a:rPr>
              <a:t>an</a:t>
            </a:r>
            <a:r>
              <a:rPr sz="1700" spc="-80" dirty="0">
                <a:latin typeface="Times New Roman"/>
                <a:cs typeface="Times New Roman"/>
              </a:rPr>
              <a:t> </a:t>
            </a:r>
            <a:r>
              <a:rPr sz="1700" spc="25" dirty="0">
                <a:latin typeface="Times New Roman"/>
                <a:cs typeface="Times New Roman"/>
              </a:rPr>
              <a:t>extension</a:t>
            </a:r>
            <a:r>
              <a:rPr sz="1700" spc="-180" dirty="0">
                <a:latin typeface="Times New Roman"/>
                <a:cs typeface="Times New Roman"/>
              </a:rPr>
              <a:t> </a:t>
            </a:r>
            <a:r>
              <a:rPr sz="1700" spc="10" dirty="0">
                <a:latin typeface="Times New Roman"/>
                <a:cs typeface="Times New Roman"/>
              </a:rPr>
              <a:t>to</a:t>
            </a:r>
            <a:r>
              <a:rPr sz="1700" spc="-80" dirty="0">
                <a:latin typeface="Times New Roman"/>
                <a:cs typeface="Times New Roman"/>
              </a:rPr>
              <a:t> </a:t>
            </a:r>
            <a:r>
              <a:rPr sz="1700" spc="25" dirty="0">
                <a:latin typeface="Times New Roman"/>
                <a:cs typeface="Times New Roman"/>
              </a:rPr>
              <a:t>the</a:t>
            </a:r>
            <a:r>
              <a:rPr sz="1700" spc="-80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Friis</a:t>
            </a:r>
            <a:r>
              <a:rPr sz="1700" spc="-90" dirty="0">
                <a:latin typeface="Times New Roman"/>
                <a:cs typeface="Times New Roman"/>
              </a:rPr>
              <a:t> </a:t>
            </a:r>
            <a:r>
              <a:rPr sz="1700" spc="25" dirty="0">
                <a:latin typeface="Times New Roman"/>
                <a:cs typeface="Times New Roman"/>
              </a:rPr>
              <a:t>free </a:t>
            </a:r>
            <a:r>
              <a:rPr sz="1700" spc="-409" dirty="0">
                <a:latin typeface="Times New Roman"/>
                <a:cs typeface="Times New Roman"/>
              </a:rPr>
              <a:t> </a:t>
            </a:r>
            <a:r>
              <a:rPr sz="1700" spc="35" dirty="0">
                <a:latin typeface="Times New Roman"/>
                <a:cs typeface="Times New Roman"/>
              </a:rPr>
              <a:t>space</a:t>
            </a:r>
            <a:r>
              <a:rPr sz="1700" spc="-85" dirty="0">
                <a:latin typeface="Times New Roman"/>
                <a:cs typeface="Times New Roman"/>
              </a:rPr>
              <a:t> </a:t>
            </a:r>
            <a:r>
              <a:rPr sz="1700" spc="20" dirty="0">
                <a:latin typeface="Times New Roman"/>
                <a:cs typeface="Times New Roman"/>
              </a:rPr>
              <a:t>model.</a:t>
            </a:r>
            <a:endParaRPr sz="1700" dirty="0">
              <a:latin typeface="Times New Roman"/>
              <a:cs typeface="Times New Roman"/>
            </a:endParaRPr>
          </a:p>
          <a:p>
            <a:pPr marL="403860" marR="721995" indent="-228600">
              <a:lnSpc>
                <a:spcPts val="2000"/>
              </a:lnSpc>
              <a:spcBef>
                <a:spcPts val="100"/>
              </a:spcBef>
              <a:buFont typeface="Wingdings"/>
              <a:buChar char=""/>
              <a:tabLst>
                <a:tab pos="404495" algn="l"/>
              </a:tabLst>
            </a:pPr>
            <a:r>
              <a:rPr sz="1700" spc="15" dirty="0">
                <a:latin typeface="Times New Roman"/>
                <a:cs typeface="Times New Roman"/>
              </a:rPr>
              <a:t>It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10" dirty="0">
                <a:latin typeface="Times New Roman"/>
                <a:cs typeface="Times New Roman"/>
              </a:rPr>
              <a:t>is</a:t>
            </a:r>
            <a:r>
              <a:rPr sz="1700" spc="-90" dirty="0">
                <a:latin typeface="Times New Roman"/>
                <a:cs typeface="Times New Roman"/>
              </a:rPr>
              <a:t> </a:t>
            </a:r>
            <a:r>
              <a:rPr sz="1700" spc="30" dirty="0">
                <a:latin typeface="Times New Roman"/>
                <a:cs typeface="Times New Roman"/>
              </a:rPr>
              <a:t>used</a:t>
            </a:r>
            <a:r>
              <a:rPr sz="1700" spc="-80" dirty="0">
                <a:latin typeface="Times New Roman"/>
                <a:cs typeface="Times New Roman"/>
              </a:rPr>
              <a:t> </a:t>
            </a:r>
            <a:r>
              <a:rPr sz="1700" spc="10" dirty="0">
                <a:latin typeface="Times New Roman"/>
                <a:cs typeface="Times New Roman"/>
              </a:rPr>
              <a:t>to</a:t>
            </a:r>
            <a:r>
              <a:rPr sz="1700" spc="-80" dirty="0">
                <a:latin typeface="Times New Roman"/>
                <a:cs typeface="Times New Roman"/>
              </a:rPr>
              <a:t> </a:t>
            </a:r>
            <a:r>
              <a:rPr sz="1700" spc="30" dirty="0">
                <a:latin typeface="Times New Roman"/>
                <a:cs typeface="Times New Roman"/>
              </a:rPr>
              <a:t>predict</a:t>
            </a:r>
            <a:r>
              <a:rPr sz="1700" spc="-100" dirty="0">
                <a:latin typeface="Times New Roman"/>
                <a:cs typeface="Times New Roman"/>
              </a:rPr>
              <a:t> </a:t>
            </a:r>
            <a:r>
              <a:rPr sz="1700" spc="15" dirty="0">
                <a:latin typeface="Times New Roman"/>
                <a:cs typeface="Times New Roman"/>
              </a:rPr>
              <a:t>propagation</a:t>
            </a:r>
            <a:r>
              <a:rPr sz="1700" spc="-170" dirty="0">
                <a:latin typeface="Times New Roman"/>
                <a:cs typeface="Times New Roman"/>
              </a:rPr>
              <a:t> </a:t>
            </a:r>
            <a:r>
              <a:rPr sz="1700" spc="25" dirty="0">
                <a:latin typeface="Times New Roman"/>
                <a:cs typeface="Times New Roman"/>
              </a:rPr>
              <a:t>loss</a:t>
            </a:r>
            <a:r>
              <a:rPr sz="1700" spc="-90" dirty="0">
                <a:latin typeface="Times New Roman"/>
                <a:cs typeface="Times New Roman"/>
              </a:rPr>
              <a:t> </a:t>
            </a:r>
            <a:r>
              <a:rPr sz="1700" spc="25" dirty="0">
                <a:latin typeface="Times New Roman"/>
                <a:cs typeface="Times New Roman"/>
              </a:rPr>
              <a:t>for</a:t>
            </a:r>
            <a:r>
              <a:rPr sz="1700" spc="-9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</a:t>
            </a:r>
            <a:r>
              <a:rPr sz="1700" spc="-80" dirty="0">
                <a:latin typeface="Times New Roman"/>
                <a:cs typeface="Times New Roman"/>
              </a:rPr>
              <a:t> </a:t>
            </a:r>
            <a:r>
              <a:rPr sz="1700" spc="10" dirty="0">
                <a:latin typeface="Times New Roman"/>
                <a:cs typeface="Times New Roman"/>
              </a:rPr>
              <a:t>wide</a:t>
            </a:r>
            <a:r>
              <a:rPr sz="1700" spc="-80" dirty="0">
                <a:latin typeface="Times New Roman"/>
                <a:cs typeface="Times New Roman"/>
              </a:rPr>
              <a:t> </a:t>
            </a:r>
            <a:r>
              <a:rPr sz="1700" spc="30" dirty="0">
                <a:latin typeface="Times New Roman"/>
                <a:cs typeface="Times New Roman"/>
              </a:rPr>
              <a:t>range</a:t>
            </a:r>
            <a:r>
              <a:rPr sz="1700" spc="-80" dirty="0">
                <a:latin typeface="Times New Roman"/>
                <a:cs typeface="Times New Roman"/>
              </a:rPr>
              <a:t> </a:t>
            </a:r>
            <a:r>
              <a:rPr sz="1700" spc="20" dirty="0">
                <a:latin typeface="Times New Roman"/>
                <a:cs typeface="Times New Roman"/>
              </a:rPr>
              <a:t>of </a:t>
            </a:r>
            <a:r>
              <a:rPr sz="1700" spc="-409" dirty="0">
                <a:latin typeface="Times New Roman"/>
                <a:cs typeface="Times New Roman"/>
              </a:rPr>
              <a:t> </a:t>
            </a:r>
            <a:r>
              <a:rPr sz="1700" spc="20" dirty="0">
                <a:latin typeface="Times New Roman"/>
                <a:cs typeface="Times New Roman"/>
              </a:rPr>
              <a:t>environments</a:t>
            </a:r>
            <a:endParaRPr sz="1700" dirty="0">
              <a:latin typeface="Times New Roman"/>
              <a:cs typeface="Times New Roman"/>
            </a:endParaRPr>
          </a:p>
          <a:p>
            <a:pPr marL="403860" indent="-229235">
              <a:lnSpc>
                <a:spcPts val="1939"/>
              </a:lnSpc>
              <a:buFont typeface="Wingdings"/>
              <a:buChar char=""/>
              <a:tabLst>
                <a:tab pos="404495" algn="l"/>
              </a:tabLst>
            </a:pPr>
            <a:r>
              <a:rPr sz="1700" dirty="0">
                <a:latin typeface="Times New Roman"/>
                <a:cs typeface="Times New Roman"/>
              </a:rPr>
              <a:t>The</a:t>
            </a:r>
            <a:r>
              <a:rPr sz="1700" spc="20" dirty="0">
                <a:latin typeface="Times New Roman"/>
                <a:cs typeface="Times New Roman"/>
              </a:rPr>
              <a:t> model</a:t>
            </a:r>
            <a:r>
              <a:rPr sz="1700" spc="-95" dirty="0">
                <a:latin typeface="Times New Roman"/>
                <a:cs typeface="Times New Roman"/>
              </a:rPr>
              <a:t> </a:t>
            </a:r>
            <a:r>
              <a:rPr sz="1700" spc="25" dirty="0">
                <a:latin typeface="Times New Roman"/>
                <a:cs typeface="Times New Roman"/>
              </a:rPr>
              <a:t>encompasses</a:t>
            </a:r>
            <a:r>
              <a:rPr sz="1700" spc="-9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random</a:t>
            </a:r>
            <a:r>
              <a:rPr sz="1700" spc="-145" dirty="0">
                <a:latin typeface="Times New Roman"/>
                <a:cs typeface="Times New Roman"/>
              </a:rPr>
              <a:t> </a:t>
            </a:r>
            <a:r>
              <a:rPr sz="1700" spc="15" dirty="0">
                <a:latin typeface="Times New Roman"/>
                <a:cs typeface="Times New Roman"/>
              </a:rPr>
              <a:t>shadowing</a:t>
            </a:r>
            <a:r>
              <a:rPr sz="1700" spc="-7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effects</a:t>
            </a:r>
            <a:r>
              <a:rPr sz="1700" spc="-85" dirty="0">
                <a:latin typeface="Times New Roman"/>
                <a:cs typeface="Times New Roman"/>
              </a:rPr>
              <a:t> </a:t>
            </a:r>
            <a:r>
              <a:rPr sz="1700" spc="30" dirty="0">
                <a:latin typeface="Times New Roman"/>
                <a:cs typeface="Times New Roman"/>
              </a:rPr>
              <a:t>due</a:t>
            </a:r>
            <a:r>
              <a:rPr sz="1700" spc="-75" dirty="0">
                <a:latin typeface="Times New Roman"/>
                <a:cs typeface="Times New Roman"/>
              </a:rPr>
              <a:t> </a:t>
            </a:r>
            <a:r>
              <a:rPr sz="1700" spc="10" dirty="0">
                <a:latin typeface="Times New Roman"/>
                <a:cs typeface="Times New Roman"/>
              </a:rPr>
              <a:t>to</a:t>
            </a:r>
            <a:endParaRPr sz="1700" dirty="0">
              <a:latin typeface="Times New Roman"/>
              <a:cs typeface="Times New Roman"/>
            </a:endParaRPr>
          </a:p>
          <a:p>
            <a:pPr marL="403860">
              <a:lnSpc>
                <a:spcPct val="100000"/>
              </a:lnSpc>
              <a:spcBef>
                <a:spcPts val="60"/>
              </a:spcBef>
            </a:pPr>
            <a:r>
              <a:rPr sz="1700" spc="35" dirty="0">
                <a:latin typeface="Times New Roman"/>
                <a:cs typeface="Times New Roman"/>
              </a:rPr>
              <a:t>s</a:t>
            </a:r>
            <a:r>
              <a:rPr sz="1700" spc="25" dirty="0">
                <a:latin typeface="Times New Roman"/>
                <a:cs typeface="Times New Roman"/>
              </a:rPr>
              <a:t>i</a:t>
            </a:r>
            <a:r>
              <a:rPr sz="1700" spc="50" dirty="0">
                <a:latin typeface="Times New Roman"/>
                <a:cs typeface="Times New Roman"/>
              </a:rPr>
              <a:t>gn</a:t>
            </a:r>
            <a:r>
              <a:rPr sz="1700" spc="45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l</a:t>
            </a:r>
            <a:r>
              <a:rPr sz="1700" spc="-100" dirty="0">
                <a:latin typeface="Times New Roman"/>
                <a:cs typeface="Times New Roman"/>
              </a:rPr>
              <a:t> </a:t>
            </a:r>
            <a:r>
              <a:rPr sz="1700" spc="50" dirty="0">
                <a:latin typeface="Times New Roman"/>
                <a:cs typeface="Times New Roman"/>
              </a:rPr>
              <a:t>b</a:t>
            </a:r>
            <a:r>
              <a:rPr sz="1700" spc="25" dirty="0">
                <a:latin typeface="Times New Roman"/>
                <a:cs typeface="Times New Roman"/>
              </a:rPr>
              <a:t>l</a:t>
            </a:r>
            <a:r>
              <a:rPr sz="1700" spc="50" dirty="0">
                <a:latin typeface="Times New Roman"/>
                <a:cs typeface="Times New Roman"/>
              </a:rPr>
              <a:t>o</a:t>
            </a:r>
            <a:r>
              <a:rPr sz="1700" spc="45" dirty="0">
                <a:latin typeface="Times New Roman"/>
                <a:cs typeface="Times New Roman"/>
              </a:rPr>
              <a:t>c</a:t>
            </a:r>
            <a:r>
              <a:rPr sz="1700" spc="50" dirty="0">
                <a:latin typeface="Times New Roman"/>
                <a:cs typeface="Times New Roman"/>
              </a:rPr>
              <a:t>k</a:t>
            </a:r>
            <a:r>
              <a:rPr sz="1700" spc="-55" dirty="0">
                <a:latin typeface="Times New Roman"/>
                <a:cs typeface="Times New Roman"/>
              </a:rPr>
              <a:t>a</a:t>
            </a:r>
            <a:r>
              <a:rPr sz="1700" spc="50" dirty="0">
                <a:latin typeface="Times New Roman"/>
                <a:cs typeface="Times New Roman"/>
              </a:rPr>
              <a:t>g</a:t>
            </a:r>
            <a:r>
              <a:rPr sz="1700" dirty="0">
                <a:latin typeface="Times New Roman"/>
                <a:cs typeface="Times New Roman"/>
              </a:rPr>
              <a:t>e</a:t>
            </a:r>
            <a:r>
              <a:rPr sz="1700" spc="-85" dirty="0">
                <a:latin typeface="Times New Roman"/>
                <a:cs typeface="Times New Roman"/>
              </a:rPr>
              <a:t> </a:t>
            </a:r>
            <a:r>
              <a:rPr sz="1700" spc="50" dirty="0">
                <a:latin typeface="Times New Roman"/>
                <a:cs typeface="Times New Roman"/>
              </a:rPr>
              <a:t>b</a:t>
            </a:r>
            <a:r>
              <a:rPr sz="1700" dirty="0">
                <a:latin typeface="Times New Roman"/>
                <a:cs typeface="Times New Roman"/>
              </a:rPr>
              <a:t>y</a:t>
            </a:r>
            <a:r>
              <a:rPr sz="1700" spc="-75" dirty="0">
                <a:latin typeface="Times New Roman"/>
                <a:cs typeface="Times New Roman"/>
              </a:rPr>
              <a:t> </a:t>
            </a:r>
            <a:r>
              <a:rPr sz="1700" spc="50" dirty="0">
                <a:latin typeface="Times New Roman"/>
                <a:cs typeface="Times New Roman"/>
              </a:rPr>
              <a:t>h</a:t>
            </a:r>
            <a:r>
              <a:rPr sz="1700" spc="25" dirty="0">
                <a:latin typeface="Times New Roman"/>
                <a:cs typeface="Times New Roman"/>
              </a:rPr>
              <a:t>ill</a:t>
            </a:r>
            <a:r>
              <a:rPr sz="1700" spc="-65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,</a:t>
            </a:r>
            <a:r>
              <a:rPr sz="1700" spc="-155" dirty="0">
                <a:latin typeface="Times New Roman"/>
                <a:cs typeface="Times New Roman"/>
              </a:rPr>
              <a:t> </a:t>
            </a:r>
            <a:r>
              <a:rPr sz="1700" spc="25" dirty="0">
                <a:latin typeface="Times New Roman"/>
                <a:cs typeface="Times New Roman"/>
              </a:rPr>
              <a:t>t</a:t>
            </a:r>
            <a:r>
              <a:rPr sz="1700" spc="30" dirty="0">
                <a:latin typeface="Times New Roman"/>
                <a:cs typeface="Times New Roman"/>
              </a:rPr>
              <a:t>r</a:t>
            </a:r>
            <a:r>
              <a:rPr sz="1700" spc="45" dirty="0">
                <a:latin typeface="Times New Roman"/>
                <a:cs typeface="Times New Roman"/>
              </a:rPr>
              <a:t>ee</a:t>
            </a:r>
            <a:r>
              <a:rPr sz="1700" spc="35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,</a:t>
            </a:r>
            <a:r>
              <a:rPr sz="1700" spc="-155" dirty="0">
                <a:latin typeface="Times New Roman"/>
                <a:cs typeface="Times New Roman"/>
              </a:rPr>
              <a:t> </a:t>
            </a:r>
            <a:r>
              <a:rPr sz="1700" spc="50" dirty="0">
                <a:latin typeface="Times New Roman"/>
                <a:cs typeface="Times New Roman"/>
              </a:rPr>
              <a:t>bu</a:t>
            </a:r>
            <a:r>
              <a:rPr sz="1700" spc="25" dirty="0">
                <a:latin typeface="Times New Roman"/>
                <a:cs typeface="Times New Roman"/>
              </a:rPr>
              <a:t>il</a:t>
            </a:r>
            <a:r>
              <a:rPr sz="1700" spc="-50" dirty="0">
                <a:latin typeface="Times New Roman"/>
                <a:cs typeface="Times New Roman"/>
              </a:rPr>
              <a:t>d</a:t>
            </a:r>
            <a:r>
              <a:rPr sz="1700" spc="25" dirty="0">
                <a:latin typeface="Times New Roman"/>
                <a:cs typeface="Times New Roman"/>
              </a:rPr>
              <a:t>i</a:t>
            </a:r>
            <a:r>
              <a:rPr sz="1700" spc="50" dirty="0">
                <a:latin typeface="Times New Roman"/>
                <a:cs typeface="Times New Roman"/>
              </a:rPr>
              <a:t>n</a:t>
            </a:r>
            <a:r>
              <a:rPr sz="1700" spc="-50" dirty="0">
                <a:latin typeface="Times New Roman"/>
                <a:cs typeface="Times New Roman"/>
              </a:rPr>
              <a:t>g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90" dirty="0">
                <a:latin typeface="Times New Roman"/>
                <a:cs typeface="Times New Roman"/>
              </a:rPr>
              <a:t> </a:t>
            </a:r>
            <a:r>
              <a:rPr sz="1700" spc="45" dirty="0">
                <a:latin typeface="Times New Roman"/>
                <a:cs typeface="Times New Roman"/>
              </a:rPr>
              <a:t>e</a:t>
            </a:r>
            <a:r>
              <a:rPr sz="1700" spc="25" dirty="0">
                <a:latin typeface="Times New Roman"/>
                <a:cs typeface="Times New Roman"/>
              </a:rPr>
              <a:t>t</a:t>
            </a:r>
            <a:r>
              <a:rPr sz="1700" spc="40" dirty="0">
                <a:latin typeface="Times New Roman"/>
                <a:cs typeface="Times New Roman"/>
              </a:rPr>
              <a:t>c</a:t>
            </a:r>
            <a:r>
              <a:rPr sz="1700" spc="-25" dirty="0">
                <a:latin typeface="Times New Roman"/>
                <a:cs typeface="Times New Roman"/>
              </a:rPr>
              <a:t>..</a:t>
            </a:r>
            <a:endParaRPr sz="17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65"/>
              </a:spcBef>
              <a:tabLst>
                <a:tab pos="5485765" algn="l"/>
              </a:tabLst>
            </a:pP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42949" y="1492249"/>
            <a:ext cx="6083300" cy="3416300"/>
          </a:xfrm>
          <a:custGeom>
            <a:avLst/>
            <a:gdLst/>
            <a:ahLst/>
            <a:cxnLst/>
            <a:rect l="l" t="t" r="r" b="b"/>
            <a:pathLst>
              <a:path w="6083300" h="3416300">
                <a:moveTo>
                  <a:pt x="0" y="0"/>
                </a:moveTo>
                <a:lnTo>
                  <a:pt x="6083300" y="0"/>
                </a:lnTo>
                <a:lnTo>
                  <a:pt x="6083300" y="3416300"/>
                </a:lnTo>
                <a:lnTo>
                  <a:pt x="0" y="341630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7" name="object 17"/>
          <p:cNvGrpSpPr/>
          <p:nvPr/>
        </p:nvGrpSpPr>
        <p:grpSpPr>
          <a:xfrm>
            <a:off x="736599" y="5753100"/>
            <a:ext cx="6096000" cy="3429000"/>
            <a:chOff x="736599" y="5753100"/>
            <a:chExt cx="6096000" cy="3429000"/>
          </a:xfrm>
        </p:grpSpPr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50968" y="6587212"/>
              <a:ext cx="2943913" cy="2239287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742949" y="5759450"/>
              <a:ext cx="6083300" cy="3416300"/>
            </a:xfrm>
            <a:custGeom>
              <a:avLst/>
              <a:gdLst/>
              <a:ahLst/>
              <a:cxnLst/>
              <a:rect l="l" t="t" r="r" b="b"/>
              <a:pathLst>
                <a:path w="6083300" h="3416300">
                  <a:moveTo>
                    <a:pt x="0" y="0"/>
                  </a:moveTo>
                  <a:lnTo>
                    <a:pt x="6083300" y="0"/>
                  </a:lnTo>
                  <a:lnTo>
                    <a:pt x="6083300" y="3416300"/>
                  </a:lnTo>
                  <a:lnTo>
                    <a:pt x="0" y="34163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object 19"/>
          <p:cNvSpPr txBox="1">
            <a:spLocks noGrp="1"/>
          </p:cNvSpPr>
          <p:nvPr>
            <p:ph type="sldNum" sz="quarter" idx="4294967295"/>
          </p:nvPr>
        </p:nvSpPr>
        <p:spPr>
          <a:xfrm>
            <a:off x="7300913" y="9974263"/>
            <a:ext cx="255587" cy="227012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26</a:t>
            </a:fld>
            <a:endParaRPr dirty="0"/>
          </a:p>
        </p:txBody>
      </p:sp>
      <p:sp>
        <p:nvSpPr>
          <p:cNvPr id="10" name="object 10"/>
          <p:cNvSpPr txBox="1"/>
          <p:nvPr/>
        </p:nvSpPr>
        <p:spPr>
          <a:xfrm>
            <a:off x="951642" y="2002086"/>
            <a:ext cx="5549900" cy="2303145"/>
          </a:xfrm>
          <a:prstGeom prst="rect">
            <a:avLst/>
          </a:prstGeom>
        </p:spPr>
        <p:txBody>
          <a:bodyPr vert="horz" wrap="square" lIns="0" tIns="1841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50"/>
              </a:spcBef>
            </a:pPr>
            <a:r>
              <a:rPr sz="2000" b="1" dirty="0">
                <a:solidFill>
                  <a:srgbClr val="FF0000"/>
                </a:solidFill>
                <a:latin typeface="Cambria"/>
                <a:cs typeface="Cambria"/>
              </a:rPr>
              <a:t>Empirical</a:t>
            </a:r>
            <a:r>
              <a:rPr sz="2000" b="1" spc="-3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b="1" spc="-25" dirty="0">
                <a:solidFill>
                  <a:srgbClr val="FF0000"/>
                </a:solidFill>
                <a:latin typeface="Cambria"/>
                <a:cs typeface="Cambria"/>
              </a:rPr>
              <a:t>Propagation</a:t>
            </a:r>
            <a:r>
              <a:rPr sz="2000" b="1" spc="1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b="1" spc="40" dirty="0">
                <a:solidFill>
                  <a:srgbClr val="FF0000"/>
                </a:solidFill>
                <a:latin typeface="Cambria"/>
                <a:cs typeface="Cambria"/>
              </a:rPr>
              <a:t>Models</a:t>
            </a:r>
            <a:endParaRPr sz="2000" dirty="0">
              <a:latin typeface="Cambria"/>
              <a:cs typeface="Cambria"/>
            </a:endParaRPr>
          </a:p>
          <a:p>
            <a:pPr marL="292100" marR="5080" indent="-292100">
              <a:lnSpc>
                <a:spcPct val="101899"/>
              </a:lnSpc>
              <a:spcBef>
                <a:spcPts val="1180"/>
              </a:spcBef>
              <a:buFont typeface="Wingdings"/>
              <a:buChar char=""/>
              <a:tabLst>
                <a:tab pos="292100" algn="l"/>
              </a:tabLst>
            </a:pPr>
            <a:r>
              <a:rPr sz="1800" spc="-5" dirty="0">
                <a:latin typeface="Times New Roman"/>
                <a:cs typeface="Times New Roman"/>
              </a:rPr>
              <a:t>Empirical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propagation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models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are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based</a:t>
            </a:r>
            <a:r>
              <a:rPr sz="1800" spc="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on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measurement </a:t>
            </a:r>
            <a:r>
              <a:rPr sz="1800" spc="-434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data,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simple,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use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statistical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properties,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not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very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accurate.</a:t>
            </a:r>
            <a:endParaRPr sz="1800" dirty="0">
              <a:latin typeface="Times New Roman"/>
              <a:cs typeface="Times New Roman"/>
            </a:endParaRPr>
          </a:p>
          <a:p>
            <a:pPr marL="292100" indent="-292100">
              <a:lnSpc>
                <a:spcPts val="2130"/>
              </a:lnSpc>
              <a:spcBef>
                <a:spcPts val="40"/>
              </a:spcBef>
              <a:buFont typeface="Wingdings"/>
              <a:buChar char=""/>
              <a:tabLst>
                <a:tab pos="292100" algn="l"/>
              </a:tabLst>
            </a:pPr>
            <a:r>
              <a:rPr sz="1800" dirty="0">
                <a:latin typeface="Times New Roman"/>
                <a:cs typeface="Times New Roman"/>
              </a:rPr>
              <a:t>There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are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many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Empirical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predication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models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including:</a:t>
            </a:r>
            <a:endParaRPr sz="1800" dirty="0">
              <a:latin typeface="Times New Roman"/>
              <a:cs typeface="Times New Roman"/>
            </a:endParaRPr>
          </a:p>
          <a:p>
            <a:pPr marL="520700" lvl="1" indent="-292100">
              <a:lnSpc>
                <a:spcPts val="2130"/>
              </a:lnSpc>
              <a:buFont typeface="Wingdings"/>
              <a:buChar char=""/>
              <a:tabLst>
                <a:tab pos="520700" algn="l"/>
              </a:tabLst>
            </a:pPr>
            <a:r>
              <a:rPr sz="1800" spc="-5" dirty="0">
                <a:latin typeface="Times New Roman"/>
                <a:cs typeface="Times New Roman"/>
              </a:rPr>
              <a:t>Okumura</a:t>
            </a:r>
            <a:r>
              <a:rPr sz="1800" spc="2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model</a:t>
            </a:r>
            <a:endParaRPr sz="1800" dirty="0">
              <a:latin typeface="Times New Roman"/>
              <a:cs typeface="Times New Roman"/>
            </a:endParaRPr>
          </a:p>
          <a:p>
            <a:pPr marL="520700" lvl="1" indent="-292100">
              <a:lnSpc>
                <a:spcPts val="2130"/>
              </a:lnSpc>
              <a:spcBef>
                <a:spcPts val="40"/>
              </a:spcBef>
              <a:buFont typeface="Wingdings"/>
              <a:buChar char=""/>
              <a:tabLst>
                <a:tab pos="520700" algn="l"/>
              </a:tabLst>
            </a:pPr>
            <a:r>
              <a:rPr sz="1800" dirty="0">
                <a:latin typeface="Times New Roman"/>
                <a:cs typeface="Times New Roman"/>
              </a:rPr>
              <a:t>Hata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model</a:t>
            </a:r>
            <a:endParaRPr sz="1800" dirty="0">
              <a:latin typeface="Times New Roman"/>
              <a:cs typeface="Times New Roman"/>
            </a:endParaRPr>
          </a:p>
          <a:p>
            <a:pPr marL="520700" lvl="1" indent="-292100">
              <a:lnSpc>
                <a:spcPts val="2130"/>
              </a:lnSpc>
              <a:buFont typeface="Wingdings"/>
              <a:buChar char=""/>
              <a:tabLst>
                <a:tab pos="520700" algn="l"/>
              </a:tabLst>
            </a:pPr>
            <a:r>
              <a:rPr sz="1800" spc="-5" dirty="0">
                <a:latin typeface="Times New Roman"/>
                <a:cs typeface="Times New Roman"/>
              </a:rPr>
              <a:t>COST</a:t>
            </a:r>
            <a:r>
              <a:rPr sz="1800" spc="-7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230,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etc</a:t>
            </a:r>
            <a:endParaRPr sz="1800" dirty="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42949" y="1492249"/>
            <a:ext cx="6083300" cy="3416300"/>
          </a:xfrm>
          <a:custGeom>
            <a:avLst/>
            <a:gdLst/>
            <a:ahLst/>
            <a:cxnLst/>
            <a:rect l="l" t="t" r="r" b="b"/>
            <a:pathLst>
              <a:path w="6083300" h="3416300">
                <a:moveTo>
                  <a:pt x="0" y="0"/>
                </a:moveTo>
                <a:lnTo>
                  <a:pt x="6083300" y="0"/>
                </a:lnTo>
                <a:lnTo>
                  <a:pt x="6083300" y="3416300"/>
                </a:lnTo>
                <a:lnTo>
                  <a:pt x="0" y="341630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815413" y="6283133"/>
            <a:ext cx="5995035" cy="2804160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82245">
              <a:lnSpc>
                <a:spcPct val="100000"/>
              </a:lnSpc>
              <a:spcBef>
                <a:spcPts val="640"/>
              </a:spcBef>
            </a:pPr>
            <a:r>
              <a:rPr sz="2000" b="1" spc="20" dirty="0">
                <a:solidFill>
                  <a:srgbClr val="FF0000"/>
                </a:solidFill>
                <a:latin typeface="Cambria"/>
                <a:cs typeface="Cambria"/>
              </a:rPr>
              <a:t>Okumura</a:t>
            </a:r>
            <a:r>
              <a:rPr sz="2000" b="1" spc="4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b="1" spc="50" dirty="0">
                <a:solidFill>
                  <a:srgbClr val="FF0000"/>
                </a:solidFill>
                <a:latin typeface="Cambria"/>
                <a:cs typeface="Cambria"/>
              </a:rPr>
              <a:t>Model</a:t>
            </a:r>
            <a:r>
              <a:rPr sz="2000" b="1" spc="7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b="1" spc="-15" dirty="0">
                <a:solidFill>
                  <a:srgbClr val="FF0000"/>
                </a:solidFill>
                <a:latin typeface="Cambria"/>
                <a:cs typeface="Cambria"/>
              </a:rPr>
              <a:t>for</a:t>
            </a:r>
            <a:r>
              <a:rPr sz="2000" b="1" spc="7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b="1" spc="5" dirty="0">
                <a:solidFill>
                  <a:srgbClr val="FF0000"/>
                </a:solidFill>
                <a:latin typeface="Cambria"/>
                <a:cs typeface="Cambria"/>
              </a:rPr>
              <a:t>Outdoor</a:t>
            </a:r>
            <a:r>
              <a:rPr sz="2000" b="1" spc="-3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b="1" spc="-25" dirty="0">
                <a:solidFill>
                  <a:srgbClr val="FF0000"/>
                </a:solidFill>
                <a:latin typeface="Cambria"/>
                <a:cs typeface="Cambria"/>
              </a:rPr>
              <a:t>Propagation</a:t>
            </a:r>
            <a:endParaRPr sz="2000" dirty="0">
              <a:latin typeface="Cambria"/>
              <a:cs typeface="Cambria"/>
            </a:endParaRPr>
          </a:p>
          <a:p>
            <a:pPr marL="461009" marR="241935" indent="-292100">
              <a:lnSpc>
                <a:spcPct val="100299"/>
              </a:lnSpc>
              <a:spcBef>
                <a:spcPts val="480"/>
              </a:spcBef>
              <a:buFont typeface="Wingdings"/>
              <a:buChar char=""/>
              <a:tabLst>
                <a:tab pos="461645" algn="l"/>
              </a:tabLst>
            </a:pPr>
            <a:r>
              <a:rPr sz="1800" spc="-5" dirty="0">
                <a:latin typeface="Times New Roman"/>
                <a:cs typeface="Times New Roman"/>
              </a:rPr>
              <a:t>Outdoor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propagation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models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involve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estimation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 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propagation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loss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over</a:t>
            </a:r>
            <a:r>
              <a:rPr sz="1800" spc="6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irregular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terrains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such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as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mountain- </a:t>
            </a:r>
            <a:r>
              <a:rPr sz="1800" spc="-43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ous</a:t>
            </a:r>
            <a:r>
              <a:rPr sz="1800" spc="4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regions,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simple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curved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earth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profile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with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obstacles 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like</a:t>
            </a:r>
            <a:r>
              <a:rPr sz="1800" spc="4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trees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buildings</a:t>
            </a:r>
            <a:endParaRPr sz="1800" dirty="0">
              <a:latin typeface="Times New Roman"/>
              <a:cs typeface="Times New Roman"/>
            </a:endParaRPr>
          </a:p>
          <a:p>
            <a:pPr marL="461009" marR="381635" indent="-292100" algn="just">
              <a:lnSpc>
                <a:spcPct val="99500"/>
              </a:lnSpc>
              <a:spcBef>
                <a:spcPts val="50"/>
              </a:spcBef>
              <a:buFont typeface="Wingdings"/>
              <a:buChar char=""/>
              <a:tabLst>
                <a:tab pos="461645" algn="l"/>
              </a:tabLst>
            </a:pPr>
            <a:r>
              <a:rPr sz="1800" dirty="0">
                <a:latin typeface="Times New Roman"/>
                <a:cs typeface="Times New Roman"/>
              </a:rPr>
              <a:t>In 1986, </a:t>
            </a:r>
            <a:r>
              <a:rPr sz="1800" spc="-25" dirty="0">
                <a:latin typeface="Times New Roman"/>
                <a:cs typeface="Times New Roman"/>
              </a:rPr>
              <a:t>Yoshihisa </a:t>
            </a:r>
            <a:r>
              <a:rPr sz="1800" spc="-5" dirty="0">
                <a:latin typeface="Times New Roman"/>
                <a:cs typeface="Times New Roman"/>
              </a:rPr>
              <a:t>Okumura traveled </a:t>
            </a:r>
            <a:r>
              <a:rPr sz="1800" dirty="0">
                <a:latin typeface="Times New Roman"/>
                <a:cs typeface="Times New Roman"/>
              </a:rPr>
              <a:t>around </a:t>
            </a:r>
            <a:r>
              <a:rPr sz="1800" spc="-20" dirty="0">
                <a:latin typeface="Times New Roman"/>
                <a:cs typeface="Times New Roman"/>
              </a:rPr>
              <a:t>Tokyo </a:t>
            </a:r>
            <a:r>
              <a:rPr sz="1800" spc="-5" dirty="0">
                <a:latin typeface="Times New Roman"/>
                <a:cs typeface="Times New Roman"/>
              </a:rPr>
              <a:t>city </a:t>
            </a:r>
            <a:r>
              <a:rPr sz="1800" spc="-4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 </a:t>
            </a:r>
            <a:r>
              <a:rPr sz="1800" spc="-5" dirty="0">
                <a:latin typeface="Times New Roman"/>
                <a:cs typeface="Times New Roman"/>
              </a:rPr>
              <a:t>made measurements </a:t>
            </a:r>
            <a:r>
              <a:rPr sz="1800" dirty="0">
                <a:latin typeface="Times New Roman"/>
                <a:cs typeface="Times New Roman"/>
              </a:rPr>
              <a:t>for </a:t>
            </a:r>
            <a:r>
              <a:rPr sz="1800" spc="-5" dirty="0">
                <a:latin typeface="Times New Roman"/>
                <a:cs typeface="Times New Roman"/>
              </a:rPr>
              <a:t>the signal attenuation </a:t>
            </a:r>
            <a:r>
              <a:rPr sz="1800" dirty="0">
                <a:latin typeface="Times New Roman"/>
                <a:cs typeface="Times New Roman"/>
              </a:rPr>
              <a:t>from 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base</a:t>
            </a:r>
            <a:r>
              <a:rPr sz="1800" spc="4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station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to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mobile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station.</a:t>
            </a:r>
            <a:endParaRPr sz="1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610"/>
              </a:spcBef>
              <a:tabLst>
                <a:tab pos="5485765" algn="l"/>
              </a:tabLst>
            </a:pP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742949" y="5759450"/>
            <a:ext cx="6083300" cy="3416300"/>
          </a:xfrm>
          <a:custGeom>
            <a:avLst/>
            <a:gdLst/>
            <a:ahLst/>
            <a:cxnLst/>
            <a:rect l="l" t="t" r="r" b="b"/>
            <a:pathLst>
              <a:path w="6083300" h="3416300">
                <a:moveTo>
                  <a:pt x="0" y="0"/>
                </a:moveTo>
                <a:lnTo>
                  <a:pt x="6083300" y="0"/>
                </a:lnTo>
                <a:lnTo>
                  <a:pt x="6083300" y="3416300"/>
                </a:lnTo>
                <a:lnTo>
                  <a:pt x="0" y="341630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54011" y="455423"/>
            <a:ext cx="508634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40" dirty="0">
                <a:latin typeface="Calibri"/>
                <a:cs typeface="Calibri"/>
              </a:rPr>
              <a:t>8</a:t>
            </a:r>
            <a:r>
              <a:rPr sz="1300" spc="-5" dirty="0">
                <a:latin typeface="Calibri"/>
                <a:cs typeface="Calibri"/>
              </a:rPr>
              <a:t>/</a:t>
            </a:r>
            <a:r>
              <a:rPr sz="1300" spc="40" dirty="0">
                <a:latin typeface="Calibri"/>
                <a:cs typeface="Calibri"/>
              </a:rPr>
              <a:t>5</a:t>
            </a:r>
            <a:r>
              <a:rPr sz="1300" spc="-5" dirty="0">
                <a:latin typeface="Calibri"/>
                <a:cs typeface="Calibri"/>
              </a:rPr>
              <a:t>/</a:t>
            </a:r>
            <a:r>
              <a:rPr sz="1300" spc="40" dirty="0">
                <a:latin typeface="Calibri"/>
                <a:cs typeface="Calibri"/>
              </a:rPr>
              <a:t>20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4294967295"/>
          </p:nvPr>
        </p:nvSpPr>
        <p:spPr>
          <a:xfrm>
            <a:off x="7300913" y="9974263"/>
            <a:ext cx="255587" cy="227012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27</a:t>
            </a:fld>
            <a:endParaRPr dirty="0"/>
          </a:p>
        </p:txBody>
      </p:sp>
      <p:sp>
        <p:nvSpPr>
          <p:cNvPr id="8" name="object 8"/>
          <p:cNvSpPr txBox="1"/>
          <p:nvPr/>
        </p:nvSpPr>
        <p:spPr>
          <a:xfrm>
            <a:off x="782319" y="2105274"/>
            <a:ext cx="5995035" cy="2386038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82245">
              <a:lnSpc>
                <a:spcPct val="100000"/>
              </a:lnSpc>
              <a:spcBef>
                <a:spcPts val="640"/>
              </a:spcBef>
            </a:pPr>
            <a:r>
              <a:rPr sz="2000" b="1" spc="20" dirty="0">
                <a:solidFill>
                  <a:srgbClr val="FF0000"/>
                </a:solidFill>
                <a:latin typeface="Cambria"/>
                <a:cs typeface="Cambria"/>
              </a:rPr>
              <a:t>Okumura</a:t>
            </a:r>
            <a:r>
              <a:rPr sz="2000" b="1" spc="3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b="1" spc="50" dirty="0">
                <a:solidFill>
                  <a:srgbClr val="FF0000"/>
                </a:solidFill>
                <a:latin typeface="Cambria"/>
                <a:cs typeface="Cambria"/>
              </a:rPr>
              <a:t>Model</a:t>
            </a:r>
            <a:r>
              <a:rPr sz="2000" b="1" spc="7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b="1" spc="-15" dirty="0">
                <a:solidFill>
                  <a:srgbClr val="FF0000"/>
                </a:solidFill>
                <a:latin typeface="Cambria"/>
                <a:cs typeface="Cambria"/>
              </a:rPr>
              <a:t>for</a:t>
            </a:r>
            <a:r>
              <a:rPr sz="2000" b="1" spc="6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b="1" spc="5" dirty="0">
                <a:solidFill>
                  <a:srgbClr val="FF0000"/>
                </a:solidFill>
                <a:latin typeface="Cambria"/>
                <a:cs typeface="Cambria"/>
              </a:rPr>
              <a:t>Outdoor</a:t>
            </a:r>
            <a:r>
              <a:rPr sz="2000" b="1" spc="-3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b="1" spc="-25" dirty="0">
                <a:solidFill>
                  <a:srgbClr val="FF0000"/>
                </a:solidFill>
                <a:latin typeface="Cambria"/>
                <a:cs typeface="Cambria"/>
              </a:rPr>
              <a:t>Propagation</a:t>
            </a:r>
            <a:endParaRPr sz="2000" dirty="0">
              <a:latin typeface="Cambria"/>
              <a:cs typeface="Cambria"/>
            </a:endParaRPr>
          </a:p>
          <a:p>
            <a:pPr marL="461009" marR="419734" indent="-292100">
              <a:lnSpc>
                <a:spcPct val="101899"/>
              </a:lnSpc>
              <a:spcBef>
                <a:spcPts val="445"/>
              </a:spcBef>
              <a:buFont typeface="Wingdings"/>
              <a:buChar char=""/>
              <a:tabLst>
                <a:tab pos="461645" algn="l"/>
              </a:tabLst>
            </a:pPr>
            <a:r>
              <a:rPr sz="1800" spc="-5" dirty="0">
                <a:latin typeface="Times New Roman"/>
                <a:cs typeface="Times New Roman"/>
              </a:rPr>
              <a:t>He</a:t>
            </a:r>
            <a:r>
              <a:rPr sz="1800" spc="4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came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up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with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set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curves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which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gave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the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median </a:t>
            </a:r>
            <a:r>
              <a:rPr sz="1800" spc="-434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attenuation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relative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to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free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space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path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loss.</a:t>
            </a:r>
            <a:endParaRPr sz="1800" dirty="0">
              <a:latin typeface="Times New Roman"/>
              <a:cs typeface="Times New Roman"/>
            </a:endParaRPr>
          </a:p>
          <a:p>
            <a:pPr marL="461009" marR="927735" indent="-292100">
              <a:lnSpc>
                <a:spcPts val="2100"/>
              </a:lnSpc>
              <a:spcBef>
                <a:spcPts val="160"/>
              </a:spcBef>
              <a:buFont typeface="Wingdings"/>
              <a:buChar char=""/>
              <a:tabLst>
                <a:tab pos="461645" algn="l"/>
              </a:tabLst>
            </a:pPr>
            <a:r>
              <a:rPr sz="1800" spc="-5" dirty="0">
                <a:latin typeface="Times New Roman"/>
                <a:cs typeface="Times New Roman"/>
              </a:rPr>
              <a:t>Okumura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came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up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with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three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sets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data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for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three </a:t>
            </a:r>
            <a:r>
              <a:rPr sz="1800" spc="-434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scenarios:</a:t>
            </a:r>
            <a:endParaRPr sz="1800" dirty="0">
              <a:latin typeface="Times New Roman"/>
              <a:cs typeface="Times New Roman"/>
            </a:endParaRPr>
          </a:p>
          <a:p>
            <a:pPr marL="689610" lvl="1" indent="-292735">
              <a:lnSpc>
                <a:spcPts val="2110"/>
              </a:lnSpc>
              <a:buFont typeface="Wingdings"/>
              <a:buChar char=""/>
              <a:tabLst>
                <a:tab pos="690245" algn="l"/>
              </a:tabLst>
            </a:pPr>
            <a:r>
              <a:rPr sz="1800" dirty="0">
                <a:latin typeface="Times New Roman"/>
                <a:cs typeface="Times New Roman"/>
              </a:rPr>
              <a:t>Open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area,</a:t>
            </a:r>
          </a:p>
          <a:p>
            <a:pPr marL="689610" lvl="1" indent="-292735">
              <a:lnSpc>
                <a:spcPts val="2130"/>
              </a:lnSpc>
              <a:buFont typeface="Wingdings"/>
              <a:buChar char=""/>
              <a:tabLst>
                <a:tab pos="690245" algn="l"/>
              </a:tabLst>
            </a:pPr>
            <a:r>
              <a:rPr sz="1800" dirty="0">
                <a:latin typeface="Times New Roman"/>
                <a:cs typeface="Times New Roman"/>
              </a:rPr>
              <a:t>Urban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area</a:t>
            </a:r>
          </a:p>
          <a:p>
            <a:pPr marL="689610" lvl="1" indent="-292735">
              <a:lnSpc>
                <a:spcPct val="100000"/>
              </a:lnSpc>
              <a:spcBef>
                <a:spcPts val="40"/>
              </a:spcBef>
              <a:buFont typeface="Wingdings"/>
              <a:buChar char=""/>
              <a:tabLst>
                <a:tab pos="690245" algn="l"/>
              </a:tabLst>
            </a:pPr>
            <a:r>
              <a:rPr sz="1800" spc="-5" dirty="0">
                <a:latin typeface="Times New Roman"/>
                <a:cs typeface="Times New Roman"/>
              </a:rPr>
              <a:t>Sub-urban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area.</a:t>
            </a:r>
            <a:r>
              <a:rPr sz="1400" b="1" dirty="0">
                <a:solidFill>
                  <a:srgbClr val="005599"/>
                </a:solidFill>
                <a:latin typeface="Times New Roman"/>
                <a:cs typeface="Times New Roman"/>
              </a:rPr>
              <a:t>	</a:t>
            </a: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42949" y="1492249"/>
            <a:ext cx="6083300" cy="3416300"/>
          </a:xfrm>
          <a:custGeom>
            <a:avLst/>
            <a:gdLst/>
            <a:ahLst/>
            <a:cxnLst/>
            <a:rect l="l" t="t" r="r" b="b"/>
            <a:pathLst>
              <a:path w="6083300" h="3416300">
                <a:moveTo>
                  <a:pt x="0" y="0"/>
                </a:moveTo>
                <a:lnTo>
                  <a:pt x="6083300" y="0"/>
                </a:lnTo>
                <a:lnTo>
                  <a:pt x="6083300" y="3416300"/>
                </a:lnTo>
                <a:lnTo>
                  <a:pt x="0" y="341630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749299" y="5852587"/>
            <a:ext cx="607060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2075" algn="ctr">
              <a:lnSpc>
                <a:spcPct val="100000"/>
              </a:lnSpc>
              <a:spcBef>
                <a:spcPts val="100"/>
              </a:spcBef>
            </a:pPr>
            <a:r>
              <a:rPr sz="2700" spc="-50" dirty="0">
                <a:solidFill>
                  <a:srgbClr val="FFFFFF"/>
                </a:solidFill>
                <a:latin typeface="Times New Roman"/>
                <a:cs typeface="Times New Roman"/>
              </a:rPr>
              <a:t>U</a:t>
            </a:r>
            <a:r>
              <a:rPr sz="2700" spc="50" dirty="0">
                <a:solidFill>
                  <a:srgbClr val="FFFFFF"/>
                </a:solidFill>
                <a:latin typeface="Times New Roman"/>
                <a:cs typeface="Times New Roman"/>
              </a:rPr>
              <a:t>niv</a:t>
            </a:r>
            <a:r>
              <a:rPr sz="2700" dirty="0">
                <a:solidFill>
                  <a:srgbClr val="FFFFFF"/>
                </a:solidFill>
                <a:latin typeface="Times New Roman"/>
                <a:cs typeface="Times New Roman"/>
              </a:rPr>
              <a:t>er</a:t>
            </a:r>
            <a:r>
              <a:rPr sz="2700" spc="50" dirty="0">
                <a:solidFill>
                  <a:srgbClr val="FFFFFF"/>
                </a:solidFill>
                <a:latin typeface="Times New Roman"/>
                <a:cs typeface="Times New Roman"/>
              </a:rPr>
              <a:t>sit</a:t>
            </a:r>
            <a:r>
              <a:rPr sz="2700" dirty="0">
                <a:solidFill>
                  <a:srgbClr val="FFFFFF"/>
                </a:solidFill>
                <a:latin typeface="Times New Roman"/>
                <a:cs typeface="Times New Roman"/>
              </a:rPr>
              <a:t>y</a:t>
            </a:r>
            <a:r>
              <a:rPr sz="2700" spc="-229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700" spc="50" dirty="0">
                <a:solidFill>
                  <a:srgbClr val="FFFFFF"/>
                </a:solidFill>
                <a:latin typeface="Times New Roman"/>
                <a:cs typeface="Times New Roman"/>
              </a:rPr>
              <a:t>o</a:t>
            </a:r>
            <a:r>
              <a:rPr sz="2700" dirty="0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r>
              <a:rPr sz="27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700" spc="-50" dirty="0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sz="2700" dirty="0">
                <a:solidFill>
                  <a:srgbClr val="FFFFFF"/>
                </a:solidFill>
                <a:latin typeface="Times New Roman"/>
                <a:cs typeface="Times New Roman"/>
              </a:rPr>
              <a:t>ar</a:t>
            </a:r>
            <a:r>
              <a:rPr sz="2700"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700" dirty="0">
                <a:solidFill>
                  <a:srgbClr val="FFFFFF"/>
                </a:solidFill>
                <a:latin typeface="Times New Roman"/>
                <a:cs typeface="Times New Roman"/>
              </a:rPr>
              <a:t>es</a:t>
            </a:r>
            <a:r>
              <a:rPr sz="2700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700" spc="-5" dirty="0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sz="27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700" spc="50" dirty="0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sz="2700" dirty="0">
                <a:solidFill>
                  <a:srgbClr val="FFFFFF"/>
                </a:solidFill>
                <a:latin typeface="Times New Roman"/>
                <a:cs typeface="Times New Roman"/>
              </a:rPr>
              <a:t>aam</a:t>
            </a:r>
            <a:endParaRPr sz="27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01236" y="6289467"/>
            <a:ext cx="5995035" cy="2804160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82245">
              <a:lnSpc>
                <a:spcPct val="100000"/>
              </a:lnSpc>
              <a:spcBef>
                <a:spcPts val="640"/>
              </a:spcBef>
            </a:pPr>
            <a:r>
              <a:rPr sz="2000" b="1" spc="20" dirty="0">
                <a:solidFill>
                  <a:srgbClr val="FF0000"/>
                </a:solidFill>
                <a:latin typeface="Cambria"/>
                <a:cs typeface="Cambria"/>
              </a:rPr>
              <a:t>Okumura</a:t>
            </a:r>
            <a:r>
              <a:rPr sz="2000" b="1" spc="4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b="1" spc="50" dirty="0">
                <a:solidFill>
                  <a:srgbClr val="FF0000"/>
                </a:solidFill>
                <a:latin typeface="Cambria"/>
                <a:cs typeface="Cambria"/>
              </a:rPr>
              <a:t>Model</a:t>
            </a:r>
            <a:r>
              <a:rPr sz="2000" b="1" spc="7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b="1" spc="-15" dirty="0">
                <a:solidFill>
                  <a:srgbClr val="FF0000"/>
                </a:solidFill>
                <a:latin typeface="Cambria"/>
                <a:cs typeface="Cambria"/>
              </a:rPr>
              <a:t>for</a:t>
            </a:r>
            <a:r>
              <a:rPr sz="2000" b="1" spc="7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b="1" spc="5" dirty="0">
                <a:solidFill>
                  <a:srgbClr val="FF0000"/>
                </a:solidFill>
                <a:latin typeface="Cambria"/>
                <a:cs typeface="Cambria"/>
              </a:rPr>
              <a:t>Outdoor</a:t>
            </a:r>
            <a:r>
              <a:rPr sz="2000" b="1" spc="-3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b="1" spc="-25" dirty="0">
                <a:solidFill>
                  <a:srgbClr val="FF0000"/>
                </a:solidFill>
                <a:latin typeface="Cambria"/>
                <a:cs typeface="Cambria"/>
              </a:rPr>
              <a:t>Propagation</a:t>
            </a:r>
            <a:endParaRPr sz="2000" dirty="0">
              <a:latin typeface="Cambria"/>
              <a:cs typeface="Cambria"/>
            </a:endParaRPr>
          </a:p>
          <a:p>
            <a:pPr marL="461009" marR="432434" indent="-292100">
              <a:lnSpc>
                <a:spcPct val="101899"/>
              </a:lnSpc>
              <a:spcBef>
                <a:spcPts val="445"/>
              </a:spcBef>
              <a:buFont typeface="Wingdings"/>
              <a:buChar char=""/>
              <a:tabLst>
                <a:tab pos="461645" algn="l"/>
              </a:tabLst>
            </a:pPr>
            <a:r>
              <a:rPr sz="1800" spc="-5" dirty="0">
                <a:latin typeface="Times New Roman"/>
                <a:cs typeface="Times New Roman"/>
              </a:rPr>
              <a:t>Okumura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model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was</a:t>
            </a:r>
            <a:r>
              <a:rPr sz="1800" spc="4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designed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for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use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in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the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frequency 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range </a:t>
            </a:r>
            <a:r>
              <a:rPr sz="1800" spc="-5" dirty="0">
                <a:latin typeface="Times New Roman"/>
                <a:cs typeface="Times New Roman"/>
              </a:rPr>
              <a:t>150MHz </a:t>
            </a:r>
            <a:r>
              <a:rPr sz="1800" dirty="0">
                <a:latin typeface="Times New Roman"/>
                <a:cs typeface="Times New Roman"/>
              </a:rPr>
              <a:t>up </a:t>
            </a:r>
            <a:r>
              <a:rPr sz="1800" spc="-5" dirty="0">
                <a:latin typeface="Times New Roman"/>
                <a:cs typeface="Times New Roman"/>
              </a:rPr>
              <a:t>to </a:t>
            </a:r>
            <a:r>
              <a:rPr sz="1800" dirty="0">
                <a:latin typeface="Times New Roman"/>
                <a:cs typeface="Times New Roman"/>
              </a:rPr>
              <a:t>1920 </a:t>
            </a:r>
            <a:r>
              <a:rPr sz="1800" spc="-5" dirty="0">
                <a:latin typeface="Times New Roman"/>
                <a:cs typeface="Times New Roman"/>
              </a:rPr>
              <a:t>MHz </a:t>
            </a:r>
            <a:r>
              <a:rPr sz="1800" dirty="0">
                <a:latin typeface="Times New Roman"/>
                <a:cs typeface="Times New Roman"/>
              </a:rPr>
              <a:t>and </a:t>
            </a:r>
            <a:r>
              <a:rPr sz="1800" spc="-5" dirty="0">
                <a:latin typeface="Times New Roman"/>
                <a:cs typeface="Times New Roman"/>
              </a:rPr>
              <a:t>mostly in </a:t>
            </a:r>
            <a:r>
              <a:rPr sz="1800" dirty="0">
                <a:latin typeface="Times New Roman"/>
                <a:cs typeface="Times New Roman"/>
              </a:rPr>
              <a:t>an urban </a:t>
            </a:r>
            <a:r>
              <a:rPr sz="1800" spc="-434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propagation</a:t>
            </a:r>
            <a:r>
              <a:rPr sz="1800" spc="4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environment.</a:t>
            </a:r>
            <a:endParaRPr sz="1800" dirty="0">
              <a:latin typeface="Times New Roman"/>
              <a:cs typeface="Times New Roman"/>
            </a:endParaRPr>
          </a:p>
          <a:p>
            <a:pPr marL="461009" indent="-292735">
              <a:lnSpc>
                <a:spcPts val="2100"/>
              </a:lnSpc>
              <a:buFont typeface="Wingdings"/>
              <a:buChar char=""/>
              <a:tabLst>
                <a:tab pos="461645" algn="l"/>
              </a:tabLst>
            </a:pPr>
            <a:r>
              <a:rPr sz="1800" spc="-5" dirty="0">
                <a:latin typeface="Times New Roman"/>
                <a:cs typeface="Times New Roman"/>
              </a:rPr>
              <a:t>Okumura's</a:t>
            </a:r>
            <a:r>
              <a:rPr sz="1800" spc="4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model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is</a:t>
            </a:r>
            <a:r>
              <a:rPr sz="1800" spc="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one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the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most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widely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used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models</a:t>
            </a:r>
            <a:endParaRPr sz="1800" dirty="0">
              <a:latin typeface="Times New Roman"/>
              <a:cs typeface="Times New Roman"/>
            </a:endParaRPr>
          </a:p>
          <a:p>
            <a:pPr marL="461009">
              <a:lnSpc>
                <a:spcPts val="2130"/>
              </a:lnSpc>
              <a:spcBef>
                <a:spcPts val="40"/>
              </a:spcBef>
            </a:pPr>
            <a:r>
              <a:rPr sz="1800" dirty="0">
                <a:latin typeface="Times New Roman"/>
                <a:cs typeface="Times New Roman"/>
              </a:rPr>
              <a:t>for</a:t>
            </a:r>
            <a:r>
              <a:rPr sz="1800" spc="4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signal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prediction</a:t>
            </a:r>
            <a:r>
              <a:rPr sz="1800" spc="4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in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urban</a:t>
            </a:r>
            <a:r>
              <a:rPr sz="1800" spc="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areas.</a:t>
            </a:r>
          </a:p>
          <a:p>
            <a:pPr marL="461009" marR="216535" indent="-292100">
              <a:lnSpc>
                <a:spcPts val="2200"/>
              </a:lnSpc>
              <a:spcBef>
                <a:spcPts val="10"/>
              </a:spcBef>
              <a:buFont typeface="Wingdings"/>
              <a:buChar char=""/>
              <a:tabLst>
                <a:tab pos="461645" algn="l"/>
              </a:tabLst>
            </a:pPr>
            <a:r>
              <a:rPr sz="1800" spc="-5" dirty="0">
                <a:latin typeface="Times New Roman"/>
                <a:cs typeface="Times New Roman"/>
              </a:rPr>
              <a:t>Distances</a:t>
            </a:r>
            <a:r>
              <a:rPr sz="1800" spc="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1km</a:t>
            </a:r>
            <a:r>
              <a:rPr sz="1800" spc="4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to100km.</a:t>
            </a:r>
            <a:r>
              <a:rPr sz="1800" dirty="0">
                <a:latin typeface="Times New Roman"/>
                <a:cs typeface="Times New Roman"/>
              </a:rPr>
              <a:t> It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can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be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used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for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base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station </a:t>
            </a:r>
            <a:r>
              <a:rPr sz="1800" spc="-434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antenna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heights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ranging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from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30m</a:t>
            </a:r>
            <a:r>
              <a:rPr sz="1800" spc="4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to1000m.</a:t>
            </a:r>
            <a:endParaRPr sz="1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30"/>
              </a:spcBef>
              <a:tabLst>
                <a:tab pos="5485765" algn="l"/>
              </a:tabLst>
            </a:pP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742949" y="5759450"/>
            <a:ext cx="6083300" cy="3416300"/>
          </a:xfrm>
          <a:custGeom>
            <a:avLst/>
            <a:gdLst/>
            <a:ahLst/>
            <a:cxnLst/>
            <a:rect l="l" t="t" r="r" b="b"/>
            <a:pathLst>
              <a:path w="6083300" h="3416300">
                <a:moveTo>
                  <a:pt x="0" y="0"/>
                </a:moveTo>
                <a:lnTo>
                  <a:pt x="6083300" y="0"/>
                </a:lnTo>
                <a:lnTo>
                  <a:pt x="6083300" y="3416300"/>
                </a:lnTo>
                <a:lnTo>
                  <a:pt x="0" y="341630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object 20"/>
          <p:cNvSpPr txBox="1">
            <a:spLocks noGrp="1"/>
          </p:cNvSpPr>
          <p:nvPr>
            <p:ph type="sldNum" sz="quarter" idx="4294967295"/>
          </p:nvPr>
        </p:nvSpPr>
        <p:spPr>
          <a:xfrm>
            <a:off x="7300913" y="9974263"/>
            <a:ext cx="255587" cy="227012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28</a:t>
            </a:fld>
            <a:endParaRPr dirty="0"/>
          </a:p>
        </p:txBody>
      </p:sp>
      <p:sp>
        <p:nvSpPr>
          <p:cNvPr id="8" name="object 8"/>
          <p:cNvSpPr txBox="1"/>
          <p:nvPr/>
        </p:nvSpPr>
        <p:spPr>
          <a:xfrm>
            <a:off x="1013368" y="1590459"/>
            <a:ext cx="6045835" cy="2804160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207645">
              <a:lnSpc>
                <a:spcPct val="100000"/>
              </a:lnSpc>
              <a:spcBef>
                <a:spcPts val="640"/>
              </a:spcBef>
            </a:pPr>
            <a:r>
              <a:rPr sz="2000" b="1" spc="20" dirty="0">
                <a:solidFill>
                  <a:srgbClr val="FF0000"/>
                </a:solidFill>
                <a:latin typeface="Cambria"/>
                <a:cs typeface="Cambria"/>
              </a:rPr>
              <a:t>Okumura</a:t>
            </a:r>
            <a:r>
              <a:rPr sz="2000" b="1" spc="4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b="1" spc="50" dirty="0">
                <a:solidFill>
                  <a:srgbClr val="FF0000"/>
                </a:solidFill>
                <a:latin typeface="Cambria"/>
                <a:cs typeface="Cambria"/>
              </a:rPr>
              <a:t>Model</a:t>
            </a:r>
            <a:r>
              <a:rPr sz="2000" b="1" spc="7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b="1" spc="-15" dirty="0">
                <a:solidFill>
                  <a:srgbClr val="FF0000"/>
                </a:solidFill>
                <a:latin typeface="Cambria"/>
                <a:cs typeface="Cambria"/>
              </a:rPr>
              <a:t>for</a:t>
            </a:r>
            <a:r>
              <a:rPr sz="2000" b="1" spc="7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b="1" spc="5" dirty="0">
                <a:solidFill>
                  <a:srgbClr val="FF0000"/>
                </a:solidFill>
                <a:latin typeface="Cambria"/>
                <a:cs typeface="Cambria"/>
              </a:rPr>
              <a:t>Outdoor</a:t>
            </a:r>
            <a:r>
              <a:rPr sz="2000" b="1" spc="-3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b="1" spc="-25" dirty="0">
                <a:solidFill>
                  <a:srgbClr val="FF0000"/>
                </a:solidFill>
                <a:latin typeface="Cambria"/>
                <a:cs typeface="Cambria"/>
              </a:rPr>
              <a:t>Propagation</a:t>
            </a:r>
            <a:endParaRPr sz="2000" dirty="0">
              <a:latin typeface="Cambria"/>
              <a:cs typeface="Cambria"/>
            </a:endParaRPr>
          </a:p>
          <a:p>
            <a:pPr marL="486409" marR="610870" indent="-292100">
              <a:lnSpc>
                <a:spcPct val="101899"/>
              </a:lnSpc>
              <a:spcBef>
                <a:spcPts val="445"/>
              </a:spcBef>
              <a:buFont typeface="Wingdings"/>
              <a:buChar char=""/>
              <a:tabLst>
                <a:tab pos="487045" algn="l"/>
              </a:tabLst>
            </a:pPr>
            <a:r>
              <a:rPr sz="1800" spc="-5" dirty="0">
                <a:latin typeface="Times New Roman"/>
                <a:cs typeface="Times New Roman"/>
              </a:rPr>
              <a:t>Okumura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developed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set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curves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giving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the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median </a:t>
            </a:r>
            <a:r>
              <a:rPr sz="1800" spc="-434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attenuation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relative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to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frespace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(A</a:t>
            </a:r>
            <a:r>
              <a:rPr sz="1800" spc="-15" baseline="-13888" dirty="0">
                <a:latin typeface="Times New Roman"/>
                <a:cs typeface="Times New Roman"/>
              </a:rPr>
              <a:t>mu</a:t>
            </a:r>
            <a:r>
              <a:rPr sz="1800" spc="-10" dirty="0">
                <a:latin typeface="Times New Roman"/>
                <a:cs typeface="Times New Roman"/>
              </a:rPr>
              <a:t>)</a:t>
            </a:r>
            <a:endParaRPr sz="1800" dirty="0">
              <a:latin typeface="Times New Roman"/>
              <a:cs typeface="Times New Roman"/>
            </a:endParaRPr>
          </a:p>
          <a:p>
            <a:pPr marL="486409" marR="280035" indent="-292100">
              <a:lnSpc>
                <a:spcPts val="2100"/>
              </a:lnSpc>
              <a:spcBef>
                <a:spcPts val="160"/>
              </a:spcBef>
              <a:buFont typeface="Wingdings"/>
              <a:buChar char=""/>
              <a:tabLst>
                <a:tab pos="487045" algn="l"/>
              </a:tabLst>
            </a:pPr>
            <a:r>
              <a:rPr sz="1800" spc="-30" dirty="0">
                <a:latin typeface="Times New Roman"/>
                <a:cs typeface="Times New Roman"/>
              </a:rPr>
              <a:t>With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base-station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effective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antenna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height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Times New Roman"/>
                <a:cs typeface="Times New Roman"/>
              </a:rPr>
              <a:t>(h</a:t>
            </a:r>
            <a:r>
              <a:rPr sz="1800" spc="-22" baseline="-13888" dirty="0">
                <a:latin typeface="Times New Roman"/>
                <a:cs typeface="Times New Roman"/>
              </a:rPr>
              <a:t>te</a:t>
            </a:r>
            <a:r>
              <a:rPr sz="1800" spc="-15" dirty="0">
                <a:latin typeface="Times New Roman"/>
                <a:cs typeface="Times New Roman"/>
              </a:rPr>
              <a:t>)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200m </a:t>
            </a:r>
            <a:r>
              <a:rPr sz="1800" spc="-43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mobile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antenna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height</a:t>
            </a:r>
            <a:r>
              <a:rPr sz="1800" spc="4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(h</a:t>
            </a:r>
            <a:r>
              <a:rPr sz="1800" spc="-15" baseline="-13888" dirty="0">
                <a:latin typeface="Times New Roman"/>
                <a:cs typeface="Times New Roman"/>
              </a:rPr>
              <a:t>re</a:t>
            </a:r>
            <a:r>
              <a:rPr sz="1800" spc="-10" dirty="0">
                <a:latin typeface="Times New Roman"/>
                <a:cs typeface="Times New Roman"/>
              </a:rPr>
              <a:t>)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3m.</a:t>
            </a:r>
            <a:endParaRPr sz="1800" dirty="0">
              <a:latin typeface="Times New Roman"/>
              <a:cs typeface="Times New Roman"/>
            </a:endParaRPr>
          </a:p>
          <a:p>
            <a:pPr marL="486409" marR="394335" indent="-292100">
              <a:lnSpc>
                <a:spcPts val="2100"/>
              </a:lnSpc>
              <a:spcBef>
                <a:spcPts val="100"/>
              </a:spcBef>
              <a:buFont typeface="Wingdings"/>
              <a:buChar char=""/>
              <a:tabLst>
                <a:tab pos="487045" algn="l"/>
              </a:tabLst>
            </a:pPr>
            <a:r>
              <a:rPr sz="1800" dirty="0">
                <a:latin typeface="Times New Roman"/>
                <a:cs typeface="Times New Roman"/>
              </a:rPr>
              <a:t>The curves are </a:t>
            </a:r>
            <a:r>
              <a:rPr sz="1800" spc="-5" dirty="0">
                <a:latin typeface="Times New Roman"/>
                <a:cs typeface="Times New Roman"/>
              </a:rPr>
              <a:t>plotted </a:t>
            </a:r>
            <a:r>
              <a:rPr sz="1800" dirty="0">
                <a:latin typeface="Times New Roman"/>
                <a:cs typeface="Times New Roman"/>
              </a:rPr>
              <a:t>as a </a:t>
            </a:r>
            <a:r>
              <a:rPr sz="1800" spc="-5" dirty="0">
                <a:latin typeface="Times New Roman"/>
                <a:cs typeface="Times New Roman"/>
              </a:rPr>
              <a:t>function </a:t>
            </a:r>
            <a:r>
              <a:rPr sz="1800" dirty="0">
                <a:latin typeface="Times New Roman"/>
                <a:cs typeface="Times New Roman"/>
              </a:rPr>
              <a:t>of frequency </a:t>
            </a:r>
            <a:r>
              <a:rPr sz="1800" spc="-5" dirty="0">
                <a:latin typeface="Times New Roman"/>
                <a:cs typeface="Times New Roman"/>
              </a:rPr>
              <a:t>in the 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range100MHz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to1920MHz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as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function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distance</a:t>
            </a:r>
            <a:endParaRPr sz="1800" dirty="0">
              <a:latin typeface="Times New Roman"/>
              <a:cs typeface="Times New Roman"/>
            </a:endParaRPr>
          </a:p>
          <a:p>
            <a:pPr marL="486409">
              <a:lnSpc>
                <a:spcPts val="2140"/>
              </a:lnSpc>
            </a:pPr>
            <a:r>
              <a:rPr sz="1800" dirty="0">
                <a:latin typeface="Times New Roman"/>
                <a:cs typeface="Times New Roman"/>
              </a:rPr>
              <a:t>from</a:t>
            </a:r>
            <a:r>
              <a:rPr sz="1800" spc="4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the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base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station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in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the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range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from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1km</a:t>
            </a:r>
            <a:r>
              <a:rPr sz="1800" spc="4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to100km</a:t>
            </a:r>
            <a:r>
              <a:rPr sz="1800" spc="-5" dirty="0">
                <a:latin typeface="Calibri"/>
                <a:cs typeface="Calibri"/>
              </a:rPr>
              <a:t>.</a:t>
            </a:r>
            <a:endParaRPr sz="1800" dirty="0">
              <a:latin typeface="Calibri"/>
              <a:cs typeface="Calibri"/>
            </a:endParaRPr>
          </a:p>
          <a:p>
            <a:pPr marL="25400">
              <a:lnSpc>
                <a:spcPct val="100000"/>
              </a:lnSpc>
              <a:spcBef>
                <a:spcPts val="1610"/>
              </a:spcBef>
              <a:tabLst>
                <a:tab pos="5511165" algn="l"/>
              </a:tabLst>
            </a:pP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70711" y="1284389"/>
            <a:ext cx="6083300" cy="3416300"/>
          </a:xfrm>
          <a:custGeom>
            <a:avLst/>
            <a:gdLst/>
            <a:ahLst/>
            <a:cxnLst/>
            <a:rect l="l" t="t" r="r" b="b"/>
            <a:pathLst>
              <a:path w="6083300" h="3416300">
                <a:moveTo>
                  <a:pt x="0" y="0"/>
                </a:moveTo>
                <a:lnTo>
                  <a:pt x="6083300" y="0"/>
                </a:lnTo>
                <a:lnTo>
                  <a:pt x="6083300" y="3416300"/>
                </a:lnTo>
                <a:lnTo>
                  <a:pt x="0" y="341630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744264" y="6235177"/>
            <a:ext cx="6033090" cy="902811"/>
          </a:xfrm>
          <a:prstGeom prst="rect">
            <a:avLst/>
          </a:prstGeom>
        </p:spPr>
        <p:txBody>
          <a:bodyPr vert="horz" wrap="square" lIns="0" tIns="251460" rIns="0" bIns="0" rtlCol="0">
            <a:spAutoFit/>
          </a:bodyPr>
          <a:lstStyle/>
          <a:p>
            <a:pPr marL="215265">
              <a:lnSpc>
                <a:spcPct val="100000"/>
              </a:lnSpc>
              <a:spcBef>
                <a:spcPts val="1395"/>
              </a:spcBef>
            </a:pPr>
            <a:r>
              <a:rPr sz="2000" b="1" spc="20" dirty="0">
                <a:solidFill>
                  <a:srgbClr val="FF0000"/>
                </a:solidFill>
                <a:latin typeface="Cambria"/>
                <a:cs typeface="Cambria"/>
              </a:rPr>
              <a:t>Okumura</a:t>
            </a:r>
            <a:r>
              <a:rPr sz="2000" b="1" spc="4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b="1" spc="50" dirty="0">
                <a:solidFill>
                  <a:srgbClr val="FF0000"/>
                </a:solidFill>
                <a:latin typeface="Cambria"/>
                <a:cs typeface="Cambria"/>
              </a:rPr>
              <a:t>Model</a:t>
            </a:r>
            <a:r>
              <a:rPr sz="2000" b="1" spc="7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b="1" spc="-15" dirty="0">
                <a:solidFill>
                  <a:srgbClr val="FF0000"/>
                </a:solidFill>
                <a:latin typeface="Cambria"/>
                <a:cs typeface="Cambria"/>
              </a:rPr>
              <a:t>for</a:t>
            </a:r>
            <a:r>
              <a:rPr sz="2000" b="1" spc="7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b="1" spc="5" dirty="0">
                <a:solidFill>
                  <a:srgbClr val="FF0000"/>
                </a:solidFill>
                <a:latin typeface="Cambria"/>
                <a:cs typeface="Cambria"/>
              </a:rPr>
              <a:t>Outdoor</a:t>
            </a:r>
            <a:r>
              <a:rPr sz="2000" b="1" spc="-3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b="1" spc="-25" dirty="0">
                <a:solidFill>
                  <a:srgbClr val="FF0000"/>
                </a:solidFill>
                <a:latin typeface="Cambria"/>
                <a:cs typeface="Cambria"/>
              </a:rPr>
              <a:t>Propagation</a:t>
            </a:r>
            <a:endParaRPr sz="2000" dirty="0">
              <a:latin typeface="Cambria"/>
              <a:cs typeface="Cambria"/>
            </a:endParaRPr>
          </a:p>
          <a:p>
            <a:pPr marL="494030" indent="-292735">
              <a:lnSpc>
                <a:spcPct val="100000"/>
              </a:lnSpc>
              <a:spcBef>
                <a:spcPts val="489"/>
              </a:spcBef>
              <a:buFont typeface="Wingdings"/>
              <a:buChar char=""/>
              <a:tabLst>
                <a:tab pos="494665" algn="l"/>
              </a:tabLst>
            </a:pP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4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Okumura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Model</a:t>
            </a:r>
            <a:r>
              <a:rPr sz="1800" spc="4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is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given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by</a:t>
            </a:r>
          </a:p>
        </p:txBody>
      </p:sp>
      <p:grpSp>
        <p:nvGrpSpPr>
          <p:cNvPr id="17" name="object 17"/>
          <p:cNvGrpSpPr/>
          <p:nvPr/>
        </p:nvGrpSpPr>
        <p:grpSpPr>
          <a:xfrm>
            <a:off x="709427" y="5747067"/>
            <a:ext cx="6096000" cy="3429000"/>
            <a:chOff x="736599" y="5753100"/>
            <a:chExt cx="6096000" cy="3429000"/>
          </a:xfrm>
        </p:grpSpPr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70518" y="7442584"/>
              <a:ext cx="5402763" cy="264775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742949" y="5759450"/>
              <a:ext cx="6083300" cy="3416300"/>
            </a:xfrm>
            <a:custGeom>
              <a:avLst/>
              <a:gdLst/>
              <a:ahLst/>
              <a:cxnLst/>
              <a:rect l="l" t="t" r="r" b="b"/>
              <a:pathLst>
                <a:path w="6083300" h="3416300">
                  <a:moveTo>
                    <a:pt x="0" y="0"/>
                  </a:moveTo>
                  <a:lnTo>
                    <a:pt x="6083300" y="0"/>
                  </a:lnTo>
                  <a:lnTo>
                    <a:pt x="6083300" y="3416300"/>
                  </a:lnTo>
                  <a:lnTo>
                    <a:pt x="0" y="34163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object 24"/>
          <p:cNvSpPr txBox="1">
            <a:spLocks noGrp="1"/>
          </p:cNvSpPr>
          <p:nvPr>
            <p:ph type="sldNum" sz="quarter" idx="4294967295"/>
          </p:nvPr>
        </p:nvSpPr>
        <p:spPr>
          <a:xfrm>
            <a:off x="7300913" y="9974263"/>
            <a:ext cx="255587" cy="227012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29</a:t>
            </a:fld>
            <a:endParaRPr dirty="0"/>
          </a:p>
        </p:txBody>
      </p:sp>
      <p:sp>
        <p:nvSpPr>
          <p:cNvPr id="10" name="object 10"/>
          <p:cNvSpPr txBox="1"/>
          <p:nvPr/>
        </p:nvSpPr>
        <p:spPr>
          <a:xfrm>
            <a:off x="964567" y="2173987"/>
            <a:ext cx="48926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000" b="1" spc="20" dirty="0">
                <a:solidFill>
                  <a:srgbClr val="FF0000"/>
                </a:solidFill>
                <a:latin typeface="Cambria"/>
                <a:cs typeface="Cambria"/>
              </a:rPr>
              <a:t>Okumura</a:t>
            </a:r>
            <a:r>
              <a:rPr sz="2000" b="1" spc="4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b="1" spc="50" dirty="0">
                <a:solidFill>
                  <a:srgbClr val="FF0000"/>
                </a:solidFill>
                <a:latin typeface="Cambria"/>
                <a:cs typeface="Cambria"/>
              </a:rPr>
              <a:t>Model</a:t>
            </a:r>
            <a:r>
              <a:rPr sz="2000" b="1" spc="7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b="1" spc="-15" dirty="0">
                <a:solidFill>
                  <a:srgbClr val="FF0000"/>
                </a:solidFill>
                <a:latin typeface="Cambria"/>
                <a:cs typeface="Cambria"/>
              </a:rPr>
              <a:t>for</a:t>
            </a:r>
            <a:r>
              <a:rPr sz="2000" b="1" spc="6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b="1" spc="5" dirty="0">
                <a:solidFill>
                  <a:srgbClr val="FF0000"/>
                </a:solidFill>
                <a:latin typeface="Cambria"/>
                <a:cs typeface="Cambria"/>
              </a:rPr>
              <a:t>Outdoor</a:t>
            </a:r>
            <a:r>
              <a:rPr sz="2000" b="1" spc="-3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b="1" spc="-25" dirty="0">
                <a:solidFill>
                  <a:srgbClr val="FF0000"/>
                </a:solidFill>
                <a:latin typeface="Cambria"/>
                <a:cs typeface="Cambria"/>
              </a:rPr>
              <a:t>Propagation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39167" y="2685885"/>
            <a:ext cx="753745" cy="1488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ts val="1810"/>
              </a:lnSpc>
              <a:spcBef>
                <a:spcPts val="100"/>
              </a:spcBef>
            </a:pPr>
            <a:r>
              <a:rPr sz="2400" spc="60" baseline="10416" dirty="0">
                <a:latin typeface="Times New Roman"/>
                <a:cs typeface="Times New Roman"/>
              </a:rPr>
              <a:t>L</a:t>
            </a:r>
            <a:r>
              <a:rPr sz="1100" spc="40" dirty="0">
                <a:latin typeface="Times New Roman"/>
                <a:cs typeface="Times New Roman"/>
              </a:rPr>
              <a:t>50</a:t>
            </a:r>
            <a:endParaRPr sz="1100">
              <a:latin typeface="Times New Roman"/>
              <a:cs typeface="Times New Roman"/>
            </a:endParaRPr>
          </a:p>
          <a:p>
            <a:pPr marL="25400">
              <a:lnSpc>
                <a:spcPts val="1800"/>
              </a:lnSpc>
            </a:pPr>
            <a:r>
              <a:rPr sz="1600" spc="10" dirty="0">
                <a:latin typeface="Times New Roman"/>
                <a:cs typeface="Times New Roman"/>
              </a:rPr>
              <a:t>L</a:t>
            </a:r>
            <a:r>
              <a:rPr sz="1650" spc="15" baseline="-15151" dirty="0">
                <a:latin typeface="Times New Roman"/>
                <a:cs typeface="Times New Roman"/>
              </a:rPr>
              <a:t>F</a:t>
            </a:r>
            <a:endParaRPr sz="1650" baseline="-15151">
              <a:latin typeface="Times New Roman"/>
              <a:cs typeface="Times New Roman"/>
            </a:endParaRPr>
          </a:p>
          <a:p>
            <a:pPr marL="25400">
              <a:lnSpc>
                <a:spcPts val="1910"/>
              </a:lnSpc>
            </a:pPr>
            <a:r>
              <a:rPr sz="1600" spc="5" dirty="0">
                <a:latin typeface="Times New Roman"/>
                <a:cs typeface="Times New Roman"/>
              </a:rPr>
              <a:t>A</a:t>
            </a:r>
            <a:r>
              <a:rPr sz="1650" spc="7" baseline="-15151" dirty="0">
                <a:latin typeface="Times New Roman"/>
                <a:cs typeface="Times New Roman"/>
              </a:rPr>
              <a:t>mu</a:t>
            </a:r>
            <a:r>
              <a:rPr sz="1600" spc="5" dirty="0">
                <a:latin typeface="Times New Roman"/>
                <a:cs typeface="Times New Roman"/>
              </a:rPr>
              <a:t>(f,d)</a:t>
            </a:r>
            <a:endParaRPr sz="1600">
              <a:latin typeface="Times New Roman"/>
              <a:cs typeface="Times New Roman"/>
            </a:endParaRPr>
          </a:p>
          <a:p>
            <a:pPr marL="25400">
              <a:lnSpc>
                <a:spcPts val="1910"/>
              </a:lnSpc>
              <a:spcBef>
                <a:spcPts val="280"/>
              </a:spcBef>
            </a:pPr>
            <a:r>
              <a:rPr sz="2400" spc="30" baseline="10416" dirty="0">
                <a:latin typeface="Times New Roman"/>
                <a:cs typeface="Times New Roman"/>
              </a:rPr>
              <a:t>G</a:t>
            </a:r>
            <a:r>
              <a:rPr sz="1100" spc="20" dirty="0">
                <a:latin typeface="Times New Roman"/>
                <a:cs typeface="Times New Roman"/>
              </a:rPr>
              <a:t>(hte)</a:t>
            </a:r>
            <a:endParaRPr sz="1100">
              <a:latin typeface="Times New Roman"/>
              <a:cs typeface="Times New Roman"/>
            </a:endParaRPr>
          </a:p>
          <a:p>
            <a:pPr marL="25400">
              <a:lnSpc>
                <a:spcPts val="1900"/>
              </a:lnSpc>
            </a:pPr>
            <a:r>
              <a:rPr sz="2400" spc="37" baseline="10416" dirty="0">
                <a:latin typeface="Times New Roman"/>
                <a:cs typeface="Times New Roman"/>
              </a:rPr>
              <a:t>G</a:t>
            </a:r>
            <a:r>
              <a:rPr sz="1100" spc="25" dirty="0">
                <a:latin typeface="Times New Roman"/>
                <a:cs typeface="Times New Roman"/>
              </a:rPr>
              <a:t>(hre)</a:t>
            </a:r>
            <a:endParaRPr sz="1100">
              <a:latin typeface="Times New Roman"/>
              <a:cs typeface="Times New Roman"/>
            </a:endParaRPr>
          </a:p>
          <a:p>
            <a:pPr marL="25400">
              <a:lnSpc>
                <a:spcPts val="1910"/>
              </a:lnSpc>
            </a:pPr>
            <a:r>
              <a:rPr sz="2400" spc="7" baseline="10416" dirty="0">
                <a:latin typeface="Times New Roman"/>
                <a:cs typeface="Times New Roman"/>
              </a:rPr>
              <a:t>G</a:t>
            </a:r>
            <a:r>
              <a:rPr sz="1100" spc="5" dirty="0">
                <a:latin typeface="Times New Roman"/>
                <a:cs typeface="Times New Roman"/>
              </a:rPr>
              <a:t>AREA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878967" y="2647785"/>
            <a:ext cx="4624070" cy="1488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456565" algn="l"/>
              </a:tabLst>
            </a:pPr>
            <a:r>
              <a:rPr sz="1600" dirty="0">
                <a:latin typeface="Times New Roman"/>
                <a:cs typeface="Times New Roman"/>
              </a:rPr>
              <a:t>=	50%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value</a:t>
            </a:r>
            <a:r>
              <a:rPr sz="1600" spc="7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propagation</a:t>
            </a:r>
            <a:r>
              <a:rPr sz="1600" spc="190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path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loss</a:t>
            </a:r>
            <a:r>
              <a:rPr sz="1600" spc="65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(median)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ts val="1910"/>
              </a:lnSpc>
              <a:spcBef>
                <a:spcPts val="80"/>
              </a:spcBef>
              <a:tabLst>
                <a:tab pos="456565" algn="l"/>
              </a:tabLst>
            </a:pPr>
            <a:r>
              <a:rPr sz="1600" dirty="0">
                <a:latin typeface="Times New Roman"/>
                <a:cs typeface="Times New Roman"/>
              </a:rPr>
              <a:t>=	</a:t>
            </a:r>
            <a:r>
              <a:rPr sz="1600" spc="-25" dirty="0">
                <a:latin typeface="Times New Roman"/>
                <a:cs typeface="Times New Roman"/>
              </a:rPr>
              <a:t>free</a:t>
            </a:r>
            <a:r>
              <a:rPr sz="1600" spc="75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space</a:t>
            </a:r>
            <a:r>
              <a:rPr sz="1600" spc="75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propagation</a:t>
            </a:r>
            <a:r>
              <a:rPr sz="1600" spc="90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loss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ts val="1900"/>
              </a:lnSpc>
              <a:tabLst>
                <a:tab pos="456565" algn="l"/>
              </a:tabLst>
            </a:pPr>
            <a:r>
              <a:rPr sz="1600" dirty="0">
                <a:latin typeface="Times New Roman"/>
                <a:cs typeface="Times New Roman"/>
              </a:rPr>
              <a:t>=	</a:t>
            </a:r>
            <a:r>
              <a:rPr sz="1600" spc="-20" dirty="0">
                <a:latin typeface="Times New Roman"/>
                <a:cs typeface="Times New Roman"/>
              </a:rPr>
              <a:t>median</a:t>
            </a:r>
            <a:r>
              <a:rPr sz="1600" spc="100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additional</a:t>
            </a:r>
            <a:r>
              <a:rPr sz="1600" spc="160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attenuation</a:t>
            </a:r>
            <a:r>
              <a:rPr sz="1600" spc="204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relative</a:t>
            </a:r>
            <a:r>
              <a:rPr sz="1600" spc="190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to</a:t>
            </a:r>
            <a:r>
              <a:rPr sz="1600" spc="105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free</a:t>
            </a:r>
            <a:r>
              <a:rPr sz="1600" spc="85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space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ts val="1900"/>
              </a:lnSpc>
              <a:tabLst>
                <a:tab pos="456565" algn="l"/>
              </a:tabLst>
            </a:pPr>
            <a:r>
              <a:rPr sz="1600" dirty="0">
                <a:latin typeface="Times New Roman"/>
                <a:cs typeface="Times New Roman"/>
              </a:rPr>
              <a:t>=	</a:t>
            </a:r>
            <a:r>
              <a:rPr sz="1600" spc="-10" dirty="0">
                <a:latin typeface="Times New Roman"/>
                <a:cs typeface="Times New Roman"/>
              </a:rPr>
              <a:t>base</a:t>
            </a:r>
            <a:r>
              <a:rPr sz="1600" spc="80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station</a:t>
            </a:r>
            <a:r>
              <a:rPr sz="1600" spc="90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antenna</a:t>
            </a:r>
            <a:r>
              <a:rPr sz="1600" spc="7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height</a:t>
            </a:r>
            <a:r>
              <a:rPr sz="1600" spc="45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gain</a:t>
            </a:r>
            <a:r>
              <a:rPr sz="1600" spc="90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factor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ts val="1900"/>
              </a:lnSpc>
              <a:tabLst>
                <a:tab pos="456565" algn="l"/>
              </a:tabLst>
            </a:pPr>
            <a:r>
              <a:rPr sz="1600" dirty="0">
                <a:latin typeface="Times New Roman"/>
                <a:cs typeface="Times New Roman"/>
              </a:rPr>
              <a:t>=	</a:t>
            </a:r>
            <a:r>
              <a:rPr sz="1600" spc="-25" dirty="0">
                <a:latin typeface="Times New Roman"/>
                <a:cs typeface="Times New Roman"/>
              </a:rPr>
              <a:t>mobile</a:t>
            </a:r>
            <a:r>
              <a:rPr sz="1600" spc="80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antenna</a:t>
            </a:r>
            <a:r>
              <a:rPr sz="1600" spc="7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height</a:t>
            </a:r>
            <a:r>
              <a:rPr sz="1600" spc="45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gain</a:t>
            </a:r>
            <a:r>
              <a:rPr sz="1600" spc="90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factor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ts val="1910"/>
              </a:lnSpc>
              <a:tabLst>
                <a:tab pos="456565" algn="l"/>
              </a:tabLst>
            </a:pPr>
            <a:r>
              <a:rPr sz="1600" dirty="0">
                <a:latin typeface="Times New Roman"/>
                <a:cs typeface="Times New Roman"/>
              </a:rPr>
              <a:t>=	</a:t>
            </a:r>
            <a:r>
              <a:rPr sz="1600" spc="-15" dirty="0">
                <a:latin typeface="Times New Roman"/>
                <a:cs typeface="Times New Roman"/>
              </a:rPr>
              <a:t>gain</a:t>
            </a:r>
            <a:r>
              <a:rPr sz="1600" spc="7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due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to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environment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742949" y="1492249"/>
            <a:ext cx="6083300" cy="3416300"/>
          </a:xfrm>
          <a:custGeom>
            <a:avLst/>
            <a:gdLst/>
            <a:ahLst/>
            <a:cxnLst/>
            <a:rect l="l" t="t" r="r" b="b"/>
            <a:pathLst>
              <a:path w="6083300" h="3416300">
                <a:moveTo>
                  <a:pt x="0" y="0"/>
                </a:moveTo>
                <a:lnTo>
                  <a:pt x="6083300" y="0"/>
                </a:lnTo>
                <a:lnTo>
                  <a:pt x="6083300" y="3416300"/>
                </a:lnTo>
                <a:lnTo>
                  <a:pt x="0" y="341630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736599" y="5302249"/>
            <a:ext cx="6068238" cy="1987021"/>
          </a:xfrm>
          <a:prstGeom prst="rect">
            <a:avLst/>
          </a:prstGeom>
        </p:spPr>
        <p:txBody>
          <a:bodyPr vert="horz" wrap="square" lIns="0" tIns="251460" rIns="0" bIns="0" rtlCol="0">
            <a:spAutoFit/>
          </a:bodyPr>
          <a:lstStyle/>
          <a:p>
            <a:pPr marL="92075" algn="ctr">
              <a:lnSpc>
                <a:spcPct val="100000"/>
              </a:lnSpc>
              <a:spcBef>
                <a:spcPts val="1980"/>
              </a:spcBef>
            </a:pPr>
            <a:endParaRPr sz="2700" dirty="0">
              <a:latin typeface="Times New Roman"/>
              <a:cs typeface="Times New Roman"/>
            </a:endParaRPr>
          </a:p>
          <a:p>
            <a:pPr marL="227965">
              <a:lnSpc>
                <a:spcPct val="100000"/>
              </a:lnSpc>
              <a:spcBef>
                <a:spcPts val="1395"/>
              </a:spcBef>
            </a:pPr>
            <a:r>
              <a:rPr sz="2000" b="1" spc="20" dirty="0">
                <a:solidFill>
                  <a:srgbClr val="FF0000"/>
                </a:solidFill>
                <a:latin typeface="Cambria"/>
                <a:cs typeface="Cambria"/>
              </a:rPr>
              <a:t>Okumura</a:t>
            </a:r>
            <a:r>
              <a:rPr sz="2000" b="1" spc="4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b="1" spc="50" dirty="0">
                <a:solidFill>
                  <a:srgbClr val="FF0000"/>
                </a:solidFill>
                <a:latin typeface="Cambria"/>
                <a:cs typeface="Cambria"/>
              </a:rPr>
              <a:t>Model</a:t>
            </a:r>
            <a:r>
              <a:rPr sz="2000" b="1" spc="7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b="1" spc="-15" dirty="0">
                <a:solidFill>
                  <a:srgbClr val="FF0000"/>
                </a:solidFill>
                <a:latin typeface="Cambria"/>
                <a:cs typeface="Cambria"/>
              </a:rPr>
              <a:t>for</a:t>
            </a:r>
            <a:r>
              <a:rPr sz="2000" b="1" spc="7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b="1" spc="5" dirty="0">
                <a:solidFill>
                  <a:srgbClr val="FF0000"/>
                </a:solidFill>
                <a:latin typeface="Cambria"/>
                <a:cs typeface="Cambria"/>
              </a:rPr>
              <a:t>Outdoor</a:t>
            </a:r>
            <a:r>
              <a:rPr sz="2000" b="1" spc="-3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b="1" spc="-25" dirty="0">
                <a:solidFill>
                  <a:srgbClr val="FF0000"/>
                </a:solidFill>
                <a:latin typeface="Cambria"/>
                <a:cs typeface="Cambria"/>
              </a:rPr>
              <a:t>Propagation</a:t>
            </a:r>
            <a:endParaRPr sz="2000" dirty="0">
              <a:latin typeface="Cambria"/>
              <a:cs typeface="Cambria"/>
            </a:endParaRPr>
          </a:p>
          <a:p>
            <a:pPr marL="312420" marR="518159">
              <a:lnSpc>
                <a:spcPct val="100000"/>
              </a:lnSpc>
              <a:spcBef>
                <a:spcPts val="1395"/>
              </a:spcBef>
            </a:pPr>
            <a:r>
              <a:rPr sz="2000" spc="-25" dirty="0">
                <a:latin typeface="Times New Roman"/>
                <a:cs typeface="Times New Roman"/>
              </a:rPr>
              <a:t>T</a:t>
            </a:r>
            <a:r>
              <a:rPr sz="2000" dirty="0">
                <a:latin typeface="Times New Roman"/>
                <a:cs typeface="Times New Roman"/>
              </a:rPr>
              <a:t>he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spc="30" dirty="0">
                <a:latin typeface="Times New Roman"/>
                <a:cs typeface="Times New Roman"/>
              </a:rPr>
              <a:t>fr</a:t>
            </a:r>
            <a:r>
              <a:rPr sz="2000" spc="10" dirty="0">
                <a:latin typeface="Times New Roman"/>
                <a:cs typeface="Times New Roman"/>
              </a:rPr>
              <a:t>e</a:t>
            </a:r>
            <a:r>
              <a:rPr sz="2000" dirty="0">
                <a:latin typeface="Times New Roman"/>
                <a:cs typeface="Times New Roman"/>
              </a:rPr>
              <a:t>e</a:t>
            </a:r>
            <a:r>
              <a:rPr sz="2000" spc="-90" dirty="0">
                <a:latin typeface="Times New Roman"/>
                <a:cs typeface="Times New Roman"/>
              </a:rPr>
              <a:t> </a:t>
            </a:r>
            <a:r>
              <a:rPr sz="2000" spc="20" dirty="0">
                <a:latin typeface="Times New Roman"/>
                <a:cs typeface="Times New Roman"/>
              </a:rPr>
              <a:t>s</a:t>
            </a:r>
            <a:r>
              <a:rPr sz="2000" dirty="0">
                <a:latin typeface="Times New Roman"/>
                <a:cs typeface="Times New Roman"/>
              </a:rPr>
              <a:t>p</a:t>
            </a:r>
            <a:r>
              <a:rPr sz="2000" spc="10" dirty="0">
                <a:latin typeface="Times New Roman"/>
                <a:cs typeface="Times New Roman"/>
              </a:rPr>
              <a:t>ac</a:t>
            </a:r>
            <a:r>
              <a:rPr sz="2000" dirty="0">
                <a:latin typeface="Times New Roman"/>
                <a:cs typeface="Times New Roman"/>
              </a:rPr>
              <a:t>e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</a:t>
            </a:r>
            <a:r>
              <a:rPr sz="2000" spc="10" dirty="0">
                <a:latin typeface="Times New Roman"/>
                <a:cs typeface="Times New Roman"/>
              </a:rPr>
              <a:t>a</a:t>
            </a:r>
            <a:r>
              <a:rPr sz="2000" spc="40" dirty="0">
                <a:latin typeface="Times New Roman"/>
                <a:cs typeface="Times New Roman"/>
              </a:rPr>
              <a:t>t</a:t>
            </a:r>
            <a:r>
              <a:rPr sz="2000" dirty="0">
                <a:latin typeface="Times New Roman"/>
                <a:cs typeface="Times New Roman"/>
              </a:rPr>
              <a:t>h</a:t>
            </a:r>
            <a:r>
              <a:rPr sz="2000" spc="-100" dirty="0">
                <a:latin typeface="Times New Roman"/>
                <a:cs typeface="Times New Roman"/>
              </a:rPr>
              <a:t> </a:t>
            </a:r>
            <a:r>
              <a:rPr sz="2000" spc="40" dirty="0">
                <a:latin typeface="Times New Roman"/>
                <a:cs typeface="Times New Roman"/>
              </a:rPr>
              <a:t>l</a:t>
            </a:r>
            <a:r>
              <a:rPr sz="2000" dirty="0">
                <a:latin typeface="Times New Roman"/>
                <a:cs typeface="Times New Roman"/>
              </a:rPr>
              <a:t>o</a:t>
            </a:r>
            <a:r>
              <a:rPr sz="2000" spc="20" dirty="0">
                <a:latin typeface="Times New Roman"/>
                <a:cs typeface="Times New Roman"/>
              </a:rPr>
              <a:t>s</a:t>
            </a:r>
            <a:r>
              <a:rPr sz="2000" dirty="0">
                <a:latin typeface="Times New Roman"/>
                <a:cs typeface="Times New Roman"/>
              </a:rPr>
              <a:t>s </a:t>
            </a:r>
            <a:r>
              <a:rPr sz="2000" spc="-8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L</a:t>
            </a:r>
            <a:r>
              <a:rPr sz="1950" baseline="-17094" dirty="0">
                <a:latin typeface="Times New Roman"/>
                <a:cs typeface="Times New Roman"/>
              </a:rPr>
              <a:t>F </a:t>
            </a:r>
            <a:r>
              <a:rPr sz="1950" spc="-112" baseline="-17094" dirty="0">
                <a:latin typeface="Times New Roman"/>
                <a:cs typeface="Times New Roman"/>
              </a:rPr>
              <a:t> </a:t>
            </a:r>
            <a:r>
              <a:rPr sz="2000" spc="10" dirty="0">
                <a:latin typeface="Times New Roman"/>
                <a:cs typeface="Times New Roman"/>
              </a:rPr>
              <a:t>ca</a:t>
            </a:r>
            <a:r>
              <a:rPr sz="2000" dirty="0">
                <a:latin typeface="Times New Roman"/>
                <a:cs typeface="Times New Roman"/>
              </a:rPr>
              <a:t>n be</a:t>
            </a:r>
            <a:r>
              <a:rPr sz="2000" spc="10" dirty="0">
                <a:latin typeface="Times New Roman"/>
                <a:cs typeface="Times New Roman"/>
              </a:rPr>
              <a:t> ca</a:t>
            </a:r>
            <a:r>
              <a:rPr sz="2000" spc="40" dirty="0">
                <a:latin typeface="Times New Roman"/>
                <a:cs typeface="Times New Roman"/>
              </a:rPr>
              <a:t>l</a:t>
            </a:r>
            <a:r>
              <a:rPr sz="2000" spc="10" dirty="0">
                <a:latin typeface="Times New Roman"/>
                <a:cs typeface="Times New Roman"/>
              </a:rPr>
              <a:t>c</a:t>
            </a:r>
            <a:r>
              <a:rPr sz="2000" dirty="0">
                <a:latin typeface="Times New Roman"/>
                <a:cs typeface="Times New Roman"/>
              </a:rPr>
              <a:t>u</a:t>
            </a:r>
            <a:r>
              <a:rPr sz="2000" spc="40" dirty="0">
                <a:latin typeface="Times New Roman"/>
                <a:cs typeface="Times New Roman"/>
              </a:rPr>
              <a:t>l</a:t>
            </a:r>
            <a:r>
              <a:rPr sz="2000" spc="10" dirty="0">
                <a:latin typeface="Times New Roman"/>
                <a:cs typeface="Times New Roman"/>
              </a:rPr>
              <a:t>a</a:t>
            </a:r>
            <a:r>
              <a:rPr sz="2000" spc="40" dirty="0">
                <a:latin typeface="Times New Roman"/>
                <a:cs typeface="Times New Roman"/>
              </a:rPr>
              <a:t>t</a:t>
            </a:r>
            <a:r>
              <a:rPr sz="2000" spc="10" dirty="0">
                <a:latin typeface="Times New Roman"/>
                <a:cs typeface="Times New Roman"/>
              </a:rPr>
              <a:t>e</a:t>
            </a:r>
            <a:r>
              <a:rPr sz="2000" dirty="0">
                <a:latin typeface="Times New Roman"/>
                <a:cs typeface="Times New Roman"/>
              </a:rPr>
              <a:t>d</a:t>
            </a:r>
            <a:r>
              <a:rPr sz="2000" spc="-2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</a:t>
            </a:r>
            <a:r>
              <a:rPr sz="2000" spc="20" dirty="0">
                <a:latin typeface="Times New Roman"/>
                <a:cs typeface="Times New Roman"/>
              </a:rPr>
              <a:t>s</a:t>
            </a:r>
            <a:r>
              <a:rPr sz="2000" spc="40" dirty="0">
                <a:latin typeface="Times New Roman"/>
                <a:cs typeface="Times New Roman"/>
              </a:rPr>
              <a:t>i</a:t>
            </a:r>
            <a:r>
              <a:rPr sz="2000" dirty="0">
                <a:latin typeface="Times New Roman"/>
                <a:cs typeface="Times New Roman"/>
              </a:rPr>
              <a:t>ng  </a:t>
            </a:r>
            <a:r>
              <a:rPr sz="2000" spc="10" dirty="0">
                <a:latin typeface="Times New Roman"/>
                <a:cs typeface="Times New Roman"/>
              </a:rPr>
              <a:t>equation</a:t>
            </a:r>
            <a:endParaRPr sz="2000" dirty="0">
              <a:latin typeface="Times New Roman"/>
              <a:cs typeface="Times New Roman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736599" y="5753100"/>
            <a:ext cx="6096000" cy="3429000"/>
            <a:chOff x="736599" y="5753100"/>
            <a:chExt cx="6096000" cy="3429000"/>
          </a:xfrm>
        </p:grpSpPr>
        <p:pic>
          <p:nvPicPr>
            <p:cNvPr id="22" name="object 2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08200" y="7543800"/>
              <a:ext cx="2317750" cy="698500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742949" y="5759450"/>
              <a:ext cx="6083300" cy="3416300"/>
            </a:xfrm>
            <a:custGeom>
              <a:avLst/>
              <a:gdLst/>
              <a:ahLst/>
              <a:cxnLst/>
              <a:rect l="l" t="t" r="r" b="b"/>
              <a:pathLst>
                <a:path w="6083300" h="3416300">
                  <a:moveTo>
                    <a:pt x="0" y="0"/>
                  </a:moveTo>
                  <a:lnTo>
                    <a:pt x="6083300" y="0"/>
                  </a:lnTo>
                  <a:lnTo>
                    <a:pt x="6083300" y="3416300"/>
                  </a:lnTo>
                  <a:lnTo>
                    <a:pt x="0" y="34163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54011" y="455423"/>
            <a:ext cx="508634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40" dirty="0">
                <a:latin typeface="Calibri"/>
                <a:cs typeface="Calibri"/>
              </a:rPr>
              <a:t>8</a:t>
            </a:r>
            <a:r>
              <a:rPr sz="1300" spc="-5" dirty="0">
                <a:latin typeface="Calibri"/>
                <a:cs typeface="Calibri"/>
              </a:rPr>
              <a:t>/</a:t>
            </a:r>
            <a:r>
              <a:rPr sz="1300" spc="40" dirty="0">
                <a:latin typeface="Calibri"/>
                <a:cs typeface="Calibri"/>
              </a:rPr>
              <a:t>5</a:t>
            </a:r>
            <a:r>
              <a:rPr sz="1300" spc="-5" dirty="0">
                <a:latin typeface="Calibri"/>
                <a:cs typeface="Calibri"/>
              </a:rPr>
              <a:t>/</a:t>
            </a:r>
            <a:r>
              <a:rPr sz="1300" spc="40" dirty="0">
                <a:latin typeface="Calibri"/>
                <a:cs typeface="Calibri"/>
              </a:rPr>
              <a:t>20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4294967295"/>
          </p:nvPr>
        </p:nvSpPr>
        <p:spPr>
          <a:xfrm>
            <a:off x="7300913" y="9974263"/>
            <a:ext cx="255587" cy="227012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30</a:t>
            </a:fld>
            <a:endParaRPr dirty="0"/>
          </a:p>
        </p:txBody>
      </p:sp>
      <p:sp>
        <p:nvSpPr>
          <p:cNvPr id="8" name="object 8"/>
          <p:cNvSpPr txBox="1"/>
          <p:nvPr/>
        </p:nvSpPr>
        <p:spPr>
          <a:xfrm>
            <a:off x="719262" y="1405579"/>
            <a:ext cx="6045835" cy="2562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7645">
              <a:lnSpc>
                <a:spcPct val="100000"/>
              </a:lnSpc>
              <a:spcBef>
                <a:spcPts val="100"/>
              </a:spcBef>
            </a:pPr>
            <a:r>
              <a:rPr sz="2000" b="1" spc="20" dirty="0">
                <a:solidFill>
                  <a:srgbClr val="FF0000"/>
                </a:solidFill>
                <a:latin typeface="Cambria"/>
                <a:cs typeface="Cambria"/>
              </a:rPr>
              <a:t>Okumura</a:t>
            </a:r>
            <a:r>
              <a:rPr sz="2000" b="1" spc="4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b="1" spc="50" dirty="0">
                <a:solidFill>
                  <a:srgbClr val="FF0000"/>
                </a:solidFill>
                <a:latin typeface="Cambria"/>
                <a:cs typeface="Cambria"/>
              </a:rPr>
              <a:t>Model</a:t>
            </a:r>
            <a:r>
              <a:rPr sz="2000" b="1" spc="7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b="1" spc="-15" dirty="0">
                <a:solidFill>
                  <a:srgbClr val="FF0000"/>
                </a:solidFill>
                <a:latin typeface="Cambria"/>
                <a:cs typeface="Cambria"/>
              </a:rPr>
              <a:t>for</a:t>
            </a:r>
            <a:r>
              <a:rPr sz="2000" b="1" spc="7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b="1" spc="5" dirty="0">
                <a:solidFill>
                  <a:srgbClr val="FF0000"/>
                </a:solidFill>
                <a:latin typeface="Cambria"/>
                <a:cs typeface="Cambria"/>
              </a:rPr>
              <a:t>Outdoor</a:t>
            </a:r>
            <a:r>
              <a:rPr sz="2000" b="1" spc="-3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b="1" spc="-25" dirty="0">
                <a:solidFill>
                  <a:srgbClr val="FF0000"/>
                </a:solidFill>
                <a:latin typeface="Cambria"/>
                <a:cs typeface="Cambria"/>
              </a:rPr>
              <a:t>Propagation</a:t>
            </a:r>
            <a:endParaRPr sz="2000" dirty="0">
              <a:latin typeface="Cambria"/>
              <a:cs typeface="Cambria"/>
            </a:endParaRPr>
          </a:p>
          <a:p>
            <a:pPr marL="389255" marR="478790" indent="-228600">
              <a:lnSpc>
                <a:spcPct val="100000"/>
              </a:lnSpc>
              <a:spcBef>
                <a:spcPts val="1385"/>
              </a:spcBef>
              <a:buFont typeface="Wingdings"/>
              <a:buChar char=""/>
              <a:tabLst>
                <a:tab pos="389890" algn="l"/>
              </a:tabLst>
            </a:pPr>
            <a:r>
              <a:rPr sz="1500" spc="-20" dirty="0">
                <a:latin typeface="Times New Roman"/>
                <a:cs typeface="Times New Roman"/>
              </a:rPr>
              <a:t>T</a:t>
            </a:r>
            <a:r>
              <a:rPr sz="1500" spc="45" dirty="0">
                <a:latin typeface="Times New Roman"/>
                <a:cs typeface="Times New Roman"/>
              </a:rPr>
              <a:t>h</a:t>
            </a:r>
            <a:r>
              <a:rPr sz="1500" dirty="0">
                <a:latin typeface="Times New Roman"/>
                <a:cs typeface="Times New Roman"/>
              </a:rPr>
              <a:t>e</a:t>
            </a:r>
            <a:r>
              <a:rPr sz="1500" spc="-4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B</a:t>
            </a:r>
            <a:r>
              <a:rPr sz="1500" spc="30" dirty="0">
                <a:latin typeface="Times New Roman"/>
                <a:cs typeface="Times New Roman"/>
              </a:rPr>
              <a:t>a</a:t>
            </a:r>
            <a:r>
              <a:rPr sz="1500" spc="15" dirty="0">
                <a:latin typeface="Times New Roman"/>
                <a:cs typeface="Times New Roman"/>
              </a:rPr>
              <a:t>s</a:t>
            </a:r>
            <a:r>
              <a:rPr sz="1500" spc="-20" dirty="0">
                <a:latin typeface="Times New Roman"/>
                <a:cs typeface="Times New Roman"/>
              </a:rPr>
              <a:t>i</a:t>
            </a:r>
            <a:r>
              <a:rPr sz="1500" dirty="0">
                <a:latin typeface="Times New Roman"/>
                <a:cs typeface="Times New Roman"/>
              </a:rPr>
              <a:t>c</a:t>
            </a:r>
            <a:r>
              <a:rPr sz="1500" spc="-45" dirty="0">
                <a:latin typeface="Times New Roman"/>
                <a:cs typeface="Times New Roman"/>
              </a:rPr>
              <a:t> </a:t>
            </a:r>
            <a:r>
              <a:rPr sz="1500" spc="-35" dirty="0">
                <a:latin typeface="Times New Roman"/>
                <a:cs typeface="Times New Roman"/>
              </a:rPr>
              <a:t>M</a:t>
            </a:r>
            <a:r>
              <a:rPr sz="1500" spc="30" dirty="0">
                <a:latin typeface="Times New Roman"/>
                <a:cs typeface="Times New Roman"/>
              </a:rPr>
              <a:t>e</a:t>
            </a:r>
            <a:r>
              <a:rPr sz="1500" spc="50" dirty="0">
                <a:latin typeface="Times New Roman"/>
                <a:cs typeface="Times New Roman"/>
              </a:rPr>
              <a:t>d</a:t>
            </a:r>
            <a:r>
              <a:rPr sz="1500" spc="-20" dirty="0">
                <a:latin typeface="Times New Roman"/>
                <a:cs typeface="Times New Roman"/>
              </a:rPr>
              <a:t>i</a:t>
            </a:r>
            <a:r>
              <a:rPr sz="1500" spc="30" dirty="0">
                <a:latin typeface="Times New Roman"/>
                <a:cs typeface="Times New Roman"/>
              </a:rPr>
              <a:t>a</a:t>
            </a:r>
            <a:r>
              <a:rPr sz="1500" dirty="0">
                <a:latin typeface="Times New Roman"/>
                <a:cs typeface="Times New Roman"/>
              </a:rPr>
              <a:t>n</a:t>
            </a:r>
            <a:r>
              <a:rPr sz="1500" spc="-125" dirty="0">
                <a:latin typeface="Times New Roman"/>
                <a:cs typeface="Times New Roman"/>
              </a:rPr>
              <a:t> </a:t>
            </a:r>
            <a:r>
              <a:rPr sz="1500" spc="15" dirty="0">
                <a:latin typeface="Times New Roman"/>
                <a:cs typeface="Times New Roman"/>
              </a:rPr>
              <a:t>A</a:t>
            </a:r>
            <a:r>
              <a:rPr sz="1500" spc="-20" dirty="0">
                <a:latin typeface="Times New Roman"/>
                <a:cs typeface="Times New Roman"/>
              </a:rPr>
              <a:t>tt</a:t>
            </a:r>
            <a:r>
              <a:rPr sz="1500" spc="30" dirty="0">
                <a:latin typeface="Times New Roman"/>
                <a:cs typeface="Times New Roman"/>
              </a:rPr>
              <a:t>e</a:t>
            </a:r>
            <a:r>
              <a:rPr sz="1500" spc="50" dirty="0">
                <a:latin typeface="Times New Roman"/>
                <a:cs typeface="Times New Roman"/>
              </a:rPr>
              <a:t>nu</a:t>
            </a:r>
            <a:r>
              <a:rPr sz="1500" spc="30" dirty="0">
                <a:latin typeface="Times New Roman"/>
                <a:cs typeface="Times New Roman"/>
              </a:rPr>
              <a:t>a</a:t>
            </a:r>
            <a:r>
              <a:rPr sz="1500" spc="-20" dirty="0">
                <a:latin typeface="Times New Roman"/>
                <a:cs typeface="Times New Roman"/>
              </a:rPr>
              <a:t>ti</a:t>
            </a:r>
            <a:r>
              <a:rPr sz="1500" spc="50" dirty="0">
                <a:latin typeface="Times New Roman"/>
                <a:cs typeface="Times New Roman"/>
              </a:rPr>
              <a:t>o</a:t>
            </a:r>
            <a:r>
              <a:rPr sz="1500" dirty="0">
                <a:latin typeface="Times New Roman"/>
                <a:cs typeface="Times New Roman"/>
              </a:rPr>
              <a:t>n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(</a:t>
            </a:r>
            <a:r>
              <a:rPr sz="1500" spc="-175" dirty="0">
                <a:latin typeface="Times New Roman"/>
                <a:cs typeface="Times New Roman"/>
              </a:rPr>
              <a:t> </a:t>
            </a:r>
            <a:r>
              <a:rPr sz="1500" spc="10" dirty="0">
                <a:latin typeface="Times New Roman"/>
                <a:cs typeface="Times New Roman"/>
              </a:rPr>
              <a:t>A</a:t>
            </a:r>
            <a:r>
              <a:rPr sz="1500" spc="30" baseline="-16666" dirty="0">
                <a:latin typeface="Times New Roman"/>
                <a:cs typeface="Times New Roman"/>
              </a:rPr>
              <a:t>m</a:t>
            </a:r>
            <a:r>
              <a:rPr sz="1500" baseline="-16666" dirty="0">
                <a:latin typeface="Times New Roman"/>
                <a:cs typeface="Times New Roman"/>
              </a:rPr>
              <a:t>u</a:t>
            </a:r>
            <a:r>
              <a:rPr sz="1500" spc="75" baseline="-16666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)</a:t>
            </a:r>
            <a:r>
              <a:rPr sz="1500" spc="25" dirty="0">
                <a:latin typeface="Times New Roman"/>
                <a:cs typeface="Times New Roman"/>
              </a:rPr>
              <a:t> </a:t>
            </a:r>
            <a:r>
              <a:rPr sz="1500" spc="-20" dirty="0">
                <a:latin typeface="Times New Roman"/>
                <a:cs typeface="Times New Roman"/>
              </a:rPr>
              <a:t>i</a:t>
            </a:r>
            <a:r>
              <a:rPr sz="1500" dirty="0">
                <a:latin typeface="Times New Roman"/>
                <a:cs typeface="Times New Roman"/>
              </a:rPr>
              <a:t>s</a:t>
            </a:r>
            <a:r>
              <a:rPr sz="1500" spc="-60" dirty="0">
                <a:latin typeface="Times New Roman"/>
                <a:cs typeface="Times New Roman"/>
              </a:rPr>
              <a:t> </a:t>
            </a:r>
            <a:r>
              <a:rPr sz="1500" spc="-20" dirty="0">
                <a:latin typeface="Times New Roman"/>
                <a:cs typeface="Times New Roman"/>
              </a:rPr>
              <a:t>t</a:t>
            </a:r>
            <a:r>
              <a:rPr sz="1500" spc="50" dirty="0">
                <a:latin typeface="Times New Roman"/>
                <a:cs typeface="Times New Roman"/>
              </a:rPr>
              <a:t>h</a:t>
            </a:r>
            <a:r>
              <a:rPr sz="1500" dirty="0">
                <a:latin typeface="Times New Roman"/>
                <a:cs typeface="Times New Roman"/>
              </a:rPr>
              <a:t>e</a:t>
            </a:r>
            <a:r>
              <a:rPr sz="1500" spc="55" dirty="0">
                <a:latin typeface="Times New Roman"/>
                <a:cs typeface="Times New Roman"/>
              </a:rPr>
              <a:t> </a:t>
            </a:r>
            <a:r>
              <a:rPr sz="1500" spc="30" dirty="0">
                <a:latin typeface="Times New Roman"/>
                <a:cs typeface="Times New Roman"/>
              </a:rPr>
              <a:t>a</a:t>
            </a:r>
            <a:r>
              <a:rPr sz="1500" spc="50" dirty="0">
                <a:latin typeface="Times New Roman"/>
                <a:cs typeface="Times New Roman"/>
              </a:rPr>
              <a:t>dd</a:t>
            </a:r>
            <a:r>
              <a:rPr sz="1500" spc="-20" dirty="0">
                <a:latin typeface="Times New Roman"/>
                <a:cs typeface="Times New Roman"/>
              </a:rPr>
              <a:t>iti</a:t>
            </a:r>
            <a:r>
              <a:rPr sz="1500" spc="50" dirty="0">
                <a:latin typeface="Times New Roman"/>
                <a:cs typeface="Times New Roman"/>
              </a:rPr>
              <a:t>on</a:t>
            </a:r>
            <a:r>
              <a:rPr sz="1500" spc="30" dirty="0">
                <a:latin typeface="Times New Roman"/>
                <a:cs typeface="Times New Roman"/>
              </a:rPr>
              <a:t>a</a:t>
            </a:r>
            <a:r>
              <a:rPr sz="1500" dirty="0">
                <a:latin typeface="Times New Roman"/>
                <a:cs typeface="Times New Roman"/>
              </a:rPr>
              <a:t>l</a:t>
            </a:r>
            <a:r>
              <a:rPr sz="1500" spc="-95" dirty="0">
                <a:latin typeface="Times New Roman"/>
                <a:cs typeface="Times New Roman"/>
              </a:rPr>
              <a:t> </a:t>
            </a:r>
            <a:r>
              <a:rPr sz="1500" spc="45" dirty="0">
                <a:latin typeface="Times New Roman"/>
                <a:cs typeface="Times New Roman"/>
              </a:rPr>
              <a:t>p</a:t>
            </a:r>
            <a:r>
              <a:rPr sz="1500" dirty="0">
                <a:latin typeface="Times New Roman"/>
                <a:cs typeface="Times New Roman"/>
              </a:rPr>
              <a:t>r</a:t>
            </a:r>
            <a:r>
              <a:rPr sz="1500" spc="45" dirty="0">
                <a:latin typeface="Times New Roman"/>
                <a:cs typeface="Times New Roman"/>
              </a:rPr>
              <a:t>op</a:t>
            </a:r>
            <a:r>
              <a:rPr sz="1500" spc="30" dirty="0">
                <a:latin typeface="Times New Roman"/>
                <a:cs typeface="Times New Roman"/>
              </a:rPr>
              <a:t>a</a:t>
            </a:r>
            <a:r>
              <a:rPr sz="1500" spc="-55" dirty="0">
                <a:latin typeface="Times New Roman"/>
                <a:cs typeface="Times New Roman"/>
              </a:rPr>
              <a:t>g</a:t>
            </a:r>
            <a:r>
              <a:rPr sz="1500" spc="30" dirty="0">
                <a:latin typeface="Times New Roman"/>
                <a:cs typeface="Times New Roman"/>
              </a:rPr>
              <a:t>a</a:t>
            </a:r>
            <a:r>
              <a:rPr sz="1500" spc="-20" dirty="0">
                <a:latin typeface="Times New Roman"/>
                <a:cs typeface="Times New Roman"/>
              </a:rPr>
              <a:t>ti</a:t>
            </a:r>
            <a:r>
              <a:rPr sz="1500" spc="45" dirty="0">
                <a:latin typeface="Times New Roman"/>
                <a:cs typeface="Times New Roman"/>
              </a:rPr>
              <a:t>on  </a:t>
            </a:r>
            <a:r>
              <a:rPr sz="1500" spc="-20" dirty="0">
                <a:latin typeface="Times New Roman"/>
                <a:cs typeface="Times New Roman"/>
              </a:rPr>
              <a:t>l</a:t>
            </a:r>
            <a:r>
              <a:rPr sz="1500" spc="50" dirty="0">
                <a:latin typeface="Times New Roman"/>
                <a:cs typeface="Times New Roman"/>
              </a:rPr>
              <a:t>o</a:t>
            </a:r>
            <a:r>
              <a:rPr sz="1500" spc="15" dirty="0">
                <a:latin typeface="Times New Roman"/>
                <a:cs typeface="Times New Roman"/>
              </a:rPr>
              <a:t>ss</a:t>
            </a:r>
            <a:r>
              <a:rPr sz="1500" spc="30" dirty="0">
                <a:latin typeface="Times New Roman"/>
                <a:cs typeface="Times New Roman"/>
              </a:rPr>
              <a:t>e</a:t>
            </a:r>
            <a:r>
              <a:rPr sz="1500" dirty="0">
                <a:latin typeface="Times New Roman"/>
                <a:cs typeface="Times New Roman"/>
              </a:rPr>
              <a:t>s</a:t>
            </a:r>
            <a:r>
              <a:rPr sz="1500" spc="-60" dirty="0">
                <a:latin typeface="Times New Roman"/>
                <a:cs typeface="Times New Roman"/>
              </a:rPr>
              <a:t> </a:t>
            </a:r>
            <a:r>
              <a:rPr sz="1500" spc="50" dirty="0">
                <a:latin typeface="Times New Roman"/>
                <a:cs typeface="Times New Roman"/>
              </a:rPr>
              <a:t>du</a:t>
            </a:r>
            <a:r>
              <a:rPr sz="1500" dirty="0">
                <a:latin typeface="Times New Roman"/>
                <a:cs typeface="Times New Roman"/>
              </a:rPr>
              <a:t>e</a:t>
            </a:r>
            <a:r>
              <a:rPr sz="1500" spc="-45" dirty="0">
                <a:latin typeface="Times New Roman"/>
                <a:cs typeface="Times New Roman"/>
              </a:rPr>
              <a:t> </a:t>
            </a:r>
            <a:r>
              <a:rPr sz="1500" spc="-20" dirty="0">
                <a:latin typeface="Times New Roman"/>
                <a:cs typeface="Times New Roman"/>
              </a:rPr>
              <a:t>t</a:t>
            </a:r>
            <a:r>
              <a:rPr sz="1500" dirty="0">
                <a:latin typeface="Times New Roman"/>
                <a:cs typeface="Times New Roman"/>
              </a:rPr>
              <a:t>o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spc="-20" dirty="0">
                <a:latin typeface="Times New Roman"/>
                <a:cs typeface="Times New Roman"/>
              </a:rPr>
              <a:t>t</a:t>
            </a:r>
            <a:r>
              <a:rPr sz="1500" spc="50" dirty="0">
                <a:latin typeface="Times New Roman"/>
                <a:cs typeface="Times New Roman"/>
              </a:rPr>
              <a:t>h</a:t>
            </a:r>
            <a:r>
              <a:rPr sz="1500" dirty="0">
                <a:latin typeface="Times New Roman"/>
                <a:cs typeface="Times New Roman"/>
              </a:rPr>
              <a:t>e</a:t>
            </a:r>
            <a:r>
              <a:rPr sz="1500" spc="-45" dirty="0">
                <a:latin typeface="Times New Roman"/>
                <a:cs typeface="Times New Roman"/>
              </a:rPr>
              <a:t> </a:t>
            </a:r>
            <a:r>
              <a:rPr sz="1500" spc="15" dirty="0">
                <a:latin typeface="Times New Roman"/>
                <a:cs typeface="Times New Roman"/>
              </a:rPr>
              <a:t>s</a:t>
            </a:r>
            <a:r>
              <a:rPr sz="1500" spc="-20" dirty="0">
                <a:latin typeface="Times New Roman"/>
                <a:cs typeface="Times New Roman"/>
              </a:rPr>
              <a:t>i</a:t>
            </a:r>
            <a:r>
              <a:rPr sz="1500" spc="50" dirty="0">
                <a:latin typeface="Times New Roman"/>
                <a:cs typeface="Times New Roman"/>
              </a:rPr>
              <a:t>gn</a:t>
            </a:r>
            <a:r>
              <a:rPr sz="1500" spc="30" dirty="0">
                <a:latin typeface="Times New Roman"/>
                <a:cs typeface="Times New Roman"/>
              </a:rPr>
              <a:t>a</a:t>
            </a:r>
            <a:r>
              <a:rPr sz="1500" dirty="0">
                <a:latin typeface="Times New Roman"/>
                <a:cs typeface="Times New Roman"/>
              </a:rPr>
              <a:t>l</a:t>
            </a:r>
            <a:r>
              <a:rPr sz="1500" spc="-95" dirty="0">
                <a:latin typeface="Times New Roman"/>
                <a:cs typeface="Times New Roman"/>
              </a:rPr>
              <a:t> </a:t>
            </a:r>
            <a:r>
              <a:rPr sz="1500" spc="50" dirty="0">
                <a:latin typeface="Times New Roman"/>
                <a:cs typeface="Times New Roman"/>
              </a:rPr>
              <a:t>p</a:t>
            </a:r>
            <a:r>
              <a:rPr sz="1500" dirty="0">
                <a:latin typeface="Times New Roman"/>
                <a:cs typeface="Times New Roman"/>
              </a:rPr>
              <a:t>r</a:t>
            </a:r>
            <a:r>
              <a:rPr sz="1500" spc="50" dirty="0">
                <a:latin typeface="Times New Roman"/>
                <a:cs typeface="Times New Roman"/>
              </a:rPr>
              <a:t>op</a:t>
            </a:r>
            <a:r>
              <a:rPr sz="1500" spc="30" dirty="0">
                <a:latin typeface="Times New Roman"/>
                <a:cs typeface="Times New Roman"/>
              </a:rPr>
              <a:t>a</a:t>
            </a:r>
            <a:r>
              <a:rPr sz="1500" spc="50" dirty="0">
                <a:latin typeface="Times New Roman"/>
                <a:cs typeface="Times New Roman"/>
              </a:rPr>
              <a:t>g</a:t>
            </a:r>
            <a:r>
              <a:rPr sz="1500" spc="30" dirty="0">
                <a:latin typeface="Times New Roman"/>
                <a:cs typeface="Times New Roman"/>
              </a:rPr>
              <a:t>a</a:t>
            </a:r>
            <a:r>
              <a:rPr sz="1500" spc="-20" dirty="0">
                <a:latin typeface="Times New Roman"/>
                <a:cs typeface="Times New Roman"/>
              </a:rPr>
              <a:t>ti</a:t>
            </a:r>
            <a:r>
              <a:rPr sz="1500" spc="-50" dirty="0">
                <a:latin typeface="Times New Roman"/>
                <a:cs typeface="Times New Roman"/>
              </a:rPr>
              <a:t>o</a:t>
            </a:r>
            <a:r>
              <a:rPr sz="1500" dirty="0">
                <a:latin typeface="Times New Roman"/>
                <a:cs typeface="Times New Roman"/>
              </a:rPr>
              <a:t>n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spc="-20" dirty="0">
                <a:latin typeface="Times New Roman"/>
                <a:cs typeface="Times New Roman"/>
              </a:rPr>
              <a:t>i</a:t>
            </a:r>
            <a:r>
              <a:rPr sz="1500" dirty="0">
                <a:latin typeface="Times New Roman"/>
                <a:cs typeface="Times New Roman"/>
              </a:rPr>
              <a:t>n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</a:t>
            </a:r>
            <a:r>
              <a:rPr sz="1500" spc="-45" dirty="0">
                <a:latin typeface="Times New Roman"/>
                <a:cs typeface="Times New Roman"/>
              </a:rPr>
              <a:t> </a:t>
            </a:r>
            <a:r>
              <a:rPr sz="1500" spc="-20" dirty="0">
                <a:latin typeface="Times New Roman"/>
                <a:cs typeface="Times New Roman"/>
              </a:rPr>
              <a:t>t</a:t>
            </a:r>
            <a:r>
              <a:rPr sz="1500" spc="30" dirty="0">
                <a:latin typeface="Times New Roman"/>
                <a:cs typeface="Times New Roman"/>
              </a:rPr>
              <a:t>e</a:t>
            </a:r>
            <a:r>
              <a:rPr sz="1500" dirty="0">
                <a:latin typeface="Times New Roman"/>
                <a:cs typeface="Times New Roman"/>
              </a:rPr>
              <a:t>rr</a:t>
            </a:r>
            <a:r>
              <a:rPr sz="1500" spc="30" dirty="0">
                <a:latin typeface="Times New Roman"/>
                <a:cs typeface="Times New Roman"/>
              </a:rPr>
              <a:t>e</a:t>
            </a:r>
            <a:r>
              <a:rPr sz="1500" spc="15" dirty="0">
                <a:latin typeface="Times New Roman"/>
                <a:cs typeface="Times New Roman"/>
              </a:rPr>
              <a:t>s</a:t>
            </a:r>
            <a:r>
              <a:rPr sz="1500" spc="-20" dirty="0">
                <a:latin typeface="Times New Roman"/>
                <a:cs typeface="Times New Roman"/>
              </a:rPr>
              <a:t>t</a:t>
            </a:r>
            <a:r>
              <a:rPr sz="1500" dirty="0">
                <a:latin typeface="Times New Roman"/>
                <a:cs typeface="Times New Roman"/>
              </a:rPr>
              <a:t>r</a:t>
            </a:r>
            <a:r>
              <a:rPr sz="1500" spc="-20" dirty="0">
                <a:latin typeface="Times New Roman"/>
                <a:cs typeface="Times New Roman"/>
              </a:rPr>
              <a:t>i</a:t>
            </a:r>
            <a:r>
              <a:rPr sz="1500" spc="30" dirty="0">
                <a:latin typeface="Times New Roman"/>
                <a:cs typeface="Times New Roman"/>
              </a:rPr>
              <a:t>a</a:t>
            </a:r>
            <a:r>
              <a:rPr sz="1500" dirty="0">
                <a:latin typeface="Times New Roman"/>
                <a:cs typeface="Times New Roman"/>
              </a:rPr>
              <a:t>l</a:t>
            </a:r>
            <a:r>
              <a:rPr sz="1500" spc="-95" dirty="0">
                <a:latin typeface="Times New Roman"/>
                <a:cs typeface="Times New Roman"/>
              </a:rPr>
              <a:t> </a:t>
            </a:r>
            <a:r>
              <a:rPr sz="1500" spc="30" dirty="0">
                <a:latin typeface="Times New Roman"/>
                <a:cs typeface="Times New Roman"/>
              </a:rPr>
              <a:t>e</a:t>
            </a:r>
            <a:r>
              <a:rPr sz="1500" spc="50" dirty="0">
                <a:latin typeface="Times New Roman"/>
                <a:cs typeface="Times New Roman"/>
              </a:rPr>
              <a:t>nv</a:t>
            </a:r>
            <a:r>
              <a:rPr sz="1500" spc="-20" dirty="0">
                <a:latin typeface="Times New Roman"/>
                <a:cs typeface="Times New Roman"/>
              </a:rPr>
              <a:t>i</a:t>
            </a:r>
            <a:r>
              <a:rPr sz="1500" dirty="0">
                <a:latin typeface="Times New Roman"/>
                <a:cs typeface="Times New Roman"/>
              </a:rPr>
              <a:t>r</a:t>
            </a:r>
            <a:r>
              <a:rPr sz="1500" spc="50" dirty="0">
                <a:latin typeface="Times New Roman"/>
                <a:cs typeface="Times New Roman"/>
              </a:rPr>
              <a:t>on</a:t>
            </a:r>
            <a:r>
              <a:rPr sz="1500" spc="30" dirty="0">
                <a:latin typeface="Times New Roman"/>
                <a:cs typeface="Times New Roman"/>
              </a:rPr>
              <a:t>m</a:t>
            </a:r>
            <a:r>
              <a:rPr sz="1500" spc="-70" dirty="0">
                <a:latin typeface="Times New Roman"/>
                <a:cs typeface="Times New Roman"/>
              </a:rPr>
              <a:t>e</a:t>
            </a:r>
            <a:r>
              <a:rPr sz="1500" spc="50" dirty="0">
                <a:latin typeface="Times New Roman"/>
                <a:cs typeface="Times New Roman"/>
              </a:rPr>
              <a:t>n</a:t>
            </a:r>
            <a:r>
              <a:rPr sz="1500" spc="-20" dirty="0">
                <a:latin typeface="Times New Roman"/>
                <a:cs typeface="Times New Roman"/>
              </a:rPr>
              <a:t>t.</a:t>
            </a:r>
            <a:endParaRPr sz="1500" dirty="0">
              <a:latin typeface="Times New Roman"/>
              <a:cs typeface="Times New Roman"/>
            </a:endParaRPr>
          </a:p>
          <a:p>
            <a:pPr marL="389255" indent="-229235">
              <a:lnSpc>
                <a:spcPct val="100000"/>
              </a:lnSpc>
              <a:buFont typeface="Wingdings"/>
              <a:buChar char=""/>
              <a:tabLst>
                <a:tab pos="389890" algn="l"/>
              </a:tabLst>
            </a:pPr>
            <a:r>
              <a:rPr sz="1500" spc="5" dirty="0">
                <a:latin typeface="Times New Roman"/>
                <a:cs typeface="Times New Roman"/>
              </a:rPr>
              <a:t>On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spc="10" dirty="0">
                <a:latin typeface="Times New Roman"/>
                <a:cs typeface="Times New Roman"/>
              </a:rPr>
              <a:t>the</a:t>
            </a:r>
            <a:r>
              <a:rPr sz="1500" spc="-45" dirty="0">
                <a:latin typeface="Times New Roman"/>
                <a:cs typeface="Times New Roman"/>
              </a:rPr>
              <a:t> </a:t>
            </a:r>
            <a:r>
              <a:rPr sz="1500" spc="20" dirty="0">
                <a:latin typeface="Times New Roman"/>
                <a:cs typeface="Times New Roman"/>
              </a:rPr>
              <a:t>horizontal</a:t>
            </a:r>
            <a:r>
              <a:rPr sz="1500" spc="-95" dirty="0">
                <a:latin typeface="Times New Roman"/>
                <a:cs typeface="Times New Roman"/>
              </a:rPr>
              <a:t> </a:t>
            </a:r>
            <a:r>
              <a:rPr sz="1500" spc="15" dirty="0">
                <a:latin typeface="Times New Roman"/>
                <a:cs typeface="Times New Roman"/>
              </a:rPr>
              <a:t>axis</a:t>
            </a:r>
            <a:r>
              <a:rPr sz="1500" spc="-6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is</a:t>
            </a:r>
            <a:r>
              <a:rPr sz="1500" spc="-60" dirty="0">
                <a:latin typeface="Times New Roman"/>
                <a:cs typeface="Times New Roman"/>
              </a:rPr>
              <a:t> </a:t>
            </a:r>
            <a:r>
              <a:rPr sz="1500" spc="10" dirty="0">
                <a:latin typeface="Times New Roman"/>
                <a:cs typeface="Times New Roman"/>
              </a:rPr>
              <a:t>the</a:t>
            </a:r>
            <a:r>
              <a:rPr sz="1500" spc="-45" dirty="0">
                <a:latin typeface="Times New Roman"/>
                <a:cs typeface="Times New Roman"/>
              </a:rPr>
              <a:t> </a:t>
            </a:r>
            <a:r>
              <a:rPr sz="1500" spc="15" dirty="0">
                <a:latin typeface="Times New Roman"/>
                <a:cs typeface="Times New Roman"/>
              </a:rPr>
              <a:t>operating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spc="10" dirty="0">
                <a:latin typeface="Times New Roman"/>
                <a:cs typeface="Times New Roman"/>
              </a:rPr>
              <a:t>frequency</a:t>
            </a:r>
            <a:r>
              <a:rPr sz="1500" spc="-12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in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MHz.</a:t>
            </a:r>
          </a:p>
          <a:p>
            <a:pPr marL="389255" indent="-229235">
              <a:lnSpc>
                <a:spcPct val="100000"/>
              </a:lnSpc>
              <a:buFont typeface="Wingdings"/>
              <a:buChar char=""/>
              <a:tabLst>
                <a:tab pos="389890" algn="l"/>
              </a:tabLst>
            </a:pPr>
            <a:r>
              <a:rPr sz="1500" spc="15" dirty="0">
                <a:latin typeface="Times New Roman"/>
                <a:cs typeface="Times New Roman"/>
              </a:rPr>
              <a:t>O</a:t>
            </a:r>
            <a:r>
              <a:rPr sz="1500" dirty="0">
                <a:latin typeface="Times New Roman"/>
                <a:cs typeface="Times New Roman"/>
              </a:rPr>
              <a:t>n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spc="-20" dirty="0">
                <a:latin typeface="Times New Roman"/>
                <a:cs typeface="Times New Roman"/>
              </a:rPr>
              <a:t>t</a:t>
            </a:r>
            <a:r>
              <a:rPr sz="1500" spc="50" dirty="0">
                <a:latin typeface="Times New Roman"/>
                <a:cs typeface="Times New Roman"/>
              </a:rPr>
              <a:t>h</a:t>
            </a:r>
            <a:r>
              <a:rPr sz="1500" dirty="0">
                <a:latin typeface="Times New Roman"/>
                <a:cs typeface="Times New Roman"/>
              </a:rPr>
              <a:t>e</a:t>
            </a:r>
            <a:r>
              <a:rPr sz="1500" spc="-45" dirty="0">
                <a:latin typeface="Times New Roman"/>
                <a:cs typeface="Times New Roman"/>
              </a:rPr>
              <a:t> </a:t>
            </a:r>
            <a:r>
              <a:rPr sz="1500" spc="50" dirty="0">
                <a:latin typeface="Times New Roman"/>
                <a:cs typeface="Times New Roman"/>
              </a:rPr>
              <a:t>v</a:t>
            </a:r>
            <a:r>
              <a:rPr sz="1500" spc="30" dirty="0">
                <a:latin typeface="Times New Roman"/>
                <a:cs typeface="Times New Roman"/>
              </a:rPr>
              <a:t>e</a:t>
            </a:r>
            <a:r>
              <a:rPr sz="1500" dirty="0">
                <a:latin typeface="Times New Roman"/>
                <a:cs typeface="Times New Roman"/>
              </a:rPr>
              <a:t>r</a:t>
            </a:r>
            <a:r>
              <a:rPr sz="1500" spc="-20" dirty="0">
                <a:latin typeface="Times New Roman"/>
                <a:cs typeface="Times New Roman"/>
              </a:rPr>
              <a:t>ti</a:t>
            </a:r>
            <a:r>
              <a:rPr sz="1500" spc="30" dirty="0">
                <a:latin typeface="Times New Roman"/>
                <a:cs typeface="Times New Roman"/>
              </a:rPr>
              <a:t>ca</a:t>
            </a:r>
            <a:r>
              <a:rPr sz="1500" dirty="0">
                <a:latin typeface="Times New Roman"/>
                <a:cs typeface="Times New Roman"/>
              </a:rPr>
              <a:t>l</a:t>
            </a:r>
            <a:r>
              <a:rPr sz="1500" spc="-95" dirty="0">
                <a:latin typeface="Times New Roman"/>
                <a:cs typeface="Times New Roman"/>
              </a:rPr>
              <a:t> </a:t>
            </a:r>
            <a:r>
              <a:rPr sz="1500" spc="30" dirty="0">
                <a:latin typeface="Times New Roman"/>
                <a:cs typeface="Times New Roman"/>
              </a:rPr>
              <a:t>a</a:t>
            </a:r>
            <a:r>
              <a:rPr sz="1500" spc="50" dirty="0">
                <a:latin typeface="Times New Roman"/>
                <a:cs typeface="Times New Roman"/>
              </a:rPr>
              <a:t>x</a:t>
            </a:r>
            <a:r>
              <a:rPr sz="1500" spc="-20" dirty="0">
                <a:latin typeface="Times New Roman"/>
                <a:cs typeface="Times New Roman"/>
              </a:rPr>
              <a:t>i</a:t>
            </a:r>
            <a:r>
              <a:rPr sz="1500" dirty="0">
                <a:latin typeface="Times New Roman"/>
                <a:cs typeface="Times New Roman"/>
              </a:rPr>
              <a:t>s</a:t>
            </a:r>
            <a:r>
              <a:rPr sz="1500" spc="-65" dirty="0">
                <a:latin typeface="Times New Roman"/>
                <a:cs typeface="Times New Roman"/>
              </a:rPr>
              <a:t> </a:t>
            </a:r>
            <a:r>
              <a:rPr sz="1500" spc="-20" dirty="0">
                <a:latin typeface="Times New Roman"/>
                <a:cs typeface="Times New Roman"/>
              </a:rPr>
              <a:t>i</a:t>
            </a:r>
            <a:r>
              <a:rPr sz="1500" dirty="0">
                <a:latin typeface="Times New Roman"/>
                <a:cs typeface="Times New Roman"/>
              </a:rPr>
              <a:t>s</a:t>
            </a:r>
            <a:r>
              <a:rPr sz="1500" spc="40" dirty="0">
                <a:latin typeface="Times New Roman"/>
                <a:cs typeface="Times New Roman"/>
              </a:rPr>
              <a:t> </a:t>
            </a:r>
            <a:r>
              <a:rPr sz="1500" spc="30" dirty="0">
                <a:latin typeface="Times New Roman"/>
                <a:cs typeface="Times New Roman"/>
              </a:rPr>
              <a:t>a</a:t>
            </a:r>
            <a:r>
              <a:rPr sz="1500" spc="50" dirty="0">
                <a:latin typeface="Times New Roman"/>
                <a:cs typeface="Times New Roman"/>
              </a:rPr>
              <a:t>dd</a:t>
            </a:r>
            <a:r>
              <a:rPr sz="1500" spc="-20" dirty="0">
                <a:latin typeface="Times New Roman"/>
                <a:cs typeface="Times New Roman"/>
              </a:rPr>
              <a:t>iti</a:t>
            </a:r>
            <a:r>
              <a:rPr sz="1500" spc="50" dirty="0">
                <a:latin typeface="Times New Roman"/>
                <a:cs typeface="Times New Roman"/>
              </a:rPr>
              <a:t>on</a:t>
            </a:r>
            <a:r>
              <a:rPr sz="1500" spc="30" dirty="0">
                <a:latin typeface="Times New Roman"/>
                <a:cs typeface="Times New Roman"/>
              </a:rPr>
              <a:t>a</a:t>
            </a:r>
            <a:r>
              <a:rPr sz="1500" dirty="0">
                <a:latin typeface="Times New Roman"/>
                <a:cs typeface="Times New Roman"/>
              </a:rPr>
              <a:t>l</a:t>
            </a:r>
            <a:r>
              <a:rPr sz="1500" spc="-95" dirty="0">
                <a:latin typeface="Times New Roman"/>
                <a:cs typeface="Times New Roman"/>
              </a:rPr>
              <a:t> </a:t>
            </a:r>
            <a:r>
              <a:rPr sz="1500" spc="45" dirty="0">
                <a:latin typeface="Times New Roman"/>
                <a:cs typeface="Times New Roman"/>
              </a:rPr>
              <a:t>p</a:t>
            </a:r>
            <a:r>
              <a:rPr sz="1500" spc="30" dirty="0">
                <a:latin typeface="Times New Roman"/>
                <a:cs typeface="Times New Roman"/>
              </a:rPr>
              <a:t>a</a:t>
            </a:r>
            <a:r>
              <a:rPr sz="1500" spc="-20" dirty="0">
                <a:latin typeface="Times New Roman"/>
                <a:cs typeface="Times New Roman"/>
              </a:rPr>
              <a:t>t</a:t>
            </a:r>
            <a:r>
              <a:rPr sz="1500" dirty="0">
                <a:latin typeface="Times New Roman"/>
                <a:cs typeface="Times New Roman"/>
              </a:rPr>
              <a:t>h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spc="-20" dirty="0">
                <a:latin typeface="Times New Roman"/>
                <a:cs typeface="Times New Roman"/>
              </a:rPr>
              <a:t>l</a:t>
            </a:r>
            <a:r>
              <a:rPr sz="1500" spc="45" dirty="0">
                <a:latin typeface="Times New Roman"/>
                <a:cs typeface="Times New Roman"/>
              </a:rPr>
              <a:t>o</a:t>
            </a:r>
            <a:r>
              <a:rPr sz="1500" spc="15" dirty="0">
                <a:latin typeface="Times New Roman"/>
                <a:cs typeface="Times New Roman"/>
              </a:rPr>
              <a:t>s</a:t>
            </a:r>
            <a:r>
              <a:rPr sz="1500" dirty="0">
                <a:latin typeface="Times New Roman"/>
                <a:cs typeface="Times New Roman"/>
              </a:rPr>
              <a:t>s</a:t>
            </a:r>
            <a:r>
              <a:rPr sz="1500" spc="-60" dirty="0">
                <a:latin typeface="Times New Roman"/>
                <a:cs typeface="Times New Roman"/>
              </a:rPr>
              <a:t> </a:t>
            </a:r>
            <a:r>
              <a:rPr sz="1500" spc="30" dirty="0">
                <a:latin typeface="Times New Roman"/>
                <a:cs typeface="Times New Roman"/>
              </a:rPr>
              <a:t>a</a:t>
            </a:r>
            <a:r>
              <a:rPr sz="1500" spc="-20" dirty="0">
                <a:latin typeface="Times New Roman"/>
                <a:cs typeface="Times New Roman"/>
              </a:rPr>
              <a:t>tt</a:t>
            </a:r>
            <a:r>
              <a:rPr sz="1500" spc="30" dirty="0">
                <a:latin typeface="Times New Roman"/>
                <a:cs typeface="Times New Roman"/>
              </a:rPr>
              <a:t>e</a:t>
            </a:r>
            <a:r>
              <a:rPr sz="1500" spc="45" dirty="0">
                <a:latin typeface="Times New Roman"/>
                <a:cs typeface="Times New Roman"/>
              </a:rPr>
              <a:t>nu</a:t>
            </a:r>
            <a:r>
              <a:rPr sz="1500" spc="30" dirty="0">
                <a:latin typeface="Times New Roman"/>
                <a:cs typeface="Times New Roman"/>
              </a:rPr>
              <a:t>a</a:t>
            </a:r>
            <a:r>
              <a:rPr sz="1500" spc="-20" dirty="0">
                <a:latin typeface="Times New Roman"/>
                <a:cs typeface="Times New Roman"/>
              </a:rPr>
              <a:t>ti</a:t>
            </a:r>
            <a:r>
              <a:rPr sz="1500" spc="45" dirty="0">
                <a:latin typeface="Times New Roman"/>
                <a:cs typeface="Times New Roman"/>
              </a:rPr>
              <a:t>o</a:t>
            </a:r>
            <a:r>
              <a:rPr sz="1500" dirty="0">
                <a:latin typeface="Times New Roman"/>
                <a:cs typeface="Times New Roman"/>
              </a:rPr>
              <a:t>n</a:t>
            </a:r>
            <a:r>
              <a:rPr sz="1500" spc="-125" dirty="0">
                <a:latin typeface="Times New Roman"/>
                <a:cs typeface="Times New Roman"/>
              </a:rPr>
              <a:t> </a:t>
            </a:r>
            <a:r>
              <a:rPr sz="1500" spc="-20" dirty="0">
                <a:latin typeface="Times New Roman"/>
                <a:cs typeface="Times New Roman"/>
              </a:rPr>
              <a:t>i</a:t>
            </a:r>
            <a:r>
              <a:rPr sz="1500" dirty="0">
                <a:latin typeface="Times New Roman"/>
                <a:cs typeface="Times New Roman"/>
              </a:rPr>
              <a:t>n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spc="45" dirty="0">
                <a:latin typeface="Times New Roman"/>
                <a:cs typeface="Times New Roman"/>
              </a:rPr>
              <a:t>d</a:t>
            </a:r>
            <a:r>
              <a:rPr sz="1500" spc="-5" dirty="0">
                <a:latin typeface="Times New Roman"/>
                <a:cs typeface="Times New Roman"/>
              </a:rPr>
              <a:t>B</a:t>
            </a:r>
            <a:r>
              <a:rPr sz="1500" dirty="0">
                <a:latin typeface="Times New Roman"/>
                <a:cs typeface="Times New Roman"/>
              </a:rPr>
              <a:t>.</a:t>
            </a:r>
          </a:p>
          <a:p>
            <a:pPr marL="389255" marR="338455" indent="-228600">
              <a:lnSpc>
                <a:spcPct val="100000"/>
              </a:lnSpc>
              <a:buFont typeface="Wingdings"/>
              <a:buChar char=""/>
              <a:tabLst>
                <a:tab pos="389890" algn="l"/>
              </a:tabLst>
            </a:pPr>
            <a:r>
              <a:rPr sz="1500" spc="5" dirty="0">
                <a:latin typeface="Times New Roman"/>
                <a:cs typeface="Times New Roman"/>
              </a:rPr>
              <a:t>The</a:t>
            </a:r>
            <a:r>
              <a:rPr sz="1500" spc="-45" dirty="0">
                <a:latin typeface="Times New Roman"/>
                <a:cs typeface="Times New Roman"/>
              </a:rPr>
              <a:t> </a:t>
            </a:r>
            <a:r>
              <a:rPr sz="1500" spc="15" dirty="0">
                <a:latin typeface="Times New Roman"/>
                <a:cs typeface="Times New Roman"/>
              </a:rPr>
              <a:t>parameter</a:t>
            </a:r>
            <a:r>
              <a:rPr sz="1500" spc="-70" dirty="0">
                <a:latin typeface="Times New Roman"/>
                <a:cs typeface="Times New Roman"/>
              </a:rPr>
              <a:t> </a:t>
            </a:r>
            <a:r>
              <a:rPr sz="1500" spc="20" dirty="0">
                <a:latin typeface="Times New Roman"/>
                <a:cs typeface="Times New Roman"/>
              </a:rPr>
              <a:t>of</a:t>
            </a:r>
            <a:r>
              <a:rPr sz="1500" spc="-70" dirty="0">
                <a:latin typeface="Times New Roman"/>
                <a:cs typeface="Times New Roman"/>
              </a:rPr>
              <a:t> </a:t>
            </a:r>
            <a:r>
              <a:rPr sz="1500" spc="5" dirty="0">
                <a:latin typeface="Times New Roman"/>
                <a:cs typeface="Times New Roman"/>
              </a:rPr>
              <a:t>the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family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spc="20" dirty="0">
                <a:latin typeface="Times New Roman"/>
                <a:cs typeface="Times New Roman"/>
              </a:rPr>
              <a:t>of</a:t>
            </a:r>
            <a:r>
              <a:rPr sz="1500" spc="-70" dirty="0">
                <a:latin typeface="Times New Roman"/>
                <a:cs typeface="Times New Roman"/>
              </a:rPr>
              <a:t> </a:t>
            </a:r>
            <a:r>
              <a:rPr sz="1500" spc="5" dirty="0">
                <a:latin typeface="Times New Roman"/>
                <a:cs typeface="Times New Roman"/>
              </a:rPr>
              <a:t>the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spc="25" dirty="0">
                <a:latin typeface="Times New Roman"/>
                <a:cs typeface="Times New Roman"/>
              </a:rPr>
              <a:t>curves</a:t>
            </a:r>
            <a:r>
              <a:rPr sz="1500" spc="-5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is</a:t>
            </a:r>
            <a:r>
              <a:rPr sz="1500" spc="-55" dirty="0">
                <a:latin typeface="Times New Roman"/>
                <a:cs typeface="Times New Roman"/>
              </a:rPr>
              <a:t> </a:t>
            </a:r>
            <a:r>
              <a:rPr sz="1500" spc="5" dirty="0">
                <a:latin typeface="Times New Roman"/>
                <a:cs typeface="Times New Roman"/>
              </a:rPr>
              <a:t>the</a:t>
            </a:r>
            <a:r>
              <a:rPr sz="1500" spc="-45" dirty="0">
                <a:latin typeface="Times New Roman"/>
                <a:cs typeface="Times New Roman"/>
              </a:rPr>
              <a:t> </a:t>
            </a:r>
            <a:r>
              <a:rPr sz="1500" spc="15" dirty="0">
                <a:latin typeface="Times New Roman"/>
                <a:cs typeface="Times New Roman"/>
              </a:rPr>
              <a:t>distance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spc="15" dirty="0">
                <a:latin typeface="Times New Roman"/>
                <a:cs typeface="Times New Roman"/>
              </a:rPr>
              <a:t>between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spc="20" dirty="0">
                <a:latin typeface="Times New Roman"/>
                <a:cs typeface="Times New Roman"/>
              </a:rPr>
              <a:t>the </a:t>
            </a:r>
            <a:r>
              <a:rPr sz="1500" spc="-360" dirty="0">
                <a:latin typeface="Times New Roman"/>
                <a:cs typeface="Times New Roman"/>
              </a:rPr>
              <a:t> </a:t>
            </a:r>
            <a:r>
              <a:rPr sz="1500" spc="5" dirty="0">
                <a:latin typeface="Times New Roman"/>
                <a:cs typeface="Times New Roman"/>
              </a:rPr>
              <a:t>transmitter</a:t>
            </a:r>
            <a:r>
              <a:rPr sz="1500" spc="-80" dirty="0">
                <a:latin typeface="Times New Roman"/>
                <a:cs typeface="Times New Roman"/>
              </a:rPr>
              <a:t> </a:t>
            </a:r>
            <a:r>
              <a:rPr sz="1500" spc="25" dirty="0">
                <a:latin typeface="Times New Roman"/>
                <a:cs typeface="Times New Roman"/>
              </a:rPr>
              <a:t>and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spc="5" dirty="0">
                <a:latin typeface="Times New Roman"/>
                <a:cs typeface="Times New Roman"/>
              </a:rPr>
              <a:t>receiver.</a:t>
            </a:r>
            <a:endParaRPr sz="1500" dirty="0">
              <a:latin typeface="Times New Roman"/>
              <a:cs typeface="Times New Roman"/>
            </a:endParaRPr>
          </a:p>
          <a:p>
            <a:pPr marL="389255" marR="197485" indent="-228600">
              <a:lnSpc>
                <a:spcPct val="100000"/>
              </a:lnSpc>
              <a:buFont typeface="Wingdings"/>
              <a:buChar char=""/>
              <a:tabLst>
                <a:tab pos="389890" algn="l"/>
              </a:tabLst>
            </a:pPr>
            <a:r>
              <a:rPr sz="1500" spc="5" dirty="0">
                <a:latin typeface="Times New Roman"/>
                <a:cs typeface="Times New Roman"/>
              </a:rPr>
              <a:t>The</a:t>
            </a:r>
            <a:r>
              <a:rPr sz="1500" spc="-45" dirty="0">
                <a:latin typeface="Times New Roman"/>
                <a:cs typeface="Times New Roman"/>
              </a:rPr>
              <a:t> </a:t>
            </a:r>
            <a:r>
              <a:rPr sz="1500" spc="25" dirty="0">
                <a:latin typeface="Times New Roman"/>
                <a:cs typeface="Times New Roman"/>
              </a:rPr>
              <a:t>curves</a:t>
            </a:r>
            <a:r>
              <a:rPr sz="1500" spc="-55" dirty="0">
                <a:latin typeface="Times New Roman"/>
                <a:cs typeface="Times New Roman"/>
              </a:rPr>
              <a:t> </a:t>
            </a:r>
            <a:r>
              <a:rPr sz="1500" spc="10" dirty="0">
                <a:latin typeface="Times New Roman"/>
                <a:cs typeface="Times New Roman"/>
              </a:rPr>
              <a:t>are</a:t>
            </a:r>
            <a:r>
              <a:rPr sz="1500" spc="-45" dirty="0">
                <a:latin typeface="Times New Roman"/>
                <a:cs typeface="Times New Roman"/>
              </a:rPr>
              <a:t> </a:t>
            </a:r>
            <a:r>
              <a:rPr sz="1500" spc="15" dirty="0">
                <a:latin typeface="Times New Roman"/>
                <a:cs typeface="Times New Roman"/>
              </a:rPr>
              <a:t>derived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spc="15" dirty="0">
                <a:latin typeface="Times New Roman"/>
                <a:cs typeface="Times New Roman"/>
              </a:rPr>
              <a:t>for</a:t>
            </a:r>
            <a:r>
              <a:rPr sz="1500" spc="-7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TX</a:t>
            </a:r>
            <a:r>
              <a:rPr sz="1500" spc="-60" dirty="0">
                <a:latin typeface="Times New Roman"/>
                <a:cs typeface="Times New Roman"/>
              </a:rPr>
              <a:t> </a:t>
            </a:r>
            <a:r>
              <a:rPr sz="1500" spc="20" dirty="0">
                <a:latin typeface="Times New Roman"/>
                <a:cs typeface="Times New Roman"/>
              </a:rPr>
              <a:t>height</a:t>
            </a:r>
            <a:r>
              <a:rPr sz="1500" spc="-90" dirty="0">
                <a:latin typeface="Times New Roman"/>
                <a:cs typeface="Times New Roman"/>
              </a:rPr>
              <a:t> </a:t>
            </a:r>
            <a:r>
              <a:rPr sz="1500" spc="5" dirty="0">
                <a:latin typeface="Times New Roman"/>
                <a:cs typeface="Times New Roman"/>
              </a:rPr>
              <a:t>reference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spc="20" dirty="0">
                <a:latin typeface="Times New Roman"/>
                <a:cs typeface="Times New Roman"/>
              </a:rPr>
              <a:t>of</a:t>
            </a:r>
            <a:r>
              <a:rPr sz="1500" spc="-75" dirty="0">
                <a:latin typeface="Times New Roman"/>
                <a:cs typeface="Times New Roman"/>
              </a:rPr>
              <a:t> </a:t>
            </a:r>
            <a:r>
              <a:rPr sz="1500" spc="5" dirty="0">
                <a:latin typeface="Times New Roman"/>
                <a:cs typeface="Times New Roman"/>
              </a:rPr>
              <a:t>200m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spc="25" dirty="0">
                <a:latin typeface="Times New Roman"/>
                <a:cs typeface="Times New Roman"/>
              </a:rPr>
              <a:t>and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RX</a:t>
            </a:r>
            <a:r>
              <a:rPr sz="1500" spc="-55" dirty="0">
                <a:latin typeface="Times New Roman"/>
                <a:cs typeface="Times New Roman"/>
              </a:rPr>
              <a:t> </a:t>
            </a:r>
            <a:r>
              <a:rPr sz="1500" spc="-30" dirty="0">
                <a:latin typeface="Times New Roman"/>
                <a:cs typeface="Times New Roman"/>
              </a:rPr>
              <a:t>height </a:t>
            </a:r>
            <a:r>
              <a:rPr sz="1500" spc="-360" dirty="0">
                <a:latin typeface="Times New Roman"/>
                <a:cs typeface="Times New Roman"/>
              </a:rPr>
              <a:t> </a:t>
            </a:r>
            <a:r>
              <a:rPr sz="1500" spc="20" dirty="0">
                <a:latin typeface="Times New Roman"/>
                <a:cs typeface="Times New Roman"/>
              </a:rPr>
              <a:t>of</a:t>
            </a:r>
            <a:r>
              <a:rPr sz="1500" spc="-80" dirty="0">
                <a:latin typeface="Times New Roman"/>
                <a:cs typeface="Times New Roman"/>
              </a:rPr>
              <a:t> </a:t>
            </a:r>
            <a:r>
              <a:rPr sz="1500" spc="25" dirty="0">
                <a:latin typeface="Times New Roman"/>
                <a:cs typeface="Times New Roman"/>
              </a:rPr>
              <a:t>3m.</a:t>
            </a:r>
            <a:endParaRPr sz="1500" dirty="0">
              <a:latin typeface="Times New Roman"/>
              <a:cs typeface="Times New Roman"/>
            </a:endParaRPr>
          </a:p>
          <a:p>
            <a:pPr marL="25400">
              <a:lnSpc>
                <a:spcPct val="100000"/>
              </a:lnSpc>
              <a:tabLst>
                <a:tab pos="5511165" algn="l"/>
              </a:tabLst>
            </a:pP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70711" y="718662"/>
            <a:ext cx="6083300" cy="3416300"/>
          </a:xfrm>
          <a:custGeom>
            <a:avLst/>
            <a:gdLst/>
            <a:ahLst/>
            <a:cxnLst/>
            <a:rect l="l" t="t" r="r" b="b"/>
            <a:pathLst>
              <a:path w="6083300" h="3416300">
                <a:moveTo>
                  <a:pt x="0" y="0"/>
                </a:moveTo>
                <a:lnTo>
                  <a:pt x="6083300" y="0"/>
                </a:lnTo>
                <a:lnTo>
                  <a:pt x="6083300" y="3416300"/>
                </a:lnTo>
                <a:lnTo>
                  <a:pt x="0" y="341630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16186" y="6567209"/>
            <a:ext cx="2391102" cy="2316540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994817" y="6513303"/>
            <a:ext cx="2455545" cy="201485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62230" marR="123189">
              <a:lnSpc>
                <a:spcPct val="101600"/>
              </a:lnSpc>
              <a:spcBef>
                <a:spcPts val="70"/>
              </a:spcBef>
            </a:pPr>
            <a:r>
              <a:rPr sz="1600" spc="-15" dirty="0">
                <a:latin typeface="Times New Roman"/>
                <a:cs typeface="Times New Roman"/>
              </a:rPr>
              <a:t>Basic </a:t>
            </a:r>
            <a:r>
              <a:rPr sz="1600" spc="-20" dirty="0">
                <a:latin typeface="Times New Roman"/>
                <a:cs typeface="Times New Roman"/>
              </a:rPr>
              <a:t>median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attenuation 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spc="-35" dirty="0">
                <a:latin typeface="Times New Roman"/>
                <a:cs typeface="Times New Roman"/>
              </a:rPr>
              <a:t>(</a:t>
            </a:r>
            <a:r>
              <a:rPr sz="1600" spc="40" dirty="0">
                <a:latin typeface="Times New Roman"/>
                <a:cs typeface="Times New Roman"/>
              </a:rPr>
              <a:t>A</a:t>
            </a:r>
            <a:r>
              <a:rPr sz="1650" spc="60" baseline="-15151" dirty="0">
                <a:latin typeface="Times New Roman"/>
                <a:cs typeface="Times New Roman"/>
              </a:rPr>
              <a:t>m</a:t>
            </a:r>
            <a:r>
              <a:rPr sz="1650" spc="75" baseline="-15151" dirty="0">
                <a:latin typeface="Times New Roman"/>
                <a:cs typeface="Times New Roman"/>
              </a:rPr>
              <a:t>u</a:t>
            </a:r>
            <a:r>
              <a:rPr sz="1600" dirty="0">
                <a:latin typeface="Times New Roman"/>
                <a:cs typeface="Times New Roman"/>
              </a:rPr>
              <a:t>)</a:t>
            </a:r>
            <a:r>
              <a:rPr sz="1600" spc="-135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a</a:t>
            </a:r>
            <a:r>
              <a:rPr sz="1600" dirty="0">
                <a:latin typeface="Times New Roman"/>
                <a:cs typeface="Times New Roman"/>
              </a:rPr>
              <a:t>s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-35" dirty="0">
                <a:latin typeface="Times New Roman"/>
                <a:cs typeface="Times New Roman"/>
              </a:rPr>
              <a:t>f</a:t>
            </a:r>
            <a:r>
              <a:rPr sz="1600" dirty="0">
                <a:latin typeface="Times New Roman"/>
                <a:cs typeface="Times New Roman"/>
              </a:rPr>
              <a:t>un</a:t>
            </a:r>
            <a:r>
              <a:rPr sz="1600" spc="-15" dirty="0">
                <a:latin typeface="Times New Roman"/>
                <a:cs typeface="Times New Roman"/>
              </a:rPr>
              <a:t>c</a:t>
            </a:r>
            <a:r>
              <a:rPr sz="1600" spc="-45" dirty="0">
                <a:latin typeface="Times New Roman"/>
                <a:cs typeface="Times New Roman"/>
              </a:rPr>
              <a:t>ti</a:t>
            </a:r>
            <a:r>
              <a:rPr sz="1600" dirty="0">
                <a:latin typeface="Times New Roman"/>
                <a:cs typeface="Times New Roman"/>
              </a:rPr>
              <a:t>on</a:t>
            </a:r>
            <a:r>
              <a:rPr sz="1600" spc="20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  </a:t>
            </a:r>
            <a:r>
              <a:rPr sz="1600" spc="-15" dirty="0">
                <a:latin typeface="Times New Roman"/>
                <a:cs typeface="Times New Roman"/>
              </a:rPr>
              <a:t>frequency</a:t>
            </a:r>
            <a:r>
              <a:rPr sz="1600" spc="7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and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path</a:t>
            </a:r>
            <a:r>
              <a:rPr sz="1600" spc="80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distance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800">
              <a:latin typeface="Times New Roman"/>
              <a:cs typeface="Times New Roman"/>
            </a:endParaRPr>
          </a:p>
          <a:p>
            <a:pPr marL="12700" marR="17780">
              <a:lnSpc>
                <a:spcPct val="100699"/>
              </a:lnSpc>
            </a:pPr>
            <a:r>
              <a:rPr sz="1600" dirty="0">
                <a:latin typeface="Times New Roman"/>
                <a:cs typeface="Times New Roman"/>
              </a:rPr>
              <a:t>For </a:t>
            </a:r>
            <a:r>
              <a:rPr sz="1600" spc="-20" dirty="0">
                <a:latin typeface="Times New Roman"/>
                <a:cs typeface="Times New Roman"/>
              </a:rPr>
              <a:t>example,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at </a:t>
            </a:r>
            <a:r>
              <a:rPr sz="1600" dirty="0">
                <a:latin typeface="Times New Roman"/>
                <a:cs typeface="Times New Roman"/>
              </a:rPr>
              <a:t>850MHz 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frequency</a:t>
            </a:r>
            <a:r>
              <a:rPr sz="1600" spc="7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and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the</a:t>
            </a:r>
            <a:r>
              <a:rPr sz="1600" spc="60" dirty="0">
                <a:latin typeface="Times New Roman"/>
                <a:cs typeface="Times New Roman"/>
              </a:rPr>
              <a:t> </a:t>
            </a:r>
            <a:r>
              <a:rPr sz="1600" spc="-30" dirty="0">
                <a:latin typeface="Times New Roman"/>
                <a:cs typeface="Times New Roman"/>
              </a:rPr>
              <a:t>transmitter- </a:t>
            </a:r>
            <a:r>
              <a:rPr sz="1600" spc="-385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receiver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distance </a:t>
            </a:r>
            <a:r>
              <a:rPr sz="1600" dirty="0">
                <a:latin typeface="Times New Roman"/>
                <a:cs typeface="Times New Roman"/>
              </a:rPr>
              <a:t>of </a:t>
            </a:r>
            <a:r>
              <a:rPr sz="1600" spc="-15" dirty="0">
                <a:latin typeface="Times New Roman"/>
                <a:cs typeface="Times New Roman"/>
              </a:rPr>
              <a:t>5km, the 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attenuation</a:t>
            </a:r>
            <a:r>
              <a:rPr sz="1600" spc="195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is</a:t>
            </a:r>
            <a:r>
              <a:rPr sz="1600" spc="70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close</a:t>
            </a:r>
            <a:r>
              <a:rPr sz="1600" spc="80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to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5" dirty="0">
                <a:latin typeface="Times New Roman"/>
                <a:cs typeface="Times New Roman"/>
              </a:rPr>
              <a:t>26dB.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742949" y="5759450"/>
            <a:ext cx="6083300" cy="3416300"/>
          </a:xfrm>
          <a:custGeom>
            <a:avLst/>
            <a:gdLst/>
            <a:ahLst/>
            <a:cxnLst/>
            <a:rect l="l" t="t" r="r" b="b"/>
            <a:pathLst>
              <a:path w="6083300" h="3416300">
                <a:moveTo>
                  <a:pt x="0" y="0"/>
                </a:moveTo>
                <a:lnTo>
                  <a:pt x="6083300" y="0"/>
                </a:lnTo>
                <a:lnTo>
                  <a:pt x="6083300" y="3416300"/>
                </a:lnTo>
                <a:lnTo>
                  <a:pt x="0" y="341630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54011" y="455423"/>
            <a:ext cx="508634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40" dirty="0">
                <a:latin typeface="Calibri"/>
                <a:cs typeface="Calibri"/>
              </a:rPr>
              <a:t>8</a:t>
            </a:r>
            <a:r>
              <a:rPr sz="1300" spc="-5" dirty="0">
                <a:latin typeface="Calibri"/>
                <a:cs typeface="Calibri"/>
              </a:rPr>
              <a:t>/</a:t>
            </a:r>
            <a:r>
              <a:rPr sz="1300" spc="40" dirty="0">
                <a:latin typeface="Calibri"/>
                <a:cs typeface="Calibri"/>
              </a:rPr>
              <a:t>5</a:t>
            </a:r>
            <a:r>
              <a:rPr sz="1300" spc="-5" dirty="0">
                <a:latin typeface="Calibri"/>
                <a:cs typeface="Calibri"/>
              </a:rPr>
              <a:t>/</a:t>
            </a:r>
            <a:r>
              <a:rPr sz="1300" spc="40" dirty="0">
                <a:latin typeface="Calibri"/>
                <a:cs typeface="Calibri"/>
              </a:rPr>
              <a:t>20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4294967295"/>
          </p:nvPr>
        </p:nvSpPr>
        <p:spPr>
          <a:xfrm>
            <a:off x="7300913" y="9974263"/>
            <a:ext cx="255587" cy="227012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31</a:t>
            </a:fld>
            <a:endParaRPr dirty="0"/>
          </a:p>
        </p:txBody>
      </p:sp>
      <p:sp>
        <p:nvSpPr>
          <p:cNvPr id="8" name="object 8"/>
          <p:cNvSpPr txBox="1"/>
          <p:nvPr/>
        </p:nvSpPr>
        <p:spPr>
          <a:xfrm>
            <a:off x="790691" y="2104988"/>
            <a:ext cx="5995035" cy="2548890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463550" marR="963294" indent="-228600">
              <a:lnSpc>
                <a:spcPct val="104200"/>
              </a:lnSpc>
              <a:spcBef>
                <a:spcPts val="20"/>
              </a:spcBef>
              <a:buFont typeface="Wingdings"/>
              <a:buChar char=""/>
              <a:tabLst>
                <a:tab pos="464184" algn="l"/>
              </a:tabLst>
            </a:pPr>
            <a:r>
              <a:rPr sz="1600" spc="-20" dirty="0">
                <a:latin typeface="Times New Roman"/>
                <a:cs typeface="Times New Roman"/>
              </a:rPr>
              <a:t>If </a:t>
            </a:r>
            <a:r>
              <a:rPr sz="1600" spc="-15" dirty="0">
                <a:latin typeface="Times New Roman"/>
                <a:cs typeface="Times New Roman"/>
              </a:rPr>
              <a:t>the actual heights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 </a:t>
            </a:r>
            <a:r>
              <a:rPr sz="1600" spc="-15" dirty="0">
                <a:latin typeface="Times New Roman"/>
                <a:cs typeface="Times New Roman"/>
              </a:rPr>
              <a:t>the </a:t>
            </a:r>
            <a:r>
              <a:rPr sz="1600" spc="10" dirty="0">
                <a:latin typeface="Times New Roman"/>
                <a:cs typeface="Times New Roman"/>
              </a:rPr>
              <a:t>TX </a:t>
            </a:r>
            <a:r>
              <a:rPr sz="1600" spc="-5" dirty="0">
                <a:latin typeface="Times New Roman"/>
                <a:cs typeface="Times New Roman"/>
              </a:rPr>
              <a:t>and </a:t>
            </a:r>
            <a:r>
              <a:rPr sz="1600" spc="15" dirty="0">
                <a:latin typeface="Times New Roman"/>
                <a:cs typeface="Times New Roman"/>
              </a:rPr>
              <a:t>RX </a:t>
            </a:r>
            <a:r>
              <a:rPr sz="1600" spc="-25" dirty="0">
                <a:latin typeface="Times New Roman"/>
                <a:cs typeface="Times New Roman"/>
              </a:rPr>
              <a:t>differ </a:t>
            </a:r>
            <a:r>
              <a:rPr sz="1600" spc="-20" dirty="0">
                <a:latin typeface="Times New Roman"/>
                <a:cs typeface="Times New Roman"/>
              </a:rPr>
              <a:t>from </a:t>
            </a:r>
            <a:r>
              <a:rPr sz="1600" spc="-15" dirty="0">
                <a:latin typeface="Times New Roman"/>
                <a:cs typeface="Times New Roman"/>
              </a:rPr>
              <a:t>those </a:t>
            </a:r>
            <a:r>
              <a:rPr sz="1600" spc="-385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referenced,</a:t>
            </a:r>
            <a:r>
              <a:rPr sz="1600" spc="210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the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appropriate</a:t>
            </a:r>
            <a:r>
              <a:rPr sz="1600" spc="195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correction</a:t>
            </a:r>
            <a:r>
              <a:rPr sz="1600" spc="21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needs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to</a:t>
            </a:r>
            <a:r>
              <a:rPr sz="1600" spc="1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be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added</a:t>
            </a:r>
            <a:endParaRPr sz="1600" dirty="0">
              <a:latin typeface="Times New Roman"/>
              <a:cs typeface="Times New Roman"/>
            </a:endParaRPr>
          </a:p>
          <a:p>
            <a:pPr marL="463550" marR="506095" indent="-228600">
              <a:lnSpc>
                <a:spcPts val="1900"/>
              </a:lnSpc>
              <a:spcBef>
                <a:spcPts val="60"/>
              </a:spcBef>
              <a:buFont typeface="Wingdings"/>
              <a:buChar char=""/>
              <a:tabLst>
                <a:tab pos="464184" algn="l"/>
              </a:tabLst>
            </a:pPr>
            <a:r>
              <a:rPr sz="1600" spc="5" dirty="0">
                <a:latin typeface="Times New Roman"/>
                <a:cs typeface="Times New Roman"/>
              </a:rPr>
              <a:t>The</a:t>
            </a:r>
            <a:r>
              <a:rPr sz="1600" spc="-15" dirty="0">
                <a:latin typeface="Times New Roman"/>
                <a:cs typeface="Times New Roman"/>
              </a:rPr>
              <a:t> curves</a:t>
            </a:r>
            <a:r>
              <a:rPr sz="1600" spc="8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used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for</a:t>
            </a:r>
            <a:r>
              <a:rPr sz="1600" spc="70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correction</a:t>
            </a:r>
            <a:r>
              <a:rPr sz="1600" spc="204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nonstandard</a:t>
            </a:r>
            <a:r>
              <a:rPr sz="1600" spc="100" dirty="0">
                <a:latin typeface="Times New Roman"/>
                <a:cs typeface="Times New Roman"/>
              </a:rPr>
              <a:t> </a:t>
            </a:r>
            <a:r>
              <a:rPr sz="1600" spc="-30" dirty="0">
                <a:latin typeface="Times New Roman"/>
                <a:cs typeface="Times New Roman"/>
              </a:rPr>
              <a:t>transmitter</a:t>
            </a:r>
            <a:r>
              <a:rPr sz="1600" spc="27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and </a:t>
            </a:r>
            <a:r>
              <a:rPr sz="1600" spc="-385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receiver</a:t>
            </a:r>
            <a:r>
              <a:rPr sz="1600" spc="160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heights</a:t>
            </a:r>
            <a:r>
              <a:rPr sz="1600" spc="75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are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provided</a:t>
            </a:r>
            <a:endParaRPr sz="1600" dirty="0">
              <a:latin typeface="Times New Roman"/>
              <a:cs typeface="Times New Roman"/>
            </a:endParaRPr>
          </a:p>
          <a:p>
            <a:pPr marL="463550" marR="1039494" indent="-228600">
              <a:lnSpc>
                <a:spcPts val="1900"/>
              </a:lnSpc>
              <a:buFont typeface="Wingdings"/>
              <a:buChar char=""/>
              <a:tabLst>
                <a:tab pos="464184" algn="l"/>
              </a:tabLst>
            </a:pPr>
            <a:r>
              <a:rPr sz="1600" spc="20" dirty="0">
                <a:latin typeface="Times New Roman"/>
                <a:cs typeface="Times New Roman"/>
              </a:rPr>
              <a:t>At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the</a:t>
            </a:r>
            <a:r>
              <a:rPr sz="1600" spc="80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effective</a:t>
            </a:r>
            <a:r>
              <a:rPr sz="1600" spc="8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height</a:t>
            </a:r>
            <a:r>
              <a:rPr sz="1600" spc="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6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200m,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all</a:t>
            </a:r>
            <a:r>
              <a:rPr sz="1600" spc="50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curves</a:t>
            </a:r>
            <a:r>
              <a:rPr sz="1600" spc="70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meet</a:t>
            </a:r>
            <a:r>
              <a:rPr sz="1600" spc="5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and </a:t>
            </a:r>
            <a:r>
              <a:rPr sz="1600" dirty="0">
                <a:latin typeface="Times New Roman"/>
                <a:cs typeface="Times New Roman"/>
              </a:rPr>
              <a:t>no </a:t>
            </a:r>
            <a:r>
              <a:rPr sz="1600" spc="-385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correction</a:t>
            </a:r>
            <a:r>
              <a:rPr sz="1600" spc="195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gain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is</a:t>
            </a:r>
            <a:r>
              <a:rPr sz="1600" spc="75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required</a:t>
            </a:r>
            <a:r>
              <a:rPr sz="1600" spc="10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(</a:t>
            </a:r>
            <a:r>
              <a:rPr sz="1600" spc="6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Htu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=0dB).</a:t>
            </a:r>
            <a:endParaRPr sz="1600" dirty="0">
              <a:latin typeface="Times New Roman"/>
              <a:cs typeface="Times New Roman"/>
            </a:endParaRPr>
          </a:p>
          <a:p>
            <a:pPr marL="463550" marR="301625" indent="-228600">
              <a:lnSpc>
                <a:spcPts val="1900"/>
              </a:lnSpc>
              <a:spcBef>
                <a:spcPts val="100"/>
              </a:spcBef>
              <a:buFont typeface="Wingdings"/>
              <a:buChar char=""/>
              <a:tabLst>
                <a:tab pos="464184" algn="l"/>
              </a:tabLst>
            </a:pPr>
            <a:r>
              <a:rPr sz="1600" spc="-5" dirty="0">
                <a:latin typeface="Times New Roman"/>
                <a:cs typeface="Times New Roman"/>
              </a:rPr>
              <a:t>Base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station</a:t>
            </a:r>
            <a:r>
              <a:rPr sz="1600" spc="200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antennas</a:t>
            </a:r>
            <a:r>
              <a:rPr sz="1600" spc="7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above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200m</a:t>
            </a:r>
            <a:r>
              <a:rPr sz="1600" spc="55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introduce</a:t>
            </a:r>
            <a:r>
              <a:rPr sz="1600" spc="85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positive</a:t>
            </a:r>
            <a:r>
              <a:rPr sz="1600" spc="185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gain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in</a:t>
            </a:r>
            <a:r>
              <a:rPr sz="1600" spc="100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the </a:t>
            </a:r>
            <a:r>
              <a:rPr sz="1600" spc="-38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Okumura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model</a:t>
            </a:r>
            <a:r>
              <a:rPr sz="1600" spc="5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and</a:t>
            </a:r>
            <a:r>
              <a:rPr sz="1600" spc="100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antennas</a:t>
            </a:r>
            <a:r>
              <a:rPr sz="1600" spc="7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lower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than</a:t>
            </a:r>
            <a:r>
              <a:rPr sz="1600" spc="10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200m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have</a:t>
            </a:r>
            <a:r>
              <a:rPr sz="1600" spc="-15" dirty="0">
                <a:latin typeface="Times New Roman"/>
                <a:cs typeface="Times New Roman"/>
              </a:rPr>
              <a:t> negative 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gain</a:t>
            </a:r>
            <a:r>
              <a:rPr sz="1600" spc="95" dirty="0">
                <a:latin typeface="Times New Roman"/>
                <a:cs typeface="Times New Roman"/>
              </a:rPr>
              <a:t> </a:t>
            </a:r>
            <a:r>
              <a:rPr sz="1600" spc="-35" dirty="0">
                <a:latin typeface="Times New Roman"/>
                <a:cs typeface="Times New Roman"/>
              </a:rPr>
              <a:t>factor.</a:t>
            </a:r>
            <a:endParaRPr sz="1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10"/>
              </a:spcBef>
              <a:tabLst>
                <a:tab pos="5485765" algn="l"/>
              </a:tabLst>
            </a:pP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69392" y="1671283"/>
            <a:ext cx="6083300" cy="3416300"/>
          </a:xfrm>
          <a:custGeom>
            <a:avLst/>
            <a:gdLst/>
            <a:ahLst/>
            <a:cxnLst/>
            <a:rect l="l" t="t" r="r" b="b"/>
            <a:pathLst>
              <a:path w="6083300" h="3416300">
                <a:moveTo>
                  <a:pt x="0" y="0"/>
                </a:moveTo>
                <a:lnTo>
                  <a:pt x="6083300" y="0"/>
                </a:lnTo>
                <a:lnTo>
                  <a:pt x="6083300" y="3416300"/>
                </a:lnTo>
                <a:lnTo>
                  <a:pt x="0" y="341630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84600" y="6477000"/>
            <a:ext cx="2679700" cy="2463800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924047" y="6608344"/>
            <a:ext cx="2832100" cy="1681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600" spc="-5" dirty="0">
                <a:solidFill>
                  <a:srgbClr val="FF0000"/>
                </a:solidFill>
                <a:latin typeface="Times New Roman"/>
                <a:cs typeface="Times New Roman"/>
              </a:rPr>
              <a:t>Base</a:t>
            </a:r>
            <a:r>
              <a:rPr sz="1600" spc="-25" dirty="0">
                <a:solidFill>
                  <a:srgbClr val="FF0000"/>
                </a:solidFill>
                <a:latin typeface="Times New Roman"/>
                <a:cs typeface="Times New Roman"/>
              </a:rPr>
              <a:t> station</a:t>
            </a:r>
            <a:r>
              <a:rPr sz="1600" spc="18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FF0000"/>
                </a:solidFill>
                <a:latin typeface="Times New Roman"/>
                <a:cs typeface="Times New Roman"/>
              </a:rPr>
              <a:t>height</a:t>
            </a:r>
            <a:r>
              <a:rPr sz="1600" spc="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600" spc="-25" dirty="0">
                <a:solidFill>
                  <a:srgbClr val="FF0000"/>
                </a:solidFill>
                <a:latin typeface="Times New Roman"/>
                <a:cs typeface="Times New Roman"/>
              </a:rPr>
              <a:t>correction</a:t>
            </a:r>
            <a:r>
              <a:rPr sz="1600" spc="18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600" spc="-15" dirty="0">
                <a:solidFill>
                  <a:srgbClr val="FF0000"/>
                </a:solidFill>
                <a:latin typeface="Times New Roman"/>
                <a:cs typeface="Times New Roman"/>
              </a:rPr>
              <a:t>gain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 marL="134620" marR="352425">
              <a:lnSpc>
                <a:spcPct val="100699"/>
              </a:lnSpc>
              <a:spcBef>
                <a:spcPts val="1425"/>
              </a:spcBef>
            </a:pPr>
            <a:r>
              <a:rPr sz="1600" dirty="0">
                <a:latin typeface="Times New Roman"/>
                <a:cs typeface="Times New Roman"/>
              </a:rPr>
              <a:t>For </a:t>
            </a:r>
            <a:r>
              <a:rPr sz="1600" spc="-20" dirty="0">
                <a:latin typeface="Times New Roman"/>
                <a:cs typeface="Times New Roman"/>
              </a:rPr>
              <a:t>example,</a:t>
            </a:r>
            <a:r>
              <a:rPr sz="1600" spc="-15" dirty="0">
                <a:latin typeface="Times New Roman"/>
                <a:cs typeface="Times New Roman"/>
              </a:rPr>
              <a:t> for </a:t>
            </a:r>
            <a:r>
              <a:rPr sz="1600" dirty="0">
                <a:latin typeface="Times New Roman"/>
                <a:cs typeface="Times New Roman"/>
              </a:rPr>
              <a:t>100m 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antennas</a:t>
            </a:r>
            <a:r>
              <a:rPr sz="1600" spc="6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and </a:t>
            </a:r>
            <a:r>
              <a:rPr sz="1600" dirty="0">
                <a:latin typeface="Times New Roman"/>
                <a:cs typeface="Times New Roman"/>
              </a:rPr>
              <a:t>1km</a:t>
            </a:r>
            <a:r>
              <a:rPr sz="1600" spc="45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distance, </a:t>
            </a:r>
            <a:r>
              <a:rPr sz="1600" spc="-15" dirty="0">
                <a:latin typeface="Times New Roman"/>
                <a:cs typeface="Times New Roman"/>
              </a:rPr>
              <a:t> the </a:t>
            </a:r>
            <a:r>
              <a:rPr sz="1600" spc="-10" dirty="0">
                <a:latin typeface="Times New Roman"/>
                <a:cs typeface="Times New Roman"/>
              </a:rPr>
              <a:t>base </a:t>
            </a:r>
            <a:r>
              <a:rPr sz="1600" spc="-25" dirty="0">
                <a:latin typeface="Times New Roman"/>
                <a:cs typeface="Times New Roman"/>
              </a:rPr>
              <a:t>station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antenna gain </a:t>
            </a:r>
            <a:r>
              <a:rPr sz="1600" spc="-38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Htu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is</a:t>
            </a:r>
            <a:r>
              <a:rPr sz="1600" spc="60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approximately</a:t>
            </a:r>
            <a:r>
              <a:rPr sz="1600" spc="175" dirty="0">
                <a:latin typeface="Times New Roman"/>
                <a:cs typeface="Times New Roman"/>
              </a:rPr>
              <a:t> </a:t>
            </a:r>
            <a:r>
              <a:rPr sz="1600" spc="5" dirty="0">
                <a:latin typeface="Times New Roman"/>
                <a:cs typeface="Times New Roman"/>
              </a:rPr>
              <a:t>–4dB.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742949" y="5759450"/>
            <a:ext cx="6083300" cy="3416300"/>
          </a:xfrm>
          <a:custGeom>
            <a:avLst/>
            <a:gdLst/>
            <a:ahLst/>
            <a:cxnLst/>
            <a:rect l="l" t="t" r="r" b="b"/>
            <a:pathLst>
              <a:path w="6083300" h="3416300">
                <a:moveTo>
                  <a:pt x="0" y="0"/>
                </a:moveTo>
                <a:lnTo>
                  <a:pt x="6083300" y="0"/>
                </a:lnTo>
                <a:lnTo>
                  <a:pt x="6083300" y="3416300"/>
                </a:lnTo>
                <a:lnTo>
                  <a:pt x="0" y="341630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6797117"/>
              </p:ext>
            </p:extLst>
          </p:nvPr>
        </p:nvGraphicFramePr>
        <p:xfrm>
          <a:off x="736599" y="1485899"/>
          <a:ext cx="6083935" cy="342044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1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739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66750">
                <a:tc gridSpan="2">
                  <a:txBody>
                    <a:bodyPr/>
                    <a:lstStyle/>
                    <a:p>
                      <a:pPr marL="92075" algn="ctr">
                        <a:lnSpc>
                          <a:spcPct val="100000"/>
                        </a:lnSpc>
                        <a:spcBef>
                          <a:spcPts val="830"/>
                        </a:spcBef>
                      </a:pPr>
                      <a:r>
                        <a:rPr sz="2700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U</a:t>
                      </a:r>
                      <a:r>
                        <a:rPr sz="2700" spc="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niv</a:t>
                      </a:r>
                      <a:r>
                        <a:rPr sz="27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er</a:t>
                      </a:r>
                      <a:r>
                        <a:rPr sz="2700" spc="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sit</a:t>
                      </a:r>
                      <a:r>
                        <a:rPr sz="27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sz="2700" spc="-229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00" spc="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27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sz="2700" spc="-7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00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27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ar</a:t>
                      </a:r>
                      <a:r>
                        <a:rPr sz="2700" spc="2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es</a:t>
                      </a:r>
                      <a:r>
                        <a:rPr sz="2700" spc="7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00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7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700" spc="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l</a:t>
                      </a:r>
                      <a:r>
                        <a:rPr sz="27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aam</a:t>
                      </a: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1054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9335">
                <a:tc>
                  <a:txBody>
                    <a:bodyPr/>
                    <a:lstStyle/>
                    <a:p>
                      <a:pPr marL="412750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Correction</a:t>
                      </a:r>
                      <a:r>
                        <a:rPr sz="1600" spc="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factor</a:t>
                      </a:r>
                      <a:r>
                        <a:rPr sz="1600" spc="1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5" dirty="0">
                          <a:latin typeface="Times New Roman"/>
                          <a:cs typeface="Times New Roman"/>
                        </a:rPr>
                        <a:t>for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137795" marB="0">
                    <a:lnL w="1270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marL="412750">
                        <a:lnSpc>
                          <a:spcPts val="1850"/>
                        </a:lnSpc>
                      </a:pP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different</a:t>
                      </a:r>
                      <a:r>
                        <a:rPr sz="1600" spc="1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5" dirty="0">
                          <a:latin typeface="Times New Roman"/>
                          <a:cs typeface="Times New Roman"/>
                        </a:rPr>
                        <a:t>types</a:t>
                      </a:r>
                      <a:r>
                        <a:rPr sz="1600" spc="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of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412750">
                        <a:lnSpc>
                          <a:spcPts val="1810"/>
                        </a:lnSpc>
                      </a:pPr>
                      <a:r>
                        <a:rPr sz="1600" spc="-30" dirty="0">
                          <a:latin typeface="Times New Roman"/>
                          <a:cs typeface="Times New Roman"/>
                        </a:rPr>
                        <a:t>terrain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4132">
                <a:tc>
                  <a:txBody>
                    <a:bodyPr/>
                    <a:lstStyle/>
                    <a:p>
                      <a:pPr marL="412750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sz="1600" spc="40" dirty="0">
                          <a:latin typeface="Times New Roman"/>
                          <a:cs typeface="Times New Roman"/>
                        </a:rPr>
                        <a:t>G</a:t>
                      </a:r>
                      <a:r>
                        <a:rPr sz="1650" spc="7" baseline="-15151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650" spc="-52" baseline="-15151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650" spc="37" baseline="-15151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50" baseline="-15151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650" spc="-104" baseline="-15151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35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600" spc="-1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sz="1600" spc="-35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600" spc="-1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600" spc="-1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nt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106680" marB="0">
                    <a:lnL w="1270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5467">
                <a:tc>
                  <a:txBody>
                    <a:bodyPr/>
                    <a:lstStyle/>
                    <a:p>
                      <a:pPr marL="412750">
                        <a:lnSpc>
                          <a:spcPts val="1714"/>
                        </a:lnSpc>
                      </a:pP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additional</a:t>
                      </a:r>
                      <a:r>
                        <a:rPr sz="1600" spc="1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loss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2072">
                <a:tc>
                  <a:txBody>
                    <a:bodyPr/>
                    <a:lstStyle/>
                    <a:p>
                      <a:pPr marL="412750">
                        <a:lnSpc>
                          <a:spcPts val="1860"/>
                        </a:lnSpc>
                      </a:pP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correction</a:t>
                      </a:r>
                      <a:r>
                        <a:rPr sz="1600" spc="1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factor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894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2200" dirty="0">
                        <a:latin typeface="Times New Roman"/>
                        <a:cs typeface="Times New Roman"/>
                      </a:endParaRPr>
                    </a:p>
                    <a:p>
                      <a:pPr marL="39370">
                        <a:lnSpc>
                          <a:spcPts val="1680"/>
                        </a:lnSpc>
                      </a:pP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>
                    <a:lnL w="12700">
                      <a:solidFill>
                        <a:srgbClr val="000000"/>
                      </a:solidFill>
                      <a:prstDash val="solid"/>
                    </a:lnL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2200" dirty="0">
                        <a:latin typeface="Times New Roman"/>
                        <a:cs typeface="Times New Roman"/>
                      </a:endParaRPr>
                    </a:p>
                    <a:p>
                      <a:pPr marR="53975" algn="r">
                        <a:lnSpc>
                          <a:spcPts val="1680"/>
                        </a:lnSpc>
                      </a:pP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48100" y="2158998"/>
            <a:ext cx="2057400" cy="2501899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1156025" y="6551194"/>
            <a:ext cx="1745614" cy="523240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R="5080">
              <a:lnSpc>
                <a:spcPct val="104200"/>
              </a:lnSpc>
              <a:spcBef>
                <a:spcPts val="20"/>
              </a:spcBef>
            </a:pPr>
            <a:r>
              <a:rPr sz="1600" spc="-20" dirty="0">
                <a:latin typeface="Times New Roman"/>
                <a:cs typeface="Times New Roman"/>
              </a:rPr>
              <a:t>Mobile</a:t>
            </a:r>
            <a:r>
              <a:rPr sz="1600" spc="45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station</a:t>
            </a:r>
            <a:r>
              <a:rPr sz="1600" spc="15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height </a:t>
            </a:r>
            <a:r>
              <a:rPr sz="1600" spc="-385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correction</a:t>
            </a:r>
            <a:r>
              <a:rPr sz="1600" spc="190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gain</a:t>
            </a:r>
            <a:endParaRPr sz="1600">
              <a:latin typeface="Times New Roman"/>
              <a:cs typeface="Times New Roman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736599" y="5753100"/>
            <a:ext cx="6096000" cy="3429000"/>
            <a:chOff x="736599" y="5753100"/>
            <a:chExt cx="6096000" cy="3429000"/>
          </a:xfrm>
        </p:grpSpPr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84599" y="6400800"/>
              <a:ext cx="2260600" cy="2489198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742949" y="5759450"/>
              <a:ext cx="6083300" cy="3416300"/>
            </a:xfrm>
            <a:custGeom>
              <a:avLst/>
              <a:gdLst/>
              <a:ahLst/>
              <a:cxnLst/>
              <a:rect l="l" t="t" r="r" b="b"/>
              <a:pathLst>
                <a:path w="6083300" h="3416300">
                  <a:moveTo>
                    <a:pt x="0" y="0"/>
                  </a:moveTo>
                  <a:lnTo>
                    <a:pt x="6083300" y="0"/>
                  </a:lnTo>
                  <a:lnTo>
                    <a:pt x="6083300" y="3416300"/>
                  </a:lnTo>
                  <a:lnTo>
                    <a:pt x="0" y="34163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>
            <a:spLocks noGrp="1"/>
          </p:cNvSpPr>
          <p:nvPr>
            <p:ph type="sldNum" sz="quarter" idx="4294967295"/>
          </p:nvPr>
        </p:nvSpPr>
        <p:spPr>
          <a:xfrm>
            <a:off x="7300913" y="9974263"/>
            <a:ext cx="255587" cy="227012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32</a:t>
            </a:fld>
            <a:endParaRPr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object 20"/>
          <p:cNvSpPr txBox="1">
            <a:spLocks noGrp="1"/>
          </p:cNvSpPr>
          <p:nvPr>
            <p:ph type="sldNum" sz="quarter" idx="4294967295"/>
          </p:nvPr>
        </p:nvSpPr>
        <p:spPr>
          <a:xfrm>
            <a:off x="7300913" y="9974263"/>
            <a:ext cx="255587" cy="227012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33</a:t>
            </a:fld>
            <a:endParaRPr dirty="0"/>
          </a:p>
        </p:txBody>
      </p:sp>
      <p:sp>
        <p:nvSpPr>
          <p:cNvPr id="10" name="object 10"/>
          <p:cNvSpPr txBox="1"/>
          <p:nvPr/>
        </p:nvSpPr>
        <p:spPr>
          <a:xfrm>
            <a:off x="1114583" y="2203784"/>
            <a:ext cx="473710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1600" spc="40" dirty="0">
                <a:latin typeface="Times New Roman"/>
                <a:cs typeface="Times New Roman"/>
              </a:rPr>
              <a:t>G</a:t>
            </a:r>
            <a:r>
              <a:rPr sz="1650" spc="44" baseline="-15151" dirty="0">
                <a:latin typeface="Times New Roman"/>
                <a:cs typeface="Times New Roman"/>
              </a:rPr>
              <a:t>(</a:t>
            </a:r>
            <a:r>
              <a:rPr sz="1650" spc="75" baseline="-15151" dirty="0">
                <a:latin typeface="Times New Roman"/>
                <a:cs typeface="Times New Roman"/>
              </a:rPr>
              <a:t>h</a:t>
            </a:r>
            <a:r>
              <a:rPr sz="1650" spc="-15" baseline="-15151" dirty="0">
                <a:latin typeface="Times New Roman"/>
                <a:cs typeface="Times New Roman"/>
              </a:rPr>
              <a:t>t</a:t>
            </a:r>
            <a:r>
              <a:rPr sz="1650" spc="15" baseline="-15151" dirty="0">
                <a:latin typeface="Times New Roman"/>
                <a:cs typeface="Times New Roman"/>
              </a:rPr>
              <a:t>e</a:t>
            </a:r>
            <a:r>
              <a:rPr sz="1650" baseline="-15151" dirty="0">
                <a:latin typeface="Times New Roman"/>
                <a:cs typeface="Times New Roman"/>
              </a:rPr>
              <a:t>)</a:t>
            </a:r>
            <a:r>
              <a:rPr sz="1650" spc="82" baseline="-15151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a</a:t>
            </a:r>
            <a:r>
              <a:rPr sz="1600" dirty="0">
                <a:latin typeface="Times New Roman"/>
                <a:cs typeface="Times New Roman"/>
              </a:rPr>
              <a:t>nd </a:t>
            </a:r>
            <a:r>
              <a:rPr sz="1600" spc="40" dirty="0">
                <a:latin typeface="Times New Roman"/>
                <a:cs typeface="Times New Roman"/>
              </a:rPr>
              <a:t>G</a:t>
            </a:r>
            <a:r>
              <a:rPr sz="1650" spc="44" baseline="-15151" dirty="0">
                <a:latin typeface="Times New Roman"/>
                <a:cs typeface="Times New Roman"/>
              </a:rPr>
              <a:t>(</a:t>
            </a:r>
            <a:r>
              <a:rPr sz="1650" spc="75" baseline="-15151" dirty="0">
                <a:latin typeface="Times New Roman"/>
                <a:cs typeface="Times New Roman"/>
              </a:rPr>
              <a:t>h</a:t>
            </a:r>
            <a:r>
              <a:rPr sz="1650" spc="44" baseline="-15151" dirty="0">
                <a:latin typeface="Times New Roman"/>
                <a:cs typeface="Times New Roman"/>
              </a:rPr>
              <a:t>r</a:t>
            </a:r>
            <a:r>
              <a:rPr sz="1650" spc="15" baseline="-15151" dirty="0">
                <a:latin typeface="Times New Roman"/>
                <a:cs typeface="Times New Roman"/>
              </a:rPr>
              <a:t>e</a:t>
            </a:r>
            <a:r>
              <a:rPr sz="1650" baseline="-15151" dirty="0">
                <a:latin typeface="Times New Roman"/>
                <a:cs typeface="Times New Roman"/>
              </a:rPr>
              <a:t>)</a:t>
            </a:r>
            <a:r>
              <a:rPr sz="1650" spc="82" baseline="-15151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ca</a:t>
            </a:r>
            <a:r>
              <a:rPr sz="1600" dirty="0">
                <a:latin typeface="Times New Roman"/>
                <a:cs typeface="Times New Roman"/>
              </a:rPr>
              <a:t>n</a:t>
            </a:r>
            <a:r>
              <a:rPr sz="1600" spc="-100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a</a:t>
            </a:r>
            <a:r>
              <a:rPr sz="1600" spc="-45" dirty="0">
                <a:latin typeface="Times New Roman"/>
                <a:cs typeface="Times New Roman"/>
              </a:rPr>
              <a:t>l</a:t>
            </a:r>
            <a:r>
              <a:rPr sz="1600" spc="-25" dirty="0">
                <a:latin typeface="Times New Roman"/>
                <a:cs typeface="Times New Roman"/>
              </a:rPr>
              <a:t>s</a:t>
            </a:r>
            <a:r>
              <a:rPr sz="1600" dirty="0">
                <a:latin typeface="Times New Roman"/>
                <a:cs typeface="Times New Roman"/>
              </a:rPr>
              <a:t>o</a:t>
            </a:r>
            <a:r>
              <a:rPr sz="1600" spc="10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be</a:t>
            </a:r>
            <a:r>
              <a:rPr sz="1600" spc="-15" dirty="0">
                <a:latin typeface="Times New Roman"/>
                <a:cs typeface="Times New Roman"/>
              </a:rPr>
              <a:t> ca</a:t>
            </a:r>
            <a:r>
              <a:rPr sz="1600" spc="-45" dirty="0">
                <a:latin typeface="Times New Roman"/>
                <a:cs typeface="Times New Roman"/>
              </a:rPr>
              <a:t>l</a:t>
            </a:r>
            <a:r>
              <a:rPr sz="1600" spc="-15" dirty="0">
                <a:latin typeface="Times New Roman"/>
                <a:cs typeface="Times New Roman"/>
              </a:rPr>
              <a:t>c</a:t>
            </a:r>
            <a:r>
              <a:rPr sz="1600" dirty="0">
                <a:latin typeface="Times New Roman"/>
                <a:cs typeface="Times New Roman"/>
              </a:rPr>
              <a:t>u</a:t>
            </a:r>
            <a:r>
              <a:rPr sz="1600" spc="-45" dirty="0">
                <a:latin typeface="Times New Roman"/>
                <a:cs typeface="Times New Roman"/>
              </a:rPr>
              <a:t>l</a:t>
            </a:r>
            <a:r>
              <a:rPr sz="1600" spc="-15" dirty="0">
                <a:latin typeface="Times New Roman"/>
                <a:cs typeface="Times New Roman"/>
              </a:rPr>
              <a:t>a</a:t>
            </a:r>
            <a:r>
              <a:rPr sz="1600" spc="-45" dirty="0">
                <a:latin typeface="Times New Roman"/>
                <a:cs typeface="Times New Roman"/>
              </a:rPr>
              <a:t>t</a:t>
            </a:r>
            <a:r>
              <a:rPr sz="1600" spc="-15" dirty="0">
                <a:latin typeface="Times New Roman"/>
                <a:cs typeface="Times New Roman"/>
              </a:rPr>
              <a:t>e</a:t>
            </a:r>
            <a:r>
              <a:rPr sz="1600" dirty="0">
                <a:latin typeface="Times New Roman"/>
                <a:cs typeface="Times New Roman"/>
              </a:rPr>
              <a:t>d</a:t>
            </a:r>
            <a:r>
              <a:rPr sz="1600" spc="20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u</a:t>
            </a:r>
            <a:r>
              <a:rPr sz="1600" spc="-25" dirty="0">
                <a:latin typeface="Times New Roman"/>
                <a:cs typeface="Times New Roman"/>
              </a:rPr>
              <a:t>s</a:t>
            </a:r>
            <a:r>
              <a:rPr sz="1600" spc="-45" dirty="0">
                <a:latin typeface="Times New Roman"/>
                <a:cs typeface="Times New Roman"/>
              </a:rPr>
              <a:t>i</a:t>
            </a:r>
            <a:r>
              <a:rPr sz="1600" dirty="0">
                <a:latin typeface="Times New Roman"/>
                <a:cs typeface="Times New Roman"/>
              </a:rPr>
              <a:t>ng </a:t>
            </a:r>
            <a:r>
              <a:rPr sz="1600" spc="-45" dirty="0">
                <a:latin typeface="Times New Roman"/>
                <a:cs typeface="Times New Roman"/>
              </a:rPr>
              <a:t>t</a:t>
            </a:r>
            <a:r>
              <a:rPr sz="1600" dirty="0">
                <a:latin typeface="Times New Roman"/>
                <a:cs typeface="Times New Roman"/>
              </a:rPr>
              <a:t>he</a:t>
            </a:r>
            <a:r>
              <a:rPr sz="1600" spc="85" dirty="0">
                <a:latin typeface="Times New Roman"/>
                <a:cs typeface="Times New Roman"/>
              </a:rPr>
              <a:t> </a:t>
            </a:r>
            <a:r>
              <a:rPr sz="1600" spc="-35" dirty="0">
                <a:latin typeface="Times New Roman"/>
                <a:cs typeface="Times New Roman"/>
              </a:rPr>
              <a:t>f</a:t>
            </a:r>
            <a:r>
              <a:rPr sz="1600" dirty="0">
                <a:latin typeface="Times New Roman"/>
                <a:cs typeface="Times New Roman"/>
              </a:rPr>
              <a:t>o</a:t>
            </a:r>
            <a:r>
              <a:rPr sz="1600" spc="-45" dirty="0">
                <a:latin typeface="Times New Roman"/>
                <a:cs typeface="Times New Roman"/>
              </a:rPr>
              <a:t>ll</a:t>
            </a:r>
            <a:r>
              <a:rPr sz="1600" dirty="0">
                <a:latin typeface="Times New Roman"/>
                <a:cs typeface="Times New Roman"/>
              </a:rPr>
              <a:t>o</a:t>
            </a:r>
            <a:r>
              <a:rPr sz="1600" spc="40" dirty="0">
                <a:latin typeface="Times New Roman"/>
                <a:cs typeface="Times New Roman"/>
              </a:rPr>
              <a:t>w</a:t>
            </a:r>
            <a:r>
              <a:rPr sz="1600" spc="-45" dirty="0">
                <a:latin typeface="Times New Roman"/>
                <a:cs typeface="Times New Roman"/>
              </a:rPr>
              <a:t>i</a:t>
            </a:r>
            <a:r>
              <a:rPr sz="1600" dirty="0">
                <a:latin typeface="Times New Roman"/>
                <a:cs typeface="Times New Roman"/>
              </a:rPr>
              <a:t>ng</a:t>
            </a:r>
            <a:endParaRPr sz="1600">
              <a:latin typeface="Times New Roman"/>
              <a:cs typeface="Times New Roman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736599" y="1485899"/>
            <a:ext cx="6096000" cy="3429000"/>
            <a:chOff x="736599" y="1485899"/>
            <a:chExt cx="6096000" cy="3429000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62368" y="2589913"/>
              <a:ext cx="4523475" cy="182733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742949" y="1492249"/>
              <a:ext cx="6083300" cy="3416300"/>
            </a:xfrm>
            <a:custGeom>
              <a:avLst/>
              <a:gdLst/>
              <a:ahLst/>
              <a:cxnLst/>
              <a:rect l="l" t="t" r="r" b="b"/>
              <a:pathLst>
                <a:path w="6083300" h="3416300">
                  <a:moveTo>
                    <a:pt x="0" y="0"/>
                  </a:moveTo>
                  <a:lnTo>
                    <a:pt x="6083300" y="0"/>
                  </a:lnTo>
                  <a:lnTo>
                    <a:pt x="6083300" y="3416300"/>
                  </a:lnTo>
                  <a:lnTo>
                    <a:pt x="0" y="34163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761999" y="7041824"/>
            <a:ext cx="6070600" cy="261353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55930" marR="491490" indent="-292100">
              <a:lnSpc>
                <a:spcPct val="100000"/>
              </a:lnSpc>
              <a:spcBef>
                <a:spcPts val="2495"/>
              </a:spcBef>
              <a:buFont typeface="Wingdings"/>
              <a:buChar char=""/>
              <a:tabLst>
                <a:tab pos="456565" algn="l"/>
              </a:tabLst>
            </a:pPr>
            <a:r>
              <a:rPr sz="2000" spc="5" dirty="0">
                <a:latin typeface="Times New Roman"/>
                <a:cs typeface="Times New Roman"/>
              </a:rPr>
              <a:t>Okumura's </a:t>
            </a:r>
            <a:r>
              <a:rPr sz="2000" spc="10" dirty="0">
                <a:latin typeface="Times New Roman"/>
                <a:cs typeface="Times New Roman"/>
              </a:rPr>
              <a:t>model </a:t>
            </a:r>
            <a:r>
              <a:rPr sz="2000" spc="20" dirty="0">
                <a:latin typeface="Times New Roman"/>
                <a:cs typeface="Times New Roman"/>
              </a:rPr>
              <a:t>is </a:t>
            </a:r>
            <a:r>
              <a:rPr sz="2000" spc="10" dirty="0">
                <a:latin typeface="Times New Roman"/>
                <a:cs typeface="Times New Roman"/>
              </a:rPr>
              <a:t>considered </a:t>
            </a:r>
            <a:r>
              <a:rPr sz="2000" spc="20" dirty="0">
                <a:latin typeface="Times New Roman"/>
                <a:cs typeface="Times New Roman"/>
              </a:rPr>
              <a:t>to </a:t>
            </a:r>
            <a:r>
              <a:rPr sz="2000" dirty="0">
                <a:latin typeface="Times New Roman"/>
                <a:cs typeface="Times New Roman"/>
              </a:rPr>
              <a:t>be </a:t>
            </a:r>
            <a:r>
              <a:rPr sz="2000" spc="10" dirty="0">
                <a:latin typeface="Times New Roman"/>
                <a:cs typeface="Times New Roman"/>
              </a:rPr>
              <a:t>among the 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spc="20" dirty="0">
                <a:latin typeface="Times New Roman"/>
                <a:cs typeface="Times New Roman"/>
              </a:rPr>
              <a:t>s</a:t>
            </a:r>
            <a:r>
              <a:rPr sz="2000" spc="40" dirty="0">
                <a:latin typeface="Times New Roman"/>
                <a:cs typeface="Times New Roman"/>
              </a:rPr>
              <a:t>im</a:t>
            </a:r>
            <a:r>
              <a:rPr sz="2000" dirty="0">
                <a:latin typeface="Times New Roman"/>
                <a:cs typeface="Times New Roman"/>
              </a:rPr>
              <a:t>p</a:t>
            </a:r>
            <a:r>
              <a:rPr sz="2000" spc="40" dirty="0">
                <a:latin typeface="Times New Roman"/>
                <a:cs typeface="Times New Roman"/>
              </a:rPr>
              <a:t>l</a:t>
            </a:r>
            <a:r>
              <a:rPr sz="2000" spc="10" dirty="0">
                <a:latin typeface="Times New Roman"/>
                <a:cs typeface="Times New Roman"/>
              </a:rPr>
              <a:t>e</a:t>
            </a:r>
            <a:r>
              <a:rPr sz="2000" spc="20" dirty="0">
                <a:latin typeface="Times New Roman"/>
                <a:cs typeface="Times New Roman"/>
              </a:rPr>
              <a:t>s</a:t>
            </a:r>
            <a:r>
              <a:rPr sz="2000" dirty="0">
                <a:latin typeface="Times New Roman"/>
                <a:cs typeface="Times New Roman"/>
              </a:rPr>
              <a:t>t</a:t>
            </a:r>
            <a:r>
              <a:rPr sz="2000" spc="-160" dirty="0">
                <a:latin typeface="Times New Roman"/>
                <a:cs typeface="Times New Roman"/>
              </a:rPr>
              <a:t> </a:t>
            </a:r>
            <a:r>
              <a:rPr sz="2000" spc="10" dirty="0">
                <a:latin typeface="Times New Roman"/>
                <a:cs typeface="Times New Roman"/>
              </a:rPr>
              <a:t>a</a:t>
            </a:r>
            <a:r>
              <a:rPr sz="2000" dirty="0">
                <a:latin typeface="Times New Roman"/>
                <a:cs typeface="Times New Roman"/>
              </a:rPr>
              <a:t>nd b</a:t>
            </a:r>
            <a:r>
              <a:rPr sz="2000" spc="10" dirty="0">
                <a:latin typeface="Times New Roman"/>
                <a:cs typeface="Times New Roman"/>
              </a:rPr>
              <a:t>e</a:t>
            </a:r>
            <a:r>
              <a:rPr sz="2000" spc="20" dirty="0">
                <a:latin typeface="Times New Roman"/>
                <a:cs typeface="Times New Roman"/>
              </a:rPr>
              <a:t>s</a:t>
            </a:r>
            <a:r>
              <a:rPr sz="2000" dirty="0">
                <a:latin typeface="Times New Roman"/>
                <a:cs typeface="Times New Roman"/>
              </a:rPr>
              <a:t>t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spc="40" dirty="0">
                <a:latin typeface="Times New Roman"/>
                <a:cs typeface="Times New Roman"/>
              </a:rPr>
              <a:t>i</a:t>
            </a:r>
            <a:r>
              <a:rPr sz="2000" dirty="0">
                <a:latin typeface="Times New Roman"/>
                <a:cs typeface="Times New Roman"/>
              </a:rPr>
              <a:t>n</a:t>
            </a:r>
            <a:r>
              <a:rPr sz="2000" spc="-100" dirty="0">
                <a:latin typeface="Times New Roman"/>
                <a:cs typeface="Times New Roman"/>
              </a:rPr>
              <a:t> </a:t>
            </a:r>
            <a:r>
              <a:rPr sz="2000" spc="40" dirty="0">
                <a:latin typeface="Times New Roman"/>
                <a:cs typeface="Times New Roman"/>
              </a:rPr>
              <a:t>t</a:t>
            </a:r>
            <a:r>
              <a:rPr sz="2000" spc="10" dirty="0">
                <a:latin typeface="Times New Roman"/>
                <a:cs typeface="Times New Roman"/>
              </a:rPr>
              <a:t>e</a:t>
            </a:r>
            <a:r>
              <a:rPr sz="2000" spc="30" dirty="0">
                <a:latin typeface="Times New Roman"/>
                <a:cs typeface="Times New Roman"/>
              </a:rPr>
              <a:t>r</a:t>
            </a:r>
            <a:r>
              <a:rPr sz="2000" spc="40" dirty="0">
                <a:latin typeface="Times New Roman"/>
                <a:cs typeface="Times New Roman"/>
              </a:rPr>
              <a:t>m</a:t>
            </a:r>
            <a:r>
              <a:rPr sz="2000" dirty="0">
                <a:latin typeface="Times New Roman"/>
                <a:cs typeface="Times New Roman"/>
              </a:rPr>
              <a:t>s</a:t>
            </a:r>
            <a:r>
              <a:rPr sz="2000" spc="-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spc="10" dirty="0">
                <a:latin typeface="Times New Roman"/>
                <a:cs typeface="Times New Roman"/>
              </a:rPr>
              <a:t>acc</a:t>
            </a:r>
            <a:r>
              <a:rPr sz="2000" dirty="0">
                <a:latin typeface="Times New Roman"/>
                <a:cs typeface="Times New Roman"/>
              </a:rPr>
              <a:t>u</a:t>
            </a:r>
            <a:r>
              <a:rPr sz="2000" spc="30" dirty="0">
                <a:latin typeface="Times New Roman"/>
                <a:cs typeface="Times New Roman"/>
              </a:rPr>
              <a:t>r</a:t>
            </a:r>
            <a:r>
              <a:rPr sz="2000" spc="10" dirty="0">
                <a:latin typeface="Times New Roman"/>
                <a:cs typeface="Times New Roman"/>
              </a:rPr>
              <a:t>ac</a:t>
            </a:r>
            <a:r>
              <a:rPr sz="2000" dirty="0">
                <a:latin typeface="Times New Roman"/>
                <a:cs typeface="Times New Roman"/>
              </a:rPr>
              <a:t>y</a:t>
            </a:r>
            <a:r>
              <a:rPr sz="2000" spc="-100" dirty="0">
                <a:latin typeface="Times New Roman"/>
                <a:cs typeface="Times New Roman"/>
              </a:rPr>
              <a:t> </a:t>
            </a:r>
            <a:r>
              <a:rPr sz="2000" spc="40" dirty="0">
                <a:latin typeface="Times New Roman"/>
                <a:cs typeface="Times New Roman"/>
              </a:rPr>
              <a:t>i</a:t>
            </a:r>
            <a:r>
              <a:rPr sz="2000" dirty="0">
                <a:latin typeface="Times New Roman"/>
                <a:cs typeface="Times New Roman"/>
              </a:rPr>
              <a:t>n</a:t>
            </a:r>
            <a:r>
              <a:rPr sz="2000" spc="-1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</a:t>
            </a:r>
            <a:r>
              <a:rPr sz="2000" spc="10" dirty="0">
                <a:latin typeface="Times New Roman"/>
                <a:cs typeface="Times New Roman"/>
              </a:rPr>
              <a:t>a</a:t>
            </a:r>
            <a:r>
              <a:rPr sz="2000" spc="40" dirty="0">
                <a:latin typeface="Times New Roman"/>
                <a:cs typeface="Times New Roman"/>
              </a:rPr>
              <a:t>t</a:t>
            </a:r>
            <a:r>
              <a:rPr sz="2000" dirty="0">
                <a:latin typeface="Times New Roman"/>
                <a:cs typeface="Times New Roman"/>
              </a:rPr>
              <a:t>h </a:t>
            </a:r>
            <a:r>
              <a:rPr sz="2000" spc="40" dirty="0">
                <a:latin typeface="Times New Roman"/>
                <a:cs typeface="Times New Roman"/>
              </a:rPr>
              <a:t>l</a:t>
            </a:r>
            <a:r>
              <a:rPr sz="2000" dirty="0">
                <a:latin typeface="Times New Roman"/>
                <a:cs typeface="Times New Roman"/>
              </a:rPr>
              <a:t>o</a:t>
            </a:r>
            <a:r>
              <a:rPr sz="2000" spc="20" dirty="0">
                <a:latin typeface="Times New Roman"/>
                <a:cs typeface="Times New Roman"/>
              </a:rPr>
              <a:t>s</a:t>
            </a:r>
            <a:r>
              <a:rPr sz="2000" dirty="0">
                <a:latin typeface="Times New Roman"/>
                <a:cs typeface="Times New Roman"/>
              </a:rPr>
              <a:t>s  </a:t>
            </a:r>
            <a:r>
              <a:rPr sz="2000" spc="15" dirty="0">
                <a:latin typeface="Times New Roman"/>
                <a:cs typeface="Times New Roman"/>
              </a:rPr>
              <a:t>prediction</a:t>
            </a:r>
            <a:endParaRPr sz="2000" dirty="0">
              <a:latin typeface="Times New Roman"/>
              <a:cs typeface="Times New Roman"/>
            </a:endParaRPr>
          </a:p>
          <a:p>
            <a:pPr marL="455930" marR="483234" indent="-292100">
              <a:lnSpc>
                <a:spcPct val="100000"/>
              </a:lnSpc>
              <a:buFont typeface="Wingdings"/>
              <a:buChar char=""/>
              <a:tabLst>
                <a:tab pos="456565" algn="l"/>
              </a:tabLst>
            </a:pPr>
            <a:r>
              <a:rPr sz="2000" spc="-25" dirty="0">
                <a:latin typeface="Times New Roman"/>
                <a:cs typeface="Times New Roman"/>
              </a:rPr>
              <a:t>T</a:t>
            </a:r>
            <a:r>
              <a:rPr sz="2000" dirty="0">
                <a:latin typeface="Times New Roman"/>
                <a:cs typeface="Times New Roman"/>
              </a:rPr>
              <a:t>he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spc="40" dirty="0">
                <a:latin typeface="Times New Roman"/>
                <a:cs typeface="Times New Roman"/>
              </a:rPr>
              <a:t>m</a:t>
            </a:r>
            <a:r>
              <a:rPr sz="2000" spc="10" dirty="0">
                <a:latin typeface="Times New Roman"/>
                <a:cs typeface="Times New Roman"/>
              </a:rPr>
              <a:t>a</a:t>
            </a:r>
            <a:r>
              <a:rPr sz="2000" spc="40" dirty="0">
                <a:latin typeface="Times New Roman"/>
                <a:cs typeface="Times New Roman"/>
              </a:rPr>
              <a:t>j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</a:t>
            </a:r>
            <a:r>
              <a:rPr sz="2000" spc="40" dirty="0">
                <a:latin typeface="Times New Roman"/>
                <a:cs typeface="Times New Roman"/>
              </a:rPr>
              <a:t>i</a:t>
            </a:r>
            <a:r>
              <a:rPr sz="2000" spc="20" dirty="0">
                <a:latin typeface="Times New Roman"/>
                <a:cs typeface="Times New Roman"/>
              </a:rPr>
              <a:t>s</a:t>
            </a:r>
            <a:r>
              <a:rPr sz="2000" spc="10" dirty="0">
                <a:latin typeface="Times New Roman"/>
                <a:cs typeface="Times New Roman"/>
              </a:rPr>
              <a:t>a</a:t>
            </a:r>
            <a:r>
              <a:rPr sz="2000" dirty="0">
                <a:latin typeface="Times New Roman"/>
                <a:cs typeface="Times New Roman"/>
              </a:rPr>
              <a:t>dv</a:t>
            </a:r>
            <a:r>
              <a:rPr sz="2000" spc="10" dirty="0">
                <a:latin typeface="Times New Roman"/>
                <a:cs typeface="Times New Roman"/>
              </a:rPr>
              <a:t>a</a:t>
            </a:r>
            <a:r>
              <a:rPr sz="2000" dirty="0">
                <a:latin typeface="Times New Roman"/>
                <a:cs typeface="Times New Roman"/>
              </a:rPr>
              <a:t>n</a:t>
            </a:r>
            <a:r>
              <a:rPr sz="2000" spc="40" dirty="0">
                <a:latin typeface="Times New Roman"/>
                <a:cs typeface="Times New Roman"/>
              </a:rPr>
              <a:t>t</a:t>
            </a:r>
            <a:r>
              <a:rPr sz="2000" spc="10" dirty="0">
                <a:latin typeface="Times New Roman"/>
                <a:cs typeface="Times New Roman"/>
              </a:rPr>
              <a:t>a</a:t>
            </a:r>
            <a:r>
              <a:rPr sz="2000" dirty="0">
                <a:latin typeface="Times New Roman"/>
                <a:cs typeface="Times New Roman"/>
              </a:rPr>
              <a:t>ge</a:t>
            </a:r>
            <a:r>
              <a:rPr sz="2000" spc="-190" dirty="0">
                <a:latin typeface="Times New Roman"/>
                <a:cs typeface="Times New Roman"/>
              </a:rPr>
              <a:t> </a:t>
            </a:r>
            <a:r>
              <a:rPr sz="2000" spc="-45" dirty="0">
                <a:latin typeface="Times New Roman"/>
                <a:cs typeface="Times New Roman"/>
              </a:rPr>
              <a:t>w</a:t>
            </a:r>
            <a:r>
              <a:rPr sz="2000" spc="40" dirty="0">
                <a:latin typeface="Times New Roman"/>
                <a:cs typeface="Times New Roman"/>
              </a:rPr>
              <a:t>it</a:t>
            </a:r>
            <a:r>
              <a:rPr sz="2000" dirty="0">
                <a:latin typeface="Times New Roman"/>
                <a:cs typeface="Times New Roman"/>
              </a:rPr>
              <a:t>h </a:t>
            </a:r>
            <a:r>
              <a:rPr sz="2000" spc="40" dirty="0">
                <a:latin typeface="Times New Roman"/>
                <a:cs typeface="Times New Roman"/>
              </a:rPr>
              <a:t>t</a:t>
            </a:r>
            <a:r>
              <a:rPr sz="2000" dirty="0">
                <a:latin typeface="Times New Roman"/>
                <a:cs typeface="Times New Roman"/>
              </a:rPr>
              <a:t>he</a:t>
            </a:r>
            <a:r>
              <a:rPr sz="2000" spc="-90" dirty="0">
                <a:latin typeface="Times New Roman"/>
                <a:cs typeface="Times New Roman"/>
              </a:rPr>
              <a:t> </a:t>
            </a:r>
            <a:r>
              <a:rPr sz="2000" spc="40" dirty="0">
                <a:latin typeface="Times New Roman"/>
                <a:cs typeface="Times New Roman"/>
              </a:rPr>
              <a:t>m</a:t>
            </a:r>
            <a:r>
              <a:rPr sz="2000" dirty="0">
                <a:latin typeface="Times New Roman"/>
                <a:cs typeface="Times New Roman"/>
              </a:rPr>
              <a:t>od</a:t>
            </a:r>
            <a:r>
              <a:rPr sz="2000" spc="10" dirty="0">
                <a:latin typeface="Times New Roman"/>
                <a:cs typeface="Times New Roman"/>
              </a:rPr>
              <a:t>e</a:t>
            </a:r>
            <a:r>
              <a:rPr sz="2000" dirty="0">
                <a:latin typeface="Times New Roman"/>
                <a:cs typeface="Times New Roman"/>
              </a:rPr>
              <a:t>l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spc="40" dirty="0">
                <a:latin typeface="Times New Roman"/>
                <a:cs typeface="Times New Roman"/>
              </a:rPr>
              <a:t>i</a:t>
            </a:r>
            <a:r>
              <a:rPr sz="2000" dirty="0">
                <a:latin typeface="Times New Roman"/>
                <a:cs typeface="Times New Roman"/>
              </a:rPr>
              <a:t>s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spc="40" dirty="0">
                <a:latin typeface="Times New Roman"/>
                <a:cs typeface="Times New Roman"/>
              </a:rPr>
              <a:t>it</a:t>
            </a:r>
            <a:r>
              <a:rPr sz="2000" dirty="0">
                <a:latin typeface="Times New Roman"/>
                <a:cs typeface="Times New Roman"/>
              </a:rPr>
              <a:t>s</a:t>
            </a:r>
            <a:r>
              <a:rPr sz="2000" spc="-80" dirty="0">
                <a:latin typeface="Times New Roman"/>
                <a:cs typeface="Times New Roman"/>
              </a:rPr>
              <a:t> </a:t>
            </a:r>
            <a:r>
              <a:rPr sz="2000" spc="20" dirty="0">
                <a:latin typeface="Times New Roman"/>
                <a:cs typeface="Times New Roman"/>
              </a:rPr>
              <a:t>s</a:t>
            </a:r>
            <a:r>
              <a:rPr sz="2000" spc="40" dirty="0">
                <a:latin typeface="Times New Roman"/>
                <a:cs typeface="Times New Roman"/>
              </a:rPr>
              <a:t>l</a:t>
            </a:r>
            <a:r>
              <a:rPr sz="2000" dirty="0">
                <a:latin typeface="Times New Roman"/>
                <a:cs typeface="Times New Roman"/>
              </a:rPr>
              <a:t>ow  </a:t>
            </a:r>
            <a:r>
              <a:rPr sz="2000" spc="10" dirty="0">
                <a:latin typeface="Times New Roman"/>
                <a:cs typeface="Times New Roman"/>
              </a:rPr>
              <a:t>response</a:t>
            </a:r>
            <a:r>
              <a:rPr sz="2000" spc="-95" dirty="0">
                <a:latin typeface="Times New Roman"/>
                <a:cs typeface="Times New Roman"/>
              </a:rPr>
              <a:t> </a:t>
            </a:r>
            <a:r>
              <a:rPr sz="2000" spc="20" dirty="0">
                <a:latin typeface="Times New Roman"/>
                <a:cs typeface="Times New Roman"/>
              </a:rPr>
              <a:t>to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15" dirty="0">
                <a:latin typeface="Times New Roman"/>
                <a:cs typeface="Times New Roman"/>
              </a:rPr>
              <a:t>rapid</a:t>
            </a:r>
            <a:r>
              <a:rPr sz="2000" spc="-1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changes</a:t>
            </a:r>
            <a:r>
              <a:rPr sz="2000" spc="-85" dirty="0">
                <a:latin typeface="Times New Roman"/>
                <a:cs typeface="Times New Roman"/>
              </a:rPr>
              <a:t> </a:t>
            </a:r>
            <a:r>
              <a:rPr sz="2000" spc="20" dirty="0">
                <a:latin typeface="Times New Roman"/>
                <a:cs typeface="Times New Roman"/>
              </a:rPr>
              <a:t>in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20" dirty="0">
                <a:latin typeface="Times New Roman"/>
                <a:cs typeface="Times New Roman"/>
              </a:rPr>
              <a:t>terrain</a:t>
            </a:r>
            <a:endParaRPr sz="2000" dirty="0">
              <a:latin typeface="Times New Roman"/>
              <a:cs typeface="Times New Roman"/>
            </a:endParaRPr>
          </a:p>
          <a:p>
            <a:pPr marL="455930" marR="298450" indent="-292100">
              <a:lnSpc>
                <a:spcPct val="100000"/>
              </a:lnSpc>
              <a:buFont typeface="Wingdings"/>
              <a:buChar char=""/>
              <a:tabLst>
                <a:tab pos="456565" algn="l"/>
                <a:tab pos="2893695" algn="l"/>
              </a:tabLst>
            </a:pPr>
            <a:r>
              <a:rPr sz="2000" spc="-25" dirty="0">
                <a:latin typeface="Times New Roman"/>
                <a:cs typeface="Times New Roman"/>
              </a:rPr>
              <a:t>T</a:t>
            </a:r>
            <a:r>
              <a:rPr sz="2000" dirty="0">
                <a:latin typeface="Times New Roman"/>
                <a:cs typeface="Times New Roman"/>
              </a:rPr>
              <a:t>h</a:t>
            </a:r>
            <a:r>
              <a:rPr sz="2000" spc="10" dirty="0">
                <a:latin typeface="Times New Roman"/>
                <a:cs typeface="Times New Roman"/>
              </a:rPr>
              <a:t>e</a:t>
            </a:r>
            <a:r>
              <a:rPr sz="2000" spc="30" dirty="0">
                <a:latin typeface="Times New Roman"/>
                <a:cs typeface="Times New Roman"/>
              </a:rPr>
              <a:t>r</a:t>
            </a:r>
            <a:r>
              <a:rPr sz="2000" spc="10" dirty="0">
                <a:latin typeface="Times New Roman"/>
                <a:cs typeface="Times New Roman"/>
              </a:rPr>
              <a:t>e</a:t>
            </a:r>
            <a:r>
              <a:rPr sz="2000" spc="30" dirty="0">
                <a:latin typeface="Times New Roman"/>
                <a:cs typeface="Times New Roman"/>
              </a:rPr>
              <a:t>f</a:t>
            </a:r>
            <a:r>
              <a:rPr sz="2000" dirty="0">
                <a:latin typeface="Times New Roman"/>
                <a:cs typeface="Times New Roman"/>
              </a:rPr>
              <a:t>o</a:t>
            </a:r>
            <a:r>
              <a:rPr sz="2000" spc="30" dirty="0">
                <a:latin typeface="Times New Roman"/>
                <a:cs typeface="Times New Roman"/>
              </a:rPr>
              <a:t>r</a:t>
            </a:r>
            <a:r>
              <a:rPr sz="2000" dirty="0">
                <a:latin typeface="Times New Roman"/>
                <a:cs typeface="Times New Roman"/>
              </a:rPr>
              <a:t>e</a:t>
            </a:r>
            <a:r>
              <a:rPr sz="2000" spc="-90" dirty="0">
                <a:latin typeface="Times New Roman"/>
                <a:cs typeface="Times New Roman"/>
              </a:rPr>
              <a:t> </a:t>
            </a:r>
            <a:r>
              <a:rPr sz="2000" spc="40" dirty="0">
                <a:latin typeface="Times New Roman"/>
                <a:cs typeface="Times New Roman"/>
              </a:rPr>
              <a:t>t</a:t>
            </a:r>
            <a:r>
              <a:rPr sz="2000" dirty="0">
                <a:latin typeface="Times New Roman"/>
                <a:cs typeface="Times New Roman"/>
              </a:rPr>
              <a:t>he</a:t>
            </a:r>
            <a:r>
              <a:rPr sz="2000" spc="-90" dirty="0">
                <a:latin typeface="Times New Roman"/>
                <a:cs typeface="Times New Roman"/>
              </a:rPr>
              <a:t> </a:t>
            </a:r>
            <a:r>
              <a:rPr sz="2000" spc="40" dirty="0">
                <a:latin typeface="Times New Roman"/>
                <a:cs typeface="Times New Roman"/>
              </a:rPr>
              <a:t>m</a:t>
            </a:r>
            <a:r>
              <a:rPr sz="2000" dirty="0">
                <a:latin typeface="Times New Roman"/>
                <a:cs typeface="Times New Roman"/>
              </a:rPr>
              <a:t>od</a:t>
            </a:r>
            <a:r>
              <a:rPr sz="2000" spc="10" dirty="0">
                <a:latin typeface="Times New Roman"/>
                <a:cs typeface="Times New Roman"/>
              </a:rPr>
              <a:t>e</a:t>
            </a:r>
            <a:r>
              <a:rPr sz="2000" dirty="0">
                <a:latin typeface="Times New Roman"/>
                <a:cs typeface="Times New Roman"/>
              </a:rPr>
              <a:t>l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spc="40" dirty="0">
                <a:latin typeface="Times New Roman"/>
                <a:cs typeface="Times New Roman"/>
              </a:rPr>
              <a:t>i</a:t>
            </a:r>
            <a:r>
              <a:rPr sz="2000" dirty="0">
                <a:latin typeface="Times New Roman"/>
                <a:cs typeface="Times New Roman"/>
              </a:rPr>
              <a:t>s	</a:t>
            </a:r>
            <a:r>
              <a:rPr sz="2000" spc="30" dirty="0">
                <a:latin typeface="Times New Roman"/>
                <a:cs typeface="Times New Roman"/>
              </a:rPr>
              <a:t>f</a:t>
            </a:r>
            <a:r>
              <a:rPr sz="2000" spc="10" dirty="0">
                <a:latin typeface="Times New Roman"/>
                <a:cs typeface="Times New Roman"/>
              </a:rPr>
              <a:t>a</a:t>
            </a:r>
            <a:r>
              <a:rPr sz="2000" spc="40" dirty="0">
                <a:latin typeface="Times New Roman"/>
                <a:cs typeface="Times New Roman"/>
              </a:rPr>
              <a:t>i</a:t>
            </a:r>
            <a:r>
              <a:rPr sz="2000" spc="30" dirty="0">
                <a:latin typeface="Times New Roman"/>
                <a:cs typeface="Times New Roman"/>
              </a:rPr>
              <a:t>r</a:t>
            </a:r>
            <a:r>
              <a:rPr sz="2000" spc="40" dirty="0">
                <a:latin typeface="Times New Roman"/>
                <a:cs typeface="Times New Roman"/>
              </a:rPr>
              <a:t>l</a:t>
            </a:r>
            <a:r>
              <a:rPr sz="2000" dirty="0">
                <a:latin typeface="Times New Roman"/>
                <a:cs typeface="Times New Roman"/>
              </a:rPr>
              <a:t>y</a:t>
            </a:r>
            <a:r>
              <a:rPr sz="2000" spc="-2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good </a:t>
            </a:r>
            <a:r>
              <a:rPr sz="2000" spc="40" dirty="0">
                <a:latin typeface="Times New Roman"/>
                <a:cs typeface="Times New Roman"/>
              </a:rPr>
              <a:t>i</a:t>
            </a:r>
            <a:r>
              <a:rPr sz="2000" dirty="0">
                <a:latin typeface="Times New Roman"/>
                <a:cs typeface="Times New Roman"/>
              </a:rPr>
              <a:t>n u</a:t>
            </a:r>
            <a:r>
              <a:rPr sz="2000" spc="30" dirty="0">
                <a:latin typeface="Times New Roman"/>
                <a:cs typeface="Times New Roman"/>
              </a:rPr>
              <a:t>r</a:t>
            </a:r>
            <a:r>
              <a:rPr sz="2000" dirty="0">
                <a:latin typeface="Times New Roman"/>
                <a:cs typeface="Times New Roman"/>
              </a:rPr>
              <a:t>b</a:t>
            </a:r>
            <a:r>
              <a:rPr sz="2000" spc="10" dirty="0">
                <a:latin typeface="Times New Roman"/>
                <a:cs typeface="Times New Roman"/>
              </a:rPr>
              <a:t>a</a:t>
            </a:r>
            <a:r>
              <a:rPr sz="2000" dirty="0">
                <a:latin typeface="Times New Roman"/>
                <a:cs typeface="Times New Roman"/>
              </a:rPr>
              <a:t>n</a:t>
            </a:r>
            <a:r>
              <a:rPr sz="2000" spc="-100" dirty="0">
                <a:latin typeface="Times New Roman"/>
                <a:cs typeface="Times New Roman"/>
              </a:rPr>
              <a:t> </a:t>
            </a:r>
            <a:r>
              <a:rPr sz="2000" spc="10" dirty="0">
                <a:latin typeface="Times New Roman"/>
                <a:cs typeface="Times New Roman"/>
              </a:rPr>
              <a:t>a</a:t>
            </a:r>
            <a:r>
              <a:rPr sz="2000" dirty="0">
                <a:latin typeface="Times New Roman"/>
                <a:cs typeface="Times New Roman"/>
              </a:rPr>
              <a:t>nd </a:t>
            </a:r>
            <a:r>
              <a:rPr sz="2000" spc="20" dirty="0">
                <a:latin typeface="Times New Roman"/>
                <a:cs typeface="Times New Roman"/>
              </a:rPr>
              <a:t>s</a:t>
            </a:r>
            <a:r>
              <a:rPr sz="2000" dirty="0">
                <a:latin typeface="Times New Roman"/>
                <a:cs typeface="Times New Roman"/>
              </a:rPr>
              <a:t>ub  </a:t>
            </a:r>
            <a:r>
              <a:rPr sz="2000" spc="5" dirty="0">
                <a:latin typeface="Times New Roman"/>
                <a:cs typeface="Times New Roman"/>
              </a:rPr>
              <a:t>urban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10" dirty="0">
                <a:latin typeface="Times New Roman"/>
                <a:cs typeface="Times New Roman"/>
              </a:rPr>
              <a:t>areas</a:t>
            </a:r>
            <a:r>
              <a:rPr sz="2000" spc="-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but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not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good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20" dirty="0">
                <a:latin typeface="Times New Roman"/>
                <a:cs typeface="Times New Roman"/>
              </a:rPr>
              <a:t>in</a:t>
            </a:r>
            <a:r>
              <a:rPr sz="2000" spc="-100" dirty="0">
                <a:latin typeface="Times New Roman"/>
                <a:cs typeface="Times New Roman"/>
              </a:rPr>
              <a:t> </a:t>
            </a:r>
            <a:r>
              <a:rPr sz="2000" spc="10" dirty="0">
                <a:latin typeface="Times New Roman"/>
                <a:cs typeface="Times New Roman"/>
              </a:rPr>
              <a:t>rural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spc="10" dirty="0">
                <a:latin typeface="Times New Roman"/>
                <a:cs typeface="Times New Roman"/>
              </a:rPr>
              <a:t>areas.</a:t>
            </a:r>
            <a:endParaRPr sz="2000" dirty="0">
              <a:latin typeface="Times New Roman"/>
              <a:cs typeface="Times New Roman"/>
            </a:endParaRPr>
          </a:p>
          <a:p>
            <a:pPr marL="33020">
              <a:lnSpc>
                <a:spcPct val="100000"/>
              </a:lnSpc>
              <a:spcBef>
                <a:spcPts val="1755"/>
              </a:spcBef>
              <a:tabLst>
                <a:tab pos="5518785" algn="l"/>
              </a:tabLst>
            </a:pP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694054" y="6557963"/>
            <a:ext cx="6083300" cy="3416300"/>
          </a:xfrm>
          <a:custGeom>
            <a:avLst/>
            <a:gdLst/>
            <a:ahLst/>
            <a:cxnLst/>
            <a:rect l="l" t="t" r="r" b="b"/>
            <a:pathLst>
              <a:path w="6083300" h="3416300">
                <a:moveTo>
                  <a:pt x="0" y="0"/>
                </a:moveTo>
                <a:lnTo>
                  <a:pt x="6083300" y="0"/>
                </a:lnTo>
                <a:lnTo>
                  <a:pt x="6083300" y="3416300"/>
                </a:lnTo>
                <a:lnTo>
                  <a:pt x="0" y="341630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bject 22"/>
          <p:cNvSpPr txBox="1">
            <a:spLocks noGrp="1"/>
          </p:cNvSpPr>
          <p:nvPr>
            <p:ph type="sldNum" sz="quarter" idx="4294967295"/>
          </p:nvPr>
        </p:nvSpPr>
        <p:spPr>
          <a:xfrm>
            <a:off x="7300913" y="9974263"/>
            <a:ext cx="255587" cy="227012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34</a:t>
            </a:fld>
            <a:endParaRPr dirty="0"/>
          </a:p>
        </p:txBody>
      </p:sp>
      <p:sp>
        <p:nvSpPr>
          <p:cNvPr id="10" name="object 10"/>
          <p:cNvSpPr txBox="1"/>
          <p:nvPr/>
        </p:nvSpPr>
        <p:spPr>
          <a:xfrm>
            <a:off x="918138" y="2173987"/>
            <a:ext cx="5579745" cy="19691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355">
              <a:lnSpc>
                <a:spcPct val="100000"/>
              </a:lnSpc>
              <a:spcBef>
                <a:spcPts val="100"/>
              </a:spcBef>
            </a:pPr>
            <a:r>
              <a:rPr sz="2000" b="1" spc="15" dirty="0">
                <a:solidFill>
                  <a:srgbClr val="FF0000"/>
                </a:solidFill>
                <a:latin typeface="Cambria"/>
                <a:cs typeface="Cambria"/>
              </a:rPr>
              <a:t>Hata</a:t>
            </a:r>
            <a:r>
              <a:rPr sz="2000" b="1" spc="-7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b="1" spc="50" dirty="0">
                <a:solidFill>
                  <a:srgbClr val="FF0000"/>
                </a:solidFill>
                <a:latin typeface="Cambria"/>
                <a:cs typeface="Cambria"/>
              </a:rPr>
              <a:t>Model</a:t>
            </a:r>
            <a:endParaRPr sz="2000" dirty="0">
              <a:latin typeface="Cambria"/>
              <a:cs typeface="Cambria"/>
            </a:endParaRPr>
          </a:p>
          <a:p>
            <a:pPr marL="228600" marR="71120" indent="-228600">
              <a:lnSpc>
                <a:spcPct val="101600"/>
              </a:lnSpc>
              <a:spcBef>
                <a:spcPts val="1355"/>
              </a:spcBef>
              <a:buFont typeface="Wingdings"/>
              <a:buChar char=""/>
              <a:tabLst>
                <a:tab pos="228600" algn="l"/>
              </a:tabLst>
            </a:pPr>
            <a:r>
              <a:rPr sz="1600" spc="20" dirty="0">
                <a:latin typeface="Times New Roman"/>
                <a:cs typeface="Times New Roman"/>
              </a:rPr>
              <a:t>He</a:t>
            </a:r>
            <a:r>
              <a:rPr sz="1600" spc="-15" dirty="0">
                <a:latin typeface="Times New Roman"/>
                <a:cs typeface="Times New Roman"/>
              </a:rPr>
              <a:t> extended</a:t>
            </a:r>
            <a:r>
              <a:rPr sz="1600" spc="100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the </a:t>
            </a:r>
            <a:r>
              <a:rPr sz="1600" spc="-10" dirty="0">
                <a:latin typeface="Times New Roman"/>
                <a:cs typeface="Times New Roman"/>
              </a:rPr>
              <a:t>Okumura</a:t>
            </a:r>
            <a:r>
              <a:rPr sz="1600" spc="85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models</a:t>
            </a:r>
            <a:r>
              <a:rPr sz="1600" spc="75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to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include</a:t>
            </a:r>
            <a:r>
              <a:rPr sz="1600" spc="85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effects</a:t>
            </a:r>
            <a:r>
              <a:rPr sz="1600" spc="17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due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to 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diffraction,</a:t>
            </a:r>
            <a:r>
              <a:rPr sz="1600" spc="195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reflection</a:t>
            </a:r>
            <a:r>
              <a:rPr sz="1600" spc="29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and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scattering</a:t>
            </a:r>
            <a:r>
              <a:rPr sz="1600" spc="19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spc="-30" dirty="0">
                <a:latin typeface="Times New Roman"/>
                <a:cs typeface="Times New Roman"/>
              </a:rPr>
              <a:t>transmitted</a:t>
            </a:r>
            <a:r>
              <a:rPr sz="1600" spc="295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signals</a:t>
            </a:r>
            <a:r>
              <a:rPr sz="1600" spc="17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by </a:t>
            </a:r>
            <a:r>
              <a:rPr sz="1600" spc="-15" dirty="0">
                <a:latin typeface="Times New Roman"/>
                <a:cs typeface="Times New Roman"/>
              </a:rPr>
              <a:t>the </a:t>
            </a:r>
            <a:r>
              <a:rPr sz="1600" spc="-385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surrounding</a:t>
            </a:r>
            <a:r>
              <a:rPr sz="1600" spc="100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structures</a:t>
            </a:r>
            <a:r>
              <a:rPr sz="1600" spc="275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in</a:t>
            </a:r>
            <a:r>
              <a:rPr sz="1600" dirty="0">
                <a:latin typeface="Times New Roman"/>
                <a:cs typeface="Times New Roman"/>
              </a:rPr>
              <a:t> a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-30" dirty="0">
                <a:latin typeface="Times New Roman"/>
                <a:cs typeface="Times New Roman"/>
              </a:rPr>
              <a:t>city</a:t>
            </a:r>
            <a:r>
              <a:rPr sz="1600" spc="100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environment.</a:t>
            </a:r>
            <a:endParaRPr sz="1600" dirty="0">
              <a:latin typeface="Times New Roman"/>
              <a:cs typeface="Times New Roman"/>
            </a:endParaRPr>
          </a:p>
          <a:p>
            <a:pPr marL="228600" marR="5080" indent="-228600">
              <a:lnSpc>
                <a:spcPts val="1900"/>
              </a:lnSpc>
              <a:spcBef>
                <a:spcPts val="60"/>
              </a:spcBef>
              <a:buFont typeface="Wingdings"/>
              <a:buChar char=""/>
              <a:tabLst>
                <a:tab pos="228600" algn="l"/>
              </a:tabLst>
            </a:pPr>
            <a:r>
              <a:rPr sz="1600" spc="-5" dirty="0">
                <a:latin typeface="Times New Roman"/>
                <a:cs typeface="Times New Roman"/>
              </a:rPr>
              <a:t>Hata </a:t>
            </a:r>
            <a:r>
              <a:rPr sz="1600" spc="-20" dirty="0">
                <a:latin typeface="Times New Roman"/>
                <a:cs typeface="Times New Roman"/>
              </a:rPr>
              <a:t>presented</a:t>
            </a:r>
            <a:r>
              <a:rPr sz="1600" spc="-15" dirty="0">
                <a:latin typeface="Times New Roman"/>
                <a:cs typeface="Times New Roman"/>
              </a:rPr>
              <a:t> the </a:t>
            </a:r>
            <a:r>
              <a:rPr sz="1600" spc="-10" dirty="0">
                <a:latin typeface="Times New Roman"/>
                <a:cs typeface="Times New Roman"/>
              </a:rPr>
              <a:t>urban </a:t>
            </a:r>
            <a:r>
              <a:rPr sz="1600" spc="-20" dirty="0">
                <a:latin typeface="Times New Roman"/>
                <a:cs typeface="Times New Roman"/>
              </a:rPr>
              <a:t>area </a:t>
            </a:r>
            <a:r>
              <a:rPr sz="1600" spc="-15" dirty="0">
                <a:latin typeface="Times New Roman"/>
                <a:cs typeface="Times New Roman"/>
              </a:rPr>
              <a:t>propagation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loss </a:t>
            </a:r>
            <a:r>
              <a:rPr sz="1600" spc="-10" dirty="0">
                <a:latin typeface="Times New Roman"/>
                <a:cs typeface="Times New Roman"/>
              </a:rPr>
              <a:t>as </a:t>
            </a:r>
            <a:r>
              <a:rPr sz="1600" dirty="0">
                <a:latin typeface="Times New Roman"/>
                <a:cs typeface="Times New Roman"/>
              </a:rPr>
              <a:t>a </a:t>
            </a:r>
            <a:r>
              <a:rPr sz="1600" spc="-20" dirty="0">
                <a:latin typeface="Times New Roman"/>
                <a:cs typeface="Times New Roman"/>
              </a:rPr>
              <a:t>standard 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formula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and </a:t>
            </a:r>
            <a:r>
              <a:rPr sz="1600" spc="-20" dirty="0">
                <a:latin typeface="Times New Roman"/>
                <a:cs typeface="Times New Roman"/>
              </a:rPr>
              <a:t>supplied </a:t>
            </a:r>
            <a:r>
              <a:rPr sz="1600" spc="-25" dirty="0">
                <a:latin typeface="Times New Roman"/>
                <a:cs typeface="Times New Roman"/>
              </a:rPr>
              <a:t>correction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equations for </a:t>
            </a:r>
            <a:r>
              <a:rPr sz="1600" spc="-25" dirty="0">
                <a:latin typeface="Times New Roman"/>
                <a:cs typeface="Times New Roman"/>
              </a:rPr>
              <a:t>application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to </a:t>
            </a:r>
            <a:r>
              <a:rPr sz="1600" spc="-15" dirty="0">
                <a:latin typeface="Times New Roman"/>
                <a:cs typeface="Times New Roman"/>
              </a:rPr>
              <a:t>other </a:t>
            </a:r>
            <a:r>
              <a:rPr sz="1600" spc="-385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situations.</a:t>
            </a:r>
            <a:endParaRPr sz="1600" dirty="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42949" y="1492249"/>
            <a:ext cx="6083300" cy="3416300"/>
          </a:xfrm>
          <a:custGeom>
            <a:avLst/>
            <a:gdLst/>
            <a:ahLst/>
            <a:cxnLst/>
            <a:rect l="l" t="t" r="r" b="b"/>
            <a:pathLst>
              <a:path w="6083300" h="3416300">
                <a:moveTo>
                  <a:pt x="0" y="0"/>
                </a:moveTo>
                <a:lnTo>
                  <a:pt x="6083300" y="0"/>
                </a:lnTo>
                <a:lnTo>
                  <a:pt x="6083300" y="3416300"/>
                </a:lnTo>
                <a:lnTo>
                  <a:pt x="0" y="341630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750185" y="6382708"/>
            <a:ext cx="6070600" cy="864339"/>
          </a:xfrm>
          <a:prstGeom prst="rect">
            <a:avLst/>
          </a:prstGeom>
        </p:spPr>
        <p:txBody>
          <a:bodyPr vert="horz" wrap="square" lIns="0" tIns="251460" rIns="0" bIns="0" rtlCol="0">
            <a:spAutoFit/>
          </a:bodyPr>
          <a:lstStyle/>
          <a:p>
            <a:pPr marL="215265">
              <a:lnSpc>
                <a:spcPct val="100000"/>
              </a:lnSpc>
              <a:spcBef>
                <a:spcPts val="1395"/>
              </a:spcBef>
            </a:pPr>
            <a:r>
              <a:rPr sz="2000" b="1" spc="15" dirty="0">
                <a:solidFill>
                  <a:srgbClr val="FF0000"/>
                </a:solidFill>
                <a:latin typeface="Cambria"/>
                <a:cs typeface="Cambria"/>
              </a:rPr>
              <a:t>Hata</a:t>
            </a:r>
            <a:r>
              <a:rPr sz="2000" b="1" spc="-7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b="1" spc="50" dirty="0">
                <a:solidFill>
                  <a:srgbClr val="FF0000"/>
                </a:solidFill>
                <a:latin typeface="Cambria"/>
                <a:cs typeface="Cambria"/>
              </a:rPr>
              <a:t>Model</a:t>
            </a:r>
            <a:endParaRPr sz="2000" dirty="0">
              <a:latin typeface="Cambria"/>
              <a:cs typeface="Cambria"/>
            </a:endParaRPr>
          </a:p>
          <a:p>
            <a:pPr marL="168275">
              <a:lnSpc>
                <a:spcPct val="100000"/>
              </a:lnSpc>
              <a:spcBef>
                <a:spcPts val="180"/>
              </a:spcBef>
            </a:pPr>
            <a:r>
              <a:rPr sz="1800" dirty="0">
                <a:latin typeface="Times New Roman"/>
                <a:cs typeface="Times New Roman"/>
              </a:rPr>
              <a:t>Hata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model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is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restricted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to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the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following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range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parameters:</a:t>
            </a:r>
            <a:endParaRPr sz="1800" dirty="0">
              <a:latin typeface="Times New Roman"/>
              <a:cs typeface="Times New Roman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736599" y="5753100"/>
            <a:ext cx="6096000" cy="3429000"/>
            <a:chOff x="736599" y="5753100"/>
            <a:chExt cx="6096000" cy="3429000"/>
          </a:xfrm>
        </p:grpSpPr>
        <p:pic>
          <p:nvPicPr>
            <p:cNvPr id="20" name="object 2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71865" y="7410740"/>
              <a:ext cx="5618872" cy="1137778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742949" y="5759450"/>
              <a:ext cx="6083300" cy="3416300"/>
            </a:xfrm>
            <a:custGeom>
              <a:avLst/>
              <a:gdLst/>
              <a:ahLst/>
              <a:cxnLst/>
              <a:rect l="l" t="t" r="r" b="b"/>
              <a:pathLst>
                <a:path w="6083300" h="3416300">
                  <a:moveTo>
                    <a:pt x="0" y="0"/>
                  </a:moveTo>
                  <a:lnTo>
                    <a:pt x="6083300" y="0"/>
                  </a:lnTo>
                  <a:lnTo>
                    <a:pt x="6083300" y="3416300"/>
                  </a:lnTo>
                  <a:lnTo>
                    <a:pt x="0" y="34163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54011" y="455423"/>
            <a:ext cx="508634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40" dirty="0">
                <a:latin typeface="Calibri"/>
                <a:cs typeface="Calibri"/>
              </a:rPr>
              <a:t>8</a:t>
            </a:r>
            <a:r>
              <a:rPr sz="1300" spc="-5" dirty="0">
                <a:latin typeface="Calibri"/>
                <a:cs typeface="Calibri"/>
              </a:rPr>
              <a:t>/</a:t>
            </a:r>
            <a:r>
              <a:rPr sz="1300" spc="40" dirty="0">
                <a:latin typeface="Calibri"/>
                <a:cs typeface="Calibri"/>
              </a:rPr>
              <a:t>5</a:t>
            </a:r>
            <a:r>
              <a:rPr sz="1300" spc="-5" dirty="0">
                <a:latin typeface="Calibri"/>
                <a:cs typeface="Calibri"/>
              </a:rPr>
              <a:t>/</a:t>
            </a:r>
            <a:r>
              <a:rPr sz="1300" spc="40" dirty="0">
                <a:latin typeface="Calibri"/>
                <a:cs typeface="Calibri"/>
              </a:rPr>
              <a:t>20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sldNum" sz="quarter" idx="4294967295"/>
          </p:nvPr>
        </p:nvSpPr>
        <p:spPr>
          <a:xfrm>
            <a:off x="7300913" y="9974263"/>
            <a:ext cx="255587" cy="227012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35</a:t>
            </a:fld>
            <a:endParaRPr dirty="0"/>
          </a:p>
        </p:txBody>
      </p:sp>
      <p:sp>
        <p:nvSpPr>
          <p:cNvPr id="10" name="object 10"/>
          <p:cNvSpPr txBox="1"/>
          <p:nvPr/>
        </p:nvSpPr>
        <p:spPr>
          <a:xfrm>
            <a:off x="918138" y="2031379"/>
            <a:ext cx="2101215" cy="831215"/>
          </a:xfrm>
          <a:prstGeom prst="rect">
            <a:avLst/>
          </a:prstGeom>
        </p:spPr>
        <p:txBody>
          <a:bodyPr vert="horz" wrap="square" lIns="0" tIns="154940" rIns="0" bIns="0" rtlCol="0">
            <a:spAutoFit/>
          </a:bodyPr>
          <a:lstStyle/>
          <a:p>
            <a:pPr marL="46355">
              <a:lnSpc>
                <a:spcPct val="100000"/>
              </a:lnSpc>
              <a:spcBef>
                <a:spcPts val="1220"/>
              </a:spcBef>
            </a:pPr>
            <a:r>
              <a:rPr sz="2000" b="1" spc="15" dirty="0">
                <a:solidFill>
                  <a:srgbClr val="FF0000"/>
                </a:solidFill>
                <a:latin typeface="Cambria"/>
                <a:cs typeface="Cambria"/>
              </a:rPr>
              <a:t>Hata</a:t>
            </a:r>
            <a:r>
              <a:rPr sz="2000" b="1" spc="-7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b="1" spc="50" dirty="0">
                <a:solidFill>
                  <a:srgbClr val="FF0000"/>
                </a:solidFill>
                <a:latin typeface="Cambria"/>
                <a:cs typeface="Cambria"/>
              </a:rPr>
              <a:t>Model</a:t>
            </a:r>
            <a:endParaRPr sz="20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900"/>
              </a:spcBef>
            </a:pPr>
            <a:r>
              <a:rPr sz="1600" spc="5" dirty="0">
                <a:latin typeface="Times New Roman"/>
                <a:cs typeface="Times New Roman"/>
              </a:rPr>
              <a:t>The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path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loss</a:t>
            </a:r>
            <a:r>
              <a:rPr sz="1600" spc="65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is</a:t>
            </a:r>
            <a:r>
              <a:rPr sz="1600" spc="60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given</a:t>
            </a:r>
            <a:r>
              <a:rPr sz="1600" spc="8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by:</a:t>
            </a:r>
          </a:p>
        </p:txBody>
      </p:sp>
      <p:grpSp>
        <p:nvGrpSpPr>
          <p:cNvPr id="11" name="object 11"/>
          <p:cNvGrpSpPr/>
          <p:nvPr/>
        </p:nvGrpSpPr>
        <p:grpSpPr>
          <a:xfrm>
            <a:off x="736599" y="1485899"/>
            <a:ext cx="6096000" cy="3429000"/>
            <a:chOff x="736599" y="1485899"/>
            <a:chExt cx="6096000" cy="3429000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74711" y="3200399"/>
              <a:ext cx="5124565" cy="85725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742949" y="1492249"/>
              <a:ext cx="6083300" cy="3416300"/>
            </a:xfrm>
            <a:custGeom>
              <a:avLst/>
              <a:gdLst/>
              <a:ahLst/>
              <a:cxnLst/>
              <a:rect l="l" t="t" r="r" b="b"/>
              <a:pathLst>
                <a:path w="6083300" h="3416300">
                  <a:moveTo>
                    <a:pt x="0" y="0"/>
                  </a:moveTo>
                  <a:lnTo>
                    <a:pt x="6083300" y="0"/>
                  </a:lnTo>
                  <a:lnTo>
                    <a:pt x="6083300" y="3416300"/>
                  </a:lnTo>
                  <a:lnTo>
                    <a:pt x="0" y="34163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816136" y="6739836"/>
            <a:ext cx="6070600" cy="530915"/>
          </a:xfrm>
          <a:prstGeom prst="rect">
            <a:avLst/>
          </a:prstGeom>
        </p:spPr>
        <p:txBody>
          <a:bodyPr vert="horz" wrap="square" lIns="0" tIns="251460" rIns="0" bIns="0" rtlCol="0">
            <a:spAutoFit/>
          </a:bodyPr>
          <a:lstStyle/>
          <a:p>
            <a:pPr marL="168275">
              <a:lnSpc>
                <a:spcPct val="100000"/>
              </a:lnSpc>
              <a:spcBef>
                <a:spcPts val="900"/>
              </a:spcBef>
            </a:pPr>
            <a:r>
              <a:rPr sz="1800" dirty="0">
                <a:latin typeface="Times New Roman"/>
                <a:cs typeface="Times New Roman"/>
              </a:rPr>
              <a:t>Where:</a:t>
            </a:r>
          </a:p>
        </p:txBody>
      </p:sp>
      <p:grpSp>
        <p:nvGrpSpPr>
          <p:cNvPr id="21" name="object 21"/>
          <p:cNvGrpSpPr/>
          <p:nvPr/>
        </p:nvGrpSpPr>
        <p:grpSpPr>
          <a:xfrm>
            <a:off x="736599" y="5753100"/>
            <a:ext cx="6096000" cy="3429000"/>
            <a:chOff x="736599" y="5753100"/>
            <a:chExt cx="6096000" cy="3429000"/>
          </a:xfrm>
        </p:grpSpPr>
        <p:pic>
          <p:nvPicPr>
            <p:cNvPr id="22" name="object 2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38334" y="7353300"/>
              <a:ext cx="5098903" cy="1295400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742949" y="5759450"/>
              <a:ext cx="6083300" cy="3416300"/>
            </a:xfrm>
            <a:custGeom>
              <a:avLst/>
              <a:gdLst/>
              <a:ahLst/>
              <a:cxnLst/>
              <a:rect l="l" t="t" r="r" b="b"/>
              <a:pathLst>
                <a:path w="6083300" h="3416300">
                  <a:moveTo>
                    <a:pt x="0" y="0"/>
                  </a:moveTo>
                  <a:lnTo>
                    <a:pt x="6083300" y="0"/>
                  </a:lnTo>
                  <a:lnTo>
                    <a:pt x="6083300" y="3416300"/>
                  </a:lnTo>
                  <a:lnTo>
                    <a:pt x="0" y="34163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Rectangle 24"/>
          <p:cNvSpPr/>
          <p:nvPr/>
        </p:nvSpPr>
        <p:spPr>
          <a:xfrm>
            <a:off x="496420" y="6554853"/>
            <a:ext cx="16392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15265">
              <a:lnSpc>
                <a:spcPct val="100000"/>
              </a:lnSpc>
              <a:spcBef>
                <a:spcPts val="1395"/>
              </a:spcBef>
            </a:pPr>
            <a:r>
              <a:rPr lang="en-US" b="1" spc="15" dirty="0">
                <a:solidFill>
                  <a:srgbClr val="FF0000"/>
                </a:solidFill>
                <a:latin typeface="Cambria"/>
                <a:cs typeface="Cambria"/>
              </a:rPr>
              <a:t>Hata</a:t>
            </a:r>
            <a:r>
              <a:rPr lang="en-US" b="1" spc="-7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lang="en-US" b="1" spc="50" dirty="0">
                <a:solidFill>
                  <a:srgbClr val="FF0000"/>
                </a:solidFill>
                <a:latin typeface="Cambria"/>
                <a:cs typeface="Cambria"/>
              </a:rPr>
              <a:t>Model</a:t>
            </a:r>
            <a:endParaRPr lang="en-US" dirty="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object 25"/>
          <p:cNvSpPr txBox="1">
            <a:spLocks noGrp="1"/>
          </p:cNvSpPr>
          <p:nvPr>
            <p:ph type="sldNum" sz="quarter" idx="4294967295"/>
          </p:nvPr>
        </p:nvSpPr>
        <p:spPr>
          <a:xfrm>
            <a:off x="7300913" y="9974263"/>
            <a:ext cx="255587" cy="227012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36</a:t>
            </a:fld>
            <a:endParaRPr dirty="0"/>
          </a:p>
        </p:txBody>
      </p:sp>
      <p:sp>
        <p:nvSpPr>
          <p:cNvPr id="10" name="object 10"/>
          <p:cNvSpPr txBox="1"/>
          <p:nvPr/>
        </p:nvSpPr>
        <p:spPr>
          <a:xfrm>
            <a:off x="918138" y="2031379"/>
            <a:ext cx="5657215" cy="831215"/>
          </a:xfrm>
          <a:prstGeom prst="rect">
            <a:avLst/>
          </a:prstGeom>
        </p:spPr>
        <p:txBody>
          <a:bodyPr vert="horz" wrap="square" lIns="0" tIns="154940" rIns="0" bIns="0" rtlCol="0">
            <a:spAutoFit/>
          </a:bodyPr>
          <a:lstStyle/>
          <a:p>
            <a:pPr marL="46355">
              <a:lnSpc>
                <a:spcPct val="100000"/>
              </a:lnSpc>
              <a:spcBef>
                <a:spcPts val="1220"/>
              </a:spcBef>
            </a:pPr>
            <a:r>
              <a:rPr sz="2000" b="1" spc="15" dirty="0">
                <a:solidFill>
                  <a:srgbClr val="FF0000"/>
                </a:solidFill>
                <a:latin typeface="Cambria"/>
                <a:cs typeface="Cambria"/>
              </a:rPr>
              <a:t>Hata</a:t>
            </a:r>
            <a:r>
              <a:rPr sz="2000" b="1" spc="-7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b="1" spc="50" dirty="0">
                <a:solidFill>
                  <a:srgbClr val="FF0000"/>
                </a:solidFill>
                <a:latin typeface="Cambria"/>
                <a:cs typeface="Cambria"/>
              </a:rPr>
              <a:t>Model</a:t>
            </a:r>
            <a:endParaRPr sz="20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900"/>
              </a:spcBef>
            </a:pPr>
            <a:r>
              <a:rPr sz="1600" spc="5" dirty="0">
                <a:latin typeface="Times New Roman"/>
                <a:cs typeface="Times New Roman"/>
              </a:rPr>
              <a:t>The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standard</a:t>
            </a:r>
            <a:r>
              <a:rPr sz="1600" spc="100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formula</a:t>
            </a:r>
            <a:r>
              <a:rPr sz="1600" spc="185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for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median</a:t>
            </a:r>
            <a:r>
              <a:rPr sz="1600" spc="200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path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loss</a:t>
            </a:r>
            <a:r>
              <a:rPr sz="1600" spc="80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in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urban</a:t>
            </a:r>
            <a:r>
              <a:rPr sz="1600" spc="100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areas</a:t>
            </a:r>
            <a:r>
              <a:rPr sz="1600" spc="75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is</a:t>
            </a:r>
            <a:r>
              <a:rPr sz="1600" spc="75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given</a:t>
            </a:r>
            <a:r>
              <a:rPr sz="1600" dirty="0">
                <a:latin typeface="Times New Roman"/>
                <a:cs typeface="Times New Roman"/>
              </a:rPr>
              <a:t> by:</a:t>
            </a: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0383" y="3031066"/>
            <a:ext cx="5749767" cy="543277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939167" y="3825571"/>
            <a:ext cx="5403850" cy="57912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5400" marR="30480">
              <a:lnSpc>
                <a:spcPct val="101899"/>
              </a:lnSpc>
              <a:spcBef>
                <a:spcPts val="55"/>
              </a:spcBef>
            </a:pPr>
            <a:r>
              <a:rPr sz="1800" spc="-10" dirty="0">
                <a:latin typeface="Times New Roman"/>
                <a:cs typeface="Times New Roman"/>
              </a:rPr>
              <a:t>a(h</a:t>
            </a:r>
            <a:r>
              <a:rPr sz="1800" spc="-15" baseline="-13888" dirty="0">
                <a:latin typeface="Times New Roman"/>
                <a:cs typeface="Times New Roman"/>
              </a:rPr>
              <a:t>re</a:t>
            </a:r>
            <a:r>
              <a:rPr sz="1800" spc="-10" dirty="0">
                <a:latin typeface="Times New Roman"/>
                <a:cs typeface="Times New Roman"/>
              </a:rPr>
              <a:t>)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is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the</a:t>
            </a:r>
            <a:r>
              <a:rPr sz="1800" spc="6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correction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factor</a:t>
            </a:r>
            <a:r>
              <a:rPr sz="1800" spc="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for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effective</a:t>
            </a:r>
            <a:r>
              <a:rPr sz="1800" spc="6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mobile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antenna 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height</a:t>
            </a:r>
            <a:r>
              <a:rPr sz="1800" spc="4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which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is</a:t>
            </a:r>
            <a:r>
              <a:rPr sz="1800" spc="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function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the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size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the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coverage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area.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742949" y="1492249"/>
            <a:ext cx="6083300" cy="3416300"/>
          </a:xfrm>
          <a:custGeom>
            <a:avLst/>
            <a:gdLst/>
            <a:ahLst/>
            <a:cxnLst/>
            <a:rect l="l" t="t" r="r" b="b"/>
            <a:pathLst>
              <a:path w="6083300" h="3416300">
                <a:moveTo>
                  <a:pt x="0" y="0"/>
                </a:moveTo>
                <a:lnTo>
                  <a:pt x="6083300" y="0"/>
                </a:lnTo>
                <a:lnTo>
                  <a:pt x="6083300" y="3416300"/>
                </a:lnTo>
                <a:lnTo>
                  <a:pt x="0" y="341630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918138" y="6298578"/>
            <a:ext cx="5168900" cy="1085215"/>
          </a:xfrm>
          <a:prstGeom prst="rect">
            <a:avLst/>
          </a:prstGeom>
        </p:spPr>
        <p:txBody>
          <a:bodyPr vert="horz" wrap="square" lIns="0" tIns="154940" rIns="0" bIns="0" rtlCol="0">
            <a:spAutoFit/>
          </a:bodyPr>
          <a:lstStyle/>
          <a:p>
            <a:pPr marL="46355">
              <a:lnSpc>
                <a:spcPct val="100000"/>
              </a:lnSpc>
              <a:spcBef>
                <a:spcPts val="1220"/>
              </a:spcBef>
            </a:pPr>
            <a:r>
              <a:rPr sz="2000" b="1" spc="15" dirty="0">
                <a:solidFill>
                  <a:srgbClr val="FF0000"/>
                </a:solidFill>
                <a:latin typeface="Cambria"/>
                <a:cs typeface="Cambria"/>
              </a:rPr>
              <a:t>Hata</a:t>
            </a:r>
            <a:r>
              <a:rPr sz="2000" b="1" spc="-7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b="1" spc="50" dirty="0">
                <a:solidFill>
                  <a:srgbClr val="FF0000"/>
                </a:solidFill>
                <a:latin typeface="Cambria"/>
                <a:cs typeface="Cambria"/>
              </a:rPr>
              <a:t>Model</a:t>
            </a:r>
            <a:endParaRPr sz="2000" dirty="0">
              <a:latin typeface="Cambria"/>
              <a:cs typeface="Cambria"/>
            </a:endParaRPr>
          </a:p>
          <a:p>
            <a:pPr marR="5080">
              <a:lnSpc>
                <a:spcPct val="104200"/>
              </a:lnSpc>
              <a:spcBef>
                <a:spcPts val="819"/>
              </a:spcBef>
            </a:pPr>
            <a:r>
              <a:rPr sz="1600" dirty="0">
                <a:latin typeface="Times New Roman"/>
                <a:cs typeface="Times New Roman"/>
              </a:rPr>
              <a:t>For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30" dirty="0">
                <a:latin typeface="Times New Roman"/>
                <a:cs typeface="Times New Roman"/>
              </a:rPr>
              <a:t>small</a:t>
            </a:r>
            <a:r>
              <a:rPr sz="1600" spc="165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to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medium</a:t>
            </a:r>
            <a:r>
              <a:rPr sz="1600" spc="160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sized</a:t>
            </a:r>
            <a:r>
              <a:rPr sz="1600" spc="105" dirty="0">
                <a:latin typeface="Times New Roman"/>
                <a:cs typeface="Times New Roman"/>
              </a:rPr>
              <a:t> </a:t>
            </a:r>
            <a:r>
              <a:rPr sz="1600" spc="-45" dirty="0">
                <a:latin typeface="Times New Roman"/>
                <a:cs typeface="Times New Roman"/>
              </a:rPr>
              <a:t>city,</a:t>
            </a:r>
            <a:r>
              <a:rPr sz="1600" spc="110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the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mobile</a:t>
            </a:r>
            <a:r>
              <a:rPr sz="1600" spc="190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antenna</a:t>
            </a:r>
            <a:r>
              <a:rPr sz="1600" spc="95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correction </a:t>
            </a:r>
            <a:r>
              <a:rPr sz="1600" spc="-385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factor</a:t>
            </a:r>
            <a:r>
              <a:rPr sz="1600" spc="60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is</a:t>
            </a:r>
            <a:r>
              <a:rPr sz="1600" spc="75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given</a:t>
            </a:r>
            <a:r>
              <a:rPr sz="1600" spc="10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by:</a:t>
            </a:r>
          </a:p>
        </p:txBody>
      </p:sp>
      <p:grpSp>
        <p:nvGrpSpPr>
          <p:cNvPr id="22" name="object 22"/>
          <p:cNvGrpSpPr/>
          <p:nvPr/>
        </p:nvGrpSpPr>
        <p:grpSpPr>
          <a:xfrm>
            <a:off x="736599" y="5753100"/>
            <a:ext cx="6096000" cy="3429000"/>
            <a:chOff x="736599" y="5753100"/>
            <a:chExt cx="6096000" cy="3429000"/>
          </a:xfrm>
        </p:grpSpPr>
        <p:pic>
          <p:nvPicPr>
            <p:cNvPr id="23" name="object 2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43934" y="7631853"/>
              <a:ext cx="5668925" cy="313266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742949" y="5759450"/>
              <a:ext cx="6083300" cy="3416300"/>
            </a:xfrm>
            <a:custGeom>
              <a:avLst/>
              <a:gdLst/>
              <a:ahLst/>
              <a:cxnLst/>
              <a:rect l="l" t="t" r="r" b="b"/>
              <a:pathLst>
                <a:path w="6083300" h="3416300">
                  <a:moveTo>
                    <a:pt x="0" y="0"/>
                  </a:moveTo>
                  <a:lnTo>
                    <a:pt x="6083300" y="0"/>
                  </a:lnTo>
                  <a:lnTo>
                    <a:pt x="6083300" y="3416300"/>
                  </a:lnTo>
                  <a:lnTo>
                    <a:pt x="0" y="34163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object 27"/>
          <p:cNvSpPr txBox="1">
            <a:spLocks noGrp="1"/>
          </p:cNvSpPr>
          <p:nvPr>
            <p:ph type="sldNum" sz="quarter" idx="4294967295"/>
          </p:nvPr>
        </p:nvSpPr>
        <p:spPr>
          <a:xfrm>
            <a:off x="7300913" y="9974263"/>
            <a:ext cx="255587" cy="227012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37</a:t>
            </a:fld>
            <a:endParaRPr dirty="0"/>
          </a:p>
        </p:txBody>
      </p:sp>
      <p:sp>
        <p:nvSpPr>
          <p:cNvPr id="10" name="object 10"/>
          <p:cNvSpPr txBox="1"/>
          <p:nvPr/>
        </p:nvSpPr>
        <p:spPr>
          <a:xfrm>
            <a:off x="918138" y="2031379"/>
            <a:ext cx="4793615" cy="831215"/>
          </a:xfrm>
          <a:prstGeom prst="rect">
            <a:avLst/>
          </a:prstGeom>
        </p:spPr>
        <p:txBody>
          <a:bodyPr vert="horz" wrap="square" lIns="0" tIns="154940" rIns="0" bIns="0" rtlCol="0">
            <a:spAutoFit/>
          </a:bodyPr>
          <a:lstStyle/>
          <a:p>
            <a:pPr marL="46355">
              <a:lnSpc>
                <a:spcPct val="100000"/>
              </a:lnSpc>
              <a:spcBef>
                <a:spcPts val="1220"/>
              </a:spcBef>
            </a:pPr>
            <a:r>
              <a:rPr sz="2000" b="1" spc="15" dirty="0">
                <a:solidFill>
                  <a:srgbClr val="FF0000"/>
                </a:solidFill>
                <a:latin typeface="Cambria"/>
                <a:cs typeface="Cambria"/>
              </a:rPr>
              <a:t>Hata</a:t>
            </a:r>
            <a:r>
              <a:rPr sz="2000" b="1" spc="-7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b="1" spc="50" dirty="0">
                <a:solidFill>
                  <a:srgbClr val="FF0000"/>
                </a:solidFill>
                <a:latin typeface="Cambria"/>
                <a:cs typeface="Cambria"/>
              </a:rPr>
              <a:t>Model</a:t>
            </a:r>
            <a:endParaRPr sz="20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900"/>
              </a:spcBef>
            </a:pPr>
            <a:r>
              <a:rPr sz="1600" dirty="0">
                <a:latin typeface="Times New Roman"/>
                <a:cs typeface="Times New Roman"/>
              </a:rPr>
              <a:t>For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large</a:t>
            </a:r>
            <a:r>
              <a:rPr sz="1600" spc="85" dirty="0">
                <a:latin typeface="Times New Roman"/>
                <a:cs typeface="Times New Roman"/>
              </a:rPr>
              <a:t> </a:t>
            </a:r>
            <a:r>
              <a:rPr sz="1600" spc="-30" dirty="0">
                <a:latin typeface="Times New Roman"/>
                <a:cs typeface="Times New Roman"/>
              </a:rPr>
              <a:t>city</a:t>
            </a:r>
            <a:r>
              <a:rPr sz="1600" spc="105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the</a:t>
            </a:r>
            <a:r>
              <a:rPr sz="1600" spc="85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antenna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correction</a:t>
            </a:r>
            <a:r>
              <a:rPr sz="1600" spc="204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factor</a:t>
            </a:r>
            <a:r>
              <a:rPr sz="1600" spc="165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it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is</a:t>
            </a:r>
            <a:r>
              <a:rPr sz="1600" spc="80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given</a:t>
            </a:r>
            <a:r>
              <a:rPr sz="1600" spc="10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by:</a:t>
            </a:r>
          </a:p>
        </p:txBody>
      </p:sp>
      <p:grpSp>
        <p:nvGrpSpPr>
          <p:cNvPr id="11" name="object 11"/>
          <p:cNvGrpSpPr/>
          <p:nvPr/>
        </p:nvGrpSpPr>
        <p:grpSpPr>
          <a:xfrm>
            <a:off x="736599" y="1485899"/>
            <a:ext cx="6096000" cy="3429000"/>
            <a:chOff x="736599" y="1485899"/>
            <a:chExt cx="6096000" cy="3429000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75190" y="3141789"/>
              <a:ext cx="5627373" cy="941158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742949" y="1492249"/>
              <a:ext cx="6083300" cy="3416300"/>
            </a:xfrm>
            <a:custGeom>
              <a:avLst/>
              <a:gdLst/>
              <a:ahLst/>
              <a:cxnLst/>
              <a:rect l="l" t="t" r="r" b="b"/>
              <a:pathLst>
                <a:path w="6083300" h="3416300">
                  <a:moveTo>
                    <a:pt x="0" y="0"/>
                  </a:moveTo>
                  <a:lnTo>
                    <a:pt x="6083300" y="0"/>
                  </a:lnTo>
                  <a:lnTo>
                    <a:pt x="6083300" y="3416300"/>
                  </a:lnTo>
                  <a:lnTo>
                    <a:pt x="0" y="34163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964567" y="6280106"/>
            <a:ext cx="3637915" cy="864235"/>
          </a:xfrm>
          <a:prstGeom prst="rect">
            <a:avLst/>
          </a:prstGeom>
        </p:spPr>
        <p:txBody>
          <a:bodyPr vert="horz" wrap="square" lIns="0" tIns="17335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65"/>
              </a:spcBef>
            </a:pPr>
            <a:r>
              <a:rPr sz="2000" b="1" spc="15" dirty="0">
                <a:solidFill>
                  <a:srgbClr val="FF0000"/>
                </a:solidFill>
                <a:latin typeface="Cambria"/>
                <a:cs typeface="Cambria"/>
              </a:rPr>
              <a:t>Hata</a:t>
            </a:r>
            <a:r>
              <a:rPr sz="2000" b="1" spc="-7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b="1" spc="50" dirty="0">
                <a:solidFill>
                  <a:srgbClr val="FF0000"/>
                </a:solidFill>
                <a:latin typeface="Cambria"/>
                <a:cs typeface="Cambria"/>
              </a:rPr>
              <a:t>Model</a:t>
            </a:r>
            <a:endParaRPr sz="20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015"/>
              </a:spcBef>
            </a:pPr>
            <a:r>
              <a:rPr sz="1600" spc="5" dirty="0">
                <a:latin typeface="Times New Roman"/>
                <a:cs typeface="Times New Roman"/>
              </a:rPr>
              <a:t>The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path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loss</a:t>
            </a:r>
            <a:r>
              <a:rPr sz="1600" spc="70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in</a:t>
            </a:r>
            <a:r>
              <a:rPr sz="1600" spc="9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suburban</a:t>
            </a:r>
            <a:r>
              <a:rPr sz="1600" spc="95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area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is</a:t>
            </a:r>
            <a:r>
              <a:rPr sz="1600" spc="70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given</a:t>
            </a:r>
            <a:r>
              <a:rPr sz="1600" spc="9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by:</a:t>
            </a:r>
          </a:p>
        </p:txBody>
      </p:sp>
      <p:grpSp>
        <p:nvGrpSpPr>
          <p:cNvPr id="22" name="object 22"/>
          <p:cNvGrpSpPr/>
          <p:nvPr/>
        </p:nvGrpSpPr>
        <p:grpSpPr>
          <a:xfrm>
            <a:off x="932635" y="7308117"/>
            <a:ext cx="5534025" cy="1335405"/>
            <a:chOff x="932635" y="7308117"/>
            <a:chExt cx="5534025" cy="1335405"/>
          </a:xfrm>
        </p:grpSpPr>
        <p:pic>
          <p:nvPicPr>
            <p:cNvPr id="23" name="object 2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56733" y="7308117"/>
              <a:ext cx="4545541" cy="304555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32635" y="8319654"/>
              <a:ext cx="5533517" cy="323272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904440" y="7868282"/>
            <a:ext cx="357441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600" spc="5" dirty="0">
                <a:latin typeface="Times New Roman"/>
                <a:cs typeface="Times New Roman"/>
              </a:rPr>
              <a:t>The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path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loss</a:t>
            </a:r>
            <a:r>
              <a:rPr sz="1600" spc="70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in</a:t>
            </a:r>
            <a:r>
              <a:rPr sz="1600" spc="90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rural</a:t>
            </a:r>
            <a:r>
              <a:rPr sz="1600" spc="5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open </a:t>
            </a:r>
            <a:r>
              <a:rPr sz="1600" spc="-15" dirty="0">
                <a:latin typeface="Times New Roman"/>
                <a:cs typeface="Times New Roman"/>
              </a:rPr>
              <a:t>area</a:t>
            </a:r>
            <a:r>
              <a:rPr sz="1600" spc="85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is</a:t>
            </a:r>
            <a:r>
              <a:rPr sz="1600" spc="70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given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by: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742949" y="5818343"/>
            <a:ext cx="6083300" cy="3416300"/>
          </a:xfrm>
          <a:custGeom>
            <a:avLst/>
            <a:gdLst/>
            <a:ahLst/>
            <a:cxnLst/>
            <a:rect l="l" t="t" r="r" b="b"/>
            <a:pathLst>
              <a:path w="6083300" h="3416300">
                <a:moveTo>
                  <a:pt x="0" y="0"/>
                </a:moveTo>
                <a:lnTo>
                  <a:pt x="6083300" y="0"/>
                </a:lnTo>
                <a:lnTo>
                  <a:pt x="6083300" y="3416300"/>
                </a:lnTo>
                <a:lnTo>
                  <a:pt x="0" y="341630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7714604"/>
              </p:ext>
            </p:extLst>
          </p:nvPr>
        </p:nvGraphicFramePr>
        <p:xfrm>
          <a:off x="782319" y="1840621"/>
          <a:ext cx="6082665" cy="342109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984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98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66750">
                <a:tc gridSpan="2">
                  <a:txBody>
                    <a:bodyPr/>
                    <a:lstStyle/>
                    <a:p>
                      <a:pPr marL="92075" algn="ctr">
                        <a:lnSpc>
                          <a:spcPct val="100000"/>
                        </a:lnSpc>
                        <a:spcBef>
                          <a:spcPts val="830"/>
                        </a:spcBef>
                      </a:pPr>
                      <a:r>
                        <a:rPr sz="2700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U</a:t>
                      </a:r>
                      <a:r>
                        <a:rPr sz="2700" spc="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niv</a:t>
                      </a:r>
                      <a:r>
                        <a:rPr sz="27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er</a:t>
                      </a:r>
                      <a:r>
                        <a:rPr sz="2700" spc="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sit</a:t>
                      </a:r>
                      <a:r>
                        <a:rPr sz="27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sz="2700" spc="-229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00" spc="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27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sz="2700" spc="-7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00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27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ar</a:t>
                      </a:r>
                      <a:r>
                        <a:rPr sz="2700" spc="2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es</a:t>
                      </a:r>
                      <a:r>
                        <a:rPr sz="2700" spc="7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00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7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700" spc="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l</a:t>
                      </a:r>
                      <a:r>
                        <a:rPr sz="27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aam</a:t>
                      </a:r>
                      <a:endParaRPr sz="2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054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8425">
                <a:tc>
                  <a:txBody>
                    <a:bodyPr/>
                    <a:lstStyle/>
                    <a:p>
                      <a:pPr marL="22161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2000" b="1" spc="15" dirty="0">
                          <a:solidFill>
                            <a:srgbClr val="FF0000"/>
                          </a:solidFill>
                          <a:latin typeface="Cambria"/>
                          <a:cs typeface="Cambria"/>
                        </a:rPr>
                        <a:t>Hata</a:t>
                      </a:r>
                      <a:r>
                        <a:rPr sz="2000" b="1" spc="-75" dirty="0">
                          <a:solidFill>
                            <a:srgbClr val="FF00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2000" b="1" spc="50" dirty="0">
                          <a:solidFill>
                            <a:srgbClr val="FF0000"/>
                          </a:solidFill>
                          <a:latin typeface="Cambria"/>
                          <a:cs typeface="Cambria"/>
                        </a:rPr>
                        <a:t>Model</a:t>
                      </a:r>
                      <a:endParaRPr sz="2000" dirty="0">
                        <a:latin typeface="Cambria"/>
                        <a:cs typeface="Cambria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566">
                <a:tc>
                  <a:txBody>
                    <a:bodyPr/>
                    <a:lstStyle/>
                    <a:p>
                      <a:pPr marL="22161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Simulated</a:t>
                      </a:r>
                      <a:r>
                        <a:rPr sz="1600" spc="1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distance</a:t>
                      </a:r>
                      <a:r>
                        <a:rPr sz="1600" spc="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vs.</a:t>
                      </a:r>
                      <a:r>
                        <a:rPr sz="1600" spc="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5" dirty="0">
                          <a:latin typeface="Times New Roman"/>
                          <a:cs typeface="Times New Roman"/>
                        </a:rPr>
                        <a:t>path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marL="221615">
                        <a:lnSpc>
                          <a:spcPts val="1850"/>
                        </a:lnSpc>
                      </a:pP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loss</a:t>
                      </a:r>
                      <a:r>
                        <a:rPr sz="1600" spc="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5" dirty="0">
                          <a:latin typeface="Times New Roman"/>
                          <a:cs typeface="Times New Roman"/>
                        </a:rPr>
                        <a:t>using</a:t>
                      </a:r>
                      <a:r>
                        <a:rPr sz="1600" spc="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Hata</a:t>
                      </a: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 model,</a:t>
                      </a:r>
                      <a:r>
                        <a:rPr sz="1600" spc="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5" dirty="0">
                          <a:latin typeface="Times New Roman"/>
                          <a:cs typeface="Times New Roman"/>
                        </a:rPr>
                        <a:t>for</a:t>
                      </a:r>
                      <a:endParaRPr sz="1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221615">
                        <a:lnSpc>
                          <a:spcPts val="1800"/>
                        </a:lnSpc>
                      </a:pPr>
                      <a:r>
                        <a:rPr sz="1600" i="1" spc="-25" dirty="0">
                          <a:latin typeface="Times New Roman"/>
                          <a:cs typeface="Times New Roman"/>
                        </a:rPr>
                        <a:t>fc</a:t>
                      </a:r>
                      <a:r>
                        <a:rPr sz="1600" i="1" spc="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1500</a:t>
                      </a:r>
                      <a:r>
                        <a:rPr sz="16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i="1" dirty="0">
                          <a:latin typeface="Times New Roman"/>
                          <a:cs typeface="Times New Roman"/>
                        </a:rPr>
                        <a:t>MHz</a:t>
                      </a:r>
                      <a:r>
                        <a:rPr sz="1600" i="1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,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3482">
                <a:tc>
                  <a:txBody>
                    <a:bodyPr/>
                    <a:lstStyle/>
                    <a:p>
                      <a:pPr marL="221615">
                        <a:lnSpc>
                          <a:spcPts val="1810"/>
                        </a:lnSpc>
                      </a:pPr>
                      <a:r>
                        <a:rPr sz="1600" i="1" dirty="0"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sz="1650" i="1" baseline="-15151" dirty="0"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1650" i="1" spc="75" baseline="-15151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70</a:t>
                      </a:r>
                      <a:r>
                        <a:rPr sz="1600" i="1" dirty="0"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1600" i="1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and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61545">
                <a:tc>
                  <a:txBody>
                    <a:bodyPr/>
                    <a:lstStyle/>
                    <a:p>
                      <a:pPr marL="221615">
                        <a:lnSpc>
                          <a:spcPts val="1714"/>
                        </a:lnSpc>
                      </a:pPr>
                      <a:r>
                        <a:rPr sz="1600" i="1" dirty="0"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sz="1650" i="1" baseline="-15151" dirty="0"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1650" i="1" spc="142" baseline="-15151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6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1.5</a:t>
                      </a:r>
                      <a:r>
                        <a:rPr sz="1600" i="1" dirty="0">
                          <a:latin typeface="Times New Roman"/>
                          <a:cs typeface="Times New Roman"/>
                        </a:rPr>
                        <a:t>m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2258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  <a:p>
                      <a:pPr marL="39370">
                        <a:lnSpc>
                          <a:spcPts val="1680"/>
                        </a:lnSpc>
                      </a:pP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 dirty="0">
                        <a:latin typeface="Times New Roman"/>
                        <a:cs typeface="Times New Roman"/>
                      </a:endParaRPr>
                    </a:p>
                    <a:p>
                      <a:pPr marR="53975" algn="r">
                        <a:lnSpc>
                          <a:spcPts val="1680"/>
                        </a:lnSpc>
                      </a:pP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96574" y="2343751"/>
            <a:ext cx="2826463" cy="2324341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749299" y="5852587"/>
            <a:ext cx="607060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2075" algn="ctr">
              <a:lnSpc>
                <a:spcPct val="100000"/>
              </a:lnSpc>
              <a:spcBef>
                <a:spcPts val="100"/>
              </a:spcBef>
            </a:pPr>
            <a:r>
              <a:rPr sz="2700" spc="-50" dirty="0">
                <a:solidFill>
                  <a:srgbClr val="FFFFFF"/>
                </a:solidFill>
                <a:latin typeface="Times New Roman"/>
                <a:cs typeface="Times New Roman"/>
              </a:rPr>
              <a:t>U</a:t>
            </a:r>
            <a:r>
              <a:rPr sz="2700" spc="50" dirty="0">
                <a:solidFill>
                  <a:srgbClr val="FFFFFF"/>
                </a:solidFill>
                <a:latin typeface="Times New Roman"/>
                <a:cs typeface="Times New Roman"/>
              </a:rPr>
              <a:t>niv</a:t>
            </a:r>
            <a:r>
              <a:rPr sz="2700" dirty="0">
                <a:solidFill>
                  <a:srgbClr val="FFFFFF"/>
                </a:solidFill>
                <a:latin typeface="Times New Roman"/>
                <a:cs typeface="Times New Roman"/>
              </a:rPr>
              <a:t>er</a:t>
            </a:r>
            <a:r>
              <a:rPr sz="2700" spc="50" dirty="0">
                <a:solidFill>
                  <a:srgbClr val="FFFFFF"/>
                </a:solidFill>
                <a:latin typeface="Times New Roman"/>
                <a:cs typeface="Times New Roman"/>
              </a:rPr>
              <a:t>sit</a:t>
            </a:r>
            <a:r>
              <a:rPr sz="2700" dirty="0">
                <a:solidFill>
                  <a:srgbClr val="FFFFFF"/>
                </a:solidFill>
                <a:latin typeface="Times New Roman"/>
                <a:cs typeface="Times New Roman"/>
              </a:rPr>
              <a:t>y</a:t>
            </a:r>
            <a:r>
              <a:rPr sz="2700" spc="-229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700" spc="50" dirty="0">
                <a:solidFill>
                  <a:srgbClr val="FFFFFF"/>
                </a:solidFill>
                <a:latin typeface="Times New Roman"/>
                <a:cs typeface="Times New Roman"/>
              </a:rPr>
              <a:t>o</a:t>
            </a:r>
            <a:r>
              <a:rPr sz="2700" dirty="0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r>
              <a:rPr sz="27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700" spc="-50" dirty="0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sz="2700" dirty="0">
                <a:solidFill>
                  <a:srgbClr val="FFFFFF"/>
                </a:solidFill>
                <a:latin typeface="Times New Roman"/>
                <a:cs typeface="Times New Roman"/>
              </a:rPr>
              <a:t>ar</a:t>
            </a:r>
            <a:r>
              <a:rPr sz="2700"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700" dirty="0">
                <a:solidFill>
                  <a:srgbClr val="FFFFFF"/>
                </a:solidFill>
                <a:latin typeface="Times New Roman"/>
                <a:cs typeface="Times New Roman"/>
              </a:rPr>
              <a:t>es</a:t>
            </a:r>
            <a:r>
              <a:rPr sz="2700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700" spc="-5" dirty="0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sz="27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700" spc="50" dirty="0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sz="2700" dirty="0">
                <a:solidFill>
                  <a:srgbClr val="FFFFFF"/>
                </a:solidFill>
                <a:latin typeface="Times New Roman"/>
                <a:cs typeface="Times New Roman"/>
              </a:rPr>
              <a:t>aam</a:t>
            </a:r>
            <a:endParaRPr sz="2700" dirty="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64567" y="6280106"/>
            <a:ext cx="5352415" cy="2337435"/>
          </a:xfrm>
          <a:prstGeom prst="rect">
            <a:avLst/>
          </a:prstGeom>
        </p:spPr>
        <p:txBody>
          <a:bodyPr vert="horz" wrap="square" lIns="0" tIns="17335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65"/>
              </a:spcBef>
            </a:pPr>
            <a:r>
              <a:rPr sz="2000" b="1" spc="15" dirty="0">
                <a:solidFill>
                  <a:srgbClr val="FF0000"/>
                </a:solidFill>
                <a:latin typeface="Cambria"/>
                <a:cs typeface="Cambria"/>
              </a:rPr>
              <a:t>Hata</a:t>
            </a:r>
            <a:r>
              <a:rPr sz="2000" b="1" spc="-7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b="1" spc="50" dirty="0">
                <a:solidFill>
                  <a:srgbClr val="FF0000"/>
                </a:solidFill>
                <a:latin typeface="Cambria"/>
                <a:cs typeface="Cambria"/>
              </a:rPr>
              <a:t>Model</a:t>
            </a:r>
            <a:endParaRPr sz="2000" dirty="0">
              <a:latin typeface="Cambria"/>
              <a:cs typeface="Cambria"/>
            </a:endParaRPr>
          </a:p>
          <a:p>
            <a:pPr marL="228600" marR="137160" indent="-228600">
              <a:lnSpc>
                <a:spcPct val="104200"/>
              </a:lnSpc>
              <a:spcBef>
                <a:spcPts val="935"/>
              </a:spcBef>
              <a:buFont typeface="Wingdings"/>
              <a:buChar char=""/>
              <a:tabLst>
                <a:tab pos="228600" algn="l"/>
              </a:tabLst>
            </a:pPr>
            <a:r>
              <a:rPr sz="1600" spc="5" dirty="0">
                <a:latin typeface="Times New Roman"/>
                <a:cs typeface="Times New Roman"/>
              </a:rPr>
              <a:t>The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predictions</a:t>
            </a:r>
            <a:r>
              <a:rPr sz="1600" spc="17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the</a:t>
            </a:r>
            <a:r>
              <a:rPr sz="1600" spc="9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Hata </a:t>
            </a:r>
            <a:r>
              <a:rPr sz="1600" spc="-15" dirty="0">
                <a:latin typeface="Times New Roman"/>
                <a:cs typeface="Times New Roman"/>
              </a:rPr>
              <a:t>model</a:t>
            </a:r>
            <a:r>
              <a:rPr sz="1600" spc="55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compare</a:t>
            </a:r>
            <a:r>
              <a:rPr sz="1600" spc="85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very</a:t>
            </a:r>
            <a:r>
              <a:rPr sz="1600" spc="105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closely</a:t>
            </a:r>
            <a:r>
              <a:rPr sz="1600" spc="100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with </a:t>
            </a:r>
            <a:r>
              <a:rPr sz="1600" spc="-385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the</a:t>
            </a:r>
            <a:r>
              <a:rPr sz="1600" spc="85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original</a:t>
            </a:r>
            <a:r>
              <a:rPr sz="1600" spc="5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Okumura</a:t>
            </a:r>
            <a:r>
              <a:rPr sz="1600" spc="85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model,</a:t>
            </a:r>
            <a:r>
              <a:rPr sz="1600" spc="10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as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long</a:t>
            </a:r>
            <a:r>
              <a:rPr sz="1600" spc="10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as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 </a:t>
            </a:r>
            <a:r>
              <a:rPr sz="1600" spc="-10" dirty="0">
                <a:latin typeface="Times New Roman"/>
                <a:cs typeface="Times New Roman"/>
              </a:rPr>
              <a:t>exceeds</a:t>
            </a:r>
            <a:r>
              <a:rPr sz="1600" spc="7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1 </a:t>
            </a:r>
            <a:r>
              <a:rPr sz="1600" spc="-15" dirty="0">
                <a:latin typeface="Times New Roman"/>
                <a:cs typeface="Times New Roman"/>
              </a:rPr>
              <a:t>km.</a:t>
            </a:r>
            <a:endParaRPr sz="1600" dirty="0">
              <a:latin typeface="Times New Roman"/>
              <a:cs typeface="Times New Roman"/>
            </a:endParaRPr>
          </a:p>
          <a:p>
            <a:pPr marL="228600" marR="5080" indent="-228600">
              <a:lnSpc>
                <a:spcPts val="1900"/>
              </a:lnSpc>
              <a:spcBef>
                <a:spcPts val="60"/>
              </a:spcBef>
              <a:buFont typeface="Wingdings"/>
              <a:buChar char=""/>
              <a:tabLst>
                <a:tab pos="228600" algn="l"/>
              </a:tabLst>
            </a:pPr>
            <a:r>
              <a:rPr sz="1600" spc="-10" dirty="0">
                <a:latin typeface="Times New Roman"/>
                <a:cs typeface="Times New Roman"/>
              </a:rPr>
              <a:t>This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model</a:t>
            </a:r>
            <a:r>
              <a:rPr sz="1600" spc="55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is</a:t>
            </a:r>
            <a:r>
              <a:rPr sz="1600" spc="7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well</a:t>
            </a:r>
            <a:r>
              <a:rPr sz="1600" spc="55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suited</a:t>
            </a:r>
            <a:r>
              <a:rPr sz="1600" spc="100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for</a:t>
            </a:r>
            <a:r>
              <a:rPr sz="1600" spc="70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large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cell</a:t>
            </a:r>
            <a:r>
              <a:rPr sz="1600" spc="55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mobile</a:t>
            </a:r>
            <a:r>
              <a:rPr sz="1600" spc="185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systems,</a:t>
            </a:r>
            <a:r>
              <a:rPr sz="1600" spc="20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but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not </a:t>
            </a:r>
            <a:r>
              <a:rPr sz="1600" spc="-385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personal </a:t>
            </a:r>
            <a:r>
              <a:rPr sz="1600" spc="-20" dirty="0">
                <a:latin typeface="Times New Roman"/>
                <a:cs typeface="Times New Roman"/>
              </a:rPr>
              <a:t>communications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systems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(PCS) </a:t>
            </a:r>
            <a:r>
              <a:rPr sz="1600" spc="-5" dirty="0">
                <a:latin typeface="Times New Roman"/>
                <a:cs typeface="Times New Roman"/>
              </a:rPr>
              <a:t>which have </a:t>
            </a:r>
            <a:r>
              <a:rPr sz="1600" spc="-25" dirty="0">
                <a:latin typeface="Times New Roman"/>
                <a:cs typeface="Times New Roman"/>
              </a:rPr>
              <a:t>cells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on 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the</a:t>
            </a:r>
            <a:r>
              <a:rPr sz="1600" spc="8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order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6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1km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radius.</a:t>
            </a:r>
            <a:endParaRPr sz="1600" dirty="0">
              <a:latin typeface="Times New Roman"/>
              <a:cs typeface="Times New Roman"/>
            </a:endParaRPr>
          </a:p>
          <a:p>
            <a:pPr marL="228600" indent="-228600">
              <a:lnSpc>
                <a:spcPts val="1839"/>
              </a:lnSpc>
              <a:buFont typeface="Wingdings"/>
              <a:buChar char=""/>
              <a:tabLst>
                <a:tab pos="228600" algn="l"/>
              </a:tabLst>
            </a:pPr>
            <a:r>
              <a:rPr sz="1600" dirty="0">
                <a:latin typeface="Times New Roman"/>
                <a:cs typeface="Times New Roman"/>
              </a:rPr>
              <a:t>For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much</a:t>
            </a:r>
            <a:r>
              <a:rPr sz="1600" spc="100" dirty="0">
                <a:latin typeface="Times New Roman"/>
                <a:cs typeface="Times New Roman"/>
              </a:rPr>
              <a:t> </a:t>
            </a:r>
            <a:r>
              <a:rPr sz="1600" spc="-30" dirty="0">
                <a:latin typeface="Times New Roman"/>
                <a:cs typeface="Times New Roman"/>
              </a:rPr>
              <a:t>smaller</a:t>
            </a:r>
            <a:r>
              <a:rPr sz="1600" spc="16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range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-40" dirty="0">
                <a:latin typeface="Times New Roman"/>
                <a:cs typeface="Times New Roman"/>
              </a:rPr>
              <a:t> T-R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separation</a:t>
            </a:r>
            <a:r>
              <a:rPr sz="1600" spc="195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distances,</a:t>
            </a:r>
            <a:r>
              <a:rPr sz="1600" spc="10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Indoor</a:t>
            </a:r>
            <a:endParaRPr sz="1600" dirty="0">
              <a:latin typeface="Times New Roman"/>
              <a:cs typeface="Times New Roman"/>
            </a:endParaRPr>
          </a:p>
          <a:p>
            <a:pPr marL="228600">
              <a:lnSpc>
                <a:spcPct val="100000"/>
              </a:lnSpc>
              <a:spcBef>
                <a:spcPts val="80"/>
              </a:spcBef>
            </a:pPr>
            <a:r>
              <a:rPr sz="1600" spc="-15" dirty="0">
                <a:latin typeface="Times New Roman"/>
                <a:cs typeface="Times New Roman"/>
              </a:rPr>
              <a:t>Propagation</a:t>
            </a:r>
            <a:r>
              <a:rPr sz="1600" spc="85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models</a:t>
            </a:r>
            <a:r>
              <a:rPr sz="1600" spc="160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are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used</a:t>
            </a:r>
            <a:endParaRPr sz="1600" dirty="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742949" y="5759450"/>
            <a:ext cx="6083300" cy="3416300"/>
          </a:xfrm>
          <a:custGeom>
            <a:avLst/>
            <a:gdLst/>
            <a:ahLst/>
            <a:cxnLst/>
            <a:rect l="l" t="t" r="r" b="b"/>
            <a:pathLst>
              <a:path w="6083300" h="3416300">
                <a:moveTo>
                  <a:pt x="0" y="0"/>
                </a:moveTo>
                <a:lnTo>
                  <a:pt x="6083300" y="0"/>
                </a:lnTo>
                <a:lnTo>
                  <a:pt x="6083300" y="3416300"/>
                </a:lnTo>
                <a:lnTo>
                  <a:pt x="0" y="341630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4294967295"/>
          </p:nvPr>
        </p:nvSpPr>
        <p:spPr>
          <a:xfrm>
            <a:off x="7300913" y="9974263"/>
            <a:ext cx="255587" cy="227012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38</a:t>
            </a:fld>
            <a:endParaRPr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54011" y="455423"/>
            <a:ext cx="508634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40" dirty="0">
                <a:latin typeface="Calibri"/>
                <a:cs typeface="Calibri"/>
              </a:rPr>
              <a:t>8</a:t>
            </a:r>
            <a:r>
              <a:rPr sz="1300" spc="-5" dirty="0">
                <a:latin typeface="Calibri"/>
                <a:cs typeface="Calibri"/>
              </a:rPr>
              <a:t>/</a:t>
            </a:r>
            <a:r>
              <a:rPr sz="1300" spc="40" dirty="0">
                <a:latin typeface="Calibri"/>
                <a:cs typeface="Calibri"/>
              </a:rPr>
              <a:t>5</a:t>
            </a:r>
            <a:r>
              <a:rPr sz="1300" spc="-5" dirty="0">
                <a:latin typeface="Calibri"/>
                <a:cs typeface="Calibri"/>
              </a:rPr>
              <a:t>/</a:t>
            </a:r>
            <a:r>
              <a:rPr sz="1300" spc="40" dirty="0">
                <a:latin typeface="Calibri"/>
                <a:cs typeface="Calibri"/>
              </a:rPr>
              <a:t>20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4294967295"/>
          </p:nvPr>
        </p:nvSpPr>
        <p:spPr>
          <a:xfrm>
            <a:off x="7300913" y="9974263"/>
            <a:ext cx="255587" cy="227012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39</a:t>
            </a:fld>
            <a:endParaRPr dirty="0"/>
          </a:p>
        </p:txBody>
      </p:sp>
      <p:sp>
        <p:nvSpPr>
          <p:cNvPr id="10" name="object 10"/>
          <p:cNvSpPr txBox="1"/>
          <p:nvPr/>
        </p:nvSpPr>
        <p:spPr>
          <a:xfrm>
            <a:off x="964567" y="2012907"/>
            <a:ext cx="5626100" cy="1600835"/>
          </a:xfrm>
          <a:prstGeom prst="rect">
            <a:avLst/>
          </a:prstGeom>
        </p:spPr>
        <p:txBody>
          <a:bodyPr vert="horz" wrap="square" lIns="0" tIns="17335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65"/>
              </a:spcBef>
            </a:pPr>
            <a:r>
              <a:rPr sz="2000" b="1" spc="250" dirty="0">
                <a:solidFill>
                  <a:srgbClr val="FF0000"/>
                </a:solidFill>
                <a:latin typeface="Cambria"/>
                <a:cs typeface="Cambria"/>
              </a:rPr>
              <a:t>C</a:t>
            </a:r>
            <a:r>
              <a:rPr sz="2000" b="1" spc="305" dirty="0">
                <a:solidFill>
                  <a:srgbClr val="FF0000"/>
                </a:solidFill>
                <a:latin typeface="Cambria"/>
                <a:cs typeface="Cambria"/>
              </a:rPr>
              <a:t>O</a:t>
            </a:r>
            <a:r>
              <a:rPr sz="2000" b="1" spc="170" dirty="0">
                <a:solidFill>
                  <a:srgbClr val="FF0000"/>
                </a:solidFill>
                <a:latin typeface="Cambria"/>
                <a:cs typeface="Cambria"/>
              </a:rPr>
              <a:t>S</a:t>
            </a:r>
            <a:r>
              <a:rPr sz="2000" b="1" spc="55" dirty="0">
                <a:solidFill>
                  <a:srgbClr val="FF0000"/>
                </a:solidFill>
                <a:latin typeface="Cambria"/>
                <a:cs typeface="Cambria"/>
              </a:rPr>
              <a:t>T</a:t>
            </a:r>
            <a:r>
              <a:rPr sz="2000" b="1" spc="12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b="1" spc="-185" dirty="0">
                <a:solidFill>
                  <a:srgbClr val="FF0000"/>
                </a:solidFill>
                <a:latin typeface="Cambria"/>
                <a:cs typeface="Cambria"/>
              </a:rPr>
              <a:t>231</a:t>
            </a:r>
            <a:r>
              <a:rPr sz="2000" b="1" spc="5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b="1" spc="165" dirty="0">
                <a:solidFill>
                  <a:srgbClr val="FF0000"/>
                </a:solidFill>
                <a:latin typeface="Cambria"/>
                <a:cs typeface="Cambria"/>
              </a:rPr>
              <a:t>M</a:t>
            </a:r>
            <a:r>
              <a:rPr sz="2000" b="1" spc="95" dirty="0">
                <a:solidFill>
                  <a:srgbClr val="FF0000"/>
                </a:solidFill>
                <a:latin typeface="Cambria"/>
                <a:cs typeface="Cambria"/>
              </a:rPr>
              <a:t>o</a:t>
            </a:r>
            <a:r>
              <a:rPr sz="2000" b="1" dirty="0">
                <a:solidFill>
                  <a:srgbClr val="FF0000"/>
                </a:solidFill>
                <a:latin typeface="Cambria"/>
                <a:cs typeface="Cambria"/>
              </a:rPr>
              <a:t>d</a:t>
            </a:r>
            <a:r>
              <a:rPr sz="2000" b="1" spc="-10" dirty="0">
                <a:solidFill>
                  <a:srgbClr val="FF0000"/>
                </a:solidFill>
                <a:latin typeface="Cambria"/>
                <a:cs typeface="Cambria"/>
              </a:rPr>
              <a:t>el</a:t>
            </a:r>
            <a:endParaRPr sz="2000" dirty="0">
              <a:latin typeface="Cambria"/>
              <a:cs typeface="Cambria"/>
            </a:endParaRPr>
          </a:p>
          <a:p>
            <a:pPr marL="228600" marR="5080" indent="-228600" algn="just">
              <a:lnSpc>
                <a:spcPct val="101600"/>
              </a:lnSpc>
              <a:spcBef>
                <a:spcPts val="985"/>
              </a:spcBef>
              <a:buFont typeface="Wingdings"/>
              <a:buChar char=""/>
              <a:tabLst>
                <a:tab pos="228600" algn="l"/>
              </a:tabLst>
            </a:pPr>
            <a:r>
              <a:rPr sz="1600" spc="5" dirty="0">
                <a:latin typeface="Times New Roman"/>
                <a:cs typeface="Times New Roman"/>
              </a:rPr>
              <a:t>The </a:t>
            </a:r>
            <a:r>
              <a:rPr sz="1600" spc="-10" dirty="0">
                <a:latin typeface="Times New Roman"/>
                <a:cs typeface="Times New Roman"/>
              </a:rPr>
              <a:t>European </a:t>
            </a:r>
            <a:r>
              <a:rPr sz="1600" spc="-5" dirty="0">
                <a:latin typeface="Times New Roman"/>
                <a:cs typeface="Times New Roman"/>
              </a:rPr>
              <a:t>Co-operative </a:t>
            </a:r>
            <a:r>
              <a:rPr sz="1600" spc="-15" dirty="0">
                <a:latin typeface="Times New Roman"/>
                <a:cs typeface="Times New Roman"/>
              </a:rPr>
              <a:t>for </a:t>
            </a:r>
            <a:r>
              <a:rPr sz="1600" spc="5" dirty="0">
                <a:latin typeface="Times New Roman"/>
                <a:cs typeface="Times New Roman"/>
              </a:rPr>
              <a:t>Scientific </a:t>
            </a:r>
            <a:r>
              <a:rPr sz="1600" spc="-5" dirty="0">
                <a:latin typeface="Times New Roman"/>
                <a:cs typeface="Times New Roman"/>
              </a:rPr>
              <a:t>and </a:t>
            </a:r>
            <a:r>
              <a:rPr sz="1600" spc="-10" dirty="0">
                <a:latin typeface="Times New Roman"/>
                <a:cs typeface="Times New Roman"/>
              </a:rPr>
              <a:t>Technical research 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spc="5" dirty="0">
                <a:latin typeface="Times New Roman"/>
                <a:cs typeface="Times New Roman"/>
              </a:rPr>
              <a:t>(EURO-COST)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formed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the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COST-231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working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committee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spc="-45" dirty="0">
                <a:latin typeface="Times New Roman"/>
                <a:cs typeface="Times New Roman"/>
              </a:rPr>
              <a:t>to 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develop</a:t>
            </a:r>
            <a:r>
              <a:rPr sz="1600" spc="10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an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extended</a:t>
            </a:r>
            <a:r>
              <a:rPr sz="1600" spc="100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version</a:t>
            </a:r>
            <a:r>
              <a:rPr sz="1600" spc="10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the</a:t>
            </a:r>
            <a:r>
              <a:rPr sz="1600" spc="8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Hata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model.</a:t>
            </a:r>
            <a:endParaRPr sz="1600" dirty="0">
              <a:latin typeface="Times New Roman"/>
              <a:cs typeface="Times New Roman"/>
            </a:endParaRPr>
          </a:p>
          <a:p>
            <a:pPr marL="228600" indent="-228600" algn="just">
              <a:lnSpc>
                <a:spcPts val="1900"/>
              </a:lnSpc>
              <a:buFont typeface="Wingdings"/>
              <a:buChar char=""/>
              <a:tabLst>
                <a:tab pos="228600" algn="l"/>
              </a:tabLst>
            </a:pPr>
            <a:r>
              <a:rPr sz="1600" spc="30" dirty="0">
                <a:latin typeface="Times New Roman"/>
                <a:cs typeface="Times New Roman"/>
              </a:rPr>
              <a:t>C</a:t>
            </a:r>
            <a:r>
              <a:rPr sz="1600" spc="45" dirty="0">
                <a:latin typeface="Times New Roman"/>
                <a:cs typeface="Times New Roman"/>
              </a:rPr>
              <a:t>O</a:t>
            </a:r>
            <a:r>
              <a:rPr sz="1600" spc="10" dirty="0">
                <a:latin typeface="Times New Roman"/>
                <a:cs typeface="Times New Roman"/>
              </a:rPr>
              <a:t>S</a:t>
            </a:r>
            <a:r>
              <a:rPr sz="1600" spc="-80" dirty="0">
                <a:latin typeface="Times New Roman"/>
                <a:cs typeface="Times New Roman"/>
              </a:rPr>
              <a:t>T</a:t>
            </a:r>
            <a:r>
              <a:rPr sz="1600" spc="-35" dirty="0">
                <a:latin typeface="Times New Roman"/>
                <a:cs typeface="Times New Roman"/>
              </a:rPr>
              <a:t>-</a:t>
            </a:r>
            <a:r>
              <a:rPr sz="1600" dirty="0">
                <a:latin typeface="Times New Roman"/>
                <a:cs typeface="Times New Roman"/>
              </a:rPr>
              <a:t>231</a:t>
            </a:r>
            <a:r>
              <a:rPr sz="1600" spc="-100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e</a:t>
            </a:r>
            <a:r>
              <a:rPr sz="1600" dirty="0">
                <a:latin typeface="Times New Roman"/>
                <a:cs typeface="Times New Roman"/>
              </a:rPr>
              <a:t>x</a:t>
            </a:r>
            <a:r>
              <a:rPr sz="1600" spc="-45" dirty="0">
                <a:latin typeface="Times New Roman"/>
                <a:cs typeface="Times New Roman"/>
              </a:rPr>
              <a:t>t</a:t>
            </a:r>
            <a:r>
              <a:rPr sz="1600" spc="-15" dirty="0">
                <a:latin typeface="Times New Roman"/>
                <a:cs typeface="Times New Roman"/>
              </a:rPr>
              <a:t>e</a:t>
            </a:r>
            <a:r>
              <a:rPr sz="1600" dirty="0">
                <a:latin typeface="Times New Roman"/>
                <a:cs typeface="Times New Roman"/>
              </a:rPr>
              <a:t>nd</a:t>
            </a:r>
            <a:r>
              <a:rPr sz="1600" spc="-15" dirty="0">
                <a:latin typeface="Times New Roman"/>
                <a:cs typeface="Times New Roman"/>
              </a:rPr>
              <a:t>e</a:t>
            </a:r>
            <a:r>
              <a:rPr sz="1600" dirty="0">
                <a:latin typeface="Times New Roman"/>
                <a:cs typeface="Times New Roman"/>
              </a:rPr>
              <a:t>d</a:t>
            </a:r>
            <a:r>
              <a:rPr sz="1600" spc="100" dirty="0">
                <a:latin typeface="Times New Roman"/>
                <a:cs typeface="Times New Roman"/>
              </a:rPr>
              <a:t> </a:t>
            </a:r>
            <a:r>
              <a:rPr sz="1600" spc="-45" dirty="0">
                <a:latin typeface="Times New Roman"/>
                <a:cs typeface="Times New Roman"/>
              </a:rPr>
              <a:t>t</a:t>
            </a:r>
            <a:r>
              <a:rPr sz="1600" dirty="0">
                <a:latin typeface="Times New Roman"/>
                <a:cs typeface="Times New Roman"/>
              </a:rPr>
              <a:t>he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40" dirty="0">
                <a:latin typeface="Times New Roman"/>
                <a:cs typeface="Times New Roman"/>
              </a:rPr>
              <a:t>H</a:t>
            </a:r>
            <a:r>
              <a:rPr sz="1600" spc="-15" dirty="0">
                <a:latin typeface="Times New Roman"/>
                <a:cs typeface="Times New Roman"/>
              </a:rPr>
              <a:t>a</a:t>
            </a:r>
            <a:r>
              <a:rPr sz="1600" spc="-45" dirty="0">
                <a:latin typeface="Times New Roman"/>
                <a:cs typeface="Times New Roman"/>
              </a:rPr>
              <a:t>t</a:t>
            </a:r>
            <a:r>
              <a:rPr sz="1600" dirty="0">
                <a:latin typeface="Times New Roman"/>
                <a:cs typeface="Times New Roman"/>
              </a:rPr>
              <a:t>a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45" dirty="0">
                <a:latin typeface="Times New Roman"/>
                <a:cs typeface="Times New Roman"/>
              </a:rPr>
              <a:t>m</a:t>
            </a:r>
            <a:r>
              <a:rPr sz="1600" dirty="0">
                <a:latin typeface="Times New Roman"/>
                <a:cs typeface="Times New Roman"/>
              </a:rPr>
              <a:t>od</a:t>
            </a:r>
            <a:r>
              <a:rPr sz="1600" spc="-15" dirty="0">
                <a:latin typeface="Times New Roman"/>
                <a:cs typeface="Times New Roman"/>
              </a:rPr>
              <a:t>e</a:t>
            </a:r>
            <a:r>
              <a:rPr sz="1600" dirty="0">
                <a:latin typeface="Times New Roman"/>
                <a:cs typeface="Times New Roman"/>
              </a:rPr>
              <a:t>l</a:t>
            </a:r>
            <a:r>
              <a:rPr sz="1600" spc="55" dirty="0">
                <a:latin typeface="Times New Roman"/>
                <a:cs typeface="Times New Roman"/>
              </a:rPr>
              <a:t> </a:t>
            </a:r>
            <a:r>
              <a:rPr sz="1600" spc="-45" dirty="0">
                <a:latin typeface="Times New Roman"/>
                <a:cs typeface="Times New Roman"/>
              </a:rPr>
              <a:t>t</a:t>
            </a:r>
            <a:r>
              <a:rPr sz="1600" dirty="0">
                <a:latin typeface="Times New Roman"/>
                <a:cs typeface="Times New Roman"/>
              </a:rPr>
              <a:t>o</a:t>
            </a:r>
            <a:r>
              <a:rPr sz="1600" spc="10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2 </a:t>
            </a:r>
            <a:r>
              <a:rPr sz="1600" spc="40" dirty="0">
                <a:latin typeface="Times New Roman"/>
                <a:cs typeface="Times New Roman"/>
              </a:rPr>
              <a:t>GH</a:t>
            </a:r>
            <a:r>
              <a:rPr sz="1600" spc="-15" dirty="0">
                <a:latin typeface="Times New Roman"/>
                <a:cs typeface="Times New Roman"/>
              </a:rPr>
              <a:t>z</a:t>
            </a:r>
            <a:r>
              <a:rPr sz="1600" dirty="0">
                <a:latin typeface="Times New Roman"/>
                <a:cs typeface="Times New Roman"/>
              </a:rPr>
              <a:t>.</a:t>
            </a:r>
          </a:p>
        </p:txBody>
      </p:sp>
      <p:sp>
        <p:nvSpPr>
          <p:cNvPr id="11" name="object 11"/>
          <p:cNvSpPr/>
          <p:nvPr/>
        </p:nvSpPr>
        <p:spPr>
          <a:xfrm>
            <a:off x="760226" y="1625556"/>
            <a:ext cx="6083300" cy="3416300"/>
          </a:xfrm>
          <a:custGeom>
            <a:avLst/>
            <a:gdLst/>
            <a:ahLst/>
            <a:cxnLst/>
            <a:rect l="l" t="t" r="r" b="b"/>
            <a:pathLst>
              <a:path w="6083300" h="3416300">
                <a:moveTo>
                  <a:pt x="0" y="0"/>
                </a:moveTo>
                <a:lnTo>
                  <a:pt x="6083300" y="0"/>
                </a:lnTo>
                <a:lnTo>
                  <a:pt x="6083300" y="3416300"/>
                </a:lnTo>
                <a:lnTo>
                  <a:pt x="0" y="341630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749299" y="5852587"/>
            <a:ext cx="607060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2075" algn="ctr">
              <a:lnSpc>
                <a:spcPct val="100000"/>
              </a:lnSpc>
              <a:spcBef>
                <a:spcPts val="100"/>
              </a:spcBef>
            </a:pPr>
            <a:r>
              <a:rPr sz="2700" spc="-50" dirty="0">
                <a:solidFill>
                  <a:srgbClr val="FFFFFF"/>
                </a:solidFill>
                <a:latin typeface="Times New Roman"/>
                <a:cs typeface="Times New Roman"/>
              </a:rPr>
              <a:t>U</a:t>
            </a:r>
            <a:r>
              <a:rPr sz="2700" spc="50" dirty="0">
                <a:solidFill>
                  <a:srgbClr val="FFFFFF"/>
                </a:solidFill>
                <a:latin typeface="Times New Roman"/>
                <a:cs typeface="Times New Roman"/>
              </a:rPr>
              <a:t>niv</a:t>
            </a:r>
            <a:r>
              <a:rPr sz="2700" dirty="0">
                <a:solidFill>
                  <a:srgbClr val="FFFFFF"/>
                </a:solidFill>
                <a:latin typeface="Times New Roman"/>
                <a:cs typeface="Times New Roman"/>
              </a:rPr>
              <a:t>er</a:t>
            </a:r>
            <a:r>
              <a:rPr sz="2700" spc="50" dirty="0">
                <a:solidFill>
                  <a:srgbClr val="FFFFFF"/>
                </a:solidFill>
                <a:latin typeface="Times New Roman"/>
                <a:cs typeface="Times New Roman"/>
              </a:rPr>
              <a:t>sit</a:t>
            </a:r>
            <a:r>
              <a:rPr sz="2700" dirty="0">
                <a:solidFill>
                  <a:srgbClr val="FFFFFF"/>
                </a:solidFill>
                <a:latin typeface="Times New Roman"/>
                <a:cs typeface="Times New Roman"/>
              </a:rPr>
              <a:t>y</a:t>
            </a:r>
            <a:r>
              <a:rPr sz="2700" spc="-229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700" spc="50" dirty="0">
                <a:solidFill>
                  <a:srgbClr val="FFFFFF"/>
                </a:solidFill>
                <a:latin typeface="Times New Roman"/>
                <a:cs typeface="Times New Roman"/>
              </a:rPr>
              <a:t>o</a:t>
            </a:r>
            <a:r>
              <a:rPr sz="2700" dirty="0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r>
              <a:rPr sz="27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700" spc="-50" dirty="0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sz="2700" dirty="0">
                <a:solidFill>
                  <a:srgbClr val="FFFFFF"/>
                </a:solidFill>
                <a:latin typeface="Times New Roman"/>
                <a:cs typeface="Times New Roman"/>
              </a:rPr>
              <a:t>ar</a:t>
            </a:r>
            <a:r>
              <a:rPr sz="2700"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700" dirty="0">
                <a:solidFill>
                  <a:srgbClr val="FFFFFF"/>
                </a:solidFill>
                <a:latin typeface="Times New Roman"/>
                <a:cs typeface="Times New Roman"/>
              </a:rPr>
              <a:t>es</a:t>
            </a:r>
            <a:r>
              <a:rPr sz="2700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700" spc="-5" dirty="0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sz="27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700" spc="50" dirty="0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sz="2700" dirty="0">
                <a:solidFill>
                  <a:srgbClr val="FFFFFF"/>
                </a:solidFill>
                <a:latin typeface="Times New Roman"/>
                <a:cs typeface="Times New Roman"/>
              </a:rPr>
              <a:t>aam</a:t>
            </a:r>
            <a:endParaRPr sz="27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061414" y="6185683"/>
            <a:ext cx="5628005" cy="1118235"/>
          </a:xfrm>
          <a:prstGeom prst="rect">
            <a:avLst/>
          </a:prstGeom>
        </p:spPr>
        <p:txBody>
          <a:bodyPr vert="horz" wrap="square" lIns="0" tIns="17335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65"/>
              </a:spcBef>
            </a:pPr>
            <a:r>
              <a:rPr sz="2000" b="1" spc="250" dirty="0">
                <a:solidFill>
                  <a:srgbClr val="FF0000"/>
                </a:solidFill>
                <a:latin typeface="Cambria"/>
                <a:cs typeface="Cambria"/>
              </a:rPr>
              <a:t>C</a:t>
            </a:r>
            <a:r>
              <a:rPr sz="2000" b="1" spc="305" dirty="0">
                <a:solidFill>
                  <a:srgbClr val="FF0000"/>
                </a:solidFill>
                <a:latin typeface="Cambria"/>
                <a:cs typeface="Cambria"/>
              </a:rPr>
              <a:t>O</a:t>
            </a:r>
            <a:r>
              <a:rPr sz="2000" b="1" spc="170" dirty="0">
                <a:solidFill>
                  <a:srgbClr val="FF0000"/>
                </a:solidFill>
                <a:latin typeface="Cambria"/>
                <a:cs typeface="Cambria"/>
              </a:rPr>
              <a:t>S</a:t>
            </a:r>
            <a:r>
              <a:rPr sz="2000" b="1" spc="55" dirty="0">
                <a:solidFill>
                  <a:srgbClr val="FF0000"/>
                </a:solidFill>
                <a:latin typeface="Cambria"/>
                <a:cs typeface="Cambria"/>
              </a:rPr>
              <a:t>T</a:t>
            </a:r>
            <a:r>
              <a:rPr sz="2000" b="1" spc="12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b="1" spc="-185" dirty="0">
                <a:solidFill>
                  <a:srgbClr val="FF0000"/>
                </a:solidFill>
                <a:latin typeface="Cambria"/>
                <a:cs typeface="Cambria"/>
              </a:rPr>
              <a:t>231</a:t>
            </a:r>
            <a:r>
              <a:rPr sz="2000" b="1" spc="5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b="1" spc="165" dirty="0">
                <a:solidFill>
                  <a:srgbClr val="FF0000"/>
                </a:solidFill>
                <a:latin typeface="Cambria"/>
                <a:cs typeface="Cambria"/>
              </a:rPr>
              <a:t>M</a:t>
            </a:r>
            <a:r>
              <a:rPr sz="2000" b="1" spc="95" dirty="0">
                <a:solidFill>
                  <a:srgbClr val="FF0000"/>
                </a:solidFill>
                <a:latin typeface="Cambria"/>
                <a:cs typeface="Cambria"/>
              </a:rPr>
              <a:t>o</a:t>
            </a:r>
            <a:r>
              <a:rPr sz="2000" b="1" dirty="0">
                <a:solidFill>
                  <a:srgbClr val="FF0000"/>
                </a:solidFill>
                <a:latin typeface="Cambria"/>
                <a:cs typeface="Cambria"/>
              </a:rPr>
              <a:t>d</a:t>
            </a:r>
            <a:r>
              <a:rPr sz="2000" b="1" spc="-10" dirty="0">
                <a:solidFill>
                  <a:srgbClr val="FF0000"/>
                </a:solidFill>
                <a:latin typeface="Cambria"/>
                <a:cs typeface="Cambria"/>
              </a:rPr>
              <a:t>el</a:t>
            </a:r>
            <a:endParaRPr sz="2000" dirty="0">
              <a:latin typeface="Cambria"/>
              <a:cs typeface="Cambria"/>
            </a:endParaRPr>
          </a:p>
          <a:p>
            <a:pPr marL="228600" marR="5080" indent="-228600">
              <a:lnSpc>
                <a:spcPct val="104200"/>
              </a:lnSpc>
              <a:spcBef>
                <a:spcPts val="935"/>
              </a:spcBef>
              <a:buFont typeface="Wingdings"/>
              <a:buChar char=""/>
              <a:tabLst>
                <a:tab pos="228600" algn="l"/>
              </a:tabLst>
            </a:pPr>
            <a:r>
              <a:rPr sz="1600" spc="5" dirty="0">
                <a:latin typeface="Times New Roman"/>
                <a:cs typeface="Times New Roman"/>
              </a:rPr>
              <a:t>The</a:t>
            </a:r>
            <a:r>
              <a:rPr sz="1600" spc="18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COST-231</a:t>
            </a:r>
            <a:r>
              <a:rPr sz="1600" spc="200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extension</a:t>
            </a:r>
            <a:r>
              <a:rPr sz="1600" spc="200" dirty="0">
                <a:latin typeface="Times New Roman"/>
                <a:cs typeface="Times New Roman"/>
              </a:rPr>
              <a:t> </a:t>
            </a:r>
            <a:r>
              <a:rPr sz="1600" spc="50" dirty="0">
                <a:latin typeface="Times New Roman"/>
                <a:cs typeface="Times New Roman"/>
              </a:rPr>
              <a:t>of</a:t>
            </a:r>
            <a:r>
              <a:rPr sz="1600" spc="265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the</a:t>
            </a:r>
            <a:r>
              <a:rPr sz="1600" spc="18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Hata</a:t>
            </a:r>
            <a:r>
              <a:rPr sz="1600" spc="285" dirty="0">
                <a:latin typeface="Times New Roman"/>
                <a:cs typeface="Times New Roman"/>
              </a:rPr>
              <a:t> </a:t>
            </a:r>
            <a:r>
              <a:rPr sz="1600" spc="5" dirty="0">
                <a:latin typeface="Times New Roman"/>
                <a:cs typeface="Times New Roman"/>
              </a:rPr>
              <a:t>model</a:t>
            </a:r>
            <a:r>
              <a:rPr sz="1600" spc="254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is</a:t>
            </a:r>
            <a:r>
              <a:rPr sz="1600" spc="27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restricted</a:t>
            </a:r>
            <a:r>
              <a:rPr sz="1600" spc="300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to</a:t>
            </a:r>
            <a:r>
              <a:rPr sz="1600" spc="300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the </a:t>
            </a:r>
            <a:r>
              <a:rPr sz="1600" spc="-385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following</a:t>
            </a:r>
            <a:r>
              <a:rPr sz="1600" spc="9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range</a:t>
            </a:r>
            <a:r>
              <a:rPr sz="1600" spc="8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parameters:</a:t>
            </a:r>
            <a:endParaRPr sz="1600" dirty="0">
              <a:latin typeface="Times New Roman"/>
              <a:cs typeface="Times New Roman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736599" y="5753100"/>
            <a:ext cx="6096000" cy="3429000"/>
            <a:chOff x="736599" y="5753100"/>
            <a:chExt cx="6096000" cy="3429000"/>
          </a:xfrm>
        </p:grpSpPr>
        <p:pic>
          <p:nvPicPr>
            <p:cNvPr id="21" name="object 2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83114" y="7588333"/>
              <a:ext cx="3051663" cy="1056225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742949" y="5759450"/>
              <a:ext cx="6083300" cy="3416300"/>
            </a:xfrm>
            <a:custGeom>
              <a:avLst/>
              <a:gdLst/>
              <a:ahLst/>
              <a:cxnLst/>
              <a:rect l="l" t="t" r="r" b="b"/>
              <a:pathLst>
                <a:path w="6083300" h="3416300">
                  <a:moveTo>
                    <a:pt x="0" y="0"/>
                  </a:moveTo>
                  <a:lnTo>
                    <a:pt x="6083300" y="0"/>
                  </a:lnTo>
                  <a:lnTo>
                    <a:pt x="6083300" y="3416300"/>
                  </a:lnTo>
                  <a:lnTo>
                    <a:pt x="0" y="34163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54011" y="455423"/>
            <a:ext cx="508634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40" dirty="0">
                <a:latin typeface="Calibri"/>
                <a:cs typeface="Calibri"/>
              </a:rPr>
              <a:t>8</a:t>
            </a:r>
            <a:r>
              <a:rPr sz="1300" spc="-5" dirty="0">
                <a:latin typeface="Calibri"/>
                <a:cs typeface="Calibri"/>
              </a:rPr>
              <a:t>/</a:t>
            </a:r>
            <a:r>
              <a:rPr sz="1300" spc="40" dirty="0">
                <a:latin typeface="Calibri"/>
                <a:cs typeface="Calibri"/>
              </a:rPr>
              <a:t>5</a:t>
            </a:r>
            <a:r>
              <a:rPr sz="1300" spc="-5" dirty="0">
                <a:latin typeface="Calibri"/>
                <a:cs typeface="Calibri"/>
              </a:rPr>
              <a:t>/</a:t>
            </a:r>
            <a:r>
              <a:rPr sz="1300" spc="40" dirty="0">
                <a:latin typeface="Calibri"/>
                <a:cs typeface="Calibri"/>
              </a:rPr>
              <a:t>20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4294967295"/>
          </p:nvPr>
        </p:nvSpPr>
        <p:spPr>
          <a:xfrm>
            <a:off x="7300913" y="9974263"/>
            <a:ext cx="255587" cy="227012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40</a:t>
            </a:fld>
            <a:endParaRPr dirty="0"/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6599" y="4635499"/>
            <a:ext cx="6096000" cy="76200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782319" y="4670107"/>
            <a:ext cx="106743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400" b="1" spc="-15" dirty="0">
                <a:solidFill>
                  <a:srgbClr val="005599"/>
                </a:solidFill>
                <a:latin typeface="Times New Roman"/>
                <a:cs typeface="Times New Roman"/>
              </a:rPr>
              <a:t>CoICT</a:t>
            </a:r>
            <a:r>
              <a:rPr sz="1400" b="1" spc="-30" dirty="0">
                <a:solidFill>
                  <a:srgbClr val="005599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005599"/>
                </a:solidFill>
                <a:latin typeface="Times New Roman"/>
                <a:cs typeface="Times New Roman"/>
              </a:rPr>
              <a:t>–</a:t>
            </a:r>
            <a:r>
              <a:rPr sz="1400" b="1" spc="5" dirty="0">
                <a:solidFill>
                  <a:srgbClr val="005599"/>
                </a:solidFill>
                <a:latin typeface="Times New Roman"/>
                <a:cs typeface="Times New Roman"/>
              </a:rPr>
              <a:t> </a:t>
            </a:r>
            <a:r>
              <a:rPr sz="1400" b="1" spc="-35" dirty="0">
                <a:solidFill>
                  <a:srgbClr val="005599"/>
                </a:solidFill>
                <a:latin typeface="Times New Roman"/>
                <a:cs typeface="Times New Roman"/>
              </a:rPr>
              <a:t>ETE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268720" y="4670107"/>
            <a:ext cx="508634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400" b="1" spc="-35" dirty="0">
                <a:solidFill>
                  <a:srgbClr val="005599"/>
                </a:solidFill>
                <a:latin typeface="Times New Roman"/>
                <a:cs typeface="Times New Roman"/>
              </a:rPr>
              <a:t>TE</a:t>
            </a:r>
            <a:r>
              <a:rPr sz="1400" b="1" dirty="0">
                <a:solidFill>
                  <a:srgbClr val="005599"/>
                </a:solidFill>
                <a:latin typeface="Times New Roman"/>
                <a:cs typeface="Times New Roman"/>
              </a:rPr>
              <a:t>414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64567" y="2012907"/>
            <a:ext cx="3803015" cy="864235"/>
          </a:xfrm>
          <a:prstGeom prst="rect">
            <a:avLst/>
          </a:prstGeom>
        </p:spPr>
        <p:txBody>
          <a:bodyPr vert="horz" wrap="square" lIns="0" tIns="17335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65"/>
              </a:spcBef>
            </a:pPr>
            <a:r>
              <a:rPr sz="2000" b="1" spc="250" dirty="0">
                <a:solidFill>
                  <a:srgbClr val="FF0000"/>
                </a:solidFill>
                <a:latin typeface="Cambria"/>
                <a:cs typeface="Cambria"/>
              </a:rPr>
              <a:t>C</a:t>
            </a:r>
            <a:r>
              <a:rPr sz="2000" b="1" spc="305" dirty="0">
                <a:solidFill>
                  <a:srgbClr val="FF0000"/>
                </a:solidFill>
                <a:latin typeface="Cambria"/>
                <a:cs typeface="Cambria"/>
              </a:rPr>
              <a:t>O</a:t>
            </a:r>
            <a:r>
              <a:rPr sz="2000" b="1" spc="170" dirty="0">
                <a:solidFill>
                  <a:srgbClr val="FF0000"/>
                </a:solidFill>
                <a:latin typeface="Cambria"/>
                <a:cs typeface="Cambria"/>
              </a:rPr>
              <a:t>S</a:t>
            </a:r>
            <a:r>
              <a:rPr sz="2000" b="1" spc="55" dirty="0">
                <a:solidFill>
                  <a:srgbClr val="FF0000"/>
                </a:solidFill>
                <a:latin typeface="Cambria"/>
                <a:cs typeface="Cambria"/>
              </a:rPr>
              <a:t>T</a:t>
            </a:r>
            <a:r>
              <a:rPr sz="2000" b="1" spc="12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b="1" spc="-185" dirty="0">
                <a:solidFill>
                  <a:srgbClr val="FF0000"/>
                </a:solidFill>
                <a:latin typeface="Cambria"/>
                <a:cs typeface="Cambria"/>
              </a:rPr>
              <a:t>231</a:t>
            </a:r>
            <a:r>
              <a:rPr sz="2000" b="1" spc="5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b="1" spc="165" dirty="0">
                <a:solidFill>
                  <a:srgbClr val="FF0000"/>
                </a:solidFill>
                <a:latin typeface="Cambria"/>
                <a:cs typeface="Cambria"/>
              </a:rPr>
              <a:t>M</a:t>
            </a:r>
            <a:r>
              <a:rPr sz="2000" b="1" spc="95" dirty="0">
                <a:solidFill>
                  <a:srgbClr val="FF0000"/>
                </a:solidFill>
                <a:latin typeface="Cambria"/>
                <a:cs typeface="Cambria"/>
              </a:rPr>
              <a:t>o</a:t>
            </a:r>
            <a:r>
              <a:rPr sz="2000" b="1" dirty="0">
                <a:solidFill>
                  <a:srgbClr val="FF0000"/>
                </a:solidFill>
                <a:latin typeface="Cambria"/>
                <a:cs typeface="Cambria"/>
              </a:rPr>
              <a:t>d</a:t>
            </a:r>
            <a:r>
              <a:rPr sz="2000" b="1" spc="-10" dirty="0">
                <a:solidFill>
                  <a:srgbClr val="FF0000"/>
                </a:solidFill>
                <a:latin typeface="Cambria"/>
                <a:cs typeface="Cambria"/>
              </a:rPr>
              <a:t>el</a:t>
            </a:r>
            <a:endParaRPr sz="2000">
              <a:latin typeface="Cambria"/>
              <a:cs typeface="Cambria"/>
            </a:endParaRPr>
          </a:p>
          <a:p>
            <a:pPr marL="228600" indent="-228600">
              <a:lnSpc>
                <a:spcPct val="100000"/>
              </a:lnSpc>
              <a:spcBef>
                <a:spcPts val="1015"/>
              </a:spcBef>
              <a:buFont typeface="Wingdings"/>
              <a:buChar char=""/>
              <a:tabLst>
                <a:tab pos="228600" algn="l"/>
              </a:tabLst>
            </a:pPr>
            <a:r>
              <a:rPr sz="1600" spc="20" dirty="0">
                <a:latin typeface="Times New Roman"/>
                <a:cs typeface="Times New Roman"/>
              </a:rPr>
              <a:t>T</a:t>
            </a:r>
            <a:r>
              <a:rPr sz="1600" dirty="0">
                <a:latin typeface="Times New Roman"/>
                <a:cs typeface="Times New Roman"/>
              </a:rPr>
              <a:t>he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30" dirty="0">
                <a:latin typeface="Times New Roman"/>
                <a:cs typeface="Times New Roman"/>
              </a:rPr>
              <a:t>C</a:t>
            </a:r>
            <a:r>
              <a:rPr sz="1600" spc="45" dirty="0">
                <a:latin typeface="Times New Roman"/>
                <a:cs typeface="Times New Roman"/>
              </a:rPr>
              <a:t>O</a:t>
            </a:r>
            <a:r>
              <a:rPr sz="1600" spc="10" dirty="0">
                <a:latin typeface="Times New Roman"/>
                <a:cs typeface="Times New Roman"/>
              </a:rPr>
              <a:t>S</a:t>
            </a:r>
            <a:r>
              <a:rPr sz="1600" spc="-80" dirty="0">
                <a:latin typeface="Times New Roman"/>
                <a:cs typeface="Times New Roman"/>
              </a:rPr>
              <a:t>T</a:t>
            </a:r>
            <a:r>
              <a:rPr sz="1600" spc="-35" dirty="0">
                <a:latin typeface="Times New Roman"/>
                <a:cs typeface="Times New Roman"/>
              </a:rPr>
              <a:t>-</a:t>
            </a:r>
            <a:r>
              <a:rPr sz="1600" dirty="0">
                <a:latin typeface="Times New Roman"/>
                <a:cs typeface="Times New Roman"/>
              </a:rPr>
              <a:t>231</a:t>
            </a:r>
            <a:r>
              <a:rPr sz="1600" spc="-100" dirty="0">
                <a:latin typeface="Times New Roman"/>
                <a:cs typeface="Times New Roman"/>
              </a:rPr>
              <a:t> </a:t>
            </a:r>
            <a:r>
              <a:rPr sz="1600" spc="-45" dirty="0">
                <a:latin typeface="Times New Roman"/>
                <a:cs typeface="Times New Roman"/>
              </a:rPr>
              <a:t>m</a:t>
            </a:r>
            <a:r>
              <a:rPr sz="1600" dirty="0">
                <a:latin typeface="Times New Roman"/>
                <a:cs typeface="Times New Roman"/>
              </a:rPr>
              <a:t>od</a:t>
            </a:r>
            <a:r>
              <a:rPr sz="1600" spc="-15" dirty="0">
                <a:latin typeface="Times New Roman"/>
                <a:cs typeface="Times New Roman"/>
              </a:rPr>
              <a:t>e</a:t>
            </a:r>
            <a:r>
              <a:rPr sz="1600" dirty="0">
                <a:latin typeface="Times New Roman"/>
                <a:cs typeface="Times New Roman"/>
              </a:rPr>
              <a:t>l</a:t>
            </a:r>
            <a:r>
              <a:rPr sz="1600" spc="5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</a:t>
            </a:r>
            <a:r>
              <a:rPr sz="1600" spc="-15" dirty="0">
                <a:latin typeface="Times New Roman"/>
                <a:cs typeface="Times New Roman"/>
              </a:rPr>
              <a:t>a</a:t>
            </a:r>
            <a:r>
              <a:rPr sz="1600" spc="-45" dirty="0">
                <a:latin typeface="Times New Roman"/>
                <a:cs typeface="Times New Roman"/>
              </a:rPr>
              <a:t>t</a:t>
            </a:r>
            <a:r>
              <a:rPr sz="1600" dirty="0">
                <a:latin typeface="Times New Roman"/>
                <a:cs typeface="Times New Roman"/>
              </a:rPr>
              <a:t>h </a:t>
            </a:r>
            <a:r>
              <a:rPr sz="1600" spc="-45" dirty="0">
                <a:latin typeface="Times New Roman"/>
                <a:cs typeface="Times New Roman"/>
              </a:rPr>
              <a:t>l</a:t>
            </a:r>
            <a:r>
              <a:rPr sz="1600" dirty="0">
                <a:latin typeface="Times New Roman"/>
                <a:cs typeface="Times New Roman"/>
              </a:rPr>
              <a:t>o</a:t>
            </a:r>
            <a:r>
              <a:rPr sz="1600" spc="-25" dirty="0">
                <a:latin typeface="Times New Roman"/>
                <a:cs typeface="Times New Roman"/>
              </a:rPr>
              <a:t>s</a:t>
            </a:r>
            <a:r>
              <a:rPr sz="1600" dirty="0">
                <a:latin typeface="Times New Roman"/>
                <a:cs typeface="Times New Roman"/>
              </a:rPr>
              <a:t>s</a:t>
            </a:r>
            <a:r>
              <a:rPr sz="1600" spc="75" dirty="0">
                <a:latin typeface="Times New Roman"/>
                <a:cs typeface="Times New Roman"/>
              </a:rPr>
              <a:t> </a:t>
            </a:r>
            <a:r>
              <a:rPr sz="1600" spc="-45" dirty="0">
                <a:latin typeface="Times New Roman"/>
                <a:cs typeface="Times New Roman"/>
              </a:rPr>
              <a:t>i</a:t>
            </a:r>
            <a:r>
              <a:rPr sz="1600" dirty="0">
                <a:latin typeface="Times New Roman"/>
                <a:cs typeface="Times New Roman"/>
              </a:rPr>
              <a:t>s</a:t>
            </a:r>
            <a:r>
              <a:rPr sz="1600" spc="7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g</a:t>
            </a:r>
            <a:r>
              <a:rPr sz="1600" spc="-45" dirty="0">
                <a:latin typeface="Times New Roman"/>
                <a:cs typeface="Times New Roman"/>
              </a:rPr>
              <a:t>i</a:t>
            </a:r>
            <a:r>
              <a:rPr sz="1600" dirty="0">
                <a:latin typeface="Times New Roman"/>
                <a:cs typeface="Times New Roman"/>
              </a:rPr>
              <a:t>v</a:t>
            </a:r>
            <a:r>
              <a:rPr sz="1600" spc="-15" dirty="0">
                <a:latin typeface="Times New Roman"/>
                <a:cs typeface="Times New Roman"/>
              </a:rPr>
              <a:t>e</a:t>
            </a:r>
            <a:r>
              <a:rPr sz="1600" dirty="0">
                <a:latin typeface="Times New Roman"/>
                <a:cs typeface="Times New Roman"/>
              </a:rPr>
              <a:t>n by:</a:t>
            </a:r>
            <a:endParaRPr sz="1600">
              <a:latin typeface="Times New Roman"/>
              <a:cs typeface="Times New Roman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736599" y="1485899"/>
            <a:ext cx="6096000" cy="3429000"/>
            <a:chOff x="736599" y="1485899"/>
            <a:chExt cx="6096000" cy="3429000"/>
          </a:xfrm>
        </p:grpSpPr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5678" y="3094149"/>
              <a:ext cx="5597757" cy="59135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15347" y="3931843"/>
              <a:ext cx="5102312" cy="520604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742949" y="1492249"/>
              <a:ext cx="6083300" cy="3416300"/>
            </a:xfrm>
            <a:custGeom>
              <a:avLst/>
              <a:gdLst/>
              <a:ahLst/>
              <a:cxnLst/>
              <a:rect l="l" t="t" r="r" b="b"/>
              <a:pathLst>
                <a:path w="6083300" h="3416300">
                  <a:moveTo>
                    <a:pt x="0" y="0"/>
                  </a:moveTo>
                  <a:lnTo>
                    <a:pt x="6083300" y="0"/>
                  </a:lnTo>
                  <a:lnTo>
                    <a:pt x="6083300" y="3416300"/>
                  </a:lnTo>
                  <a:lnTo>
                    <a:pt x="0" y="34163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9" name="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6599" y="8902700"/>
            <a:ext cx="6096000" cy="76200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782319" y="6379845"/>
            <a:ext cx="5995035" cy="2796540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82245">
              <a:lnSpc>
                <a:spcPct val="100000"/>
              </a:lnSpc>
              <a:spcBef>
                <a:spcPts val="640"/>
              </a:spcBef>
            </a:pPr>
            <a:r>
              <a:rPr sz="2000" b="1" spc="-25" dirty="0">
                <a:solidFill>
                  <a:srgbClr val="FF0000"/>
                </a:solidFill>
                <a:latin typeface="Cambria"/>
                <a:cs typeface="Cambria"/>
              </a:rPr>
              <a:t>Indoor</a:t>
            </a:r>
            <a:r>
              <a:rPr sz="2000" b="1" spc="5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b="1" spc="-25" dirty="0">
                <a:solidFill>
                  <a:srgbClr val="FF0000"/>
                </a:solidFill>
                <a:latin typeface="Cambria"/>
                <a:cs typeface="Cambria"/>
              </a:rPr>
              <a:t>Propagation</a:t>
            </a:r>
            <a:r>
              <a:rPr sz="2000" b="1" spc="2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b="1" spc="40" dirty="0">
                <a:solidFill>
                  <a:srgbClr val="FF0000"/>
                </a:solidFill>
                <a:latin typeface="Cambria"/>
                <a:cs typeface="Cambria"/>
              </a:rPr>
              <a:t>Models</a:t>
            </a:r>
            <a:endParaRPr sz="2000">
              <a:latin typeface="Cambria"/>
              <a:cs typeface="Cambria"/>
            </a:endParaRPr>
          </a:p>
          <a:p>
            <a:pPr marL="410845" marR="165100" indent="-228600" algn="just">
              <a:lnSpc>
                <a:spcPct val="101899"/>
              </a:lnSpc>
              <a:spcBef>
                <a:spcPts val="445"/>
              </a:spcBef>
              <a:buFont typeface="Wingdings"/>
              <a:buChar char=""/>
              <a:tabLst>
                <a:tab pos="410845" algn="l"/>
              </a:tabLst>
            </a:pPr>
            <a:r>
              <a:rPr sz="1800" spc="-5" dirty="0">
                <a:latin typeface="Times New Roman"/>
                <a:cs typeface="Times New Roman"/>
              </a:rPr>
              <a:t>These </a:t>
            </a:r>
            <a:r>
              <a:rPr sz="1800" dirty="0">
                <a:latin typeface="Times New Roman"/>
                <a:cs typeface="Times New Roman"/>
              </a:rPr>
              <a:t>are </a:t>
            </a:r>
            <a:r>
              <a:rPr sz="1800" spc="-5" dirty="0">
                <a:latin typeface="Times New Roman"/>
                <a:cs typeface="Times New Roman"/>
              </a:rPr>
              <a:t>radio propagation models that estimate path loss 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inside </a:t>
            </a:r>
            <a:r>
              <a:rPr sz="1800" dirty="0">
                <a:latin typeface="Times New Roman"/>
                <a:cs typeface="Times New Roman"/>
              </a:rPr>
              <a:t>a room or a </a:t>
            </a:r>
            <a:r>
              <a:rPr sz="1800" spc="-5" dirty="0">
                <a:latin typeface="Times New Roman"/>
                <a:cs typeface="Times New Roman"/>
              </a:rPr>
              <a:t>closed </a:t>
            </a:r>
            <a:r>
              <a:rPr sz="1800" dirty="0">
                <a:latin typeface="Times New Roman"/>
                <a:cs typeface="Times New Roman"/>
              </a:rPr>
              <a:t>area </a:t>
            </a:r>
            <a:r>
              <a:rPr sz="1800" spc="-5" dirty="0">
                <a:latin typeface="Times New Roman"/>
                <a:cs typeface="Times New Roman"/>
              </a:rPr>
              <a:t>inside </a:t>
            </a:r>
            <a:r>
              <a:rPr sz="1800" dirty="0">
                <a:latin typeface="Times New Roman"/>
                <a:cs typeface="Times New Roman"/>
              </a:rPr>
              <a:t>a </a:t>
            </a:r>
            <a:r>
              <a:rPr sz="1800" spc="-5" dirty="0">
                <a:latin typeface="Times New Roman"/>
                <a:cs typeface="Times New Roman"/>
              </a:rPr>
              <a:t>building delimited </a:t>
            </a:r>
            <a:r>
              <a:rPr sz="1800" dirty="0">
                <a:latin typeface="Times New Roman"/>
                <a:cs typeface="Times New Roman"/>
              </a:rPr>
              <a:t> by</a:t>
            </a:r>
            <a:r>
              <a:rPr sz="1800" spc="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walls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any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form.</a:t>
            </a:r>
            <a:endParaRPr sz="1800">
              <a:latin typeface="Times New Roman"/>
              <a:cs typeface="Times New Roman"/>
            </a:endParaRPr>
          </a:p>
          <a:p>
            <a:pPr marL="410845" indent="-228600" algn="just">
              <a:lnSpc>
                <a:spcPts val="2100"/>
              </a:lnSpc>
              <a:buFont typeface="Wingdings"/>
              <a:buChar char=""/>
              <a:tabLst>
                <a:tab pos="410845" algn="l"/>
              </a:tabLst>
            </a:pPr>
            <a:r>
              <a:rPr sz="1800" spc="-5" dirty="0">
                <a:latin typeface="Times New Roman"/>
                <a:cs typeface="Times New Roman"/>
              </a:rPr>
              <a:t>Suitable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for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appliances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designed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for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indoor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use</a:t>
            </a:r>
            <a:endParaRPr sz="1800">
              <a:latin typeface="Times New Roman"/>
              <a:cs typeface="Times New Roman"/>
            </a:endParaRPr>
          </a:p>
          <a:p>
            <a:pPr marL="410845" marR="165100" indent="-228600" algn="just">
              <a:lnSpc>
                <a:spcPct val="99500"/>
              </a:lnSpc>
              <a:spcBef>
                <a:spcPts val="50"/>
              </a:spcBef>
              <a:buFont typeface="Wingdings"/>
              <a:buChar char=""/>
              <a:tabLst>
                <a:tab pos="410845" algn="l"/>
              </a:tabLst>
            </a:pPr>
            <a:r>
              <a:rPr sz="1800" spc="-25" dirty="0">
                <a:latin typeface="Times New Roman"/>
                <a:cs typeface="Times New Roman"/>
              </a:rPr>
              <a:t>With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the</a:t>
            </a:r>
            <a:r>
              <a:rPr sz="1800" dirty="0">
                <a:latin typeface="Times New Roman"/>
                <a:cs typeface="Times New Roman"/>
              </a:rPr>
              <a:t> advent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Personal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Communication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Systems 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(PCS), there is </a:t>
            </a:r>
            <a:r>
              <a:rPr sz="1800" dirty="0">
                <a:latin typeface="Times New Roman"/>
                <a:cs typeface="Times New Roman"/>
              </a:rPr>
              <a:t>a great deal of </a:t>
            </a:r>
            <a:r>
              <a:rPr sz="1800" spc="-5" dirty="0">
                <a:latin typeface="Times New Roman"/>
                <a:cs typeface="Times New Roman"/>
              </a:rPr>
              <a:t>interest in characterizing 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radio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propagation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inside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buildings.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50"/>
              </a:spcBef>
              <a:tabLst>
                <a:tab pos="5485765" algn="l"/>
              </a:tabLst>
            </a:pPr>
            <a:r>
              <a:rPr sz="1400" b="1" spc="-15" dirty="0">
                <a:solidFill>
                  <a:srgbClr val="005599"/>
                </a:solidFill>
                <a:latin typeface="Times New Roman"/>
                <a:cs typeface="Times New Roman"/>
              </a:rPr>
              <a:t>C</a:t>
            </a:r>
            <a:r>
              <a:rPr sz="1400" b="1" dirty="0">
                <a:solidFill>
                  <a:srgbClr val="005599"/>
                </a:solidFill>
                <a:latin typeface="Times New Roman"/>
                <a:cs typeface="Times New Roman"/>
              </a:rPr>
              <a:t>o</a:t>
            </a:r>
            <a:r>
              <a:rPr sz="1400" b="1" spc="-45" dirty="0">
                <a:solidFill>
                  <a:srgbClr val="005599"/>
                </a:solidFill>
                <a:latin typeface="Times New Roman"/>
                <a:cs typeface="Times New Roman"/>
              </a:rPr>
              <a:t>I</a:t>
            </a:r>
            <a:r>
              <a:rPr sz="1400" b="1" spc="-15" dirty="0">
                <a:solidFill>
                  <a:srgbClr val="005599"/>
                </a:solidFill>
                <a:latin typeface="Times New Roman"/>
                <a:cs typeface="Times New Roman"/>
              </a:rPr>
              <a:t>C</a:t>
            </a:r>
            <a:r>
              <a:rPr sz="1400" b="1" dirty="0">
                <a:solidFill>
                  <a:srgbClr val="005599"/>
                </a:solidFill>
                <a:latin typeface="Times New Roman"/>
                <a:cs typeface="Times New Roman"/>
              </a:rPr>
              <a:t>T</a:t>
            </a:r>
            <a:r>
              <a:rPr sz="1400" b="1" spc="15" dirty="0">
                <a:solidFill>
                  <a:srgbClr val="005599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005599"/>
                </a:solidFill>
                <a:latin typeface="Times New Roman"/>
                <a:cs typeface="Times New Roman"/>
              </a:rPr>
              <a:t>–</a:t>
            </a:r>
            <a:r>
              <a:rPr sz="1400" b="1" spc="50" dirty="0">
                <a:solidFill>
                  <a:srgbClr val="005599"/>
                </a:solidFill>
                <a:latin typeface="Times New Roman"/>
                <a:cs typeface="Times New Roman"/>
              </a:rPr>
              <a:t> </a:t>
            </a:r>
            <a:r>
              <a:rPr sz="1400" b="1" spc="-35" dirty="0">
                <a:solidFill>
                  <a:srgbClr val="005599"/>
                </a:solidFill>
                <a:latin typeface="Times New Roman"/>
                <a:cs typeface="Times New Roman"/>
              </a:rPr>
              <a:t>ET</a:t>
            </a:r>
            <a:r>
              <a:rPr sz="1400" b="1" dirty="0">
                <a:solidFill>
                  <a:srgbClr val="005599"/>
                </a:solidFill>
                <a:latin typeface="Times New Roman"/>
                <a:cs typeface="Times New Roman"/>
              </a:rPr>
              <a:t>E	</a:t>
            </a:r>
            <a:r>
              <a:rPr sz="1400" b="1" spc="-35" dirty="0">
                <a:solidFill>
                  <a:srgbClr val="005599"/>
                </a:solidFill>
                <a:latin typeface="Times New Roman"/>
                <a:cs typeface="Times New Roman"/>
              </a:rPr>
              <a:t>TE</a:t>
            </a:r>
            <a:r>
              <a:rPr sz="1400" b="1" dirty="0">
                <a:solidFill>
                  <a:srgbClr val="005599"/>
                </a:solidFill>
                <a:latin typeface="Times New Roman"/>
                <a:cs typeface="Times New Roman"/>
              </a:rPr>
              <a:t>414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742949" y="5759450"/>
            <a:ext cx="6083300" cy="3416300"/>
          </a:xfrm>
          <a:custGeom>
            <a:avLst/>
            <a:gdLst/>
            <a:ahLst/>
            <a:cxnLst/>
            <a:rect l="l" t="t" r="r" b="b"/>
            <a:pathLst>
              <a:path w="6083300" h="3416300">
                <a:moveTo>
                  <a:pt x="0" y="0"/>
                </a:moveTo>
                <a:lnTo>
                  <a:pt x="6083300" y="0"/>
                </a:lnTo>
                <a:lnTo>
                  <a:pt x="6083300" y="3416300"/>
                </a:lnTo>
                <a:lnTo>
                  <a:pt x="0" y="341630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54011" y="455423"/>
            <a:ext cx="508634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40" dirty="0">
                <a:latin typeface="Calibri"/>
                <a:cs typeface="Calibri"/>
              </a:rPr>
              <a:t>8</a:t>
            </a:r>
            <a:r>
              <a:rPr sz="1300" spc="-5" dirty="0">
                <a:latin typeface="Calibri"/>
                <a:cs typeface="Calibri"/>
              </a:rPr>
              <a:t>/</a:t>
            </a:r>
            <a:r>
              <a:rPr sz="1300" spc="40" dirty="0">
                <a:latin typeface="Calibri"/>
                <a:cs typeface="Calibri"/>
              </a:rPr>
              <a:t>5</a:t>
            </a:r>
            <a:r>
              <a:rPr sz="1300" spc="-5" dirty="0">
                <a:latin typeface="Calibri"/>
                <a:cs typeface="Calibri"/>
              </a:rPr>
              <a:t>/</a:t>
            </a:r>
            <a:r>
              <a:rPr sz="1300" spc="40" dirty="0">
                <a:latin typeface="Calibri"/>
                <a:cs typeface="Calibri"/>
              </a:rPr>
              <a:t>20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4294967295"/>
          </p:nvPr>
        </p:nvSpPr>
        <p:spPr>
          <a:xfrm>
            <a:off x="7300913" y="9974263"/>
            <a:ext cx="255587" cy="227012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41</a:t>
            </a:fld>
            <a:endParaRPr dirty="0"/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6599" y="4635499"/>
            <a:ext cx="6096000" cy="76200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782319" y="2115553"/>
            <a:ext cx="5995035" cy="2793365"/>
          </a:xfrm>
          <a:prstGeom prst="rect">
            <a:avLst/>
          </a:prstGeom>
        </p:spPr>
        <p:txBody>
          <a:bodyPr vert="horz" wrap="square" lIns="0" tIns="147320" rIns="0" bIns="0" rtlCol="0">
            <a:spAutoFit/>
          </a:bodyPr>
          <a:lstStyle/>
          <a:p>
            <a:pPr marL="182245">
              <a:lnSpc>
                <a:spcPct val="100000"/>
              </a:lnSpc>
              <a:spcBef>
                <a:spcPts val="1160"/>
              </a:spcBef>
            </a:pPr>
            <a:r>
              <a:rPr sz="2000" b="1" spc="-25" dirty="0">
                <a:solidFill>
                  <a:srgbClr val="FF0000"/>
                </a:solidFill>
                <a:latin typeface="Cambria"/>
                <a:cs typeface="Cambria"/>
              </a:rPr>
              <a:t>Indoor</a:t>
            </a:r>
            <a:r>
              <a:rPr sz="2000" b="1" spc="5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b="1" spc="-25" dirty="0">
                <a:solidFill>
                  <a:srgbClr val="FF0000"/>
                </a:solidFill>
                <a:latin typeface="Cambria"/>
                <a:cs typeface="Cambria"/>
              </a:rPr>
              <a:t>Propagation</a:t>
            </a:r>
            <a:r>
              <a:rPr sz="2000" b="1" spc="2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b="1" spc="40" dirty="0">
                <a:solidFill>
                  <a:srgbClr val="FF0000"/>
                </a:solidFill>
                <a:latin typeface="Cambria"/>
                <a:cs typeface="Cambria"/>
              </a:rPr>
              <a:t>Models</a:t>
            </a:r>
            <a:endParaRPr sz="2000">
              <a:latin typeface="Cambria"/>
              <a:cs typeface="Cambria"/>
            </a:endParaRPr>
          </a:p>
          <a:p>
            <a:pPr marL="410845" marR="349885" indent="-228600">
              <a:lnSpc>
                <a:spcPts val="2100"/>
              </a:lnSpc>
              <a:spcBef>
                <a:spcPts val="1075"/>
              </a:spcBef>
              <a:buFont typeface="Wingdings"/>
              <a:buChar char=""/>
              <a:tabLst>
                <a:tab pos="410845" algn="l"/>
              </a:tabLst>
            </a:pPr>
            <a:r>
              <a:rPr sz="1800" spc="-5" dirty="0">
                <a:latin typeface="Times New Roman"/>
                <a:cs typeface="Times New Roman"/>
              </a:rPr>
              <a:t>Outdoor</a:t>
            </a:r>
            <a:r>
              <a:rPr sz="1800" spc="-1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Models</a:t>
            </a:r>
            <a:r>
              <a:rPr sz="1800" spc="-1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are</a:t>
            </a:r>
            <a:r>
              <a:rPr sz="1800" spc="-1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not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accurate</a:t>
            </a:r>
            <a:r>
              <a:rPr sz="1800" spc="-1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for</a:t>
            </a:r>
            <a:r>
              <a:rPr sz="1800" spc="-1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Indoor</a:t>
            </a:r>
            <a:r>
              <a:rPr sz="1800" spc="-14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scenarios</a:t>
            </a:r>
            <a:r>
              <a:rPr sz="1800" spc="355" dirty="0">
                <a:latin typeface="Times New Roman"/>
                <a:cs typeface="Times New Roman"/>
              </a:rPr>
              <a:t> </a:t>
            </a:r>
            <a:r>
              <a:rPr sz="1800" spc="10" dirty="0">
                <a:latin typeface="Times New Roman"/>
                <a:cs typeface="Times New Roman"/>
              </a:rPr>
              <a:t>e.g. </a:t>
            </a:r>
            <a:r>
              <a:rPr sz="1800" spc="-434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Home,</a:t>
            </a:r>
            <a:r>
              <a:rPr sz="1800" spc="-1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Shopping</a:t>
            </a:r>
            <a:r>
              <a:rPr sz="1800" spc="-1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mall,</a:t>
            </a:r>
            <a:r>
              <a:rPr sz="1800" spc="-1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office</a:t>
            </a:r>
            <a:r>
              <a:rPr sz="1800" spc="-1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building,</a:t>
            </a:r>
            <a:r>
              <a:rPr sz="1800" spc="-2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etc.</a:t>
            </a:r>
            <a:endParaRPr sz="1800">
              <a:latin typeface="Times New Roman"/>
              <a:cs typeface="Times New Roman"/>
            </a:endParaRPr>
          </a:p>
          <a:p>
            <a:pPr marL="410845" marR="432434" indent="-228600">
              <a:lnSpc>
                <a:spcPts val="2100"/>
              </a:lnSpc>
              <a:buFont typeface="Wingdings"/>
              <a:buChar char=""/>
              <a:tabLst>
                <a:tab pos="410845" algn="l"/>
              </a:tabLst>
            </a:pPr>
            <a:r>
              <a:rPr sz="1800" dirty="0">
                <a:latin typeface="Times New Roman"/>
                <a:cs typeface="Times New Roman"/>
              </a:rPr>
              <a:t>Indoor</a:t>
            </a:r>
            <a:r>
              <a:rPr sz="1800" spc="-1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radio</a:t>
            </a:r>
            <a:r>
              <a:rPr sz="1800" spc="-1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channel</a:t>
            </a:r>
            <a:r>
              <a:rPr sz="1800" spc="-1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differs</a:t>
            </a:r>
            <a:r>
              <a:rPr sz="1800" spc="-1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from</a:t>
            </a:r>
            <a:r>
              <a:rPr sz="1800" spc="-15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traditional</a:t>
            </a:r>
            <a:r>
              <a:rPr sz="1800" spc="-14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mobile</a:t>
            </a:r>
            <a:r>
              <a:rPr sz="1800" spc="-1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radio </a:t>
            </a:r>
            <a:r>
              <a:rPr sz="1800" spc="-43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channel</a:t>
            </a:r>
            <a:r>
              <a:rPr sz="1800" spc="-15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in</a:t>
            </a:r>
            <a:endParaRPr sz="1800">
              <a:latin typeface="Times New Roman"/>
              <a:cs typeface="Times New Roman"/>
            </a:endParaRPr>
          </a:p>
          <a:p>
            <a:pPr marL="639445" lvl="1" indent="-228600">
              <a:lnSpc>
                <a:spcPts val="2010"/>
              </a:lnSpc>
              <a:buFont typeface="Wingdings"/>
              <a:buChar char=""/>
              <a:tabLst>
                <a:tab pos="639445" algn="l"/>
              </a:tabLst>
            </a:pPr>
            <a:r>
              <a:rPr sz="1800" dirty="0">
                <a:latin typeface="Times New Roman"/>
                <a:cs typeface="Times New Roman"/>
              </a:rPr>
              <a:t>D</a:t>
            </a:r>
            <a:r>
              <a:rPr sz="1800" spc="-5" dirty="0">
                <a:latin typeface="Times New Roman"/>
                <a:cs typeface="Times New Roman"/>
              </a:rPr>
              <a:t>ist</a:t>
            </a:r>
            <a:r>
              <a:rPr sz="1800" dirty="0">
                <a:latin typeface="Times New Roman"/>
                <a:cs typeface="Times New Roman"/>
              </a:rPr>
              <a:t>ances</a:t>
            </a:r>
            <a:r>
              <a:rPr sz="1800" spc="-1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covered</a:t>
            </a:r>
            <a:r>
              <a:rPr sz="1800" spc="-1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are</a:t>
            </a:r>
            <a:r>
              <a:rPr sz="1800" spc="-1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m</a:t>
            </a:r>
            <a:r>
              <a:rPr sz="1800" dirty="0">
                <a:latin typeface="Times New Roman"/>
                <a:cs typeface="Times New Roman"/>
              </a:rPr>
              <a:t>uch</a:t>
            </a:r>
            <a:r>
              <a:rPr sz="1800" spc="-1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sm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-5" dirty="0">
                <a:latin typeface="Times New Roman"/>
                <a:cs typeface="Times New Roman"/>
              </a:rPr>
              <a:t>ll</a:t>
            </a:r>
            <a:r>
              <a:rPr sz="1800" dirty="0">
                <a:latin typeface="Times New Roman"/>
                <a:cs typeface="Times New Roman"/>
              </a:rPr>
              <a:t>e</a:t>
            </a:r>
            <a:r>
              <a:rPr sz="1800" spc="-100" dirty="0">
                <a:latin typeface="Times New Roman"/>
                <a:cs typeface="Times New Roman"/>
              </a:rPr>
              <a:t>r</a:t>
            </a:r>
            <a:r>
              <a:rPr sz="1800" dirty="0">
                <a:latin typeface="Times New Roman"/>
                <a:cs typeface="Times New Roman"/>
              </a:rPr>
              <a:t>.</a:t>
            </a:r>
            <a:endParaRPr sz="1800">
              <a:latin typeface="Times New Roman"/>
              <a:cs typeface="Times New Roman"/>
            </a:endParaRPr>
          </a:p>
          <a:p>
            <a:pPr marL="639445" marR="749935" lvl="1" indent="-228600">
              <a:lnSpc>
                <a:spcPts val="2100"/>
              </a:lnSpc>
              <a:spcBef>
                <a:spcPts val="90"/>
              </a:spcBef>
              <a:buFont typeface="Wingdings"/>
              <a:buChar char=""/>
              <a:tabLst>
                <a:tab pos="639445" algn="l"/>
              </a:tabLst>
            </a:pPr>
            <a:r>
              <a:rPr sz="1800" spc="-25" dirty="0">
                <a:latin typeface="Times New Roman"/>
                <a:cs typeface="Times New Roman"/>
              </a:rPr>
              <a:t>Variability</a:t>
            </a:r>
            <a:r>
              <a:rPr sz="1800" spc="-1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14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the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environment</a:t>
            </a:r>
            <a:r>
              <a:rPr sz="1800" spc="-14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is</a:t>
            </a:r>
            <a:r>
              <a:rPr sz="1800" spc="-1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greater</a:t>
            </a:r>
            <a:r>
              <a:rPr sz="1800" spc="-1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for</a:t>
            </a:r>
            <a:r>
              <a:rPr sz="1800" spc="-1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6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much </a:t>
            </a:r>
            <a:r>
              <a:rPr sz="1800" spc="-434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sm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-5" dirty="0">
                <a:latin typeface="Times New Roman"/>
                <a:cs typeface="Times New Roman"/>
              </a:rPr>
              <a:t>ll</a:t>
            </a:r>
            <a:r>
              <a:rPr sz="1800" dirty="0">
                <a:latin typeface="Times New Roman"/>
                <a:cs typeface="Times New Roman"/>
              </a:rPr>
              <a:t>er</a:t>
            </a:r>
            <a:r>
              <a:rPr sz="1800" spc="-1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range</a:t>
            </a:r>
            <a:r>
              <a:rPr sz="1800" spc="-1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or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200" dirty="0">
                <a:latin typeface="Times New Roman"/>
                <a:cs typeface="Times New Roman"/>
              </a:rPr>
              <a:t>T</a:t>
            </a:r>
            <a:r>
              <a:rPr sz="1800" dirty="0">
                <a:latin typeface="Times New Roman"/>
                <a:cs typeface="Times New Roman"/>
              </a:rPr>
              <a:t>-R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s</a:t>
            </a:r>
            <a:r>
              <a:rPr sz="1800" dirty="0">
                <a:latin typeface="Times New Roman"/>
                <a:cs typeface="Times New Roman"/>
              </a:rPr>
              <a:t>epara</a:t>
            </a:r>
            <a:r>
              <a:rPr sz="1800" spc="-5" dirty="0">
                <a:latin typeface="Times New Roman"/>
                <a:cs typeface="Times New Roman"/>
              </a:rPr>
              <a:t>ti</a:t>
            </a:r>
            <a:r>
              <a:rPr sz="1800" dirty="0">
                <a:latin typeface="Times New Roman"/>
                <a:cs typeface="Times New Roman"/>
              </a:rPr>
              <a:t>on</a:t>
            </a:r>
            <a:r>
              <a:rPr sz="1800" spc="-1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</a:t>
            </a:r>
            <a:r>
              <a:rPr sz="1800" spc="-5" dirty="0">
                <a:latin typeface="Times New Roman"/>
                <a:cs typeface="Times New Roman"/>
              </a:rPr>
              <a:t>ist</a:t>
            </a:r>
            <a:r>
              <a:rPr sz="1800" dirty="0">
                <a:latin typeface="Times New Roman"/>
                <a:cs typeface="Times New Roman"/>
              </a:rPr>
              <a:t>ance</a:t>
            </a:r>
            <a:r>
              <a:rPr sz="1800" spc="-5" dirty="0">
                <a:latin typeface="Times New Roman"/>
                <a:cs typeface="Times New Roman"/>
              </a:rPr>
              <a:t>s</a:t>
            </a:r>
            <a:r>
              <a:rPr sz="1800" dirty="0">
                <a:latin typeface="Times New Roman"/>
                <a:cs typeface="Times New Roman"/>
              </a:rPr>
              <a:t>.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80"/>
              </a:spcBef>
              <a:tabLst>
                <a:tab pos="5485765" algn="l"/>
              </a:tabLst>
            </a:pPr>
            <a:r>
              <a:rPr sz="1400" b="1" spc="-15" dirty="0">
                <a:solidFill>
                  <a:srgbClr val="005599"/>
                </a:solidFill>
                <a:latin typeface="Times New Roman"/>
                <a:cs typeface="Times New Roman"/>
              </a:rPr>
              <a:t>C</a:t>
            </a:r>
            <a:r>
              <a:rPr sz="1400" b="1" dirty="0">
                <a:solidFill>
                  <a:srgbClr val="005599"/>
                </a:solidFill>
                <a:latin typeface="Times New Roman"/>
                <a:cs typeface="Times New Roman"/>
              </a:rPr>
              <a:t>o</a:t>
            </a:r>
            <a:r>
              <a:rPr sz="1400" b="1" spc="-45" dirty="0">
                <a:solidFill>
                  <a:srgbClr val="005599"/>
                </a:solidFill>
                <a:latin typeface="Times New Roman"/>
                <a:cs typeface="Times New Roman"/>
              </a:rPr>
              <a:t>I</a:t>
            </a:r>
            <a:r>
              <a:rPr sz="1400" b="1" spc="-15" dirty="0">
                <a:solidFill>
                  <a:srgbClr val="005599"/>
                </a:solidFill>
                <a:latin typeface="Times New Roman"/>
                <a:cs typeface="Times New Roman"/>
              </a:rPr>
              <a:t>C</a:t>
            </a:r>
            <a:r>
              <a:rPr sz="1400" b="1" dirty="0">
                <a:solidFill>
                  <a:srgbClr val="005599"/>
                </a:solidFill>
                <a:latin typeface="Times New Roman"/>
                <a:cs typeface="Times New Roman"/>
              </a:rPr>
              <a:t>T</a:t>
            </a:r>
            <a:r>
              <a:rPr sz="1400" b="1" spc="15" dirty="0">
                <a:solidFill>
                  <a:srgbClr val="005599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005599"/>
                </a:solidFill>
                <a:latin typeface="Times New Roman"/>
                <a:cs typeface="Times New Roman"/>
              </a:rPr>
              <a:t>–</a:t>
            </a:r>
            <a:r>
              <a:rPr sz="1400" b="1" spc="50" dirty="0">
                <a:solidFill>
                  <a:srgbClr val="005599"/>
                </a:solidFill>
                <a:latin typeface="Times New Roman"/>
                <a:cs typeface="Times New Roman"/>
              </a:rPr>
              <a:t> </a:t>
            </a:r>
            <a:r>
              <a:rPr sz="1400" b="1" spc="-35" dirty="0">
                <a:solidFill>
                  <a:srgbClr val="005599"/>
                </a:solidFill>
                <a:latin typeface="Times New Roman"/>
                <a:cs typeface="Times New Roman"/>
              </a:rPr>
              <a:t>ET</a:t>
            </a:r>
            <a:r>
              <a:rPr sz="1400" b="1" dirty="0">
                <a:solidFill>
                  <a:srgbClr val="005599"/>
                </a:solidFill>
                <a:latin typeface="Times New Roman"/>
                <a:cs typeface="Times New Roman"/>
              </a:rPr>
              <a:t>E	</a:t>
            </a:r>
            <a:r>
              <a:rPr sz="1400" b="1" spc="-35" dirty="0">
                <a:solidFill>
                  <a:srgbClr val="005599"/>
                </a:solidFill>
                <a:latin typeface="Times New Roman"/>
                <a:cs typeface="Times New Roman"/>
              </a:rPr>
              <a:t>TE</a:t>
            </a:r>
            <a:r>
              <a:rPr sz="1400" b="1" dirty="0">
                <a:solidFill>
                  <a:srgbClr val="005599"/>
                </a:solidFill>
                <a:latin typeface="Times New Roman"/>
                <a:cs typeface="Times New Roman"/>
              </a:rPr>
              <a:t>414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42949" y="1492249"/>
            <a:ext cx="6083300" cy="3416300"/>
          </a:xfrm>
          <a:custGeom>
            <a:avLst/>
            <a:gdLst/>
            <a:ahLst/>
            <a:cxnLst/>
            <a:rect l="l" t="t" r="r" b="b"/>
            <a:pathLst>
              <a:path w="6083300" h="3416300">
                <a:moveTo>
                  <a:pt x="0" y="0"/>
                </a:moveTo>
                <a:lnTo>
                  <a:pt x="6083300" y="0"/>
                </a:lnTo>
                <a:lnTo>
                  <a:pt x="6083300" y="3416300"/>
                </a:lnTo>
                <a:lnTo>
                  <a:pt x="0" y="341630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607775" y="5598802"/>
            <a:ext cx="5995035" cy="2793365"/>
          </a:xfrm>
          <a:prstGeom prst="rect">
            <a:avLst/>
          </a:prstGeom>
        </p:spPr>
        <p:txBody>
          <a:bodyPr vert="horz" wrap="square" lIns="0" tIns="147320" rIns="0" bIns="0" rtlCol="0">
            <a:spAutoFit/>
          </a:bodyPr>
          <a:lstStyle/>
          <a:p>
            <a:pPr marL="182245">
              <a:lnSpc>
                <a:spcPct val="100000"/>
              </a:lnSpc>
              <a:spcBef>
                <a:spcPts val="1160"/>
              </a:spcBef>
            </a:pPr>
            <a:r>
              <a:rPr sz="2000" b="1" spc="-25" dirty="0">
                <a:solidFill>
                  <a:srgbClr val="FF0000"/>
                </a:solidFill>
                <a:latin typeface="Cambria"/>
                <a:cs typeface="Cambria"/>
              </a:rPr>
              <a:t>Indoor</a:t>
            </a:r>
            <a:r>
              <a:rPr sz="2000" b="1" spc="5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b="1" spc="-25" dirty="0">
                <a:solidFill>
                  <a:srgbClr val="FF0000"/>
                </a:solidFill>
                <a:latin typeface="Cambria"/>
                <a:cs typeface="Cambria"/>
              </a:rPr>
              <a:t>Propagation</a:t>
            </a:r>
            <a:r>
              <a:rPr sz="2000" b="1" spc="2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b="1" spc="40" dirty="0">
                <a:solidFill>
                  <a:srgbClr val="FF0000"/>
                </a:solidFill>
                <a:latin typeface="Cambria"/>
                <a:cs typeface="Cambria"/>
              </a:rPr>
              <a:t>Models</a:t>
            </a:r>
            <a:endParaRPr sz="2000" dirty="0">
              <a:latin typeface="Cambria"/>
              <a:cs typeface="Cambria"/>
            </a:endParaRPr>
          </a:p>
          <a:p>
            <a:pPr marL="410845" indent="-228600" algn="just">
              <a:lnSpc>
                <a:spcPts val="2130"/>
              </a:lnSpc>
              <a:spcBef>
                <a:spcPts val="955"/>
              </a:spcBef>
              <a:buFont typeface="Wingdings"/>
              <a:buChar char=""/>
              <a:tabLst>
                <a:tab pos="410845" algn="l"/>
              </a:tabLst>
            </a:pP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propagation</a:t>
            </a:r>
            <a:r>
              <a:rPr sz="1800" spc="-14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inside</a:t>
            </a:r>
            <a:r>
              <a:rPr sz="1800" spc="-1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-1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building</a:t>
            </a:r>
            <a:r>
              <a:rPr sz="1800" spc="-14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is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influenced</a:t>
            </a:r>
            <a:r>
              <a:rPr sz="1800" spc="-1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by:</a:t>
            </a:r>
          </a:p>
          <a:p>
            <a:pPr marL="639445" lvl="1" indent="-228600" algn="just">
              <a:lnSpc>
                <a:spcPts val="2100"/>
              </a:lnSpc>
              <a:buFont typeface="Wingdings"/>
              <a:buChar char=""/>
              <a:tabLst>
                <a:tab pos="639445" algn="l"/>
              </a:tabLst>
            </a:pPr>
            <a:r>
              <a:rPr sz="1800" dirty="0">
                <a:latin typeface="Times New Roman"/>
                <a:cs typeface="Times New Roman"/>
              </a:rPr>
              <a:t>Layout</a:t>
            </a:r>
            <a:r>
              <a:rPr sz="1800" spc="-1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</a:t>
            </a:r>
            <a:r>
              <a:rPr sz="1800" dirty="0">
                <a:latin typeface="Times New Roman"/>
                <a:cs typeface="Times New Roman"/>
              </a:rPr>
              <a:t>he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bu</a:t>
            </a:r>
            <a:r>
              <a:rPr sz="1800" spc="-5" dirty="0">
                <a:latin typeface="Times New Roman"/>
                <a:cs typeface="Times New Roman"/>
              </a:rPr>
              <a:t>il</a:t>
            </a:r>
            <a:r>
              <a:rPr sz="1800" dirty="0">
                <a:latin typeface="Times New Roman"/>
                <a:cs typeface="Times New Roman"/>
              </a:rPr>
              <a:t>d</a:t>
            </a:r>
            <a:r>
              <a:rPr sz="1800" spc="-5" dirty="0">
                <a:latin typeface="Times New Roman"/>
                <a:cs typeface="Times New Roman"/>
              </a:rPr>
              <a:t>i</a:t>
            </a:r>
            <a:r>
              <a:rPr sz="1800" dirty="0">
                <a:latin typeface="Times New Roman"/>
                <a:cs typeface="Times New Roman"/>
              </a:rPr>
              <a:t>ng</a:t>
            </a:r>
          </a:p>
          <a:p>
            <a:pPr marL="639445" lvl="1" indent="-228600" algn="just">
              <a:lnSpc>
                <a:spcPts val="2100"/>
              </a:lnSpc>
              <a:buFont typeface="Wingdings"/>
              <a:buChar char=""/>
              <a:tabLst>
                <a:tab pos="639445" algn="l"/>
              </a:tabLst>
            </a:pPr>
            <a:r>
              <a:rPr sz="1800" spc="-5" dirty="0">
                <a:latin typeface="Times New Roman"/>
                <a:cs typeface="Times New Roman"/>
              </a:rPr>
              <a:t>C</a:t>
            </a:r>
            <a:r>
              <a:rPr sz="1800" dirty="0">
                <a:latin typeface="Times New Roman"/>
                <a:cs typeface="Times New Roman"/>
              </a:rPr>
              <a:t>on</a:t>
            </a:r>
            <a:r>
              <a:rPr sz="1800" spc="-5" dirty="0">
                <a:latin typeface="Times New Roman"/>
                <a:cs typeface="Times New Roman"/>
              </a:rPr>
              <a:t>st</a:t>
            </a:r>
            <a:r>
              <a:rPr sz="1800" dirty="0">
                <a:latin typeface="Times New Roman"/>
                <a:cs typeface="Times New Roman"/>
              </a:rPr>
              <a:t>ruc</a:t>
            </a:r>
            <a:r>
              <a:rPr sz="1800" spc="-5" dirty="0">
                <a:latin typeface="Times New Roman"/>
                <a:cs typeface="Times New Roman"/>
              </a:rPr>
              <a:t>ti</a:t>
            </a:r>
            <a:r>
              <a:rPr sz="1800" dirty="0">
                <a:latin typeface="Times New Roman"/>
                <a:cs typeface="Times New Roman"/>
              </a:rPr>
              <a:t>on</a:t>
            </a:r>
            <a:r>
              <a:rPr sz="1800" spc="-1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M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-5" dirty="0">
                <a:latin typeface="Times New Roman"/>
                <a:cs typeface="Times New Roman"/>
              </a:rPr>
              <a:t>t</a:t>
            </a:r>
            <a:r>
              <a:rPr sz="1800" dirty="0">
                <a:latin typeface="Times New Roman"/>
                <a:cs typeface="Times New Roman"/>
              </a:rPr>
              <a:t>er</a:t>
            </a:r>
            <a:r>
              <a:rPr sz="1800" spc="-5" dirty="0">
                <a:latin typeface="Times New Roman"/>
                <a:cs typeface="Times New Roman"/>
              </a:rPr>
              <a:t>i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-5" dirty="0">
                <a:latin typeface="Times New Roman"/>
                <a:cs typeface="Times New Roman"/>
              </a:rPr>
              <a:t>l</a:t>
            </a:r>
            <a:r>
              <a:rPr sz="1800" dirty="0">
                <a:latin typeface="Times New Roman"/>
                <a:cs typeface="Times New Roman"/>
              </a:rPr>
              <a:t>s</a:t>
            </a:r>
          </a:p>
          <a:p>
            <a:pPr marL="639445" marR="178435" lvl="1" indent="-228600" algn="just">
              <a:lnSpc>
                <a:spcPts val="2100"/>
              </a:lnSpc>
              <a:spcBef>
                <a:spcPts val="90"/>
              </a:spcBef>
              <a:buFont typeface="Wingdings"/>
              <a:buChar char=""/>
              <a:tabLst>
                <a:tab pos="639445" algn="l"/>
              </a:tabLst>
            </a:pPr>
            <a:r>
              <a:rPr sz="1800" spc="-5" dirty="0">
                <a:latin typeface="Times New Roman"/>
                <a:cs typeface="Times New Roman"/>
              </a:rPr>
              <a:t>Building</a:t>
            </a:r>
            <a:r>
              <a:rPr sz="1800" spc="-14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type:</a:t>
            </a:r>
            <a:r>
              <a:rPr sz="1800" spc="-140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Times New Roman"/>
                <a:cs typeface="Times New Roman"/>
              </a:rPr>
              <a:t>Traditional</a:t>
            </a:r>
            <a:r>
              <a:rPr sz="1800" spc="-14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office</a:t>
            </a:r>
            <a:r>
              <a:rPr sz="1800" spc="-13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building</a:t>
            </a:r>
            <a:r>
              <a:rPr sz="1800" spc="-14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with</a:t>
            </a:r>
            <a:r>
              <a:rPr sz="1800" spc="-14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fixed</a:t>
            </a:r>
            <a:r>
              <a:rPr sz="1800" spc="-13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walls </a:t>
            </a:r>
            <a:r>
              <a:rPr sz="1800" spc="-4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(Hard</a:t>
            </a:r>
            <a:r>
              <a:rPr sz="1800" spc="-1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Partitions),</a:t>
            </a:r>
            <a:r>
              <a:rPr sz="1800" spc="-9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Open</a:t>
            </a:r>
            <a:r>
              <a:rPr sz="1800" spc="-15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plan</a:t>
            </a:r>
            <a:r>
              <a:rPr sz="1800" spc="-14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buildings</a:t>
            </a:r>
            <a:r>
              <a:rPr sz="1800" spc="-1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with</a:t>
            </a:r>
            <a:r>
              <a:rPr sz="1800" spc="-1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movable</a:t>
            </a:r>
            <a:r>
              <a:rPr sz="1800" spc="-14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wall </a:t>
            </a:r>
            <a:r>
              <a:rPr sz="1800" spc="-44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panels</a:t>
            </a:r>
            <a:r>
              <a:rPr sz="1800" spc="-1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(Soft</a:t>
            </a:r>
            <a:r>
              <a:rPr sz="1800" spc="-14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Partitions),</a:t>
            </a:r>
            <a:r>
              <a:rPr sz="1800" spc="-9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Sports</a:t>
            </a:r>
            <a:r>
              <a:rPr sz="1800" spc="-1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Arena,</a:t>
            </a:r>
            <a:r>
              <a:rPr sz="1800" spc="-19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Residential</a:t>
            </a:r>
            <a:r>
              <a:rPr sz="1800" spc="-2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Home, 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F</a:t>
            </a:r>
            <a:r>
              <a:rPr sz="1800" dirty="0">
                <a:latin typeface="Times New Roman"/>
                <a:cs typeface="Times New Roman"/>
              </a:rPr>
              <a:t>ac</a:t>
            </a:r>
            <a:r>
              <a:rPr sz="1800" spc="-5" dirty="0">
                <a:latin typeface="Times New Roman"/>
                <a:cs typeface="Times New Roman"/>
              </a:rPr>
              <a:t>t</a:t>
            </a:r>
            <a:r>
              <a:rPr sz="1800" dirty="0">
                <a:latin typeface="Times New Roman"/>
                <a:cs typeface="Times New Roman"/>
              </a:rPr>
              <a:t>or</a:t>
            </a:r>
            <a:r>
              <a:rPr sz="1800" spc="-105" dirty="0">
                <a:latin typeface="Times New Roman"/>
                <a:cs typeface="Times New Roman"/>
              </a:rPr>
              <a:t>y</a:t>
            </a:r>
            <a:r>
              <a:rPr sz="1800" dirty="0">
                <a:latin typeface="Times New Roman"/>
                <a:cs typeface="Times New Roman"/>
              </a:rPr>
              <a:t>,</a:t>
            </a:r>
            <a:r>
              <a:rPr sz="1800" spc="-10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</a:t>
            </a:r>
            <a:r>
              <a:rPr sz="1800" spc="-5" dirty="0">
                <a:latin typeface="Times New Roman"/>
                <a:cs typeface="Times New Roman"/>
              </a:rPr>
              <a:t>t</a:t>
            </a:r>
            <a:r>
              <a:rPr sz="1800" dirty="0">
                <a:latin typeface="Times New Roman"/>
                <a:cs typeface="Times New Roman"/>
              </a:rPr>
              <a:t>c</a:t>
            </a:r>
          </a:p>
          <a:p>
            <a:pPr>
              <a:lnSpc>
                <a:spcPct val="100000"/>
              </a:lnSpc>
              <a:spcBef>
                <a:spcPts val="880"/>
              </a:spcBef>
              <a:tabLst>
                <a:tab pos="5485765" algn="l"/>
              </a:tabLst>
            </a:pPr>
            <a:r>
              <a:rPr sz="1400" b="1" dirty="0">
                <a:solidFill>
                  <a:srgbClr val="005599"/>
                </a:solidFill>
                <a:latin typeface="Times New Roman"/>
                <a:cs typeface="Times New Roman"/>
              </a:rPr>
              <a:t>	</a:t>
            </a: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519510" y="5295899"/>
            <a:ext cx="6083300" cy="3416300"/>
          </a:xfrm>
          <a:custGeom>
            <a:avLst/>
            <a:gdLst/>
            <a:ahLst/>
            <a:cxnLst/>
            <a:rect l="l" t="t" r="r" b="b"/>
            <a:pathLst>
              <a:path w="6083300" h="3416300">
                <a:moveTo>
                  <a:pt x="0" y="0"/>
                </a:moveTo>
                <a:lnTo>
                  <a:pt x="6083300" y="0"/>
                </a:lnTo>
                <a:lnTo>
                  <a:pt x="6083300" y="3416300"/>
                </a:lnTo>
                <a:lnTo>
                  <a:pt x="0" y="341630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bject 21"/>
          <p:cNvSpPr txBox="1">
            <a:spLocks noGrp="1"/>
          </p:cNvSpPr>
          <p:nvPr>
            <p:ph type="sldNum" sz="quarter" idx="4294967295"/>
          </p:nvPr>
        </p:nvSpPr>
        <p:spPr>
          <a:xfrm>
            <a:off x="7300913" y="9974263"/>
            <a:ext cx="255587" cy="227012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42</a:t>
            </a:fld>
            <a:endParaRPr dirty="0"/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6599" y="4635499"/>
            <a:ext cx="6096000" cy="76200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964567" y="2115553"/>
            <a:ext cx="5334000" cy="2194560"/>
          </a:xfrm>
          <a:prstGeom prst="rect">
            <a:avLst/>
          </a:prstGeom>
        </p:spPr>
        <p:txBody>
          <a:bodyPr vert="horz" wrap="square" lIns="0" tIns="14732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60"/>
              </a:spcBef>
            </a:pPr>
            <a:r>
              <a:rPr sz="2000" b="1" spc="-25" dirty="0">
                <a:solidFill>
                  <a:srgbClr val="FF0000"/>
                </a:solidFill>
                <a:latin typeface="Cambria"/>
                <a:cs typeface="Cambria"/>
              </a:rPr>
              <a:t>Indoor</a:t>
            </a:r>
            <a:r>
              <a:rPr sz="2000" b="1" spc="5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b="1" spc="-25" dirty="0">
                <a:solidFill>
                  <a:srgbClr val="FF0000"/>
                </a:solidFill>
                <a:latin typeface="Cambria"/>
                <a:cs typeface="Cambria"/>
              </a:rPr>
              <a:t>Propagation</a:t>
            </a:r>
            <a:r>
              <a:rPr sz="2000" b="1" spc="2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b="1" spc="40" dirty="0">
                <a:solidFill>
                  <a:srgbClr val="FF0000"/>
                </a:solidFill>
                <a:latin typeface="Cambria"/>
                <a:cs typeface="Cambria"/>
              </a:rPr>
              <a:t>Models</a:t>
            </a:r>
            <a:endParaRPr sz="2000">
              <a:latin typeface="Cambria"/>
              <a:cs typeface="Cambria"/>
            </a:endParaRPr>
          </a:p>
          <a:p>
            <a:pPr marL="228600" indent="-228600">
              <a:lnSpc>
                <a:spcPts val="2130"/>
              </a:lnSpc>
              <a:spcBef>
                <a:spcPts val="955"/>
              </a:spcBef>
              <a:buFont typeface="Wingdings"/>
              <a:buChar char=""/>
              <a:tabLst>
                <a:tab pos="228600" algn="l"/>
              </a:tabLst>
            </a:pPr>
            <a:r>
              <a:rPr sz="1800" dirty="0">
                <a:latin typeface="Times New Roman"/>
                <a:cs typeface="Times New Roman"/>
              </a:rPr>
              <a:t>Indoor</a:t>
            </a:r>
            <a:r>
              <a:rPr sz="1800" spc="-1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Outdoor</a:t>
            </a:r>
            <a:r>
              <a:rPr sz="1800" spc="-14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propagation</a:t>
            </a:r>
            <a:r>
              <a:rPr sz="1800" spc="-145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Times New Roman"/>
                <a:cs typeface="Times New Roman"/>
              </a:rPr>
              <a:t>mechanism</a:t>
            </a:r>
            <a:r>
              <a:rPr sz="1800" spc="-140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Times New Roman"/>
                <a:cs typeface="Times New Roman"/>
              </a:rPr>
              <a:t>similarities:</a:t>
            </a:r>
            <a:endParaRPr sz="1800">
              <a:latin typeface="Times New Roman"/>
              <a:cs typeface="Times New Roman"/>
            </a:endParaRPr>
          </a:p>
          <a:p>
            <a:pPr marL="457200" lvl="1" indent="-228600">
              <a:lnSpc>
                <a:spcPts val="2100"/>
              </a:lnSpc>
              <a:buFont typeface="Wingdings"/>
              <a:buChar char=""/>
              <a:tabLst>
                <a:tab pos="457200" algn="l"/>
              </a:tabLst>
            </a:pPr>
            <a:r>
              <a:rPr sz="1800" spc="-5" dirty="0">
                <a:latin typeface="Times New Roman"/>
                <a:cs typeface="Times New Roman"/>
              </a:rPr>
              <a:t>R</a:t>
            </a:r>
            <a:r>
              <a:rPr sz="1800" dirty="0">
                <a:latin typeface="Times New Roman"/>
                <a:cs typeface="Times New Roman"/>
              </a:rPr>
              <a:t>ef</a:t>
            </a:r>
            <a:r>
              <a:rPr sz="1800" spc="-5" dirty="0">
                <a:latin typeface="Times New Roman"/>
                <a:cs typeface="Times New Roman"/>
              </a:rPr>
              <a:t>l</a:t>
            </a:r>
            <a:r>
              <a:rPr sz="1800" dirty="0">
                <a:latin typeface="Times New Roman"/>
                <a:cs typeface="Times New Roman"/>
              </a:rPr>
              <a:t>ec</a:t>
            </a:r>
            <a:r>
              <a:rPr sz="1800" spc="-5" dirty="0">
                <a:latin typeface="Times New Roman"/>
                <a:cs typeface="Times New Roman"/>
              </a:rPr>
              <a:t>ti</a:t>
            </a:r>
            <a:r>
              <a:rPr sz="1800" dirty="0">
                <a:latin typeface="Times New Roman"/>
                <a:cs typeface="Times New Roman"/>
              </a:rPr>
              <a:t>on,</a:t>
            </a:r>
            <a:r>
              <a:rPr sz="1800" spc="-10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</a:t>
            </a:r>
            <a:r>
              <a:rPr sz="1800" spc="-5" dirty="0">
                <a:latin typeface="Times New Roman"/>
                <a:cs typeface="Times New Roman"/>
              </a:rPr>
              <a:t>i</a:t>
            </a:r>
            <a:r>
              <a:rPr sz="1800" dirty="0">
                <a:latin typeface="Times New Roman"/>
                <a:cs typeface="Times New Roman"/>
              </a:rPr>
              <a:t>ffrac</a:t>
            </a:r>
            <a:r>
              <a:rPr sz="1800" spc="-5" dirty="0">
                <a:latin typeface="Times New Roman"/>
                <a:cs typeface="Times New Roman"/>
              </a:rPr>
              <a:t>ti</a:t>
            </a:r>
            <a:r>
              <a:rPr sz="1800" spc="-105" dirty="0">
                <a:latin typeface="Times New Roman"/>
                <a:cs typeface="Times New Roman"/>
              </a:rPr>
              <a:t>o</a:t>
            </a:r>
            <a:r>
              <a:rPr sz="1800" dirty="0">
                <a:latin typeface="Times New Roman"/>
                <a:cs typeface="Times New Roman"/>
              </a:rPr>
              <a:t>n,</a:t>
            </a:r>
            <a:r>
              <a:rPr sz="1800" spc="-2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S</a:t>
            </a:r>
            <a:r>
              <a:rPr sz="1800" dirty="0">
                <a:latin typeface="Times New Roman"/>
                <a:cs typeface="Times New Roman"/>
              </a:rPr>
              <a:t>ca</a:t>
            </a:r>
            <a:r>
              <a:rPr sz="1800" spc="-5" dirty="0">
                <a:latin typeface="Times New Roman"/>
                <a:cs typeface="Times New Roman"/>
              </a:rPr>
              <a:t>tt</a:t>
            </a:r>
            <a:r>
              <a:rPr sz="1800" dirty="0">
                <a:latin typeface="Times New Roman"/>
                <a:cs typeface="Times New Roman"/>
              </a:rPr>
              <a:t>er</a:t>
            </a:r>
            <a:r>
              <a:rPr sz="1800" spc="-5" dirty="0">
                <a:latin typeface="Times New Roman"/>
                <a:cs typeface="Times New Roman"/>
              </a:rPr>
              <a:t>i</a:t>
            </a:r>
            <a:r>
              <a:rPr sz="1800" dirty="0">
                <a:latin typeface="Times New Roman"/>
                <a:cs typeface="Times New Roman"/>
              </a:rPr>
              <a:t>ng</a:t>
            </a:r>
            <a:endParaRPr sz="1800">
              <a:latin typeface="Times New Roman"/>
              <a:cs typeface="Times New Roman"/>
            </a:endParaRPr>
          </a:p>
          <a:p>
            <a:pPr marL="228600" indent="-228600">
              <a:lnSpc>
                <a:spcPts val="2100"/>
              </a:lnSpc>
              <a:buFont typeface="Wingdings"/>
              <a:buChar char=""/>
              <a:tabLst>
                <a:tab pos="228600" algn="l"/>
              </a:tabLst>
            </a:pPr>
            <a:r>
              <a:rPr sz="1800" dirty="0">
                <a:latin typeface="Times New Roman"/>
                <a:cs typeface="Times New Roman"/>
              </a:rPr>
              <a:t>D</a:t>
            </a:r>
            <a:r>
              <a:rPr sz="1800" spc="-5" dirty="0">
                <a:latin typeface="Times New Roman"/>
                <a:cs typeface="Times New Roman"/>
              </a:rPr>
              <a:t>i</a:t>
            </a:r>
            <a:r>
              <a:rPr sz="1800" dirty="0">
                <a:latin typeface="Times New Roman"/>
                <a:cs typeface="Times New Roman"/>
              </a:rPr>
              <a:t>fference</a:t>
            </a:r>
            <a:r>
              <a:rPr sz="1800" spc="-1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i</a:t>
            </a:r>
            <a:r>
              <a:rPr sz="1800" dirty="0">
                <a:latin typeface="Times New Roman"/>
                <a:cs typeface="Times New Roman"/>
              </a:rPr>
              <a:t>n</a:t>
            </a:r>
            <a:r>
              <a:rPr sz="1800" spc="-1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cond</a:t>
            </a:r>
            <a:r>
              <a:rPr sz="1800" spc="-5" dirty="0">
                <a:latin typeface="Times New Roman"/>
                <a:cs typeface="Times New Roman"/>
              </a:rPr>
              <a:t>iti</a:t>
            </a:r>
            <a:r>
              <a:rPr sz="1800" dirty="0">
                <a:latin typeface="Times New Roman"/>
                <a:cs typeface="Times New Roman"/>
              </a:rPr>
              <a:t>on</a:t>
            </a:r>
            <a:r>
              <a:rPr sz="1800" spc="-5" dirty="0">
                <a:latin typeface="Times New Roman"/>
                <a:cs typeface="Times New Roman"/>
              </a:rPr>
              <a:t>s</a:t>
            </a:r>
            <a:r>
              <a:rPr sz="1800" dirty="0">
                <a:latin typeface="Times New Roman"/>
                <a:cs typeface="Times New Roman"/>
              </a:rPr>
              <a:t>:</a:t>
            </a:r>
            <a:endParaRPr sz="1800">
              <a:latin typeface="Times New Roman"/>
              <a:cs typeface="Times New Roman"/>
            </a:endParaRPr>
          </a:p>
          <a:p>
            <a:pPr marL="457200" lvl="1" indent="-228600">
              <a:lnSpc>
                <a:spcPts val="2100"/>
              </a:lnSpc>
              <a:buFont typeface="Wingdings"/>
              <a:buChar char=""/>
              <a:tabLst>
                <a:tab pos="457200" algn="l"/>
              </a:tabLst>
            </a:pPr>
            <a:r>
              <a:rPr sz="1800" dirty="0">
                <a:latin typeface="Times New Roman"/>
                <a:cs typeface="Times New Roman"/>
              </a:rPr>
              <a:t>Door</a:t>
            </a:r>
            <a:r>
              <a:rPr sz="1800" spc="-5" dirty="0">
                <a:latin typeface="Times New Roman"/>
                <a:cs typeface="Times New Roman"/>
              </a:rPr>
              <a:t>s/</a:t>
            </a:r>
            <a:r>
              <a:rPr sz="1800" dirty="0">
                <a:latin typeface="Times New Roman"/>
                <a:cs typeface="Times New Roman"/>
              </a:rPr>
              <a:t>w</a:t>
            </a:r>
            <a:r>
              <a:rPr sz="1800" spc="-5" dirty="0">
                <a:latin typeface="Times New Roman"/>
                <a:cs typeface="Times New Roman"/>
              </a:rPr>
              <a:t>i</a:t>
            </a:r>
            <a:r>
              <a:rPr sz="1800" dirty="0">
                <a:latin typeface="Times New Roman"/>
                <a:cs typeface="Times New Roman"/>
              </a:rPr>
              <a:t>ndows</a:t>
            </a:r>
            <a:r>
              <a:rPr sz="1800" spc="-1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open</a:t>
            </a:r>
            <a:r>
              <a:rPr sz="1800" spc="-1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or</a:t>
            </a:r>
            <a:r>
              <a:rPr sz="1800" spc="-1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not</a:t>
            </a:r>
            <a:endParaRPr sz="1800">
              <a:latin typeface="Times New Roman"/>
              <a:cs typeface="Times New Roman"/>
            </a:endParaRPr>
          </a:p>
          <a:p>
            <a:pPr marL="457200" lvl="1" indent="-228600">
              <a:lnSpc>
                <a:spcPts val="2100"/>
              </a:lnSpc>
              <a:buFont typeface="Wingdings"/>
              <a:buChar char=""/>
              <a:tabLst>
                <a:tab pos="457200" algn="l"/>
              </a:tabLst>
            </a:pPr>
            <a:r>
              <a:rPr sz="1800" spc="-5" dirty="0">
                <a:latin typeface="Times New Roman"/>
                <a:cs typeface="Times New Roman"/>
              </a:rPr>
              <a:t>Mounting</a:t>
            </a:r>
            <a:r>
              <a:rPr sz="1800" spc="-1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place</a:t>
            </a:r>
            <a:r>
              <a:rPr sz="1800" spc="-1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antenna</a:t>
            </a:r>
            <a:r>
              <a:rPr sz="1800" spc="-1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(Desk,</a:t>
            </a:r>
            <a:r>
              <a:rPr sz="1800" spc="-1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Ceiling</a:t>
            </a:r>
            <a:r>
              <a:rPr sz="1800" spc="-1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)</a:t>
            </a:r>
            <a:endParaRPr sz="1800">
              <a:latin typeface="Times New Roman"/>
              <a:cs typeface="Times New Roman"/>
            </a:endParaRPr>
          </a:p>
          <a:p>
            <a:pPr marL="457200" lvl="1" indent="-228600">
              <a:lnSpc>
                <a:spcPts val="2130"/>
              </a:lnSpc>
              <a:buFont typeface="Wingdings"/>
              <a:buChar char=""/>
              <a:tabLst>
                <a:tab pos="457200" algn="l"/>
              </a:tabLst>
            </a:pP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l</a:t>
            </a:r>
            <a:r>
              <a:rPr sz="1800" dirty="0">
                <a:latin typeface="Times New Roman"/>
                <a:cs typeface="Times New Roman"/>
              </a:rPr>
              <a:t>evel</a:t>
            </a:r>
            <a:r>
              <a:rPr sz="1800" spc="-1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</a:t>
            </a:r>
            <a:r>
              <a:rPr sz="1800" spc="-5" dirty="0">
                <a:latin typeface="Times New Roman"/>
                <a:cs typeface="Times New Roman"/>
              </a:rPr>
              <a:t>l</a:t>
            </a:r>
            <a:r>
              <a:rPr sz="1800" dirty="0">
                <a:latin typeface="Times New Roman"/>
                <a:cs typeface="Times New Roman"/>
              </a:rPr>
              <a:t>oors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42949" y="1492249"/>
            <a:ext cx="6083300" cy="3416300"/>
          </a:xfrm>
          <a:custGeom>
            <a:avLst/>
            <a:gdLst/>
            <a:ahLst/>
            <a:cxnLst/>
            <a:rect l="l" t="t" r="r" b="b"/>
            <a:pathLst>
              <a:path w="6083300" h="3416300">
                <a:moveTo>
                  <a:pt x="0" y="0"/>
                </a:moveTo>
                <a:lnTo>
                  <a:pt x="6083300" y="0"/>
                </a:lnTo>
                <a:lnTo>
                  <a:pt x="6083300" y="3416300"/>
                </a:lnTo>
                <a:lnTo>
                  <a:pt x="0" y="341630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6" name="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6599" y="8902700"/>
            <a:ext cx="6096000" cy="76200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964567" y="6281249"/>
            <a:ext cx="3228975" cy="2331085"/>
          </a:xfrm>
          <a:prstGeom prst="rect">
            <a:avLst/>
          </a:prstGeom>
        </p:spPr>
        <p:txBody>
          <a:bodyPr vert="horz" wrap="square" lIns="0" tIns="1701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40"/>
              </a:spcBef>
            </a:pPr>
            <a:r>
              <a:rPr sz="2000" b="1" spc="-25" dirty="0">
                <a:solidFill>
                  <a:srgbClr val="FF0000"/>
                </a:solidFill>
                <a:latin typeface="Cambria"/>
                <a:cs typeface="Cambria"/>
              </a:rPr>
              <a:t>Indoor</a:t>
            </a:r>
            <a:r>
              <a:rPr sz="2000" b="1" spc="5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b="1" spc="-25" dirty="0">
                <a:solidFill>
                  <a:srgbClr val="FF0000"/>
                </a:solidFill>
                <a:latin typeface="Cambria"/>
                <a:cs typeface="Cambria"/>
              </a:rPr>
              <a:t>Propagation</a:t>
            </a:r>
            <a:r>
              <a:rPr sz="2000" b="1" spc="1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b="1" spc="40" dirty="0">
                <a:solidFill>
                  <a:srgbClr val="FF0000"/>
                </a:solidFill>
                <a:latin typeface="Cambria"/>
                <a:cs typeface="Cambria"/>
              </a:rPr>
              <a:t>Models</a:t>
            </a:r>
            <a:endParaRPr sz="2000" dirty="0">
              <a:latin typeface="Cambria"/>
              <a:cs typeface="Cambria"/>
            </a:endParaRPr>
          </a:p>
          <a:p>
            <a:pPr marL="292100" indent="-292100">
              <a:lnSpc>
                <a:spcPct val="100000"/>
              </a:lnSpc>
              <a:spcBef>
                <a:spcPts val="995"/>
              </a:spcBef>
              <a:buFont typeface="Wingdings"/>
              <a:buChar char=""/>
              <a:tabLst>
                <a:tab pos="292100" algn="l"/>
              </a:tabLst>
            </a:pPr>
            <a:r>
              <a:rPr sz="1600" spc="-10" dirty="0">
                <a:latin typeface="Times New Roman"/>
                <a:cs typeface="Times New Roman"/>
              </a:rPr>
              <a:t>Indoor</a:t>
            </a:r>
            <a:r>
              <a:rPr sz="1600" spc="6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Channels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are</a:t>
            </a:r>
            <a:r>
              <a:rPr sz="1600" spc="90" dirty="0">
                <a:latin typeface="Times New Roman"/>
                <a:cs typeface="Times New Roman"/>
              </a:rPr>
              <a:t> </a:t>
            </a:r>
            <a:r>
              <a:rPr sz="1600" spc="-30" dirty="0">
                <a:latin typeface="Times New Roman"/>
                <a:cs typeface="Times New Roman"/>
              </a:rPr>
              <a:t>classified</a:t>
            </a:r>
            <a:r>
              <a:rPr sz="1600" spc="200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as:</a:t>
            </a:r>
            <a:endParaRPr sz="1600" dirty="0">
              <a:latin typeface="Times New Roman"/>
              <a:cs typeface="Times New Roman"/>
            </a:endParaRPr>
          </a:p>
          <a:p>
            <a:pPr marL="520700" lvl="1" indent="-292100">
              <a:lnSpc>
                <a:spcPts val="1910"/>
              </a:lnSpc>
              <a:spcBef>
                <a:spcPts val="80"/>
              </a:spcBef>
              <a:buFont typeface="Wingdings"/>
              <a:buChar char=""/>
              <a:tabLst>
                <a:tab pos="520700" algn="l"/>
              </a:tabLst>
            </a:pPr>
            <a:r>
              <a:rPr sz="1600" spc="-15" dirty="0">
                <a:latin typeface="Times New Roman"/>
                <a:cs typeface="Times New Roman"/>
              </a:rPr>
              <a:t>Line-of-Sight</a:t>
            </a:r>
            <a:r>
              <a:rPr sz="1600" spc="114" dirty="0">
                <a:latin typeface="Times New Roman"/>
                <a:cs typeface="Times New Roman"/>
              </a:rPr>
              <a:t> </a:t>
            </a:r>
            <a:r>
              <a:rPr sz="1600" spc="5" dirty="0">
                <a:latin typeface="Times New Roman"/>
                <a:cs typeface="Times New Roman"/>
              </a:rPr>
              <a:t>(LOS)</a:t>
            </a:r>
            <a:endParaRPr sz="1600" dirty="0">
              <a:latin typeface="Times New Roman"/>
              <a:cs typeface="Times New Roman"/>
            </a:endParaRPr>
          </a:p>
          <a:p>
            <a:pPr marL="520700" lvl="1" indent="-292100">
              <a:lnSpc>
                <a:spcPts val="1900"/>
              </a:lnSpc>
              <a:buFont typeface="Wingdings"/>
              <a:buChar char=""/>
              <a:tabLst>
                <a:tab pos="520700" algn="l"/>
              </a:tabLst>
            </a:pPr>
            <a:r>
              <a:rPr sz="1600" spc="-15" dirty="0">
                <a:latin typeface="Times New Roman"/>
                <a:cs typeface="Times New Roman"/>
              </a:rPr>
              <a:t>Obstructed</a:t>
            </a:r>
            <a:r>
              <a:rPr sz="1600" spc="65" dirty="0">
                <a:latin typeface="Times New Roman"/>
                <a:cs typeface="Times New Roman"/>
              </a:rPr>
              <a:t> </a:t>
            </a:r>
            <a:r>
              <a:rPr sz="1600" spc="5" dirty="0">
                <a:latin typeface="Times New Roman"/>
                <a:cs typeface="Times New Roman"/>
              </a:rPr>
              <a:t>(OBS)</a:t>
            </a:r>
            <a:endParaRPr sz="1600" dirty="0">
              <a:latin typeface="Times New Roman"/>
              <a:cs typeface="Times New Roman"/>
            </a:endParaRPr>
          </a:p>
          <a:p>
            <a:pPr marL="292100" indent="-292100">
              <a:lnSpc>
                <a:spcPts val="1900"/>
              </a:lnSpc>
              <a:buFont typeface="Wingdings"/>
              <a:buChar char=""/>
              <a:tabLst>
                <a:tab pos="292100" algn="l"/>
              </a:tabLst>
            </a:pPr>
            <a:r>
              <a:rPr sz="1600" spc="-10" dirty="0">
                <a:latin typeface="Times New Roman"/>
                <a:cs typeface="Times New Roman"/>
              </a:rPr>
              <a:t>Indoor</a:t>
            </a:r>
            <a:r>
              <a:rPr sz="1600" spc="55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Path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Loss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Factors</a:t>
            </a:r>
            <a:r>
              <a:rPr sz="1600" spc="65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include:</a:t>
            </a:r>
            <a:endParaRPr sz="1600" dirty="0">
              <a:latin typeface="Times New Roman"/>
              <a:cs typeface="Times New Roman"/>
            </a:endParaRPr>
          </a:p>
          <a:p>
            <a:pPr marL="520700" lvl="1" indent="-292100">
              <a:lnSpc>
                <a:spcPts val="1900"/>
              </a:lnSpc>
              <a:buFont typeface="Wingdings"/>
              <a:buChar char=""/>
              <a:tabLst>
                <a:tab pos="520700" algn="l"/>
              </a:tabLst>
            </a:pPr>
            <a:r>
              <a:rPr sz="1600" spc="-25" dirty="0">
                <a:latin typeface="Times New Roman"/>
                <a:cs typeface="Times New Roman"/>
              </a:rPr>
              <a:t>Partition</a:t>
            </a:r>
            <a:r>
              <a:rPr sz="1600" spc="18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Losses</a:t>
            </a:r>
            <a:r>
              <a:rPr sz="1600" spc="65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(Same</a:t>
            </a:r>
            <a:r>
              <a:rPr sz="1600" spc="75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Floor)</a:t>
            </a:r>
            <a:endParaRPr sz="1600" dirty="0">
              <a:latin typeface="Times New Roman"/>
              <a:cs typeface="Times New Roman"/>
            </a:endParaRPr>
          </a:p>
          <a:p>
            <a:pPr marL="520700" lvl="1" indent="-292100">
              <a:lnSpc>
                <a:spcPts val="1910"/>
              </a:lnSpc>
              <a:buFont typeface="Wingdings"/>
              <a:buChar char=""/>
              <a:tabLst>
                <a:tab pos="520700" algn="l"/>
              </a:tabLst>
            </a:pPr>
            <a:r>
              <a:rPr sz="1600" spc="-25" dirty="0">
                <a:latin typeface="Times New Roman"/>
                <a:cs typeface="Times New Roman"/>
              </a:rPr>
              <a:t>Partition</a:t>
            </a:r>
            <a:r>
              <a:rPr sz="1600" spc="18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Losses</a:t>
            </a:r>
            <a:r>
              <a:rPr sz="1600" spc="6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between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floors</a:t>
            </a:r>
            <a:endParaRPr sz="1600" dirty="0">
              <a:latin typeface="Times New Roman"/>
              <a:cs typeface="Times New Roman"/>
            </a:endParaRPr>
          </a:p>
          <a:p>
            <a:pPr marL="520700" lvl="1" indent="-292100">
              <a:lnSpc>
                <a:spcPct val="100000"/>
              </a:lnSpc>
              <a:spcBef>
                <a:spcPts val="80"/>
              </a:spcBef>
              <a:buFont typeface="Wingdings"/>
              <a:buChar char=""/>
              <a:tabLst>
                <a:tab pos="520700" algn="l"/>
              </a:tabLst>
            </a:pPr>
            <a:r>
              <a:rPr sz="1600" spc="-10" dirty="0">
                <a:latin typeface="Times New Roman"/>
                <a:cs typeface="Times New Roman"/>
              </a:rPr>
              <a:t>Signal</a:t>
            </a:r>
            <a:r>
              <a:rPr sz="1600" spc="45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Penetration</a:t>
            </a:r>
            <a:r>
              <a:rPr sz="1600" spc="185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into</a:t>
            </a:r>
            <a:r>
              <a:rPr sz="1600" spc="90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Buildings</a:t>
            </a:r>
            <a:endParaRPr sz="1600" dirty="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742949" y="5805377"/>
            <a:ext cx="6083300" cy="3370372"/>
          </a:xfrm>
          <a:custGeom>
            <a:avLst/>
            <a:gdLst/>
            <a:ahLst/>
            <a:cxnLst/>
            <a:rect l="l" t="t" r="r" b="b"/>
            <a:pathLst>
              <a:path w="6083300" h="3416300">
                <a:moveTo>
                  <a:pt x="0" y="0"/>
                </a:moveTo>
                <a:lnTo>
                  <a:pt x="6083300" y="0"/>
                </a:lnTo>
                <a:lnTo>
                  <a:pt x="6083300" y="3416300"/>
                </a:lnTo>
                <a:lnTo>
                  <a:pt x="0" y="341630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54011" y="455423"/>
            <a:ext cx="508634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40" dirty="0">
                <a:latin typeface="Calibri"/>
                <a:cs typeface="Calibri"/>
              </a:rPr>
              <a:t>8</a:t>
            </a:r>
            <a:r>
              <a:rPr sz="1300" spc="-5" dirty="0">
                <a:latin typeface="Calibri"/>
                <a:cs typeface="Calibri"/>
              </a:rPr>
              <a:t>/</a:t>
            </a:r>
            <a:r>
              <a:rPr sz="1300" spc="40" dirty="0">
                <a:latin typeface="Calibri"/>
                <a:cs typeface="Calibri"/>
              </a:rPr>
              <a:t>5</a:t>
            </a:r>
            <a:r>
              <a:rPr sz="1300" spc="-5" dirty="0">
                <a:latin typeface="Calibri"/>
                <a:cs typeface="Calibri"/>
              </a:rPr>
              <a:t>/</a:t>
            </a:r>
            <a:r>
              <a:rPr sz="1300" spc="40" dirty="0">
                <a:latin typeface="Calibri"/>
                <a:cs typeface="Calibri"/>
              </a:rPr>
              <a:t>20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4294967295"/>
          </p:nvPr>
        </p:nvSpPr>
        <p:spPr>
          <a:xfrm>
            <a:off x="7300913" y="9974263"/>
            <a:ext cx="255587" cy="227012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43</a:t>
            </a:fld>
            <a:endParaRPr dirty="0"/>
          </a:p>
        </p:txBody>
      </p:sp>
      <p:sp>
        <p:nvSpPr>
          <p:cNvPr id="10" name="object 10"/>
          <p:cNvSpPr txBox="1"/>
          <p:nvPr/>
        </p:nvSpPr>
        <p:spPr>
          <a:xfrm>
            <a:off x="964567" y="2171720"/>
            <a:ext cx="5400040" cy="2169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000" b="1" spc="-25" dirty="0">
                <a:solidFill>
                  <a:srgbClr val="FF0000"/>
                </a:solidFill>
                <a:latin typeface="Cambria"/>
                <a:cs typeface="Cambria"/>
              </a:rPr>
              <a:t>Indoor</a:t>
            </a:r>
            <a:r>
              <a:rPr sz="2000" b="1" spc="5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b="1" spc="-25" dirty="0">
                <a:solidFill>
                  <a:srgbClr val="FF0000"/>
                </a:solidFill>
                <a:latin typeface="Cambria"/>
                <a:cs typeface="Cambria"/>
              </a:rPr>
              <a:t>Propagation</a:t>
            </a:r>
            <a:r>
              <a:rPr sz="2000" b="1" spc="2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b="1" spc="40" dirty="0">
                <a:solidFill>
                  <a:srgbClr val="FF0000"/>
                </a:solidFill>
                <a:latin typeface="Cambria"/>
                <a:cs typeface="Cambria"/>
              </a:rPr>
              <a:t>Models</a:t>
            </a:r>
            <a:endParaRPr sz="2000">
              <a:latin typeface="Cambria"/>
              <a:cs typeface="Cambria"/>
            </a:endParaRPr>
          </a:p>
          <a:p>
            <a:pPr marL="370205" marR="5080" indent="-292100">
              <a:lnSpc>
                <a:spcPct val="101899"/>
              </a:lnSpc>
              <a:spcBef>
                <a:spcPts val="1480"/>
              </a:spcBef>
              <a:buFont typeface="Wingdings"/>
              <a:buChar char=""/>
              <a:tabLst>
                <a:tab pos="370840" algn="l"/>
              </a:tabLst>
            </a:pP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losses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between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floors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building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are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determined </a:t>
            </a:r>
            <a:r>
              <a:rPr sz="1800" spc="-43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by:</a:t>
            </a:r>
            <a:endParaRPr sz="1800">
              <a:latin typeface="Times New Roman"/>
              <a:cs typeface="Times New Roman"/>
            </a:endParaRPr>
          </a:p>
          <a:p>
            <a:pPr marL="598805" lvl="1" indent="-292735">
              <a:lnSpc>
                <a:spcPts val="2130"/>
              </a:lnSpc>
              <a:spcBef>
                <a:spcPts val="40"/>
              </a:spcBef>
              <a:buFont typeface="Wingdings"/>
              <a:buChar char=""/>
              <a:tabLst>
                <a:tab pos="599440" algn="l"/>
              </a:tabLst>
            </a:pPr>
            <a:r>
              <a:rPr sz="1800" spc="-5" dirty="0">
                <a:latin typeface="Times New Roman"/>
                <a:cs typeface="Times New Roman"/>
              </a:rPr>
              <a:t>External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dimensions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materials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the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building</a:t>
            </a:r>
            <a:endParaRPr sz="1800">
              <a:latin typeface="Times New Roman"/>
              <a:cs typeface="Times New Roman"/>
            </a:endParaRPr>
          </a:p>
          <a:p>
            <a:pPr marL="598805" lvl="1" indent="-292735">
              <a:lnSpc>
                <a:spcPts val="2130"/>
              </a:lnSpc>
              <a:buFont typeface="Wingdings"/>
              <a:buChar char=""/>
              <a:tabLst>
                <a:tab pos="599440" algn="l"/>
              </a:tabLst>
            </a:pPr>
            <a:r>
              <a:rPr sz="1800" spc="-25" dirty="0">
                <a:latin typeface="Times New Roman"/>
                <a:cs typeface="Times New Roman"/>
              </a:rPr>
              <a:t>Type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construction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used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to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create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floors</a:t>
            </a:r>
            <a:endParaRPr sz="1800">
              <a:latin typeface="Times New Roman"/>
              <a:cs typeface="Times New Roman"/>
            </a:endParaRPr>
          </a:p>
          <a:p>
            <a:pPr marL="598805" lvl="1" indent="-292735">
              <a:lnSpc>
                <a:spcPts val="2130"/>
              </a:lnSpc>
              <a:spcBef>
                <a:spcPts val="40"/>
              </a:spcBef>
              <a:buFont typeface="Wingdings"/>
              <a:buChar char=""/>
              <a:tabLst>
                <a:tab pos="599440" algn="l"/>
              </a:tabLst>
            </a:pPr>
            <a:r>
              <a:rPr sz="1800" spc="-5" dirty="0">
                <a:latin typeface="Times New Roman"/>
                <a:cs typeface="Times New Roman"/>
              </a:rPr>
              <a:t>External</a:t>
            </a:r>
            <a:r>
              <a:rPr sz="1800" spc="4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surroundings</a:t>
            </a:r>
            <a:endParaRPr sz="1800">
              <a:latin typeface="Times New Roman"/>
              <a:cs typeface="Times New Roman"/>
            </a:endParaRPr>
          </a:p>
          <a:p>
            <a:pPr marL="598805" lvl="1" indent="-292735">
              <a:lnSpc>
                <a:spcPts val="2130"/>
              </a:lnSpc>
              <a:buFont typeface="Wingdings"/>
              <a:buChar char=""/>
              <a:tabLst>
                <a:tab pos="599440" algn="l"/>
              </a:tabLst>
            </a:pPr>
            <a:r>
              <a:rPr sz="1800" spc="-5" dirty="0">
                <a:latin typeface="Times New Roman"/>
                <a:cs typeface="Times New Roman"/>
              </a:rPr>
              <a:t>Number</a:t>
            </a:r>
            <a:r>
              <a:rPr sz="1800" spc="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windows</a:t>
            </a:r>
            <a:r>
              <a:rPr sz="1800" spc="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doors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42949" y="1492249"/>
            <a:ext cx="6083300" cy="3416300"/>
          </a:xfrm>
          <a:custGeom>
            <a:avLst/>
            <a:gdLst/>
            <a:ahLst/>
            <a:cxnLst/>
            <a:rect l="l" t="t" r="r" b="b"/>
            <a:pathLst>
              <a:path w="6083300" h="3416300">
                <a:moveTo>
                  <a:pt x="0" y="0"/>
                </a:moveTo>
                <a:lnTo>
                  <a:pt x="6083300" y="0"/>
                </a:lnTo>
                <a:lnTo>
                  <a:pt x="6083300" y="3416300"/>
                </a:lnTo>
                <a:lnTo>
                  <a:pt x="0" y="341630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858976" y="6026150"/>
            <a:ext cx="5995035" cy="2882900"/>
          </a:xfrm>
          <a:prstGeom prst="rect">
            <a:avLst/>
          </a:prstGeom>
        </p:spPr>
        <p:txBody>
          <a:bodyPr vert="horz" wrap="square" lIns="0" tIns="158115" rIns="0" bIns="0" rtlCol="0">
            <a:spAutoFit/>
          </a:bodyPr>
          <a:lstStyle/>
          <a:p>
            <a:pPr marL="182245">
              <a:lnSpc>
                <a:spcPct val="100000"/>
              </a:lnSpc>
              <a:spcBef>
                <a:spcPts val="1245"/>
              </a:spcBef>
            </a:pPr>
            <a:r>
              <a:rPr sz="2000" b="1" spc="-25" dirty="0">
                <a:solidFill>
                  <a:srgbClr val="FF0000"/>
                </a:solidFill>
                <a:latin typeface="Cambria"/>
                <a:cs typeface="Cambria"/>
              </a:rPr>
              <a:t>Indoor</a:t>
            </a:r>
            <a:r>
              <a:rPr sz="2000" b="1" spc="5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b="1" spc="-25" dirty="0">
                <a:solidFill>
                  <a:srgbClr val="FF0000"/>
                </a:solidFill>
                <a:latin typeface="Cambria"/>
                <a:cs typeface="Cambria"/>
              </a:rPr>
              <a:t>Propagation</a:t>
            </a:r>
            <a:r>
              <a:rPr sz="2000" b="1" spc="2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b="1" spc="40" dirty="0">
                <a:solidFill>
                  <a:srgbClr val="FF0000"/>
                </a:solidFill>
                <a:latin typeface="Cambria"/>
                <a:cs typeface="Cambria"/>
              </a:rPr>
              <a:t>Models</a:t>
            </a:r>
            <a:endParaRPr sz="2000" dirty="0">
              <a:latin typeface="Cambria"/>
              <a:cs typeface="Cambria"/>
            </a:endParaRPr>
          </a:p>
          <a:p>
            <a:pPr marL="545465" marR="361315" indent="-292100">
              <a:lnSpc>
                <a:spcPct val="101899"/>
              </a:lnSpc>
              <a:spcBef>
                <a:spcPts val="990"/>
              </a:spcBef>
              <a:buFont typeface="Wingdings"/>
              <a:buChar char=""/>
              <a:tabLst>
                <a:tab pos="546100" algn="l"/>
              </a:tabLst>
            </a:pPr>
            <a:r>
              <a:rPr sz="1800" spc="-5" dirty="0">
                <a:latin typeface="Times New Roman"/>
                <a:cs typeface="Times New Roman"/>
              </a:rPr>
              <a:t>RF</a:t>
            </a:r>
            <a:r>
              <a:rPr sz="1800" spc="4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signals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can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penetrate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from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outside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transmitter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to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the </a:t>
            </a:r>
            <a:r>
              <a:rPr sz="1800" spc="-434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inside</a:t>
            </a:r>
            <a:r>
              <a:rPr sz="1800" spc="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buildings</a:t>
            </a:r>
            <a:endParaRPr sz="1800" dirty="0">
              <a:latin typeface="Times New Roman"/>
              <a:cs typeface="Times New Roman"/>
            </a:endParaRPr>
          </a:p>
          <a:p>
            <a:pPr marL="545465" indent="-292735">
              <a:lnSpc>
                <a:spcPts val="2130"/>
              </a:lnSpc>
              <a:spcBef>
                <a:spcPts val="40"/>
              </a:spcBef>
              <a:buFont typeface="Wingdings"/>
              <a:buChar char=""/>
              <a:tabLst>
                <a:tab pos="546100" algn="l"/>
              </a:tabLst>
            </a:pPr>
            <a:r>
              <a:rPr sz="1800" dirty="0">
                <a:latin typeface="Times New Roman"/>
                <a:cs typeface="Times New Roman"/>
              </a:rPr>
              <a:t>However</a:t>
            </a:r>
            <a:r>
              <a:rPr sz="1800" spc="4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the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signals</a:t>
            </a:r>
            <a:r>
              <a:rPr sz="1800" spc="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are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attenuated</a:t>
            </a:r>
            <a:endParaRPr sz="1800" dirty="0">
              <a:latin typeface="Times New Roman"/>
              <a:cs typeface="Times New Roman"/>
            </a:endParaRPr>
          </a:p>
          <a:p>
            <a:pPr marL="545465" marR="374015" indent="-292100">
              <a:lnSpc>
                <a:spcPts val="2200"/>
              </a:lnSpc>
              <a:spcBef>
                <a:spcPts val="10"/>
              </a:spcBef>
              <a:buFont typeface="Wingdings"/>
              <a:buChar char=""/>
              <a:tabLst>
                <a:tab pos="546100" algn="l"/>
              </a:tabLst>
            </a:pP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4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path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loss</a:t>
            </a:r>
            <a:r>
              <a:rPr sz="1800" spc="4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during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penetration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has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been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found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to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be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 </a:t>
            </a:r>
            <a:r>
              <a:rPr sz="1800" spc="-434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function</a:t>
            </a:r>
            <a:r>
              <a:rPr sz="1800" spc="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of:</a:t>
            </a:r>
          </a:p>
          <a:p>
            <a:pPr marL="774065" lvl="1" indent="-292735">
              <a:lnSpc>
                <a:spcPts val="2020"/>
              </a:lnSpc>
              <a:buFont typeface="Wingdings"/>
              <a:buChar char=""/>
              <a:tabLst>
                <a:tab pos="774700" algn="l"/>
              </a:tabLst>
            </a:pPr>
            <a:r>
              <a:rPr sz="1800" spc="-5" dirty="0">
                <a:latin typeface="Times New Roman"/>
                <a:cs typeface="Times New Roman"/>
              </a:rPr>
              <a:t>Frequency</a:t>
            </a:r>
            <a:r>
              <a:rPr sz="1800" spc="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the</a:t>
            </a:r>
            <a:r>
              <a:rPr sz="1800" spc="4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signal.</a:t>
            </a:r>
            <a:endParaRPr sz="1800" dirty="0">
              <a:latin typeface="Times New Roman"/>
              <a:cs typeface="Times New Roman"/>
            </a:endParaRPr>
          </a:p>
          <a:p>
            <a:pPr marL="774065" lvl="1" indent="-292735">
              <a:lnSpc>
                <a:spcPct val="100000"/>
              </a:lnSpc>
              <a:spcBef>
                <a:spcPts val="40"/>
              </a:spcBef>
              <a:buFont typeface="Wingdings"/>
              <a:buChar char=""/>
              <a:tabLst>
                <a:tab pos="774700" algn="l"/>
              </a:tabLst>
            </a:pP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4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height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4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the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building.</a:t>
            </a:r>
            <a:endParaRPr sz="1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80"/>
              </a:spcBef>
              <a:tabLst>
                <a:tab pos="5485765" algn="l"/>
              </a:tabLst>
            </a:pPr>
            <a:r>
              <a:rPr sz="1400" b="1" dirty="0">
                <a:solidFill>
                  <a:srgbClr val="005599"/>
                </a:solidFill>
                <a:latin typeface="Times New Roman"/>
                <a:cs typeface="Times New Roman"/>
              </a:rPr>
              <a:t>	</a:t>
            </a: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742949" y="5759450"/>
            <a:ext cx="6083300" cy="3416300"/>
          </a:xfrm>
          <a:custGeom>
            <a:avLst/>
            <a:gdLst/>
            <a:ahLst/>
            <a:cxnLst/>
            <a:rect l="l" t="t" r="r" b="b"/>
            <a:pathLst>
              <a:path w="6083300" h="3416300">
                <a:moveTo>
                  <a:pt x="0" y="0"/>
                </a:moveTo>
                <a:lnTo>
                  <a:pt x="6083300" y="0"/>
                </a:lnTo>
                <a:lnTo>
                  <a:pt x="6083300" y="3416300"/>
                </a:lnTo>
                <a:lnTo>
                  <a:pt x="0" y="341630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bject 21"/>
          <p:cNvSpPr txBox="1">
            <a:spLocks noGrp="1"/>
          </p:cNvSpPr>
          <p:nvPr>
            <p:ph type="sldNum" sz="quarter" idx="4294967295"/>
          </p:nvPr>
        </p:nvSpPr>
        <p:spPr>
          <a:xfrm>
            <a:off x="7300913" y="9974263"/>
            <a:ext cx="255587" cy="227012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44</a:t>
            </a:fld>
            <a:endParaRPr dirty="0"/>
          </a:p>
        </p:txBody>
      </p:sp>
      <p:sp>
        <p:nvSpPr>
          <p:cNvPr id="8" name="object 8"/>
          <p:cNvSpPr txBox="1"/>
          <p:nvPr/>
        </p:nvSpPr>
        <p:spPr>
          <a:xfrm>
            <a:off x="858976" y="1925607"/>
            <a:ext cx="5995035" cy="2882900"/>
          </a:xfrm>
          <a:prstGeom prst="rect">
            <a:avLst/>
          </a:prstGeom>
        </p:spPr>
        <p:txBody>
          <a:bodyPr vert="horz" wrap="square" lIns="0" tIns="158115" rIns="0" bIns="0" rtlCol="0">
            <a:spAutoFit/>
          </a:bodyPr>
          <a:lstStyle/>
          <a:p>
            <a:pPr marL="182245">
              <a:lnSpc>
                <a:spcPct val="100000"/>
              </a:lnSpc>
              <a:spcBef>
                <a:spcPts val="1245"/>
              </a:spcBef>
            </a:pPr>
            <a:r>
              <a:rPr sz="2000" b="1" spc="10" dirty="0">
                <a:solidFill>
                  <a:srgbClr val="FF0000"/>
                </a:solidFill>
                <a:latin typeface="Cambria"/>
                <a:cs typeface="Cambria"/>
              </a:rPr>
              <a:t>Same</a:t>
            </a:r>
            <a:r>
              <a:rPr sz="2000" b="1" spc="5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b="1" spc="-35" dirty="0">
                <a:solidFill>
                  <a:srgbClr val="FF0000"/>
                </a:solidFill>
                <a:latin typeface="Cambria"/>
                <a:cs typeface="Cambria"/>
              </a:rPr>
              <a:t>Floor</a:t>
            </a:r>
            <a:r>
              <a:rPr sz="2000" b="1" spc="7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b="1" spc="-25" dirty="0">
                <a:solidFill>
                  <a:srgbClr val="FF0000"/>
                </a:solidFill>
                <a:latin typeface="Cambria"/>
                <a:cs typeface="Cambria"/>
              </a:rPr>
              <a:t>Partition</a:t>
            </a:r>
            <a:r>
              <a:rPr sz="2000" b="1" spc="-7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ambria"/>
                <a:cs typeface="Cambria"/>
              </a:rPr>
              <a:t>Loss</a:t>
            </a:r>
            <a:endParaRPr sz="2000" dirty="0">
              <a:latin typeface="Cambria"/>
              <a:cs typeface="Cambria"/>
            </a:endParaRPr>
          </a:p>
          <a:p>
            <a:pPr marL="545465" marR="106680" indent="-292100">
              <a:lnSpc>
                <a:spcPct val="100299"/>
              </a:lnSpc>
              <a:spcBef>
                <a:spcPts val="1019"/>
              </a:spcBef>
              <a:buFont typeface="Wingdings"/>
              <a:buChar char=""/>
              <a:tabLst>
                <a:tab pos="546100" algn="l"/>
              </a:tabLst>
            </a:pPr>
            <a:r>
              <a:rPr sz="1800" spc="-5" dirty="0">
                <a:latin typeface="Times New Roman"/>
                <a:cs typeface="Times New Roman"/>
              </a:rPr>
              <a:t>Partitions</a:t>
            </a:r>
            <a:r>
              <a:rPr sz="1800" spc="4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that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are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formed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as</a:t>
            </a:r>
            <a:r>
              <a:rPr sz="1800" spc="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part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the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building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structure </a:t>
            </a:r>
            <a:r>
              <a:rPr sz="1800" dirty="0">
                <a:latin typeface="Times New Roman"/>
                <a:cs typeface="Times New Roman"/>
              </a:rPr>
              <a:t> are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called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hard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partitions,</a:t>
            </a:r>
            <a:r>
              <a:rPr sz="1800" dirty="0">
                <a:latin typeface="Times New Roman"/>
                <a:cs typeface="Times New Roman"/>
              </a:rPr>
              <a:t> and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partitions</a:t>
            </a:r>
            <a:r>
              <a:rPr sz="1800" spc="4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that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may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be 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moved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which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do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not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span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to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the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ceiling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are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called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soft </a:t>
            </a:r>
            <a:r>
              <a:rPr sz="1800" spc="-434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partitions.</a:t>
            </a:r>
            <a:endParaRPr sz="1800" dirty="0">
              <a:latin typeface="Times New Roman"/>
              <a:cs typeface="Times New Roman"/>
            </a:endParaRPr>
          </a:p>
          <a:p>
            <a:pPr marL="545465" marR="601980" indent="-292100">
              <a:lnSpc>
                <a:spcPts val="2100"/>
              </a:lnSpc>
              <a:spcBef>
                <a:spcPts val="160"/>
              </a:spcBef>
              <a:buFont typeface="Wingdings"/>
              <a:buChar char=""/>
              <a:tabLst>
                <a:tab pos="546100" algn="l"/>
              </a:tabLst>
            </a:pPr>
            <a:r>
              <a:rPr sz="1800" spc="-5" dirty="0">
                <a:latin typeface="Times New Roman"/>
                <a:cs typeface="Times New Roman"/>
              </a:rPr>
              <a:t>Partitions</a:t>
            </a:r>
            <a:r>
              <a:rPr sz="1800" spc="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vary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widely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in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their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physical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electrical </a:t>
            </a:r>
            <a:r>
              <a:rPr sz="1800" spc="-434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characteristics</a:t>
            </a:r>
            <a:endParaRPr sz="1800" dirty="0">
              <a:latin typeface="Times New Roman"/>
              <a:cs typeface="Times New Roman"/>
            </a:endParaRPr>
          </a:p>
          <a:p>
            <a:pPr marL="545465" indent="-292735">
              <a:lnSpc>
                <a:spcPts val="2140"/>
              </a:lnSpc>
              <a:buFont typeface="Wingdings"/>
              <a:buChar char=""/>
              <a:tabLst>
                <a:tab pos="546100" algn="l"/>
              </a:tabLst>
            </a:pPr>
            <a:r>
              <a:rPr sz="1800" spc="-5" dirty="0">
                <a:latin typeface="Times New Roman"/>
                <a:cs typeface="Times New Roman"/>
              </a:rPr>
              <a:t>Partition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Attenuation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Factor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spc="-45" dirty="0">
                <a:latin typeface="Times New Roman"/>
                <a:cs typeface="Times New Roman"/>
              </a:rPr>
              <a:t>(PAF) </a:t>
            </a:r>
            <a:r>
              <a:rPr sz="1800" dirty="0">
                <a:latin typeface="Times New Roman"/>
                <a:cs typeface="Times New Roman"/>
              </a:rPr>
              <a:t>has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to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be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considered</a:t>
            </a:r>
            <a:endParaRPr sz="1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85"/>
              </a:spcBef>
              <a:tabLst>
                <a:tab pos="5485765" algn="l"/>
              </a:tabLst>
            </a:pP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42949" y="1492249"/>
            <a:ext cx="6083300" cy="3416300"/>
          </a:xfrm>
          <a:custGeom>
            <a:avLst/>
            <a:gdLst/>
            <a:ahLst/>
            <a:cxnLst/>
            <a:rect l="l" t="t" r="r" b="b"/>
            <a:pathLst>
              <a:path w="6083300" h="3416300">
                <a:moveTo>
                  <a:pt x="0" y="0"/>
                </a:moveTo>
                <a:lnTo>
                  <a:pt x="6083300" y="0"/>
                </a:lnTo>
                <a:lnTo>
                  <a:pt x="6083300" y="3416300"/>
                </a:lnTo>
                <a:lnTo>
                  <a:pt x="0" y="341630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749299" y="5852587"/>
            <a:ext cx="607060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2075" algn="ctr">
              <a:lnSpc>
                <a:spcPct val="100000"/>
              </a:lnSpc>
              <a:spcBef>
                <a:spcPts val="100"/>
              </a:spcBef>
            </a:pPr>
            <a:r>
              <a:rPr sz="2700" spc="-50" dirty="0">
                <a:solidFill>
                  <a:srgbClr val="FFFFFF"/>
                </a:solidFill>
                <a:latin typeface="Times New Roman"/>
                <a:cs typeface="Times New Roman"/>
              </a:rPr>
              <a:t>U</a:t>
            </a:r>
            <a:r>
              <a:rPr sz="2700" spc="50" dirty="0">
                <a:solidFill>
                  <a:srgbClr val="FFFFFF"/>
                </a:solidFill>
                <a:latin typeface="Times New Roman"/>
                <a:cs typeface="Times New Roman"/>
              </a:rPr>
              <a:t>niv</a:t>
            </a:r>
            <a:r>
              <a:rPr sz="2700" dirty="0">
                <a:solidFill>
                  <a:srgbClr val="FFFFFF"/>
                </a:solidFill>
                <a:latin typeface="Times New Roman"/>
                <a:cs typeface="Times New Roman"/>
              </a:rPr>
              <a:t>er</a:t>
            </a:r>
            <a:r>
              <a:rPr sz="2700" spc="50" dirty="0">
                <a:solidFill>
                  <a:srgbClr val="FFFFFF"/>
                </a:solidFill>
                <a:latin typeface="Times New Roman"/>
                <a:cs typeface="Times New Roman"/>
              </a:rPr>
              <a:t>sit</a:t>
            </a:r>
            <a:r>
              <a:rPr sz="2700" dirty="0">
                <a:solidFill>
                  <a:srgbClr val="FFFFFF"/>
                </a:solidFill>
                <a:latin typeface="Times New Roman"/>
                <a:cs typeface="Times New Roman"/>
              </a:rPr>
              <a:t>y</a:t>
            </a:r>
            <a:r>
              <a:rPr sz="2700" spc="-229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700" spc="50" dirty="0">
                <a:solidFill>
                  <a:srgbClr val="FFFFFF"/>
                </a:solidFill>
                <a:latin typeface="Times New Roman"/>
                <a:cs typeface="Times New Roman"/>
              </a:rPr>
              <a:t>o</a:t>
            </a:r>
            <a:r>
              <a:rPr sz="2700" dirty="0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r>
              <a:rPr sz="27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700" spc="-50" dirty="0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sz="2700" dirty="0">
                <a:solidFill>
                  <a:srgbClr val="FFFFFF"/>
                </a:solidFill>
                <a:latin typeface="Times New Roman"/>
                <a:cs typeface="Times New Roman"/>
              </a:rPr>
              <a:t>ar</a:t>
            </a:r>
            <a:r>
              <a:rPr sz="2700"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700" dirty="0">
                <a:solidFill>
                  <a:srgbClr val="FFFFFF"/>
                </a:solidFill>
                <a:latin typeface="Times New Roman"/>
                <a:cs typeface="Times New Roman"/>
              </a:rPr>
              <a:t>es</a:t>
            </a:r>
            <a:r>
              <a:rPr sz="2700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700" spc="-5" dirty="0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sz="27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700" spc="50" dirty="0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sz="2700" dirty="0">
                <a:solidFill>
                  <a:srgbClr val="FFFFFF"/>
                </a:solidFill>
                <a:latin typeface="Times New Roman"/>
                <a:cs typeface="Times New Roman"/>
              </a:rPr>
              <a:t>aam</a:t>
            </a:r>
            <a:endParaRPr sz="27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64567" y="6275358"/>
            <a:ext cx="2983230" cy="2087880"/>
          </a:xfrm>
          <a:prstGeom prst="rect">
            <a:avLst/>
          </a:prstGeom>
        </p:spPr>
        <p:txBody>
          <a:bodyPr vert="horz" wrap="square" lIns="0" tIns="17589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85"/>
              </a:spcBef>
            </a:pPr>
            <a:r>
              <a:rPr sz="2000" b="1" spc="10" dirty="0">
                <a:solidFill>
                  <a:srgbClr val="FF0000"/>
                </a:solidFill>
                <a:latin typeface="Cambria"/>
                <a:cs typeface="Cambria"/>
              </a:rPr>
              <a:t>Same</a:t>
            </a:r>
            <a:r>
              <a:rPr sz="2000" b="1" spc="4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b="1" spc="-35" dirty="0">
                <a:solidFill>
                  <a:srgbClr val="FF0000"/>
                </a:solidFill>
                <a:latin typeface="Cambria"/>
                <a:cs typeface="Cambria"/>
              </a:rPr>
              <a:t>Floor</a:t>
            </a:r>
            <a:r>
              <a:rPr sz="2000" b="1" spc="7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b="1" spc="-25" dirty="0">
                <a:solidFill>
                  <a:srgbClr val="FF0000"/>
                </a:solidFill>
                <a:latin typeface="Cambria"/>
                <a:cs typeface="Cambria"/>
              </a:rPr>
              <a:t>Partition</a:t>
            </a:r>
            <a:r>
              <a:rPr sz="2000" b="1" spc="-7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ambria"/>
                <a:cs typeface="Cambria"/>
              </a:rPr>
              <a:t>Loss</a:t>
            </a:r>
            <a:endParaRPr sz="2000">
              <a:latin typeface="Cambria"/>
              <a:cs typeface="Cambria"/>
            </a:endParaRPr>
          </a:p>
          <a:p>
            <a:pPr marL="71120" marR="1224280">
              <a:lnSpc>
                <a:spcPct val="100000"/>
              </a:lnSpc>
              <a:spcBef>
                <a:spcPts val="1030"/>
              </a:spcBef>
            </a:pPr>
            <a:r>
              <a:rPr sz="1600" spc="-20" dirty="0">
                <a:latin typeface="Times New Roman"/>
                <a:cs typeface="Times New Roman"/>
              </a:rPr>
              <a:t>Average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Signal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Loss </a:t>
            </a:r>
            <a:r>
              <a:rPr sz="1600" spc="-385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Measurements</a:t>
            </a:r>
            <a:r>
              <a:rPr sz="1600" spc="-15" dirty="0">
                <a:latin typeface="Times New Roman"/>
                <a:cs typeface="Times New Roman"/>
              </a:rPr>
              <a:t> for </a:t>
            </a:r>
            <a:r>
              <a:rPr sz="1600" spc="-10" dirty="0">
                <a:latin typeface="Times New Roman"/>
                <a:cs typeface="Times New Roman"/>
              </a:rPr>
              <a:t> Radio Paths 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Obstructed</a:t>
            </a:r>
            <a:r>
              <a:rPr sz="1600" spc="9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by 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Common</a:t>
            </a:r>
            <a:r>
              <a:rPr sz="1600" spc="75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Building 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30" dirty="0">
                <a:latin typeface="Times New Roman"/>
                <a:cs typeface="Times New Roman"/>
              </a:rPr>
              <a:t>Material.</a:t>
            </a:r>
            <a:endParaRPr sz="1600">
              <a:latin typeface="Times New Roman"/>
              <a:cs typeface="Times New Roman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736599" y="5753100"/>
            <a:ext cx="6096000" cy="3429000"/>
            <a:chOff x="736599" y="5753100"/>
            <a:chExt cx="6096000" cy="3429000"/>
          </a:xfrm>
        </p:grpSpPr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08299" y="6807200"/>
              <a:ext cx="3898900" cy="2044698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742949" y="5759450"/>
              <a:ext cx="6083300" cy="3416300"/>
            </a:xfrm>
            <a:custGeom>
              <a:avLst/>
              <a:gdLst/>
              <a:ahLst/>
              <a:cxnLst/>
              <a:rect l="l" t="t" r="r" b="b"/>
              <a:pathLst>
                <a:path w="6083300" h="3416300">
                  <a:moveTo>
                    <a:pt x="0" y="0"/>
                  </a:moveTo>
                  <a:lnTo>
                    <a:pt x="6083300" y="0"/>
                  </a:lnTo>
                  <a:lnTo>
                    <a:pt x="6083300" y="3416300"/>
                  </a:lnTo>
                  <a:lnTo>
                    <a:pt x="0" y="34163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54011" y="455423"/>
            <a:ext cx="508634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40" dirty="0">
                <a:latin typeface="Calibri"/>
                <a:cs typeface="Calibri"/>
              </a:rPr>
              <a:t>8</a:t>
            </a:r>
            <a:r>
              <a:rPr sz="1300" spc="-5" dirty="0">
                <a:latin typeface="Calibri"/>
                <a:cs typeface="Calibri"/>
              </a:rPr>
              <a:t>/</a:t>
            </a:r>
            <a:r>
              <a:rPr sz="1300" spc="40" dirty="0">
                <a:latin typeface="Calibri"/>
                <a:cs typeface="Calibri"/>
              </a:rPr>
              <a:t>5</a:t>
            </a:r>
            <a:r>
              <a:rPr sz="1300" spc="-5" dirty="0">
                <a:latin typeface="Calibri"/>
                <a:cs typeface="Calibri"/>
              </a:rPr>
              <a:t>/</a:t>
            </a:r>
            <a:r>
              <a:rPr sz="1300" spc="40" dirty="0">
                <a:latin typeface="Calibri"/>
                <a:cs typeface="Calibri"/>
              </a:rPr>
              <a:t>20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4294967295"/>
          </p:nvPr>
        </p:nvSpPr>
        <p:spPr>
          <a:xfrm>
            <a:off x="7300913" y="9974263"/>
            <a:ext cx="255587" cy="227012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45</a:t>
            </a:fld>
            <a:endParaRPr dirty="0"/>
          </a:p>
        </p:txBody>
      </p:sp>
      <p:sp>
        <p:nvSpPr>
          <p:cNvPr id="10" name="object 10"/>
          <p:cNvSpPr txBox="1"/>
          <p:nvPr/>
        </p:nvSpPr>
        <p:spPr>
          <a:xfrm>
            <a:off x="964567" y="2094416"/>
            <a:ext cx="5380355" cy="2428240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05"/>
              </a:spcBef>
            </a:pPr>
            <a:r>
              <a:rPr sz="2000" b="1" spc="-25" dirty="0">
                <a:solidFill>
                  <a:srgbClr val="FF0000"/>
                </a:solidFill>
                <a:latin typeface="Cambria"/>
                <a:cs typeface="Cambria"/>
              </a:rPr>
              <a:t>Partition</a:t>
            </a:r>
            <a:r>
              <a:rPr sz="2000" b="1" spc="-7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b="1" spc="-15" dirty="0">
                <a:solidFill>
                  <a:srgbClr val="FF0000"/>
                </a:solidFill>
                <a:latin typeface="Cambria"/>
                <a:cs typeface="Cambria"/>
              </a:rPr>
              <a:t>Losses</a:t>
            </a:r>
            <a:r>
              <a:rPr sz="2000" b="1" spc="7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b="1" spc="-20" dirty="0">
                <a:solidFill>
                  <a:srgbClr val="FF0000"/>
                </a:solidFill>
                <a:latin typeface="Cambria"/>
                <a:cs typeface="Cambria"/>
              </a:rPr>
              <a:t>Between</a:t>
            </a:r>
            <a:r>
              <a:rPr sz="2000" b="1" spc="3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b="1" spc="-30" dirty="0">
                <a:solidFill>
                  <a:srgbClr val="FF0000"/>
                </a:solidFill>
                <a:latin typeface="Cambria"/>
                <a:cs typeface="Cambria"/>
              </a:rPr>
              <a:t>Floors</a:t>
            </a:r>
            <a:endParaRPr sz="2000">
              <a:latin typeface="Cambria"/>
              <a:cs typeface="Cambria"/>
            </a:endParaRPr>
          </a:p>
          <a:p>
            <a:pPr marL="270510" indent="-229235">
              <a:lnSpc>
                <a:spcPct val="100000"/>
              </a:lnSpc>
              <a:spcBef>
                <a:spcPts val="490"/>
              </a:spcBef>
              <a:buFont typeface="Wingdings"/>
              <a:buChar char=""/>
              <a:tabLst>
                <a:tab pos="271145" algn="l"/>
              </a:tabLst>
            </a:pPr>
            <a:r>
              <a:rPr sz="1600" spc="5" dirty="0">
                <a:latin typeface="Times New Roman"/>
                <a:cs typeface="Times New Roman"/>
              </a:rPr>
              <a:t>The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losses</a:t>
            </a:r>
            <a:r>
              <a:rPr sz="1600" spc="7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between</a:t>
            </a:r>
            <a:r>
              <a:rPr sz="1600" spc="100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floors</a:t>
            </a:r>
            <a:r>
              <a:rPr sz="1600" spc="7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building</a:t>
            </a:r>
            <a:r>
              <a:rPr sz="1600" spc="200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are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determined</a:t>
            </a:r>
            <a:r>
              <a:rPr sz="1600" spc="20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by:</a:t>
            </a:r>
            <a:endParaRPr sz="1600">
              <a:latin typeface="Times New Roman"/>
              <a:cs typeface="Times New Roman"/>
            </a:endParaRPr>
          </a:p>
          <a:p>
            <a:pPr marL="499109" lvl="1" indent="-229235">
              <a:lnSpc>
                <a:spcPts val="1910"/>
              </a:lnSpc>
              <a:spcBef>
                <a:spcPts val="80"/>
              </a:spcBef>
              <a:buFont typeface="Wingdings"/>
              <a:buChar char=""/>
              <a:tabLst>
                <a:tab pos="499745" algn="l"/>
              </a:tabLst>
            </a:pPr>
            <a:r>
              <a:rPr sz="1600" spc="-15" dirty="0">
                <a:latin typeface="Times New Roman"/>
                <a:cs typeface="Times New Roman"/>
              </a:rPr>
              <a:t>External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dimensions</a:t>
            </a:r>
            <a:endParaRPr sz="1600">
              <a:latin typeface="Times New Roman"/>
              <a:cs typeface="Times New Roman"/>
            </a:endParaRPr>
          </a:p>
          <a:p>
            <a:pPr marL="499109" lvl="1" indent="-229235">
              <a:lnSpc>
                <a:spcPts val="1900"/>
              </a:lnSpc>
              <a:buFont typeface="Wingdings"/>
              <a:buChar char=""/>
              <a:tabLst>
                <a:tab pos="499745" algn="l"/>
              </a:tabLst>
            </a:pPr>
            <a:r>
              <a:rPr sz="1600" spc="-30" dirty="0">
                <a:latin typeface="Times New Roman"/>
                <a:cs typeface="Times New Roman"/>
              </a:rPr>
              <a:t>Materials</a:t>
            </a:r>
            <a:r>
              <a:rPr sz="1600" spc="2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the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building</a:t>
            </a:r>
            <a:endParaRPr sz="1600">
              <a:latin typeface="Times New Roman"/>
              <a:cs typeface="Times New Roman"/>
            </a:endParaRPr>
          </a:p>
          <a:p>
            <a:pPr marL="499109" lvl="1" indent="-229235">
              <a:lnSpc>
                <a:spcPts val="1900"/>
              </a:lnSpc>
              <a:buFont typeface="Wingdings"/>
              <a:buChar char=""/>
              <a:tabLst>
                <a:tab pos="499745" algn="l"/>
              </a:tabLst>
            </a:pPr>
            <a:r>
              <a:rPr sz="1600" spc="-20" dirty="0">
                <a:latin typeface="Times New Roman"/>
                <a:cs typeface="Times New Roman"/>
              </a:rPr>
              <a:t>Type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construction</a:t>
            </a:r>
            <a:r>
              <a:rPr sz="1600" spc="19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used</a:t>
            </a:r>
            <a:r>
              <a:rPr sz="1600" spc="95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to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create</a:t>
            </a:r>
            <a:r>
              <a:rPr sz="1600" spc="75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the</a:t>
            </a:r>
            <a:r>
              <a:rPr sz="1600" spc="80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floors</a:t>
            </a:r>
            <a:endParaRPr sz="1600">
              <a:latin typeface="Times New Roman"/>
              <a:cs typeface="Times New Roman"/>
            </a:endParaRPr>
          </a:p>
          <a:p>
            <a:pPr marL="499109" lvl="1" indent="-229235">
              <a:lnSpc>
                <a:spcPts val="1900"/>
              </a:lnSpc>
              <a:buFont typeface="Wingdings"/>
              <a:buChar char=""/>
              <a:tabLst>
                <a:tab pos="499745" algn="l"/>
              </a:tabLst>
            </a:pPr>
            <a:r>
              <a:rPr sz="1600" spc="5" dirty="0">
                <a:latin typeface="Times New Roman"/>
                <a:cs typeface="Times New Roman"/>
              </a:rPr>
              <a:t>The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external</a:t>
            </a:r>
            <a:r>
              <a:rPr sz="1600" spc="50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surroundings</a:t>
            </a:r>
            <a:endParaRPr sz="1600">
              <a:latin typeface="Times New Roman"/>
              <a:cs typeface="Times New Roman"/>
            </a:endParaRPr>
          </a:p>
          <a:p>
            <a:pPr marL="270510" indent="-229235">
              <a:lnSpc>
                <a:spcPts val="1910"/>
              </a:lnSpc>
              <a:buFont typeface="Wingdings"/>
              <a:buChar char=""/>
              <a:tabLst>
                <a:tab pos="271145" algn="l"/>
              </a:tabLst>
            </a:pPr>
            <a:r>
              <a:rPr sz="1600" spc="20" dirty="0">
                <a:latin typeface="Times New Roman"/>
                <a:cs typeface="Times New Roman"/>
              </a:rPr>
              <a:t>E</a:t>
            </a:r>
            <a:r>
              <a:rPr sz="1600" dirty="0">
                <a:latin typeface="Times New Roman"/>
                <a:cs typeface="Times New Roman"/>
              </a:rPr>
              <a:t>v</a:t>
            </a:r>
            <a:r>
              <a:rPr sz="1600" spc="-15" dirty="0">
                <a:latin typeface="Times New Roman"/>
                <a:cs typeface="Times New Roman"/>
              </a:rPr>
              <a:t>e</a:t>
            </a:r>
            <a:r>
              <a:rPr sz="1600" dirty="0">
                <a:latin typeface="Times New Roman"/>
                <a:cs typeface="Times New Roman"/>
              </a:rPr>
              <a:t>n </a:t>
            </a:r>
            <a:r>
              <a:rPr sz="1600" spc="-45" dirty="0">
                <a:latin typeface="Times New Roman"/>
                <a:cs typeface="Times New Roman"/>
              </a:rPr>
              <a:t>t</a:t>
            </a:r>
            <a:r>
              <a:rPr sz="1600" dirty="0">
                <a:latin typeface="Times New Roman"/>
                <a:cs typeface="Times New Roman"/>
              </a:rPr>
              <a:t>he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nu</a:t>
            </a:r>
            <a:r>
              <a:rPr sz="1600" spc="-45" dirty="0">
                <a:latin typeface="Times New Roman"/>
                <a:cs typeface="Times New Roman"/>
              </a:rPr>
              <a:t>m</a:t>
            </a:r>
            <a:r>
              <a:rPr sz="1600" dirty="0">
                <a:latin typeface="Times New Roman"/>
                <a:cs typeface="Times New Roman"/>
              </a:rPr>
              <a:t>b</a:t>
            </a:r>
            <a:r>
              <a:rPr sz="1600" spc="-15" dirty="0">
                <a:latin typeface="Times New Roman"/>
                <a:cs typeface="Times New Roman"/>
              </a:rPr>
              <a:t>e</a:t>
            </a:r>
            <a:r>
              <a:rPr sz="1600" dirty="0">
                <a:latin typeface="Times New Roman"/>
                <a:cs typeface="Times New Roman"/>
              </a:rPr>
              <a:t>r</a:t>
            </a:r>
            <a:r>
              <a:rPr sz="1600" spc="6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65" dirty="0">
                <a:latin typeface="Times New Roman"/>
                <a:cs typeface="Times New Roman"/>
              </a:rPr>
              <a:t> </a:t>
            </a:r>
            <a:r>
              <a:rPr sz="1600" spc="40" dirty="0">
                <a:latin typeface="Times New Roman"/>
                <a:cs typeface="Times New Roman"/>
              </a:rPr>
              <a:t>w</a:t>
            </a:r>
            <a:r>
              <a:rPr sz="1600" spc="-45" dirty="0">
                <a:latin typeface="Times New Roman"/>
                <a:cs typeface="Times New Roman"/>
              </a:rPr>
              <a:t>i</a:t>
            </a:r>
            <a:r>
              <a:rPr sz="1600" dirty="0">
                <a:latin typeface="Times New Roman"/>
                <a:cs typeface="Times New Roman"/>
              </a:rPr>
              <a:t>ndo</a:t>
            </a:r>
            <a:r>
              <a:rPr sz="1600" spc="40" dirty="0">
                <a:latin typeface="Times New Roman"/>
                <a:cs typeface="Times New Roman"/>
              </a:rPr>
              <a:t>w</a:t>
            </a:r>
            <a:r>
              <a:rPr sz="1600" dirty="0">
                <a:latin typeface="Times New Roman"/>
                <a:cs typeface="Times New Roman"/>
              </a:rPr>
              <a:t>s</a:t>
            </a:r>
            <a:r>
              <a:rPr sz="1600" spc="-125" dirty="0">
                <a:latin typeface="Times New Roman"/>
                <a:cs typeface="Times New Roman"/>
              </a:rPr>
              <a:t> </a:t>
            </a:r>
            <a:r>
              <a:rPr sz="1600" spc="-45" dirty="0">
                <a:latin typeface="Times New Roman"/>
                <a:cs typeface="Times New Roman"/>
              </a:rPr>
              <a:t>i</a:t>
            </a:r>
            <a:r>
              <a:rPr sz="1600" dirty="0">
                <a:latin typeface="Times New Roman"/>
                <a:cs typeface="Times New Roman"/>
              </a:rPr>
              <a:t>n</a:t>
            </a:r>
            <a:r>
              <a:rPr sz="1600" spc="10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bu</a:t>
            </a:r>
            <a:r>
              <a:rPr sz="1600" spc="-45" dirty="0">
                <a:latin typeface="Times New Roman"/>
                <a:cs typeface="Times New Roman"/>
              </a:rPr>
              <a:t>il</a:t>
            </a:r>
            <a:r>
              <a:rPr sz="1600" dirty="0">
                <a:latin typeface="Times New Roman"/>
                <a:cs typeface="Times New Roman"/>
              </a:rPr>
              <a:t>d</a:t>
            </a:r>
            <a:r>
              <a:rPr sz="1600" spc="-45" dirty="0">
                <a:latin typeface="Times New Roman"/>
                <a:cs typeface="Times New Roman"/>
              </a:rPr>
              <a:t>i</a:t>
            </a:r>
            <a:r>
              <a:rPr sz="1600" dirty="0">
                <a:latin typeface="Times New Roman"/>
                <a:cs typeface="Times New Roman"/>
              </a:rPr>
              <a:t>ng</a:t>
            </a:r>
            <a:r>
              <a:rPr sz="1600" spc="100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a</a:t>
            </a:r>
            <a:r>
              <a:rPr sz="1600" dirty="0">
                <a:latin typeface="Times New Roman"/>
                <a:cs typeface="Times New Roman"/>
              </a:rPr>
              <a:t>nd </a:t>
            </a:r>
            <a:r>
              <a:rPr sz="1600" spc="-45" dirty="0">
                <a:latin typeface="Times New Roman"/>
                <a:cs typeface="Times New Roman"/>
              </a:rPr>
              <a:t>t</a:t>
            </a:r>
            <a:r>
              <a:rPr sz="1600" dirty="0">
                <a:latin typeface="Times New Roman"/>
                <a:cs typeface="Times New Roman"/>
              </a:rPr>
              <a:t>he</a:t>
            </a:r>
            <a:r>
              <a:rPr sz="1600" spc="8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</a:t>
            </a:r>
            <a:r>
              <a:rPr sz="1600" spc="-35" dirty="0">
                <a:latin typeface="Times New Roman"/>
                <a:cs typeface="Times New Roman"/>
              </a:rPr>
              <a:t>r</a:t>
            </a:r>
            <a:r>
              <a:rPr sz="1600" spc="-15" dirty="0">
                <a:latin typeface="Times New Roman"/>
                <a:cs typeface="Times New Roman"/>
              </a:rPr>
              <a:t>e</a:t>
            </a:r>
            <a:r>
              <a:rPr sz="1600" spc="-25" dirty="0">
                <a:latin typeface="Times New Roman"/>
                <a:cs typeface="Times New Roman"/>
              </a:rPr>
              <a:t>s</a:t>
            </a:r>
            <a:r>
              <a:rPr sz="1600" spc="-15" dirty="0">
                <a:latin typeface="Times New Roman"/>
                <a:cs typeface="Times New Roman"/>
              </a:rPr>
              <a:t>e</a:t>
            </a:r>
            <a:r>
              <a:rPr sz="1600" dirty="0">
                <a:latin typeface="Times New Roman"/>
                <a:cs typeface="Times New Roman"/>
              </a:rPr>
              <a:t>n</a:t>
            </a:r>
            <a:r>
              <a:rPr sz="1600" spc="-15" dirty="0">
                <a:latin typeface="Times New Roman"/>
                <a:cs typeface="Times New Roman"/>
              </a:rPr>
              <a:t>c</a:t>
            </a:r>
            <a:r>
              <a:rPr sz="1600" dirty="0">
                <a:latin typeface="Times New Roman"/>
                <a:cs typeface="Times New Roman"/>
              </a:rPr>
              <a:t>e</a:t>
            </a:r>
            <a:r>
              <a:rPr sz="1600" spc="8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endParaRPr sz="1600">
              <a:latin typeface="Times New Roman"/>
              <a:cs typeface="Times New Roman"/>
            </a:endParaRPr>
          </a:p>
          <a:p>
            <a:pPr marL="270510">
              <a:lnSpc>
                <a:spcPts val="1910"/>
              </a:lnSpc>
              <a:spcBef>
                <a:spcPts val="80"/>
              </a:spcBef>
            </a:pPr>
            <a:r>
              <a:rPr sz="1600" spc="-30" dirty="0">
                <a:latin typeface="Times New Roman"/>
                <a:cs typeface="Times New Roman"/>
              </a:rPr>
              <a:t>tinting</a:t>
            </a:r>
            <a:r>
              <a:rPr sz="1600" spc="19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can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impact</a:t>
            </a:r>
            <a:r>
              <a:rPr sz="1600" spc="150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the</a:t>
            </a:r>
            <a:r>
              <a:rPr sz="1600" spc="-20" dirty="0">
                <a:latin typeface="Times New Roman"/>
                <a:cs typeface="Times New Roman"/>
              </a:rPr>
              <a:t> loss</a:t>
            </a:r>
            <a:r>
              <a:rPr sz="1600" spc="7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between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floors</a:t>
            </a:r>
            <a:endParaRPr sz="1600">
              <a:latin typeface="Times New Roman"/>
              <a:cs typeface="Times New Roman"/>
            </a:endParaRPr>
          </a:p>
          <a:p>
            <a:pPr marL="270510" indent="-229235">
              <a:lnSpc>
                <a:spcPts val="1910"/>
              </a:lnSpc>
              <a:buFont typeface="Wingdings"/>
              <a:buChar char=""/>
              <a:tabLst>
                <a:tab pos="271145" algn="l"/>
              </a:tabLst>
            </a:pPr>
            <a:r>
              <a:rPr sz="1600" spc="-10" dirty="0">
                <a:latin typeface="Times New Roman"/>
                <a:cs typeface="Times New Roman"/>
              </a:rPr>
              <a:t>Floor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Attenuation</a:t>
            </a:r>
            <a:r>
              <a:rPr sz="1600" spc="95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Factors</a:t>
            </a:r>
            <a:r>
              <a:rPr sz="1600" spc="75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(FAF)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has</a:t>
            </a:r>
            <a:r>
              <a:rPr sz="1600" spc="70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to</a:t>
            </a:r>
            <a:r>
              <a:rPr sz="1600" dirty="0">
                <a:latin typeface="Times New Roman"/>
                <a:cs typeface="Times New Roman"/>
              </a:rPr>
              <a:t> be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considered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42949" y="1492249"/>
            <a:ext cx="6083300" cy="3416300"/>
          </a:xfrm>
          <a:custGeom>
            <a:avLst/>
            <a:gdLst/>
            <a:ahLst/>
            <a:cxnLst/>
            <a:rect l="l" t="t" r="r" b="b"/>
            <a:pathLst>
              <a:path w="6083300" h="3416300">
                <a:moveTo>
                  <a:pt x="0" y="0"/>
                </a:moveTo>
                <a:lnTo>
                  <a:pt x="6083300" y="0"/>
                </a:lnTo>
                <a:lnTo>
                  <a:pt x="6083300" y="3416300"/>
                </a:lnTo>
                <a:lnTo>
                  <a:pt x="0" y="341630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2" name="object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3382812"/>
              </p:ext>
            </p:extLst>
          </p:nvPr>
        </p:nvGraphicFramePr>
        <p:xfrm>
          <a:off x="742949" y="5899152"/>
          <a:ext cx="6083300" cy="341941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946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6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66750">
                <a:tc gridSpan="2">
                  <a:txBody>
                    <a:bodyPr/>
                    <a:lstStyle/>
                    <a:p>
                      <a:pPr marL="92075" algn="ctr">
                        <a:lnSpc>
                          <a:spcPct val="100000"/>
                        </a:lnSpc>
                        <a:spcBef>
                          <a:spcPts val="830"/>
                        </a:spcBef>
                      </a:pPr>
                      <a:r>
                        <a:rPr sz="2700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U</a:t>
                      </a:r>
                      <a:r>
                        <a:rPr sz="2700" spc="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niv</a:t>
                      </a:r>
                      <a:r>
                        <a:rPr sz="27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er</a:t>
                      </a:r>
                      <a:r>
                        <a:rPr sz="2700" spc="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sit</a:t>
                      </a:r>
                      <a:r>
                        <a:rPr sz="27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sz="2700" spc="-229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00" spc="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27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sz="2700" spc="-7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00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27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ar</a:t>
                      </a:r>
                      <a:r>
                        <a:rPr sz="2700" spc="2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es</a:t>
                      </a:r>
                      <a:r>
                        <a:rPr sz="2700" spc="7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00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7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700" spc="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l</a:t>
                      </a:r>
                      <a:r>
                        <a:rPr sz="27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aam</a:t>
                      </a:r>
                      <a:endParaRPr sz="2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054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9329">
                <a:tc>
                  <a:txBody>
                    <a:bodyPr/>
                    <a:lstStyle/>
                    <a:p>
                      <a:pPr marL="28448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2000" b="1" spc="-25" dirty="0">
                          <a:solidFill>
                            <a:srgbClr val="FF0000"/>
                          </a:solidFill>
                          <a:latin typeface="Cambria"/>
                          <a:cs typeface="Cambria"/>
                        </a:rPr>
                        <a:t>Partition</a:t>
                      </a:r>
                      <a:r>
                        <a:rPr sz="2000" b="1" spc="-85" dirty="0">
                          <a:solidFill>
                            <a:srgbClr val="FF00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2000" b="1" spc="-15" dirty="0">
                          <a:solidFill>
                            <a:srgbClr val="FF0000"/>
                          </a:solidFill>
                          <a:latin typeface="Cambria"/>
                          <a:cs typeface="Cambria"/>
                        </a:rPr>
                        <a:t>Losses</a:t>
                      </a:r>
                      <a:endParaRPr sz="2000">
                        <a:latin typeface="Cambria"/>
                        <a:cs typeface="Cambria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855">
                <a:tc>
                  <a:txBody>
                    <a:bodyPr/>
                    <a:lstStyle/>
                    <a:p>
                      <a:pPr marL="284480">
                        <a:lnSpc>
                          <a:spcPts val="2240"/>
                        </a:lnSpc>
                      </a:pPr>
                      <a:r>
                        <a:rPr sz="2000" b="1" spc="-20" dirty="0">
                          <a:solidFill>
                            <a:srgbClr val="FF0000"/>
                          </a:solidFill>
                          <a:latin typeface="Cambria"/>
                          <a:cs typeface="Cambria"/>
                        </a:rPr>
                        <a:t>Between</a:t>
                      </a:r>
                      <a:r>
                        <a:rPr sz="2000" b="1" spc="10" dirty="0">
                          <a:solidFill>
                            <a:srgbClr val="FF00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2000" b="1" spc="-30" dirty="0">
                          <a:solidFill>
                            <a:srgbClr val="FF0000"/>
                          </a:solidFill>
                          <a:latin typeface="Cambria"/>
                          <a:cs typeface="Cambria"/>
                        </a:rPr>
                        <a:t>Floors</a:t>
                      </a:r>
                      <a:endParaRPr sz="200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862">
                <a:tc>
                  <a:txBody>
                    <a:bodyPr/>
                    <a:lstStyle/>
                    <a:p>
                      <a:pPr marL="284480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Sample</a:t>
                      </a:r>
                      <a:r>
                        <a:rPr sz="1600" spc="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Floor</a:t>
                      </a:r>
                      <a:r>
                        <a:rPr sz="16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Attenuation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69215" marB="0">
                    <a:lnL w="1270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42816">
                <a:tc>
                  <a:txBody>
                    <a:bodyPr/>
                    <a:lstStyle/>
                    <a:p>
                      <a:pPr marL="284480">
                        <a:lnSpc>
                          <a:spcPts val="1860"/>
                        </a:lnSpc>
                      </a:pPr>
                      <a:r>
                        <a:rPr sz="1600" spc="-15" dirty="0">
                          <a:latin typeface="Times New Roman"/>
                          <a:cs typeface="Times New Roman"/>
                        </a:rPr>
                        <a:t>Factors</a:t>
                      </a:r>
                      <a:r>
                        <a:rPr sz="1600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5" dirty="0">
                          <a:latin typeface="Times New Roman"/>
                          <a:cs typeface="Times New Roman"/>
                        </a:rPr>
                        <a:t>(FAF)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0968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0" dirty="0">
                        <a:latin typeface="Times New Roman"/>
                        <a:cs typeface="Times New Roman"/>
                      </a:endParaRPr>
                    </a:p>
                    <a:p>
                      <a:pPr marR="53975" algn="r">
                        <a:lnSpc>
                          <a:spcPts val="1675"/>
                        </a:lnSpc>
                        <a:spcBef>
                          <a:spcPts val="1145"/>
                        </a:spcBef>
                      </a:pP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17" name="object 17"/>
          <p:cNvGrpSpPr/>
          <p:nvPr/>
        </p:nvGrpSpPr>
        <p:grpSpPr>
          <a:xfrm>
            <a:off x="3784600" y="6502400"/>
            <a:ext cx="2400300" cy="2209800"/>
            <a:chOff x="3784600" y="6502400"/>
            <a:chExt cx="2400300" cy="2209800"/>
          </a:xfrm>
        </p:grpSpPr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97500" y="6527800"/>
              <a:ext cx="787400" cy="2184398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84600" y="6502400"/>
              <a:ext cx="1612900" cy="22098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54011" y="455423"/>
            <a:ext cx="508634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40" dirty="0">
                <a:latin typeface="Calibri"/>
                <a:cs typeface="Calibri"/>
              </a:rPr>
              <a:t>8</a:t>
            </a:r>
            <a:r>
              <a:rPr sz="1300" spc="-5" dirty="0">
                <a:latin typeface="Calibri"/>
                <a:cs typeface="Calibri"/>
              </a:rPr>
              <a:t>/</a:t>
            </a:r>
            <a:r>
              <a:rPr sz="1300" spc="40" dirty="0">
                <a:latin typeface="Calibri"/>
                <a:cs typeface="Calibri"/>
              </a:rPr>
              <a:t>5</a:t>
            </a:r>
            <a:r>
              <a:rPr sz="1300" spc="-5" dirty="0">
                <a:latin typeface="Calibri"/>
                <a:cs typeface="Calibri"/>
              </a:rPr>
              <a:t>/</a:t>
            </a:r>
            <a:r>
              <a:rPr sz="1300" spc="40" dirty="0">
                <a:latin typeface="Calibri"/>
                <a:cs typeface="Calibri"/>
              </a:rPr>
              <a:t>20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4294967295"/>
          </p:nvPr>
        </p:nvSpPr>
        <p:spPr>
          <a:xfrm>
            <a:off x="7300913" y="9974263"/>
            <a:ext cx="255587" cy="227012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46</a:t>
            </a:fld>
            <a:endParaRPr dirty="0"/>
          </a:p>
        </p:txBody>
      </p:sp>
      <p:sp>
        <p:nvSpPr>
          <p:cNvPr id="10" name="object 10"/>
          <p:cNvSpPr txBox="1"/>
          <p:nvPr/>
        </p:nvSpPr>
        <p:spPr>
          <a:xfrm>
            <a:off x="964567" y="2026331"/>
            <a:ext cx="4008754" cy="1986280"/>
          </a:xfrm>
          <a:prstGeom prst="rect">
            <a:avLst/>
          </a:prstGeom>
        </p:spPr>
        <p:txBody>
          <a:bodyPr vert="horz" wrap="square" lIns="0" tIns="1581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45"/>
              </a:spcBef>
            </a:pPr>
            <a:r>
              <a:rPr sz="2000" b="1" spc="-25" dirty="0">
                <a:solidFill>
                  <a:srgbClr val="FF0000"/>
                </a:solidFill>
                <a:latin typeface="Cambria"/>
                <a:cs typeface="Cambria"/>
              </a:rPr>
              <a:t>Indoor</a:t>
            </a:r>
            <a:r>
              <a:rPr sz="2000" b="1" spc="5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b="1" spc="-25" dirty="0">
                <a:solidFill>
                  <a:srgbClr val="FF0000"/>
                </a:solidFill>
                <a:latin typeface="Cambria"/>
                <a:cs typeface="Cambria"/>
              </a:rPr>
              <a:t>Propagation</a:t>
            </a:r>
            <a:r>
              <a:rPr sz="2000" b="1" spc="2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b="1" spc="40" dirty="0">
                <a:solidFill>
                  <a:srgbClr val="FF0000"/>
                </a:solidFill>
                <a:latin typeface="Cambria"/>
                <a:cs typeface="Cambria"/>
              </a:rPr>
              <a:t>Models</a:t>
            </a:r>
            <a:endParaRPr sz="2000">
              <a:latin typeface="Cambria"/>
              <a:cs typeface="Cambria"/>
            </a:endParaRPr>
          </a:p>
          <a:p>
            <a:pPr marL="363220" indent="-292735">
              <a:lnSpc>
                <a:spcPct val="100000"/>
              </a:lnSpc>
              <a:spcBef>
                <a:spcPts val="1030"/>
              </a:spcBef>
              <a:buFont typeface="Wingdings"/>
              <a:buChar char=""/>
              <a:tabLst>
                <a:tab pos="363855" algn="l"/>
              </a:tabLst>
            </a:pPr>
            <a:r>
              <a:rPr sz="1800" spc="-5" dirty="0">
                <a:latin typeface="Times New Roman"/>
                <a:cs typeface="Times New Roman"/>
              </a:rPr>
              <a:t>Models</a:t>
            </a:r>
            <a:r>
              <a:rPr sz="1800" spc="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for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Indoor</a:t>
            </a:r>
            <a:r>
              <a:rPr sz="1800" spc="4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Propagation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include:</a:t>
            </a:r>
            <a:endParaRPr sz="1800">
              <a:latin typeface="Times New Roman"/>
              <a:cs typeface="Times New Roman"/>
            </a:endParaRPr>
          </a:p>
          <a:p>
            <a:pPr marL="591820" lvl="1" indent="-292735">
              <a:lnSpc>
                <a:spcPct val="100000"/>
              </a:lnSpc>
              <a:spcBef>
                <a:spcPts val="40"/>
              </a:spcBef>
              <a:buFont typeface="Wingdings"/>
              <a:buChar char=""/>
              <a:tabLst>
                <a:tab pos="592455" algn="l"/>
              </a:tabLst>
            </a:pPr>
            <a:r>
              <a:rPr sz="1800" spc="-5" dirty="0">
                <a:latin typeface="Times New Roman"/>
                <a:cs typeface="Times New Roman"/>
              </a:rPr>
              <a:t>Log-Distance</a:t>
            </a:r>
            <a:r>
              <a:rPr sz="1800" spc="4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Path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Loss</a:t>
            </a:r>
            <a:r>
              <a:rPr sz="1800" spc="4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Model</a:t>
            </a:r>
            <a:endParaRPr sz="1800">
              <a:latin typeface="Times New Roman"/>
              <a:cs typeface="Times New Roman"/>
            </a:endParaRPr>
          </a:p>
          <a:p>
            <a:pPr marL="591820" lvl="1" indent="-292735">
              <a:lnSpc>
                <a:spcPts val="2130"/>
              </a:lnSpc>
              <a:spcBef>
                <a:spcPts val="40"/>
              </a:spcBef>
              <a:buFont typeface="Wingdings"/>
              <a:buChar char=""/>
              <a:tabLst>
                <a:tab pos="592455" algn="l"/>
              </a:tabLst>
            </a:pPr>
            <a:r>
              <a:rPr sz="1800" spc="-5" dirty="0">
                <a:latin typeface="Times New Roman"/>
                <a:cs typeface="Times New Roman"/>
              </a:rPr>
              <a:t>Attenuation</a:t>
            </a:r>
            <a:r>
              <a:rPr sz="1800" spc="4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Factor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Model</a:t>
            </a:r>
            <a:endParaRPr sz="1800">
              <a:latin typeface="Times New Roman"/>
              <a:cs typeface="Times New Roman"/>
            </a:endParaRPr>
          </a:p>
          <a:p>
            <a:pPr marL="591820" lvl="1" indent="-292735">
              <a:lnSpc>
                <a:spcPts val="2130"/>
              </a:lnSpc>
              <a:buFont typeface="Wingdings"/>
              <a:buChar char=""/>
              <a:tabLst>
                <a:tab pos="592455" algn="l"/>
              </a:tabLst>
            </a:pPr>
            <a:r>
              <a:rPr sz="1800" dirty="0">
                <a:latin typeface="Times New Roman"/>
                <a:cs typeface="Times New Roman"/>
              </a:rPr>
              <a:t>ITU</a:t>
            </a:r>
            <a:r>
              <a:rPr sz="1800" spc="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Indoor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Path</a:t>
            </a:r>
            <a:r>
              <a:rPr sz="1800" spc="4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Loss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Model</a:t>
            </a:r>
            <a:endParaRPr sz="1800">
              <a:latin typeface="Times New Roman"/>
              <a:cs typeface="Times New Roman"/>
            </a:endParaRPr>
          </a:p>
          <a:p>
            <a:pPr marL="591820" lvl="1" indent="-292735">
              <a:lnSpc>
                <a:spcPct val="100000"/>
              </a:lnSpc>
              <a:spcBef>
                <a:spcPts val="40"/>
              </a:spcBef>
              <a:buFont typeface="Wingdings"/>
              <a:buChar char=""/>
              <a:tabLst>
                <a:tab pos="592455" algn="l"/>
              </a:tabLst>
            </a:pPr>
            <a:r>
              <a:rPr sz="1800" spc="-5" dirty="0">
                <a:latin typeface="Times New Roman"/>
                <a:cs typeface="Times New Roman"/>
              </a:rPr>
              <a:t>Ericsson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Multiple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Breakpoint</a:t>
            </a:r>
            <a:r>
              <a:rPr sz="1800" spc="4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Model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42949" y="1534779"/>
            <a:ext cx="6083300" cy="3416300"/>
          </a:xfrm>
          <a:custGeom>
            <a:avLst/>
            <a:gdLst/>
            <a:ahLst/>
            <a:cxnLst/>
            <a:rect l="l" t="t" r="r" b="b"/>
            <a:pathLst>
              <a:path w="6083300" h="3416300">
                <a:moveTo>
                  <a:pt x="0" y="0"/>
                </a:moveTo>
                <a:lnTo>
                  <a:pt x="6083300" y="0"/>
                </a:lnTo>
                <a:lnTo>
                  <a:pt x="6083300" y="3416300"/>
                </a:lnTo>
                <a:lnTo>
                  <a:pt x="0" y="341630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6268720" y="8937307"/>
            <a:ext cx="508634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400" b="1" spc="-35" dirty="0">
                <a:solidFill>
                  <a:srgbClr val="005599"/>
                </a:solidFill>
                <a:latin typeface="Times New Roman"/>
                <a:cs typeface="Times New Roman"/>
              </a:rPr>
              <a:t>TE</a:t>
            </a:r>
            <a:r>
              <a:rPr sz="1400" b="1" dirty="0">
                <a:solidFill>
                  <a:srgbClr val="005599"/>
                </a:solidFill>
                <a:latin typeface="Times New Roman"/>
                <a:cs typeface="Times New Roman"/>
              </a:rPr>
              <a:t>414</a:t>
            </a: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06754" y="5419369"/>
            <a:ext cx="6070600" cy="3339504"/>
          </a:xfrm>
          <a:prstGeom prst="rect">
            <a:avLst/>
          </a:prstGeom>
        </p:spPr>
        <p:txBody>
          <a:bodyPr vert="horz" wrap="square" lIns="0" tIns="248285" rIns="0" bIns="0" rtlCol="0">
            <a:spAutoFit/>
          </a:bodyPr>
          <a:lstStyle/>
          <a:p>
            <a:pPr marL="215265">
              <a:lnSpc>
                <a:spcPct val="100000"/>
              </a:lnSpc>
              <a:spcBef>
                <a:spcPts val="1380"/>
              </a:spcBef>
            </a:pPr>
            <a:endParaRPr lang="en-US" sz="2000" b="1" spc="-5" dirty="0">
              <a:solidFill>
                <a:srgbClr val="FF0000"/>
              </a:solidFill>
              <a:latin typeface="Cambria"/>
              <a:cs typeface="Cambria"/>
            </a:endParaRPr>
          </a:p>
          <a:p>
            <a:pPr marL="215265">
              <a:lnSpc>
                <a:spcPct val="100000"/>
              </a:lnSpc>
              <a:spcBef>
                <a:spcPts val="1380"/>
              </a:spcBef>
            </a:pPr>
            <a:endParaRPr lang="en-US" sz="2000" b="1" spc="-5" dirty="0">
              <a:solidFill>
                <a:srgbClr val="FF0000"/>
              </a:solidFill>
              <a:latin typeface="Cambria"/>
              <a:cs typeface="Cambria"/>
            </a:endParaRPr>
          </a:p>
          <a:p>
            <a:pPr marL="215265">
              <a:lnSpc>
                <a:spcPct val="100000"/>
              </a:lnSpc>
              <a:spcBef>
                <a:spcPts val="1380"/>
              </a:spcBef>
            </a:pPr>
            <a:r>
              <a:rPr sz="2000" b="1" spc="-5" dirty="0">
                <a:solidFill>
                  <a:srgbClr val="FF0000"/>
                </a:solidFill>
                <a:latin typeface="Cambria"/>
                <a:cs typeface="Cambria"/>
              </a:rPr>
              <a:t>Log-distance</a:t>
            </a:r>
            <a:r>
              <a:rPr sz="2000" b="1" spc="4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b="1" spc="-30" dirty="0">
                <a:solidFill>
                  <a:srgbClr val="FF0000"/>
                </a:solidFill>
                <a:latin typeface="Cambria"/>
                <a:cs typeface="Cambria"/>
              </a:rPr>
              <a:t>Path</a:t>
            </a:r>
            <a:r>
              <a:rPr sz="2000" b="1" spc="2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ambria"/>
                <a:cs typeface="Cambria"/>
              </a:rPr>
              <a:t>Loss</a:t>
            </a:r>
            <a:r>
              <a:rPr sz="2000" b="1" spc="5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b="1" spc="50" dirty="0">
                <a:solidFill>
                  <a:srgbClr val="FF0000"/>
                </a:solidFill>
                <a:latin typeface="Cambria"/>
                <a:cs typeface="Cambria"/>
              </a:rPr>
              <a:t>Model</a:t>
            </a:r>
            <a:endParaRPr sz="2000" dirty="0">
              <a:latin typeface="Cambria"/>
              <a:cs typeface="Cambria"/>
            </a:endParaRPr>
          </a:p>
          <a:p>
            <a:pPr marL="578485" marR="429259" indent="-292100">
              <a:lnSpc>
                <a:spcPct val="101899"/>
              </a:lnSpc>
              <a:spcBef>
                <a:spcPts val="990"/>
              </a:spcBef>
              <a:buFont typeface="Wingdings"/>
              <a:buChar char=""/>
              <a:tabLst>
                <a:tab pos="579120" algn="l"/>
              </a:tabLst>
            </a:pPr>
            <a:r>
              <a:rPr sz="1800" dirty="0">
                <a:latin typeface="Times New Roman"/>
                <a:cs typeface="Times New Roman"/>
              </a:rPr>
              <a:t>Log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distance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path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loss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model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is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generic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model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 </a:t>
            </a:r>
            <a:r>
              <a:rPr sz="1800" spc="-434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extension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to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Friis</a:t>
            </a:r>
            <a:r>
              <a:rPr sz="1800" spc="4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Free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space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model.</a:t>
            </a:r>
            <a:endParaRPr sz="1800" dirty="0">
              <a:latin typeface="Times New Roman"/>
              <a:cs typeface="Times New Roman"/>
            </a:endParaRPr>
          </a:p>
          <a:p>
            <a:pPr marL="578485" marR="276860" indent="-292100">
              <a:lnSpc>
                <a:spcPct val="99500"/>
              </a:lnSpc>
              <a:spcBef>
                <a:spcPts val="50"/>
              </a:spcBef>
              <a:buFont typeface="Wingdings"/>
              <a:buChar char=""/>
              <a:tabLst>
                <a:tab pos="579120" algn="l"/>
              </a:tabLst>
            </a:pPr>
            <a:r>
              <a:rPr sz="1800" dirty="0">
                <a:latin typeface="Times New Roman"/>
                <a:cs typeface="Times New Roman"/>
              </a:rPr>
              <a:t>It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is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used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to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predict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the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propagation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loss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for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wide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range </a:t>
            </a:r>
            <a:r>
              <a:rPr sz="1800" spc="-43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environments,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whereas,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the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Friis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Free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space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model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is 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restricted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to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unobstructed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clear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path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between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Tx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Rx</a:t>
            </a:r>
            <a:endParaRPr sz="1800" dirty="0">
              <a:latin typeface="Times New Roman"/>
              <a:cs typeface="Times New Roman"/>
            </a:endParaRPr>
          </a:p>
          <a:p>
            <a:pPr marL="578485" indent="-292735">
              <a:lnSpc>
                <a:spcPts val="2100"/>
              </a:lnSpc>
              <a:buFont typeface="Wingdings"/>
              <a:buChar char=""/>
              <a:tabLst>
                <a:tab pos="579120" algn="l"/>
              </a:tabLst>
            </a:pPr>
            <a:r>
              <a:rPr sz="1800" spc="-5" dirty="0">
                <a:latin typeface="Times New Roman"/>
                <a:cs typeface="Times New Roman"/>
              </a:rPr>
              <a:t>Also</a:t>
            </a:r>
            <a:r>
              <a:rPr sz="1800" spc="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known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as</a:t>
            </a:r>
            <a:r>
              <a:rPr sz="1800" spc="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Log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Normal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Shadowing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Model</a:t>
            </a:r>
            <a:endParaRPr sz="1800" dirty="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471782" y="5616537"/>
            <a:ext cx="6083300" cy="3416300"/>
          </a:xfrm>
          <a:custGeom>
            <a:avLst/>
            <a:gdLst/>
            <a:ahLst/>
            <a:cxnLst/>
            <a:rect l="l" t="t" r="r" b="b"/>
            <a:pathLst>
              <a:path w="6083300" h="3416300">
                <a:moveTo>
                  <a:pt x="0" y="0"/>
                </a:moveTo>
                <a:lnTo>
                  <a:pt x="6083300" y="0"/>
                </a:lnTo>
                <a:lnTo>
                  <a:pt x="6083300" y="3416300"/>
                </a:lnTo>
                <a:lnTo>
                  <a:pt x="0" y="341630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54011" y="455423"/>
            <a:ext cx="508634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40" dirty="0">
                <a:latin typeface="Calibri"/>
                <a:cs typeface="Calibri"/>
              </a:rPr>
              <a:t>8</a:t>
            </a:r>
            <a:r>
              <a:rPr sz="1300" spc="-5" dirty="0">
                <a:latin typeface="Calibri"/>
                <a:cs typeface="Calibri"/>
              </a:rPr>
              <a:t>/</a:t>
            </a:r>
            <a:r>
              <a:rPr sz="1300" spc="40" dirty="0">
                <a:latin typeface="Calibri"/>
                <a:cs typeface="Calibri"/>
              </a:rPr>
              <a:t>5</a:t>
            </a:r>
            <a:r>
              <a:rPr sz="1300" spc="-5" dirty="0">
                <a:latin typeface="Calibri"/>
                <a:cs typeface="Calibri"/>
              </a:rPr>
              <a:t>/</a:t>
            </a:r>
            <a:r>
              <a:rPr sz="1300" spc="40" dirty="0">
                <a:latin typeface="Calibri"/>
                <a:cs typeface="Calibri"/>
              </a:rPr>
              <a:t>20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4294967295"/>
          </p:nvPr>
        </p:nvSpPr>
        <p:spPr>
          <a:xfrm>
            <a:off x="7300913" y="9974263"/>
            <a:ext cx="255587" cy="227012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47</a:t>
            </a:fld>
            <a:endParaRPr dirty="0"/>
          </a:p>
        </p:txBody>
      </p:sp>
      <p:sp>
        <p:nvSpPr>
          <p:cNvPr id="10" name="object 10"/>
          <p:cNvSpPr txBox="1"/>
          <p:nvPr/>
        </p:nvSpPr>
        <p:spPr>
          <a:xfrm>
            <a:off x="964567" y="2094416"/>
            <a:ext cx="5284470" cy="967740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05"/>
              </a:spcBef>
            </a:pPr>
            <a:r>
              <a:rPr sz="2000" b="1" spc="-5" dirty="0">
                <a:solidFill>
                  <a:srgbClr val="FF0000"/>
                </a:solidFill>
                <a:latin typeface="Cambria"/>
                <a:cs typeface="Cambria"/>
              </a:rPr>
              <a:t>Log-distance</a:t>
            </a:r>
            <a:r>
              <a:rPr sz="2000" b="1" spc="4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b="1" spc="-30" dirty="0">
                <a:solidFill>
                  <a:srgbClr val="FF0000"/>
                </a:solidFill>
                <a:latin typeface="Cambria"/>
                <a:cs typeface="Cambria"/>
              </a:rPr>
              <a:t>Path</a:t>
            </a:r>
            <a:r>
              <a:rPr sz="2000" b="1" spc="2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ambria"/>
                <a:cs typeface="Cambria"/>
              </a:rPr>
              <a:t>Loss</a:t>
            </a:r>
            <a:r>
              <a:rPr sz="2000" b="1" spc="5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b="1" spc="50" dirty="0">
                <a:solidFill>
                  <a:srgbClr val="FF0000"/>
                </a:solidFill>
                <a:latin typeface="Cambria"/>
                <a:cs typeface="Cambria"/>
              </a:rPr>
              <a:t>Model</a:t>
            </a:r>
            <a:endParaRPr sz="2000" dirty="0">
              <a:latin typeface="Cambria"/>
              <a:cs typeface="Cambria"/>
            </a:endParaRPr>
          </a:p>
          <a:p>
            <a:pPr marL="57150" marR="5080">
              <a:lnSpc>
                <a:spcPct val="104200"/>
              </a:lnSpc>
              <a:spcBef>
                <a:spcPts val="409"/>
              </a:spcBef>
            </a:pPr>
            <a:r>
              <a:rPr sz="1600" spc="-10" dirty="0">
                <a:latin typeface="Times New Roman"/>
                <a:cs typeface="Times New Roman"/>
              </a:rPr>
              <a:t>Indoor</a:t>
            </a:r>
            <a:r>
              <a:rPr sz="1600" spc="60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path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loss</a:t>
            </a:r>
            <a:r>
              <a:rPr sz="1600" spc="7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has</a:t>
            </a:r>
            <a:r>
              <a:rPr sz="1600" spc="7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been</a:t>
            </a:r>
            <a:r>
              <a:rPr sz="1600" dirty="0">
                <a:latin typeface="Times New Roman"/>
                <a:cs typeface="Times New Roman"/>
              </a:rPr>
              <a:t> shown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to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obey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the</a:t>
            </a:r>
            <a:r>
              <a:rPr sz="1600" spc="85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distance</a:t>
            </a:r>
            <a:r>
              <a:rPr sz="1600" spc="90" dirty="0">
                <a:latin typeface="Times New Roman"/>
                <a:cs typeface="Times New Roman"/>
              </a:rPr>
              <a:t> </a:t>
            </a:r>
            <a:r>
              <a:rPr sz="1600" spc="5" dirty="0">
                <a:latin typeface="Times New Roman"/>
                <a:cs typeface="Times New Roman"/>
              </a:rPr>
              <a:t>power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law </a:t>
            </a:r>
            <a:r>
              <a:rPr sz="1600" spc="-385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equation</a:t>
            </a:r>
            <a:r>
              <a:rPr sz="1600" spc="95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given</a:t>
            </a:r>
            <a:r>
              <a:rPr sz="1600" spc="10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by:</a:t>
            </a: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95397" y="3176269"/>
            <a:ext cx="3609550" cy="490727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117137" y="3681996"/>
            <a:ext cx="5232400" cy="9137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1600" spc="5" dirty="0">
                <a:latin typeface="Times New Roman"/>
                <a:cs typeface="Times New Roman"/>
              </a:rPr>
              <a:t>PL</a:t>
            </a:r>
            <a:r>
              <a:rPr sz="1600" spc="-85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is</a:t>
            </a:r>
            <a:r>
              <a:rPr sz="1600" spc="75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the </a:t>
            </a:r>
            <a:r>
              <a:rPr sz="1600" spc="-25" dirty="0">
                <a:latin typeface="Times New Roman"/>
                <a:cs typeface="Times New Roman"/>
              </a:rPr>
              <a:t>total</a:t>
            </a:r>
            <a:r>
              <a:rPr sz="1600" spc="150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path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loss</a:t>
            </a:r>
            <a:r>
              <a:rPr sz="1600" spc="75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measured</a:t>
            </a:r>
            <a:r>
              <a:rPr sz="1600" spc="195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in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Decibel</a:t>
            </a:r>
            <a:r>
              <a:rPr sz="1600" spc="5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(dB)</a:t>
            </a:r>
            <a:endParaRPr sz="1600">
              <a:latin typeface="Times New Roman"/>
              <a:cs typeface="Times New Roman"/>
            </a:endParaRPr>
          </a:p>
          <a:p>
            <a:pPr marL="25400" marR="30480">
              <a:lnSpc>
                <a:spcPct val="104200"/>
              </a:lnSpc>
              <a:spcBef>
                <a:spcPts val="1070"/>
              </a:spcBef>
            </a:pPr>
            <a:r>
              <a:rPr sz="1600" spc="5" dirty="0">
                <a:latin typeface="Times New Roman"/>
                <a:cs typeface="Times New Roman"/>
              </a:rPr>
              <a:t>PL(d</a:t>
            </a:r>
            <a:r>
              <a:rPr sz="1650" spc="7" baseline="-15151" dirty="0">
                <a:latin typeface="Times New Roman"/>
                <a:cs typeface="Times New Roman"/>
              </a:rPr>
              <a:t>0</a:t>
            </a:r>
            <a:r>
              <a:rPr sz="1600" spc="5" dirty="0">
                <a:latin typeface="Times New Roman"/>
                <a:cs typeface="Times New Roman"/>
              </a:rPr>
              <a:t>)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is </a:t>
            </a:r>
            <a:r>
              <a:rPr sz="1600" spc="-15" dirty="0">
                <a:latin typeface="Times New Roman"/>
                <a:cs typeface="Times New Roman"/>
              </a:rPr>
              <a:t>the</a:t>
            </a:r>
            <a:r>
              <a:rPr sz="1600" spc="85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free</a:t>
            </a:r>
            <a:r>
              <a:rPr sz="1600" spc="85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space path</a:t>
            </a:r>
            <a:r>
              <a:rPr sz="1600" spc="100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loss</a:t>
            </a:r>
            <a:r>
              <a:rPr sz="1600" spc="7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at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the</a:t>
            </a:r>
            <a:r>
              <a:rPr sz="1600" spc="85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reference</a:t>
            </a:r>
            <a:r>
              <a:rPr sz="1600" spc="185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distance</a:t>
            </a:r>
            <a:r>
              <a:rPr sz="1600" spc="8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</a:t>
            </a:r>
            <a:r>
              <a:rPr sz="1650" baseline="-15151" dirty="0">
                <a:latin typeface="Times New Roman"/>
                <a:cs typeface="Times New Roman"/>
              </a:rPr>
              <a:t>0</a:t>
            </a:r>
            <a:r>
              <a:rPr sz="1650" spc="112" baseline="-15151" dirty="0">
                <a:latin typeface="Times New Roman"/>
                <a:cs typeface="Times New Roman"/>
              </a:rPr>
              <a:t> </a:t>
            </a:r>
            <a:r>
              <a:rPr sz="1600" spc="-30" dirty="0">
                <a:latin typeface="Times New Roman"/>
                <a:cs typeface="Times New Roman"/>
              </a:rPr>
              <a:t>(in </a:t>
            </a:r>
            <a:r>
              <a:rPr sz="1600" spc="-385" dirty="0">
                <a:latin typeface="Times New Roman"/>
                <a:cs typeface="Times New Roman"/>
              </a:rPr>
              <a:t> </a:t>
            </a:r>
            <a:r>
              <a:rPr sz="1600" spc="10" dirty="0">
                <a:latin typeface="Times New Roman"/>
                <a:cs typeface="Times New Roman"/>
              </a:rPr>
              <a:t>dB)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782319" y="1218544"/>
            <a:ext cx="6083300" cy="3416300"/>
          </a:xfrm>
          <a:custGeom>
            <a:avLst/>
            <a:gdLst/>
            <a:ahLst/>
            <a:cxnLst/>
            <a:rect l="l" t="t" r="r" b="b"/>
            <a:pathLst>
              <a:path w="6083300" h="3416300">
                <a:moveTo>
                  <a:pt x="0" y="0"/>
                </a:moveTo>
                <a:lnTo>
                  <a:pt x="6083300" y="0"/>
                </a:lnTo>
                <a:lnTo>
                  <a:pt x="6083300" y="3416300"/>
                </a:lnTo>
                <a:lnTo>
                  <a:pt x="0" y="341630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749299" y="5852587"/>
            <a:ext cx="607060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2075" algn="ctr">
              <a:lnSpc>
                <a:spcPct val="100000"/>
              </a:lnSpc>
              <a:spcBef>
                <a:spcPts val="100"/>
              </a:spcBef>
            </a:pPr>
            <a:r>
              <a:rPr sz="2700" spc="-50" dirty="0">
                <a:solidFill>
                  <a:srgbClr val="FFFFFF"/>
                </a:solidFill>
                <a:latin typeface="Times New Roman"/>
                <a:cs typeface="Times New Roman"/>
              </a:rPr>
              <a:t>U</a:t>
            </a:r>
            <a:r>
              <a:rPr sz="2700" spc="50" dirty="0">
                <a:solidFill>
                  <a:srgbClr val="FFFFFF"/>
                </a:solidFill>
                <a:latin typeface="Times New Roman"/>
                <a:cs typeface="Times New Roman"/>
              </a:rPr>
              <a:t>niv</a:t>
            </a:r>
            <a:r>
              <a:rPr sz="2700" dirty="0">
                <a:solidFill>
                  <a:srgbClr val="FFFFFF"/>
                </a:solidFill>
                <a:latin typeface="Times New Roman"/>
                <a:cs typeface="Times New Roman"/>
              </a:rPr>
              <a:t>er</a:t>
            </a:r>
            <a:r>
              <a:rPr sz="2700" spc="50" dirty="0">
                <a:solidFill>
                  <a:srgbClr val="FFFFFF"/>
                </a:solidFill>
                <a:latin typeface="Times New Roman"/>
                <a:cs typeface="Times New Roman"/>
              </a:rPr>
              <a:t>sit</a:t>
            </a:r>
            <a:r>
              <a:rPr sz="2700" dirty="0">
                <a:solidFill>
                  <a:srgbClr val="FFFFFF"/>
                </a:solidFill>
                <a:latin typeface="Times New Roman"/>
                <a:cs typeface="Times New Roman"/>
              </a:rPr>
              <a:t>y</a:t>
            </a:r>
            <a:r>
              <a:rPr sz="2700" spc="-229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700" spc="50" dirty="0">
                <a:solidFill>
                  <a:srgbClr val="FFFFFF"/>
                </a:solidFill>
                <a:latin typeface="Times New Roman"/>
                <a:cs typeface="Times New Roman"/>
              </a:rPr>
              <a:t>o</a:t>
            </a:r>
            <a:r>
              <a:rPr sz="2700" dirty="0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r>
              <a:rPr sz="27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700" spc="-50" dirty="0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sz="2700" dirty="0">
                <a:solidFill>
                  <a:srgbClr val="FFFFFF"/>
                </a:solidFill>
                <a:latin typeface="Times New Roman"/>
                <a:cs typeface="Times New Roman"/>
              </a:rPr>
              <a:t>ar</a:t>
            </a:r>
            <a:r>
              <a:rPr sz="2700"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700" dirty="0">
                <a:solidFill>
                  <a:srgbClr val="FFFFFF"/>
                </a:solidFill>
                <a:latin typeface="Times New Roman"/>
                <a:cs typeface="Times New Roman"/>
              </a:rPr>
              <a:t>es</a:t>
            </a:r>
            <a:r>
              <a:rPr sz="2700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700" spc="-5" dirty="0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sz="27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700" spc="50" dirty="0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sz="2700" dirty="0">
                <a:solidFill>
                  <a:srgbClr val="FFFFFF"/>
                </a:solidFill>
                <a:latin typeface="Times New Roman"/>
                <a:cs typeface="Times New Roman"/>
              </a:rPr>
              <a:t>aam</a:t>
            </a:r>
            <a:endParaRPr sz="27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74064" y="6045330"/>
            <a:ext cx="6045835" cy="27374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7645">
              <a:lnSpc>
                <a:spcPct val="100000"/>
              </a:lnSpc>
              <a:spcBef>
                <a:spcPts val="100"/>
              </a:spcBef>
            </a:pPr>
            <a:r>
              <a:rPr sz="2000" b="1" spc="-5" dirty="0">
                <a:solidFill>
                  <a:srgbClr val="FF0000"/>
                </a:solidFill>
                <a:latin typeface="Cambria"/>
                <a:cs typeface="Cambria"/>
              </a:rPr>
              <a:t>Log-distance</a:t>
            </a:r>
            <a:r>
              <a:rPr sz="2000" b="1" spc="4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b="1" spc="-30" dirty="0">
                <a:solidFill>
                  <a:srgbClr val="FF0000"/>
                </a:solidFill>
                <a:latin typeface="Cambria"/>
                <a:cs typeface="Cambria"/>
              </a:rPr>
              <a:t>Path</a:t>
            </a:r>
            <a:r>
              <a:rPr sz="2000" b="1" spc="2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ambria"/>
                <a:cs typeface="Cambria"/>
              </a:rPr>
              <a:t>Loss</a:t>
            </a:r>
            <a:r>
              <a:rPr sz="2000" b="1" spc="5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b="1" spc="50" dirty="0">
                <a:solidFill>
                  <a:srgbClr val="FF0000"/>
                </a:solidFill>
                <a:latin typeface="Cambria"/>
                <a:cs typeface="Cambria"/>
              </a:rPr>
              <a:t>Model</a:t>
            </a:r>
            <a:endParaRPr sz="2000" dirty="0">
              <a:latin typeface="Cambria"/>
              <a:cs typeface="Cambria"/>
            </a:endParaRPr>
          </a:p>
          <a:p>
            <a:pPr marL="264795">
              <a:lnSpc>
                <a:spcPct val="100000"/>
              </a:lnSpc>
              <a:spcBef>
                <a:spcPts val="1520"/>
              </a:spcBef>
              <a:tabLst>
                <a:tab pos="721995" algn="l"/>
              </a:tabLst>
            </a:pPr>
            <a:r>
              <a:rPr sz="1600" dirty="0">
                <a:latin typeface="Times New Roman"/>
                <a:cs typeface="Times New Roman"/>
              </a:rPr>
              <a:t>d	</a:t>
            </a:r>
            <a:r>
              <a:rPr sz="1600" spc="-25" dirty="0">
                <a:latin typeface="Times New Roman"/>
                <a:cs typeface="Times New Roman"/>
              </a:rPr>
              <a:t>is</a:t>
            </a:r>
            <a:r>
              <a:rPr sz="1600" spc="65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the</a:t>
            </a:r>
            <a:r>
              <a:rPr sz="1600" spc="-20" dirty="0">
                <a:latin typeface="Times New Roman"/>
                <a:cs typeface="Times New Roman"/>
              </a:rPr>
              <a:t> length</a:t>
            </a:r>
            <a:r>
              <a:rPr sz="1600" spc="9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60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the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path</a:t>
            </a:r>
            <a:r>
              <a:rPr sz="1600" spc="95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in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spc="-30" dirty="0">
                <a:latin typeface="Times New Roman"/>
                <a:cs typeface="Times New Roman"/>
              </a:rPr>
              <a:t>meters</a:t>
            </a:r>
            <a:endParaRPr sz="1600" dirty="0">
              <a:latin typeface="Times New Roman"/>
              <a:cs typeface="Times New Roman"/>
            </a:endParaRPr>
          </a:p>
          <a:p>
            <a:pPr marL="264795">
              <a:lnSpc>
                <a:spcPts val="1910"/>
              </a:lnSpc>
              <a:spcBef>
                <a:spcPts val="80"/>
              </a:spcBef>
              <a:tabLst>
                <a:tab pos="721995" algn="l"/>
              </a:tabLst>
            </a:pPr>
            <a:r>
              <a:rPr sz="1600" dirty="0">
                <a:latin typeface="Times New Roman"/>
                <a:cs typeface="Times New Roman"/>
              </a:rPr>
              <a:t>d</a:t>
            </a:r>
            <a:r>
              <a:rPr sz="1650" baseline="-15151" dirty="0">
                <a:latin typeface="Times New Roman"/>
                <a:cs typeface="Times New Roman"/>
              </a:rPr>
              <a:t>0	</a:t>
            </a:r>
            <a:r>
              <a:rPr sz="1600" spc="-25" dirty="0">
                <a:latin typeface="Times New Roman"/>
                <a:cs typeface="Times New Roman"/>
              </a:rPr>
              <a:t>is</a:t>
            </a:r>
            <a:r>
              <a:rPr sz="1600" spc="65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the</a:t>
            </a:r>
            <a:r>
              <a:rPr sz="1600" spc="-20" dirty="0">
                <a:latin typeface="Times New Roman"/>
                <a:cs typeface="Times New Roman"/>
              </a:rPr>
              <a:t> reference</a:t>
            </a:r>
            <a:r>
              <a:rPr sz="1600" spc="175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distance;</a:t>
            </a:r>
            <a:r>
              <a:rPr sz="1600" spc="145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usually</a:t>
            </a:r>
            <a:r>
              <a:rPr sz="1600" spc="9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1m</a:t>
            </a:r>
          </a:p>
          <a:p>
            <a:pPr marL="721995" marR="412750" indent="-457200">
              <a:lnSpc>
                <a:spcPts val="1900"/>
              </a:lnSpc>
              <a:spcBef>
                <a:spcPts val="70"/>
              </a:spcBef>
              <a:tabLst>
                <a:tab pos="721995" algn="l"/>
              </a:tabLst>
            </a:pPr>
            <a:r>
              <a:rPr sz="1600" dirty="0">
                <a:latin typeface="Times New Roman"/>
                <a:cs typeface="Times New Roman"/>
              </a:rPr>
              <a:t>n	</a:t>
            </a:r>
            <a:r>
              <a:rPr sz="1600" spc="-25" dirty="0">
                <a:latin typeface="Times New Roman"/>
                <a:cs typeface="Times New Roman"/>
              </a:rPr>
              <a:t>is</a:t>
            </a:r>
            <a:r>
              <a:rPr sz="1600" spc="70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the path</a:t>
            </a:r>
            <a:r>
              <a:rPr sz="1600" spc="95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loss</a:t>
            </a:r>
            <a:r>
              <a:rPr sz="1600" spc="7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exponent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depending</a:t>
            </a:r>
            <a:r>
              <a:rPr sz="1600" spc="10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on </a:t>
            </a:r>
            <a:r>
              <a:rPr sz="1600" spc="-15" dirty="0">
                <a:latin typeface="Times New Roman"/>
                <a:cs typeface="Times New Roman"/>
              </a:rPr>
              <a:t>the</a:t>
            </a:r>
            <a:r>
              <a:rPr sz="1600" spc="80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surroundings</a:t>
            </a:r>
            <a:r>
              <a:rPr sz="1600" spc="7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and </a:t>
            </a:r>
            <a:r>
              <a:rPr sz="1600" spc="-385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building</a:t>
            </a:r>
            <a:r>
              <a:rPr sz="1600" spc="95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type</a:t>
            </a:r>
            <a:endParaRPr sz="1600" dirty="0">
              <a:latin typeface="Times New Roman"/>
              <a:cs typeface="Times New Roman"/>
            </a:endParaRPr>
          </a:p>
          <a:p>
            <a:pPr marL="721995" marR="247650" indent="-457200">
              <a:lnSpc>
                <a:spcPts val="1900"/>
              </a:lnSpc>
              <a:tabLst>
                <a:tab pos="721995" algn="l"/>
              </a:tabLst>
            </a:pPr>
            <a:r>
              <a:rPr sz="1600" spc="20" dirty="0">
                <a:latin typeface="Times New Roman"/>
                <a:cs typeface="Times New Roman"/>
              </a:rPr>
              <a:t>X</a:t>
            </a:r>
            <a:r>
              <a:rPr sz="1600" spc="20" dirty="0">
                <a:latin typeface="Cambria Math"/>
                <a:cs typeface="Cambria Math"/>
              </a:rPr>
              <a:t>𝜎	</a:t>
            </a:r>
            <a:r>
              <a:rPr sz="1600" spc="-25" dirty="0">
                <a:latin typeface="Times New Roman"/>
                <a:cs typeface="Times New Roman"/>
              </a:rPr>
              <a:t>is</a:t>
            </a:r>
            <a:r>
              <a:rPr sz="1600" spc="7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random</a:t>
            </a:r>
            <a:r>
              <a:rPr sz="1600" spc="55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variable</a:t>
            </a:r>
            <a:r>
              <a:rPr sz="1600" spc="85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with</a:t>
            </a:r>
            <a:r>
              <a:rPr sz="1600" spc="100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zero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mean,</a:t>
            </a:r>
            <a:r>
              <a:rPr sz="1600" spc="100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reflecting</a:t>
            </a:r>
            <a:r>
              <a:rPr sz="1600" spc="200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the</a:t>
            </a:r>
            <a:r>
              <a:rPr sz="1600" spc="85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attenuation </a:t>
            </a:r>
            <a:r>
              <a:rPr sz="1600" spc="-385" dirty="0">
                <a:latin typeface="Times New Roman"/>
                <a:cs typeface="Times New Roman"/>
              </a:rPr>
              <a:t> </a:t>
            </a:r>
            <a:r>
              <a:rPr sz="1600" spc="-30" dirty="0">
                <a:latin typeface="Times New Roman"/>
                <a:cs typeface="Times New Roman"/>
              </a:rPr>
              <a:t>(in</a:t>
            </a:r>
            <a:r>
              <a:rPr sz="1600" spc="100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decibel)</a:t>
            </a:r>
            <a:r>
              <a:rPr sz="1600" spc="65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caused</a:t>
            </a:r>
            <a:r>
              <a:rPr sz="1600" spc="10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by </a:t>
            </a:r>
            <a:r>
              <a:rPr sz="1600" spc="-10" dirty="0">
                <a:latin typeface="Times New Roman"/>
                <a:cs typeface="Times New Roman"/>
              </a:rPr>
              <a:t>at</a:t>
            </a:r>
            <a:r>
              <a:rPr sz="1600" spc="55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fading.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In</a:t>
            </a:r>
            <a:r>
              <a:rPr sz="1600" spc="100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case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6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no </a:t>
            </a:r>
            <a:r>
              <a:rPr sz="1600" spc="-15" dirty="0">
                <a:latin typeface="Times New Roman"/>
                <a:cs typeface="Times New Roman"/>
              </a:rPr>
              <a:t>fading,</a:t>
            </a:r>
            <a:r>
              <a:rPr sz="1600" spc="100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this</a:t>
            </a:r>
            <a:endParaRPr sz="1600" dirty="0">
              <a:latin typeface="Times New Roman"/>
              <a:cs typeface="Times New Roman"/>
            </a:endParaRPr>
          </a:p>
          <a:p>
            <a:pPr marL="721995">
              <a:lnSpc>
                <a:spcPct val="100000"/>
              </a:lnSpc>
              <a:spcBef>
                <a:spcPts val="20"/>
              </a:spcBef>
            </a:pPr>
            <a:r>
              <a:rPr sz="1600" spc="-20" dirty="0">
                <a:latin typeface="Times New Roman"/>
                <a:cs typeface="Times New Roman"/>
              </a:rPr>
              <a:t>variable</a:t>
            </a:r>
            <a:r>
              <a:rPr sz="1600" spc="150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is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0.</a:t>
            </a: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900" dirty="0">
              <a:latin typeface="Times New Roman"/>
              <a:cs typeface="Times New Roman"/>
            </a:endParaRPr>
          </a:p>
          <a:p>
            <a:pPr marL="25400">
              <a:lnSpc>
                <a:spcPct val="100000"/>
              </a:lnSpc>
              <a:tabLst>
                <a:tab pos="5511165" algn="l"/>
              </a:tabLst>
            </a:pP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742949" y="5759450"/>
            <a:ext cx="6083300" cy="3416300"/>
          </a:xfrm>
          <a:custGeom>
            <a:avLst/>
            <a:gdLst/>
            <a:ahLst/>
            <a:cxnLst/>
            <a:rect l="l" t="t" r="r" b="b"/>
            <a:pathLst>
              <a:path w="6083300" h="3416300">
                <a:moveTo>
                  <a:pt x="0" y="0"/>
                </a:moveTo>
                <a:lnTo>
                  <a:pt x="6083300" y="0"/>
                </a:lnTo>
                <a:lnTo>
                  <a:pt x="6083300" y="3416300"/>
                </a:lnTo>
                <a:lnTo>
                  <a:pt x="0" y="341630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54011" y="455423"/>
            <a:ext cx="508634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40" dirty="0">
                <a:latin typeface="Calibri"/>
                <a:cs typeface="Calibri"/>
              </a:rPr>
              <a:t>8</a:t>
            </a:r>
            <a:r>
              <a:rPr sz="1300" spc="-5" dirty="0">
                <a:latin typeface="Calibri"/>
                <a:cs typeface="Calibri"/>
              </a:rPr>
              <a:t>/</a:t>
            </a:r>
            <a:r>
              <a:rPr sz="1300" spc="40" dirty="0">
                <a:latin typeface="Calibri"/>
                <a:cs typeface="Calibri"/>
              </a:rPr>
              <a:t>5</a:t>
            </a:r>
            <a:r>
              <a:rPr sz="1300" spc="-5" dirty="0">
                <a:latin typeface="Calibri"/>
                <a:cs typeface="Calibri"/>
              </a:rPr>
              <a:t>/</a:t>
            </a:r>
            <a:r>
              <a:rPr sz="1300" spc="40" dirty="0">
                <a:latin typeface="Calibri"/>
                <a:cs typeface="Calibri"/>
              </a:rPr>
              <a:t>20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sldNum" sz="quarter" idx="4294967295"/>
          </p:nvPr>
        </p:nvSpPr>
        <p:spPr>
          <a:xfrm>
            <a:off x="7300913" y="9974263"/>
            <a:ext cx="255587" cy="227012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48</a:t>
            </a:fld>
            <a:endParaRPr dirty="0"/>
          </a:p>
        </p:txBody>
      </p:sp>
      <p:sp>
        <p:nvSpPr>
          <p:cNvPr id="10" name="object 10"/>
          <p:cNvSpPr txBox="1"/>
          <p:nvPr/>
        </p:nvSpPr>
        <p:spPr>
          <a:xfrm>
            <a:off x="964567" y="2171720"/>
            <a:ext cx="2085975" cy="1991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>
              <a:lnSpc>
                <a:spcPct val="100000"/>
              </a:lnSpc>
              <a:spcBef>
                <a:spcPts val="100"/>
              </a:spcBef>
            </a:pPr>
            <a:r>
              <a:rPr sz="2000" b="1" spc="-5" dirty="0">
                <a:solidFill>
                  <a:srgbClr val="FF0000"/>
                </a:solidFill>
                <a:latin typeface="Cambria"/>
                <a:cs typeface="Cambria"/>
              </a:rPr>
              <a:t>Log-distance</a:t>
            </a:r>
            <a:r>
              <a:rPr sz="2000" b="1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b="1" spc="-30" dirty="0">
                <a:solidFill>
                  <a:srgbClr val="FF0000"/>
                </a:solidFill>
                <a:latin typeface="Cambria"/>
                <a:cs typeface="Cambria"/>
              </a:rPr>
              <a:t>Path </a:t>
            </a:r>
            <a:r>
              <a:rPr sz="2000" b="1" spc="-43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ambria"/>
                <a:cs typeface="Cambria"/>
              </a:rPr>
              <a:t>Loss</a:t>
            </a:r>
            <a:r>
              <a:rPr sz="2000" b="1" spc="6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b="1" spc="50" dirty="0">
                <a:solidFill>
                  <a:srgbClr val="FF0000"/>
                </a:solidFill>
                <a:latin typeface="Cambria"/>
                <a:cs typeface="Cambria"/>
              </a:rPr>
              <a:t>Model</a:t>
            </a:r>
            <a:endParaRPr sz="2000">
              <a:latin typeface="Cambria"/>
              <a:cs typeface="Cambria"/>
            </a:endParaRPr>
          </a:p>
          <a:p>
            <a:pPr marL="71120" marR="374650">
              <a:lnSpc>
                <a:spcPct val="100299"/>
              </a:lnSpc>
              <a:spcBef>
                <a:spcPts val="1050"/>
              </a:spcBef>
            </a:pPr>
            <a:r>
              <a:rPr sz="1600" spc="-15" dirty="0">
                <a:latin typeface="Times New Roman"/>
                <a:cs typeface="Times New Roman"/>
              </a:rPr>
              <a:t>Path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Loss</a:t>
            </a:r>
            <a:r>
              <a:rPr sz="1600" spc="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Exponent </a:t>
            </a:r>
            <a:r>
              <a:rPr sz="1600" spc="-38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and </a:t>
            </a:r>
            <a:r>
              <a:rPr sz="1600" spc="-15" dirty="0">
                <a:latin typeface="Times New Roman"/>
                <a:cs typeface="Times New Roman"/>
              </a:rPr>
              <a:t>Standard 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Deviation</a:t>
            </a:r>
            <a:r>
              <a:rPr sz="1600" spc="90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for 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160" dirty="0">
                <a:latin typeface="Times New Roman"/>
                <a:cs typeface="Times New Roman"/>
              </a:rPr>
              <a:t>V</a:t>
            </a:r>
            <a:r>
              <a:rPr sz="1600" spc="-15" dirty="0">
                <a:latin typeface="Times New Roman"/>
                <a:cs typeface="Times New Roman"/>
              </a:rPr>
              <a:t>a</a:t>
            </a:r>
            <a:r>
              <a:rPr sz="1600" spc="-35" dirty="0">
                <a:latin typeface="Times New Roman"/>
                <a:cs typeface="Times New Roman"/>
              </a:rPr>
              <a:t>r</a:t>
            </a:r>
            <a:r>
              <a:rPr sz="1600" spc="-45" dirty="0">
                <a:latin typeface="Times New Roman"/>
                <a:cs typeface="Times New Roman"/>
              </a:rPr>
              <a:t>i</a:t>
            </a:r>
            <a:r>
              <a:rPr sz="1600" dirty="0">
                <a:latin typeface="Times New Roman"/>
                <a:cs typeface="Times New Roman"/>
              </a:rPr>
              <a:t>ous</a:t>
            </a:r>
            <a:r>
              <a:rPr sz="1600" spc="75" dirty="0">
                <a:latin typeface="Times New Roman"/>
                <a:cs typeface="Times New Roman"/>
              </a:rPr>
              <a:t> </a:t>
            </a:r>
            <a:r>
              <a:rPr sz="1600" spc="-80" dirty="0">
                <a:latin typeface="Times New Roman"/>
                <a:cs typeface="Times New Roman"/>
              </a:rPr>
              <a:t>T</a:t>
            </a:r>
            <a:r>
              <a:rPr sz="1600" dirty="0">
                <a:latin typeface="Times New Roman"/>
                <a:cs typeface="Times New Roman"/>
              </a:rPr>
              <a:t>ype</a:t>
            </a:r>
            <a:r>
              <a:rPr sz="1600" spc="-114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  </a:t>
            </a:r>
            <a:r>
              <a:rPr sz="1600" spc="-15" dirty="0">
                <a:latin typeface="Times New Roman"/>
                <a:cs typeface="Times New Roman"/>
              </a:rPr>
              <a:t>buildings</a:t>
            </a:r>
            <a:endParaRPr sz="1600">
              <a:latin typeface="Times New Roman"/>
              <a:cs typeface="Times New Roman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736599" y="1485899"/>
            <a:ext cx="6096000" cy="3429000"/>
            <a:chOff x="736599" y="1485899"/>
            <a:chExt cx="6096000" cy="3429000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65996" y="2337013"/>
              <a:ext cx="3476103" cy="2222284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742949" y="1492249"/>
              <a:ext cx="6083300" cy="3416300"/>
            </a:xfrm>
            <a:custGeom>
              <a:avLst/>
              <a:gdLst/>
              <a:ahLst/>
              <a:cxnLst/>
              <a:rect l="l" t="t" r="r" b="b"/>
              <a:pathLst>
                <a:path w="6083300" h="3416300">
                  <a:moveTo>
                    <a:pt x="0" y="0"/>
                  </a:moveTo>
                  <a:lnTo>
                    <a:pt x="6083300" y="0"/>
                  </a:lnTo>
                  <a:lnTo>
                    <a:pt x="6083300" y="3416300"/>
                  </a:lnTo>
                  <a:lnTo>
                    <a:pt x="0" y="34163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964567" y="6279491"/>
            <a:ext cx="5525135" cy="1597660"/>
          </a:xfrm>
          <a:prstGeom prst="rect">
            <a:avLst/>
          </a:prstGeom>
        </p:spPr>
        <p:txBody>
          <a:bodyPr vert="horz" wrap="square" lIns="0" tIns="17208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5"/>
              </a:spcBef>
            </a:pPr>
            <a:r>
              <a:rPr sz="2000" b="1" spc="5" dirty="0">
                <a:solidFill>
                  <a:srgbClr val="FF0000"/>
                </a:solidFill>
                <a:latin typeface="Cambria"/>
                <a:cs typeface="Cambria"/>
              </a:rPr>
              <a:t>Attenuation</a:t>
            </a:r>
            <a:r>
              <a:rPr sz="2000" b="1" spc="-7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b="1" spc="-60" dirty="0">
                <a:solidFill>
                  <a:srgbClr val="FF0000"/>
                </a:solidFill>
                <a:latin typeface="Cambria"/>
                <a:cs typeface="Cambria"/>
              </a:rPr>
              <a:t>Factor</a:t>
            </a:r>
            <a:r>
              <a:rPr sz="2000" b="1" spc="7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b="1" spc="50" dirty="0">
                <a:solidFill>
                  <a:srgbClr val="FF0000"/>
                </a:solidFill>
                <a:latin typeface="Cambria"/>
                <a:cs typeface="Cambria"/>
              </a:rPr>
              <a:t>Model</a:t>
            </a:r>
            <a:endParaRPr sz="2000">
              <a:latin typeface="Cambria"/>
              <a:cs typeface="Cambria"/>
            </a:endParaRPr>
          </a:p>
          <a:p>
            <a:pPr marL="299720" marR="5080" indent="-228600">
              <a:lnSpc>
                <a:spcPct val="104200"/>
              </a:lnSpc>
              <a:spcBef>
                <a:spcPts val="919"/>
              </a:spcBef>
              <a:buFont typeface="Wingdings"/>
              <a:buChar char=""/>
              <a:tabLst>
                <a:tab pos="300355" algn="l"/>
              </a:tabLst>
            </a:pPr>
            <a:r>
              <a:rPr sz="1600" spc="-10" dirty="0">
                <a:latin typeface="Times New Roman"/>
                <a:cs typeface="Times New Roman"/>
              </a:rPr>
              <a:t>This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is</a:t>
            </a:r>
            <a:r>
              <a:rPr sz="1600" spc="7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an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in-building</a:t>
            </a:r>
            <a:r>
              <a:rPr sz="1600" spc="195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propagation</a:t>
            </a:r>
            <a:r>
              <a:rPr sz="1600" spc="195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model</a:t>
            </a:r>
            <a:r>
              <a:rPr sz="1600" spc="50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that</a:t>
            </a:r>
            <a:r>
              <a:rPr sz="1600" spc="50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includes</a:t>
            </a:r>
            <a:r>
              <a:rPr sz="1600" spc="75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the</a:t>
            </a:r>
            <a:r>
              <a:rPr sz="1600" spc="80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effect </a:t>
            </a:r>
            <a:r>
              <a:rPr sz="1600" spc="-38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building</a:t>
            </a:r>
            <a:r>
              <a:rPr sz="1600" spc="200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type </a:t>
            </a:r>
            <a:r>
              <a:rPr sz="1600" spc="-10" dirty="0">
                <a:latin typeface="Times New Roman"/>
                <a:cs typeface="Times New Roman"/>
              </a:rPr>
              <a:t>as</a:t>
            </a:r>
            <a:r>
              <a:rPr sz="1600" spc="7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well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as</a:t>
            </a:r>
            <a:r>
              <a:rPr sz="1600" spc="75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the </a:t>
            </a:r>
            <a:r>
              <a:rPr sz="1600" spc="-20" dirty="0">
                <a:latin typeface="Times New Roman"/>
                <a:cs typeface="Times New Roman"/>
              </a:rPr>
              <a:t>variations</a:t>
            </a:r>
            <a:r>
              <a:rPr sz="1600" spc="170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caused</a:t>
            </a:r>
            <a:r>
              <a:rPr sz="1600" spc="10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by </a:t>
            </a:r>
            <a:r>
              <a:rPr sz="1600" spc="-20" dirty="0">
                <a:latin typeface="Times New Roman"/>
                <a:cs typeface="Times New Roman"/>
              </a:rPr>
              <a:t>obstacles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Wingdings"/>
              <a:buChar char=""/>
            </a:pPr>
            <a:endParaRPr sz="1600">
              <a:latin typeface="Times New Roman"/>
              <a:cs typeface="Times New Roman"/>
            </a:endParaRPr>
          </a:p>
          <a:p>
            <a:pPr marL="299720" indent="-229235">
              <a:lnSpc>
                <a:spcPct val="100000"/>
              </a:lnSpc>
              <a:spcBef>
                <a:spcPts val="5"/>
              </a:spcBef>
              <a:buFont typeface="Wingdings"/>
              <a:buChar char=""/>
              <a:tabLst>
                <a:tab pos="300355" algn="l"/>
              </a:tabLst>
            </a:pPr>
            <a:r>
              <a:rPr sz="1600" spc="5" dirty="0">
                <a:latin typeface="Times New Roman"/>
                <a:cs typeface="Times New Roman"/>
              </a:rPr>
              <a:t>The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model</a:t>
            </a:r>
            <a:r>
              <a:rPr sz="1600" spc="45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is</a:t>
            </a:r>
            <a:r>
              <a:rPr sz="1600" spc="60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given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by:</a:t>
            </a:r>
            <a:endParaRPr sz="1600">
              <a:latin typeface="Times New Roman"/>
              <a:cs typeface="Times New Roman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736599" y="5753100"/>
            <a:ext cx="6096000" cy="3429000"/>
            <a:chOff x="736599" y="5753100"/>
            <a:chExt cx="6096000" cy="3429000"/>
          </a:xfrm>
        </p:grpSpPr>
        <p:pic>
          <p:nvPicPr>
            <p:cNvPr id="23" name="object 2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36649" y="8039100"/>
              <a:ext cx="5283200" cy="508000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742949" y="5759450"/>
              <a:ext cx="6083300" cy="3416300"/>
            </a:xfrm>
            <a:custGeom>
              <a:avLst/>
              <a:gdLst/>
              <a:ahLst/>
              <a:cxnLst/>
              <a:rect l="l" t="t" r="r" b="b"/>
              <a:pathLst>
                <a:path w="6083300" h="3416300">
                  <a:moveTo>
                    <a:pt x="0" y="0"/>
                  </a:moveTo>
                  <a:lnTo>
                    <a:pt x="6083300" y="0"/>
                  </a:lnTo>
                  <a:lnTo>
                    <a:pt x="6083300" y="3416300"/>
                  </a:lnTo>
                  <a:lnTo>
                    <a:pt x="0" y="34163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54011" y="455423"/>
            <a:ext cx="508634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40" dirty="0">
                <a:latin typeface="Calibri"/>
                <a:cs typeface="Calibri"/>
              </a:rPr>
              <a:t>8</a:t>
            </a:r>
            <a:r>
              <a:rPr sz="1300" spc="-5" dirty="0">
                <a:latin typeface="Calibri"/>
                <a:cs typeface="Calibri"/>
              </a:rPr>
              <a:t>/</a:t>
            </a:r>
            <a:r>
              <a:rPr sz="1300" spc="40" dirty="0">
                <a:latin typeface="Calibri"/>
                <a:cs typeface="Calibri"/>
              </a:rPr>
              <a:t>5</a:t>
            </a:r>
            <a:r>
              <a:rPr sz="1300" spc="-5" dirty="0">
                <a:latin typeface="Calibri"/>
                <a:cs typeface="Calibri"/>
              </a:rPr>
              <a:t>/</a:t>
            </a:r>
            <a:r>
              <a:rPr sz="1300" spc="40" dirty="0">
                <a:latin typeface="Calibri"/>
                <a:cs typeface="Calibri"/>
              </a:rPr>
              <a:t>20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4294967295"/>
          </p:nvPr>
        </p:nvSpPr>
        <p:spPr>
          <a:xfrm>
            <a:off x="7300913" y="9974263"/>
            <a:ext cx="255587" cy="227012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49</a:t>
            </a:fld>
            <a:endParaRPr dirty="0"/>
          </a:p>
        </p:txBody>
      </p:sp>
      <p:sp>
        <p:nvSpPr>
          <p:cNvPr id="10" name="object 10"/>
          <p:cNvSpPr txBox="1"/>
          <p:nvPr/>
        </p:nvSpPr>
        <p:spPr>
          <a:xfrm>
            <a:off x="909162" y="2171720"/>
            <a:ext cx="3061335" cy="736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5244">
              <a:lnSpc>
                <a:spcPct val="100000"/>
              </a:lnSpc>
              <a:spcBef>
                <a:spcPts val="100"/>
              </a:spcBef>
            </a:pPr>
            <a:r>
              <a:rPr sz="2000" b="1" spc="5" dirty="0">
                <a:solidFill>
                  <a:srgbClr val="FF0000"/>
                </a:solidFill>
                <a:latin typeface="Cambria"/>
                <a:cs typeface="Cambria"/>
              </a:rPr>
              <a:t>Attenuation</a:t>
            </a:r>
            <a:r>
              <a:rPr sz="2000" b="1" spc="-8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b="1" spc="-60" dirty="0">
                <a:solidFill>
                  <a:srgbClr val="FF0000"/>
                </a:solidFill>
                <a:latin typeface="Cambria"/>
                <a:cs typeface="Cambria"/>
              </a:rPr>
              <a:t>Factor</a:t>
            </a:r>
            <a:r>
              <a:rPr sz="2000" b="1" spc="6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b="1" spc="50" dirty="0">
                <a:solidFill>
                  <a:srgbClr val="FF0000"/>
                </a:solidFill>
                <a:latin typeface="Cambria"/>
                <a:cs typeface="Cambria"/>
              </a:rPr>
              <a:t>Model</a:t>
            </a:r>
            <a:endParaRPr sz="20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275"/>
              </a:spcBef>
            </a:pPr>
            <a:r>
              <a:rPr sz="1600" spc="-15" dirty="0">
                <a:latin typeface="Times New Roman"/>
                <a:cs typeface="Times New Roman"/>
              </a:rPr>
              <a:t>Where: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83762" y="2930800"/>
            <a:ext cx="31813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2400" spc="-15" baseline="10416" dirty="0">
                <a:latin typeface="Times New Roman"/>
                <a:cs typeface="Times New Roman"/>
              </a:rPr>
              <a:t>n</a:t>
            </a:r>
            <a:r>
              <a:rPr sz="1100" spc="-10" dirty="0">
                <a:latin typeface="Times New Roman"/>
                <a:cs typeface="Times New Roman"/>
              </a:rPr>
              <a:t>SF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02862" y="2892700"/>
            <a:ext cx="419671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Times New Roman"/>
                <a:cs typeface="Times New Roman"/>
              </a:rPr>
              <a:t>=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exponent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value</a:t>
            </a:r>
            <a:r>
              <a:rPr sz="1600" spc="75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for</a:t>
            </a:r>
            <a:r>
              <a:rPr sz="1600" spc="60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the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"same</a:t>
            </a:r>
            <a:r>
              <a:rPr sz="1600" spc="85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floor”</a:t>
            </a:r>
            <a:r>
              <a:rPr sz="1600" spc="80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measurement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09162" y="3134000"/>
            <a:ext cx="288734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600" spc="-90" dirty="0">
                <a:latin typeface="Times New Roman"/>
                <a:cs typeface="Times New Roman"/>
              </a:rPr>
              <a:t>F</a:t>
            </a:r>
            <a:r>
              <a:rPr sz="1600" spc="40" dirty="0">
                <a:latin typeface="Times New Roman"/>
                <a:cs typeface="Times New Roman"/>
              </a:rPr>
              <a:t>A</a:t>
            </a:r>
            <a:r>
              <a:rPr sz="1600" dirty="0">
                <a:latin typeface="Times New Roman"/>
                <a:cs typeface="Times New Roman"/>
              </a:rPr>
              <a:t>F</a:t>
            </a:r>
            <a:r>
              <a:rPr sz="1600" spc="-9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=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</a:t>
            </a:r>
            <a:r>
              <a:rPr sz="1600" spc="-15" dirty="0">
                <a:latin typeface="Times New Roman"/>
                <a:cs typeface="Times New Roman"/>
              </a:rPr>
              <a:t>a</a:t>
            </a:r>
            <a:r>
              <a:rPr sz="1600" spc="-45" dirty="0">
                <a:latin typeface="Times New Roman"/>
                <a:cs typeface="Times New Roman"/>
              </a:rPr>
              <a:t>t</a:t>
            </a:r>
            <a:r>
              <a:rPr sz="1600" dirty="0">
                <a:latin typeface="Times New Roman"/>
                <a:cs typeface="Times New Roman"/>
              </a:rPr>
              <a:t>h</a:t>
            </a:r>
            <a:r>
              <a:rPr sz="1600" spc="100" dirty="0">
                <a:latin typeface="Times New Roman"/>
                <a:cs typeface="Times New Roman"/>
              </a:rPr>
              <a:t> </a:t>
            </a:r>
            <a:r>
              <a:rPr sz="1600" spc="-45" dirty="0">
                <a:latin typeface="Times New Roman"/>
                <a:cs typeface="Times New Roman"/>
              </a:rPr>
              <a:t>l</a:t>
            </a:r>
            <a:r>
              <a:rPr sz="1600" dirty="0">
                <a:latin typeface="Times New Roman"/>
                <a:cs typeface="Times New Roman"/>
              </a:rPr>
              <a:t>o</a:t>
            </a:r>
            <a:r>
              <a:rPr sz="1600" spc="-25" dirty="0">
                <a:latin typeface="Times New Roman"/>
                <a:cs typeface="Times New Roman"/>
              </a:rPr>
              <a:t>s</a:t>
            </a:r>
            <a:r>
              <a:rPr sz="1600" dirty="0">
                <a:latin typeface="Times New Roman"/>
                <a:cs typeface="Times New Roman"/>
              </a:rPr>
              <a:t>s</a:t>
            </a:r>
            <a:r>
              <a:rPr sz="1600" spc="7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on a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</a:t>
            </a:r>
            <a:r>
              <a:rPr sz="1600" spc="-45" dirty="0">
                <a:latin typeface="Times New Roman"/>
                <a:cs typeface="Times New Roman"/>
              </a:rPr>
              <a:t>i</a:t>
            </a:r>
            <a:r>
              <a:rPr sz="1600" spc="-35" dirty="0">
                <a:latin typeface="Times New Roman"/>
                <a:cs typeface="Times New Roman"/>
              </a:rPr>
              <a:t>ff</a:t>
            </a:r>
            <a:r>
              <a:rPr sz="1600" spc="-15" dirty="0">
                <a:latin typeface="Times New Roman"/>
                <a:cs typeface="Times New Roman"/>
              </a:rPr>
              <a:t>e</a:t>
            </a:r>
            <a:r>
              <a:rPr sz="1600" spc="-35" dirty="0">
                <a:latin typeface="Times New Roman"/>
                <a:cs typeface="Times New Roman"/>
              </a:rPr>
              <a:t>r</a:t>
            </a:r>
            <a:r>
              <a:rPr sz="1600" spc="-15" dirty="0">
                <a:latin typeface="Times New Roman"/>
                <a:cs typeface="Times New Roman"/>
              </a:rPr>
              <a:t>e</a:t>
            </a:r>
            <a:r>
              <a:rPr sz="1600" dirty="0">
                <a:latin typeface="Times New Roman"/>
                <a:cs typeface="Times New Roman"/>
              </a:rPr>
              <a:t>nt</a:t>
            </a:r>
            <a:r>
              <a:rPr sz="1600" spc="155" dirty="0">
                <a:latin typeface="Times New Roman"/>
                <a:cs typeface="Times New Roman"/>
              </a:rPr>
              <a:t> </a:t>
            </a:r>
            <a:r>
              <a:rPr sz="1600" spc="-35" dirty="0">
                <a:latin typeface="Times New Roman"/>
                <a:cs typeface="Times New Roman"/>
              </a:rPr>
              <a:t>f</a:t>
            </a:r>
            <a:r>
              <a:rPr sz="1600" spc="-45" dirty="0">
                <a:latin typeface="Times New Roman"/>
                <a:cs typeface="Times New Roman"/>
              </a:rPr>
              <a:t>l</a:t>
            </a:r>
            <a:r>
              <a:rPr sz="1600" dirty="0">
                <a:latin typeface="Times New Roman"/>
                <a:cs typeface="Times New Roman"/>
              </a:rPr>
              <a:t>oor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742949" y="1492249"/>
            <a:ext cx="6083300" cy="3416300"/>
          </a:xfrm>
          <a:custGeom>
            <a:avLst/>
            <a:gdLst/>
            <a:ahLst/>
            <a:cxnLst/>
            <a:rect l="l" t="t" r="r" b="b"/>
            <a:pathLst>
              <a:path w="6083300" h="3416300">
                <a:moveTo>
                  <a:pt x="0" y="0"/>
                </a:moveTo>
                <a:lnTo>
                  <a:pt x="6083300" y="0"/>
                </a:lnTo>
                <a:lnTo>
                  <a:pt x="6083300" y="3416300"/>
                </a:lnTo>
                <a:lnTo>
                  <a:pt x="0" y="341630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7280</TotalTime>
  <Words>4047</Words>
  <Application>Microsoft Office PowerPoint</Application>
  <PresentationFormat>Custom</PresentationFormat>
  <Paragraphs>501</Paragraphs>
  <Slides>49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Godfrey Samwel</cp:lastModifiedBy>
  <cp:revision>60</cp:revision>
  <dcterms:created xsi:type="dcterms:W3CDTF">2024-11-21T07:59:42Z</dcterms:created>
  <dcterms:modified xsi:type="dcterms:W3CDTF">2024-12-01T06:59:55Z</dcterms:modified>
</cp:coreProperties>
</file>