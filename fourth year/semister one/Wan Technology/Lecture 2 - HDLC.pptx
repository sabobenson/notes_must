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56"/>
  </p:notesMasterIdLst>
  <p:sldIdLst>
    <p:sldId id="257" r:id="rId5"/>
    <p:sldId id="258" r:id="rId6"/>
    <p:sldId id="259" r:id="rId7"/>
    <p:sldId id="260" r:id="rId8"/>
    <p:sldId id="262" r:id="rId9"/>
    <p:sldId id="320" r:id="rId10"/>
    <p:sldId id="274" r:id="rId11"/>
    <p:sldId id="275" r:id="rId12"/>
    <p:sldId id="276" r:id="rId13"/>
    <p:sldId id="277" r:id="rId14"/>
    <p:sldId id="278" r:id="rId15"/>
    <p:sldId id="279"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21"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2"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94" autoAdjust="0"/>
  </p:normalViewPr>
  <p:slideViewPr>
    <p:cSldViewPr snapToGrid="0" snapToObjects="1">
      <p:cViewPr varScale="1">
        <p:scale>
          <a:sx n="74" d="100"/>
          <a:sy n="74" d="100"/>
        </p:scale>
        <p:origin x="126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F87000-3446-E64A-85D5-D976D6581F39}" type="datetimeFigureOut">
              <a:rPr lang="en-US" smtClean="0"/>
              <a:t>02-Jan-24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A37330-FDEE-A74E-9565-7EFE1AD8DC6B}" type="slidenum">
              <a:rPr lang="en-US" smtClean="0"/>
              <a:t>‹#›</a:t>
            </a:fld>
            <a:endParaRPr lang="en-US"/>
          </a:p>
        </p:txBody>
      </p:sp>
    </p:spTree>
    <p:extLst>
      <p:ext uri="{BB962C8B-B14F-4D97-AF65-F5344CB8AC3E}">
        <p14:creationId xmlns:p14="http://schemas.microsoft.com/office/powerpoint/2010/main" val="274626287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dirty="0">
                <a:solidFill>
                  <a:schemeClr val="tx1">
                    <a:lumMod val="75000"/>
                    <a:lumOff val="25000"/>
                  </a:schemeClr>
                </a:solidFill>
                <a:latin typeface="Arial"/>
                <a:cs typeface="Arial"/>
              </a:rPr>
              <a:t>The physical</a:t>
            </a:r>
            <a:r>
              <a:rPr lang="en-US" dirty="0">
                <a:solidFill>
                  <a:schemeClr val="tx1"/>
                </a:solidFill>
                <a:latin typeface="Arial"/>
                <a:cs typeface="Arial"/>
              </a:rPr>
              <a:t> layer devices and </a:t>
            </a:r>
            <a:r>
              <a:rPr lang="en-US" dirty="0">
                <a:solidFill>
                  <a:schemeClr val="tx1">
                    <a:lumMod val="75000"/>
                    <a:lumOff val="25000"/>
                  </a:schemeClr>
                </a:solidFill>
                <a:latin typeface="Arial"/>
                <a:cs typeface="Arial"/>
              </a:rPr>
              <a:t>transmission media: including electrical signaling specifications for generating, transmitting, and receiving signals through various transmission media</a:t>
            </a:r>
          </a:p>
          <a:p>
            <a:endParaRPr lang="en-US" dirty="0"/>
          </a:p>
        </p:txBody>
      </p:sp>
      <p:sp>
        <p:nvSpPr>
          <p:cNvPr id="4" name="Slide Number Placeholder 3"/>
          <p:cNvSpPr>
            <a:spLocks noGrp="1"/>
          </p:cNvSpPr>
          <p:nvPr>
            <p:ph type="sldNum" sz="quarter" idx="10"/>
          </p:nvPr>
        </p:nvSpPr>
        <p:spPr/>
        <p:txBody>
          <a:bodyPr/>
          <a:lstStyle/>
          <a:p>
            <a:fld id="{E8A37330-FDEE-A74E-9565-7EFE1AD8DC6B}" type="slidenum">
              <a:rPr lang="en-US" smtClean="0"/>
              <a:t>3</a:t>
            </a:fld>
            <a:endParaRPr lang="en-US"/>
          </a:p>
        </p:txBody>
      </p:sp>
    </p:spTree>
    <p:extLst>
      <p:ext uri="{BB962C8B-B14F-4D97-AF65-F5344CB8AC3E}">
        <p14:creationId xmlns:p14="http://schemas.microsoft.com/office/powerpoint/2010/main" val="3597149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cs typeface="Arial"/>
              </a:rPr>
              <a:t>The Data Link protocols may span only the local loop, span across regions, or even go intercontinental. </a:t>
            </a:r>
          </a:p>
          <a:p>
            <a:r>
              <a:rPr lang="en-US" dirty="0">
                <a:latin typeface="Arial"/>
                <a:cs typeface="Arial"/>
              </a:rPr>
              <a:t>This is unlike the physical layer transmission technologies that are only concerned with moving electrical signals from customer location to the central office for processing.</a:t>
            </a:r>
          </a:p>
          <a:p>
            <a:endParaRPr lang="en-US" dirty="0">
              <a:solidFill>
                <a:srgbClr val="2D2DB9"/>
              </a:solidFill>
            </a:endParaRPr>
          </a:p>
          <a:p>
            <a:r>
              <a:rPr lang="en-US" dirty="0">
                <a:solidFill>
                  <a:srgbClr val="2D2DB9"/>
                </a:solidFill>
              </a:rPr>
              <a:t>Framing</a:t>
            </a:r>
            <a:r>
              <a:rPr lang="en-US" dirty="0"/>
              <a:t>    Data is broken up into frames that are transmitted as independent units. If errors are detected in a frame, it is only necessary to retransmit that frame.</a:t>
            </a:r>
          </a:p>
          <a:p>
            <a:endParaRPr lang="en-US" dirty="0"/>
          </a:p>
          <a:p>
            <a:r>
              <a:rPr lang="en-US" dirty="0">
                <a:solidFill>
                  <a:srgbClr val="2D2DB9"/>
                </a:solidFill>
              </a:rPr>
              <a:t>Session setup and termination    </a:t>
            </a:r>
            <a:r>
              <a:rPr lang="en-US" dirty="0"/>
              <a:t>For reliable services, session control messages are used by end systems to exchange status information about the session.</a:t>
            </a:r>
          </a:p>
          <a:p>
            <a:endParaRPr lang="en-US" dirty="0"/>
          </a:p>
        </p:txBody>
      </p:sp>
      <p:sp>
        <p:nvSpPr>
          <p:cNvPr id="4" name="Slide Number Placeholder 3"/>
          <p:cNvSpPr>
            <a:spLocks noGrp="1"/>
          </p:cNvSpPr>
          <p:nvPr>
            <p:ph type="sldNum" sz="quarter" idx="10"/>
          </p:nvPr>
        </p:nvSpPr>
        <p:spPr/>
        <p:txBody>
          <a:bodyPr/>
          <a:lstStyle/>
          <a:p>
            <a:fld id="{414CA366-9A9A-734E-879F-256B4359E69E}" type="slidenum">
              <a:rPr lang="en-US" smtClean="0"/>
              <a:t>4</a:t>
            </a:fld>
            <a:endParaRPr lang="en-US"/>
          </a:p>
        </p:txBody>
      </p:sp>
    </p:spTree>
    <p:extLst>
      <p:ext uri="{BB962C8B-B14F-4D97-AF65-F5344CB8AC3E}">
        <p14:creationId xmlns:p14="http://schemas.microsoft.com/office/powerpoint/2010/main" val="1962177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Serial Point to Point Link:</a:t>
            </a:r>
          </a:p>
          <a:p>
            <a:pPr marL="0" marR="0" indent="0" algn="l" defTabSz="457200" rtl="0" eaLnBrk="1" fontAlgn="auto" latinLnBrk="0" hangingPunct="1">
              <a:lnSpc>
                <a:spcPct val="100000"/>
              </a:lnSpc>
              <a:spcBef>
                <a:spcPts val="0"/>
              </a:spcBef>
              <a:spcAft>
                <a:spcPts val="0"/>
              </a:spcAft>
              <a:buClrTx/>
              <a:buSzTx/>
              <a:buFontTx/>
              <a:buNone/>
              <a:tabLst/>
              <a:defRPr/>
            </a:pPr>
            <a:r>
              <a:rPr lang="en-GB" sz="1200" dirty="0">
                <a:latin typeface="Arial"/>
                <a:cs typeface="Arial"/>
              </a:rPr>
              <a:t>One sender, one receiver, one link, serial transmission.</a:t>
            </a:r>
          </a:p>
          <a:p>
            <a:pPr marL="0" marR="0" indent="0" algn="l" defTabSz="457200" rtl="0" eaLnBrk="1" fontAlgn="auto" latinLnBrk="0" hangingPunct="1">
              <a:lnSpc>
                <a:spcPct val="100000"/>
              </a:lnSpc>
              <a:spcBef>
                <a:spcPts val="0"/>
              </a:spcBef>
              <a:spcAft>
                <a:spcPts val="0"/>
              </a:spcAft>
              <a:buClrTx/>
              <a:buSzTx/>
              <a:buFontTx/>
              <a:buNone/>
              <a:tabLst/>
              <a:defRPr/>
            </a:pPr>
            <a:endParaRPr lang="en-GB" sz="1200" dirty="0">
              <a:latin typeface="Arial"/>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dirty="0"/>
              <a:t>Serial Link</a:t>
            </a:r>
            <a:endParaRPr lang="en-GB" sz="1200" dirty="0">
              <a:latin typeface="Arial"/>
              <a:cs typeface="Arial"/>
            </a:endParaRPr>
          </a:p>
          <a:p>
            <a:r>
              <a:rPr lang="en-US" dirty="0">
                <a:latin typeface="Arial"/>
                <a:cs typeface="Arial"/>
              </a:rPr>
              <a:t>WAN technologies are based on serial transmission at the physical layer. </a:t>
            </a:r>
          </a:p>
          <a:p>
            <a:r>
              <a:rPr lang="en-US" dirty="0">
                <a:latin typeface="Arial"/>
                <a:cs typeface="Arial"/>
              </a:rPr>
              <a:t>There are many different serial communication standards, each one using a different signaling method. </a:t>
            </a:r>
          </a:p>
          <a:p>
            <a:r>
              <a:rPr lang="en-US" dirty="0">
                <a:latin typeface="Arial"/>
                <a:cs typeface="Arial"/>
              </a:rPr>
              <a:t>There are three important serial communication standards affecting LAN-to-WAN connections:</a:t>
            </a:r>
          </a:p>
          <a:p>
            <a:pPr marL="0" indent="0">
              <a:buNone/>
            </a:pPr>
            <a:r>
              <a:rPr lang="en-US" dirty="0">
                <a:latin typeface="Arial"/>
                <a:cs typeface="Arial"/>
              </a:rPr>
              <a:t>       V.35, RS-232, and  HSSI</a:t>
            </a:r>
          </a:p>
          <a:p>
            <a:r>
              <a:rPr lang="en-US" dirty="0">
                <a:latin typeface="Arial"/>
                <a:cs typeface="Arial"/>
              </a:rPr>
              <a:t>The standard usually defines signal levels, maximum bandwidth, connector pin-out, and electrical characteristics of the serial lines. </a:t>
            </a:r>
          </a:p>
          <a:p>
            <a:endParaRPr lang="en-US" dirty="0"/>
          </a:p>
          <a:p>
            <a:r>
              <a:rPr lang="en-US" b="1" dirty="0">
                <a:solidFill>
                  <a:schemeClr val="accent2">
                    <a:lumMod val="75000"/>
                    <a:lumOff val="25000"/>
                  </a:schemeClr>
                </a:solidFill>
                <a:latin typeface="Arial"/>
                <a:cs typeface="Arial"/>
              </a:rPr>
              <a:t>Asynchronous Transmission:</a:t>
            </a:r>
          </a:p>
          <a:p>
            <a:pPr marL="228600" lvl="2">
              <a:spcBef>
                <a:spcPts val="2000"/>
              </a:spcBef>
            </a:pPr>
            <a:r>
              <a:rPr lang="en-US" altLang="zh-TW" sz="2000" dirty="0">
                <a:latin typeface="Arial"/>
                <a:ea typeface="新細明體" charset="0"/>
                <a:cs typeface="Arial"/>
              </a:rPr>
              <a:t>Transmitting &amp; Receiving devices maintain their own internal clocks. They do not synchronize their clocks before communicating.</a:t>
            </a:r>
            <a:endParaRPr lang="en-US" dirty="0">
              <a:latin typeface="Arial"/>
              <a:cs typeface="Arial"/>
            </a:endParaRPr>
          </a:p>
          <a:p>
            <a:r>
              <a:rPr lang="en-US" dirty="0">
                <a:latin typeface="Arial"/>
                <a:cs typeface="Arial"/>
              </a:rPr>
              <a:t>data is transmitted in well-defined frames. </a:t>
            </a:r>
          </a:p>
          <a:p>
            <a:r>
              <a:rPr lang="en-US" dirty="0">
                <a:latin typeface="Arial"/>
                <a:cs typeface="Arial"/>
              </a:rPr>
              <a:t>The frame includes both information (e.g., data) and overhead (e.g. control bits). </a:t>
            </a:r>
          </a:p>
          <a:p>
            <a:r>
              <a:rPr lang="en-US" altLang="zh-TW" dirty="0">
                <a:latin typeface="Arial"/>
                <a:ea typeface="新細明體" charset="0"/>
                <a:cs typeface="Arial"/>
              </a:rPr>
              <a:t>Each frame begins with a start bit &amp; ends with a stop bit. </a:t>
            </a:r>
            <a:endParaRPr lang="en-US" dirty="0">
              <a:latin typeface="Arial"/>
              <a:cs typeface="Arial"/>
            </a:endParaRPr>
          </a:p>
          <a:p>
            <a:endParaRPr lang="en-US" dirty="0"/>
          </a:p>
          <a:p>
            <a:r>
              <a:rPr lang="en-US" b="1" dirty="0">
                <a:solidFill>
                  <a:srgbClr val="772399"/>
                </a:solidFill>
                <a:latin typeface="Arial"/>
                <a:cs typeface="Arial"/>
              </a:rPr>
              <a:t>Synchronous Transmission:</a:t>
            </a:r>
          </a:p>
          <a:p>
            <a:r>
              <a:rPr lang="en-US" dirty="0">
                <a:latin typeface="Arial"/>
                <a:cs typeface="Arial"/>
              </a:rPr>
              <a:t>Transmitting device provides clocking.</a:t>
            </a:r>
          </a:p>
          <a:p>
            <a:r>
              <a:rPr lang="en-US" dirty="0">
                <a:latin typeface="Arial"/>
                <a:cs typeface="Arial"/>
              </a:rPr>
              <a:t>May use separate channel that is dedicated to the clock</a:t>
            </a:r>
          </a:p>
          <a:p>
            <a:r>
              <a:rPr lang="en-US" dirty="0">
                <a:latin typeface="Arial"/>
                <a:cs typeface="Arial"/>
              </a:rPr>
              <a:t>The clock signal acts a control line that tells the receiver when to read from the data line.</a:t>
            </a:r>
          </a:p>
          <a:p>
            <a:r>
              <a:rPr lang="en-US" dirty="0">
                <a:latin typeface="Arial"/>
                <a:cs typeface="Arial"/>
              </a:rPr>
              <a:t>What this means is that the transmitter and receiver must synchronize their access to the data line in order to successfully transmit data.</a:t>
            </a:r>
          </a:p>
          <a:p>
            <a:endParaRPr lang="en-US" dirty="0"/>
          </a:p>
          <a:p>
            <a:endParaRPr lang="en-US" dirty="0"/>
          </a:p>
          <a:p>
            <a:r>
              <a:rPr lang="en-US" dirty="0">
                <a:solidFill>
                  <a:srgbClr val="772399"/>
                </a:solidFill>
                <a:latin typeface="Arial"/>
                <a:cs typeface="Arial"/>
              </a:rPr>
              <a:t>Synchronous transmission advantages:</a:t>
            </a:r>
          </a:p>
          <a:p>
            <a:pPr marL="228600" lvl="1" indent="0">
              <a:buNone/>
            </a:pPr>
            <a:r>
              <a:rPr lang="en-US" sz="2000" dirty="0">
                <a:latin typeface="Arial"/>
                <a:cs typeface="Arial"/>
              </a:rPr>
              <a:t>1. Lower overhead and thus, greater throughput</a:t>
            </a:r>
          </a:p>
          <a:p>
            <a:r>
              <a:rPr lang="en-US" dirty="0">
                <a:solidFill>
                  <a:srgbClr val="772399"/>
                </a:solidFill>
                <a:latin typeface="Arial"/>
                <a:cs typeface="Arial"/>
              </a:rPr>
              <a:t>Synchronous transmission disadvantages:</a:t>
            </a:r>
          </a:p>
          <a:p>
            <a:pPr marL="228600" lvl="1" indent="0">
              <a:buNone/>
            </a:pPr>
            <a:r>
              <a:rPr lang="en-US" sz="2000" dirty="0">
                <a:latin typeface="Arial"/>
                <a:cs typeface="Arial"/>
              </a:rPr>
              <a:t>1. Slightly more complex</a:t>
            </a:r>
          </a:p>
          <a:p>
            <a:pPr marL="228600" lvl="1" indent="0">
              <a:buNone/>
            </a:pPr>
            <a:r>
              <a:rPr lang="en-US" sz="2000" dirty="0">
                <a:latin typeface="Arial"/>
                <a:cs typeface="Arial"/>
              </a:rPr>
              <a:t>2. Hardware is more expensive…</a:t>
            </a:r>
          </a:p>
          <a:p>
            <a:endParaRPr lang="en-US" dirty="0"/>
          </a:p>
          <a:p>
            <a:endParaRPr lang="en-US" dirty="0"/>
          </a:p>
          <a:p>
            <a:r>
              <a:rPr lang="en-US" dirty="0">
                <a:solidFill>
                  <a:srgbClr val="772399"/>
                </a:solidFill>
                <a:latin typeface="Arial"/>
                <a:cs typeface="Arial"/>
              </a:rPr>
              <a:t>Asynchronous transmission advantages:</a:t>
            </a:r>
          </a:p>
          <a:p>
            <a:pPr marL="228600" lvl="1" indent="0">
              <a:buNone/>
            </a:pPr>
            <a:r>
              <a:rPr lang="en-US" sz="2000" dirty="0">
                <a:latin typeface="Arial"/>
                <a:cs typeface="Arial"/>
              </a:rPr>
              <a:t>1. Simple, doesn’t require synchronization of both communication sides</a:t>
            </a:r>
          </a:p>
          <a:p>
            <a:pPr marL="228600" lvl="1" indent="0">
              <a:buNone/>
            </a:pPr>
            <a:r>
              <a:rPr lang="en-US" sz="2000" dirty="0">
                <a:latin typeface="Arial"/>
                <a:cs typeface="Arial"/>
              </a:rPr>
              <a:t>2. Cheap, timing is not as critical as for synchronous transmission, therefore hardware can be made cheaper</a:t>
            </a:r>
          </a:p>
          <a:p>
            <a:r>
              <a:rPr lang="en-US" dirty="0">
                <a:solidFill>
                  <a:srgbClr val="772399"/>
                </a:solidFill>
                <a:latin typeface="Arial"/>
                <a:cs typeface="Arial"/>
              </a:rPr>
              <a:t>Asynchronous transmission disadvantages:</a:t>
            </a:r>
          </a:p>
          <a:p>
            <a:pPr marL="228600" lvl="1" indent="0">
              <a:buNone/>
            </a:pPr>
            <a:r>
              <a:rPr lang="en-US" sz="2000" dirty="0">
                <a:latin typeface="Arial"/>
                <a:cs typeface="Arial"/>
              </a:rPr>
              <a:t>1. Large relative overhead, a high proportion of the transmitted bits are uniquely for control purposes and thus carry no useful information</a:t>
            </a:r>
          </a:p>
          <a:p>
            <a:endParaRPr lang="en-US" dirty="0"/>
          </a:p>
        </p:txBody>
      </p:sp>
      <p:sp>
        <p:nvSpPr>
          <p:cNvPr id="4" name="Slide Number Placeholder 3"/>
          <p:cNvSpPr>
            <a:spLocks noGrp="1"/>
          </p:cNvSpPr>
          <p:nvPr>
            <p:ph type="sldNum" sz="quarter" idx="10"/>
          </p:nvPr>
        </p:nvSpPr>
        <p:spPr/>
        <p:txBody>
          <a:bodyPr/>
          <a:lstStyle/>
          <a:p>
            <a:fld id="{E8A37330-FDEE-A74E-9565-7EFE1AD8DC6B}" type="slidenum">
              <a:rPr lang="en-US" smtClean="0"/>
              <a:t>5</a:t>
            </a:fld>
            <a:endParaRPr lang="en-US"/>
          </a:p>
        </p:txBody>
      </p:sp>
    </p:spTree>
    <p:extLst>
      <p:ext uri="{BB962C8B-B14F-4D97-AF65-F5344CB8AC3E}">
        <p14:creationId xmlns:p14="http://schemas.microsoft.com/office/powerpoint/2010/main" val="2888044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 sequence must never occur within the content of a frame otherwise it could be confused with an intentionally sent flag. </a:t>
            </a:r>
          </a:p>
          <a:p>
            <a:r>
              <a:rPr lang="en-US"/>
              <a:t>Because there is a likelihood that this pattern occurs in the actual data, the sending HDLC system always inserts a 0 bit after every five consecutive 1s in the data field, so in practice the flag sequence can only occur at the frame ends.</a:t>
            </a:r>
          </a:p>
        </p:txBody>
      </p:sp>
      <p:sp>
        <p:nvSpPr>
          <p:cNvPr id="4" name="Slide Number Placeholder 3"/>
          <p:cNvSpPr>
            <a:spLocks noGrp="1"/>
          </p:cNvSpPr>
          <p:nvPr>
            <p:ph type="sldNum" sz="quarter" idx="10"/>
          </p:nvPr>
        </p:nvSpPr>
        <p:spPr/>
        <p:txBody>
          <a:bodyPr/>
          <a:lstStyle/>
          <a:p>
            <a:fld id="{414CA366-9A9A-734E-879F-256B4359E69E}" type="slidenum">
              <a:rPr lang="en-US" smtClean="0"/>
              <a:t>10</a:t>
            </a:fld>
            <a:endParaRPr lang="en-US"/>
          </a:p>
        </p:txBody>
      </p:sp>
    </p:spTree>
    <p:extLst>
      <p:ext uri="{BB962C8B-B14F-4D97-AF65-F5344CB8AC3E}">
        <p14:creationId xmlns:p14="http://schemas.microsoft.com/office/powerpoint/2010/main" val="4270973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663366"/>
                </a:solidFill>
                <a:latin typeface="Arial"/>
                <a:cs typeface="Arial"/>
              </a:rPr>
              <a:t>Address</a:t>
            </a:r>
            <a:r>
              <a:rPr lang="en-US" dirty="0">
                <a:latin typeface="Arial"/>
                <a:cs typeface="Arial"/>
              </a:rPr>
              <a:t>:</a:t>
            </a:r>
          </a:p>
          <a:p>
            <a:pPr lvl="1"/>
            <a:r>
              <a:rPr lang="en-US" dirty="0">
                <a:latin typeface="Arial"/>
                <a:cs typeface="Arial"/>
              </a:rPr>
              <a:t>The address field identifies the secondary station that transmitted or is to receive the frame. </a:t>
            </a:r>
          </a:p>
          <a:p>
            <a:endParaRPr lang="en-US" dirty="0"/>
          </a:p>
        </p:txBody>
      </p:sp>
      <p:sp>
        <p:nvSpPr>
          <p:cNvPr id="4" name="Slide Number Placeholder 3"/>
          <p:cNvSpPr>
            <a:spLocks noGrp="1"/>
          </p:cNvSpPr>
          <p:nvPr>
            <p:ph type="sldNum" sz="quarter" idx="10"/>
          </p:nvPr>
        </p:nvSpPr>
        <p:spPr/>
        <p:txBody>
          <a:bodyPr/>
          <a:lstStyle/>
          <a:p>
            <a:fld id="{E8A37330-FDEE-A74E-9565-7EFE1AD8DC6B}" type="slidenum">
              <a:rPr lang="en-US" smtClean="0"/>
              <a:t>12</a:t>
            </a:fld>
            <a:endParaRPr lang="en-US"/>
          </a:p>
        </p:txBody>
      </p:sp>
    </p:spTree>
    <p:extLst>
      <p:ext uri="{BB962C8B-B14F-4D97-AF65-F5344CB8AC3E}">
        <p14:creationId xmlns:p14="http://schemas.microsoft.com/office/powerpoint/2010/main" val="3039774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the architecture and frame formats, PPP can be seen as three different sub-protocols, for framing and lower level capabilities; it is basically HDLC. If you see the frame formats, it is very similar to HDLC. One sub-layer above is LCP, which provides all of the additional functionality in terms of authentication, multilink, and the general establishment configuration and testing of the data link connection. A third protocol is NCP; it is used for establishing and configuring different network layer protocols. It is basically the interface toward the upper layers.</a:t>
            </a:r>
          </a:p>
        </p:txBody>
      </p:sp>
      <p:sp>
        <p:nvSpPr>
          <p:cNvPr id="4" name="Slide Number Placeholder 3"/>
          <p:cNvSpPr>
            <a:spLocks noGrp="1"/>
          </p:cNvSpPr>
          <p:nvPr>
            <p:ph type="sldNum" sz="quarter" idx="10"/>
          </p:nvPr>
        </p:nvSpPr>
        <p:spPr/>
        <p:txBody>
          <a:bodyPr/>
          <a:lstStyle/>
          <a:p>
            <a:fld id="{414CA366-9A9A-734E-879F-256B4359E69E}" type="slidenum">
              <a:rPr lang="en-US" smtClean="0"/>
              <a:t>18</a:t>
            </a:fld>
            <a:endParaRPr lang="en-US"/>
          </a:p>
        </p:txBody>
      </p:sp>
    </p:spTree>
    <p:extLst>
      <p:ext uri="{BB962C8B-B14F-4D97-AF65-F5344CB8AC3E}">
        <p14:creationId xmlns:p14="http://schemas.microsoft.com/office/powerpoint/2010/main" val="1455025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solidFill>
                  <a:srgbClr val="FFFF00"/>
                </a:solidFill>
                <a:effectLst>
                  <a:outerShdw blurRad="38100" dist="38100" dir="2700000" algn="tl">
                    <a:srgbClr val="FFFFFF"/>
                  </a:outerShdw>
                </a:effectLst>
                <a:latin typeface="Arial" charset="0"/>
              </a:rPr>
              <a:t>Translation:</a:t>
            </a:r>
            <a:r>
              <a:rPr lang="en-US" dirty="0">
                <a:effectLst>
                  <a:outerShdw blurRad="38100" dist="38100" dir="2700000" algn="tl">
                    <a:srgbClr val="808080"/>
                  </a:outerShdw>
                </a:effectLst>
                <a:latin typeface="Arial" charset="0"/>
              </a:rPr>
              <a:t>  IP </a:t>
            </a:r>
            <a:r>
              <a:rPr lang="en-US" i="1" dirty="0">
                <a:solidFill>
                  <a:srgbClr val="FFFF00"/>
                </a:solidFill>
                <a:effectLst>
                  <a:outerShdw blurRad="38100" dist="38100" dir="2700000" algn="tl">
                    <a:srgbClr val="FFFFFF"/>
                  </a:outerShdw>
                </a:effectLst>
                <a:latin typeface="Arial" charset="0"/>
              </a:rPr>
              <a:t>and</a:t>
            </a:r>
            <a:r>
              <a:rPr lang="en-US" dirty="0">
                <a:effectLst>
                  <a:outerShdw blurRad="38100" dist="38100" dir="2700000" algn="tl">
                    <a:srgbClr val="808080"/>
                  </a:outerShdw>
                </a:effectLst>
                <a:latin typeface="Arial" charset="0"/>
              </a:rPr>
              <a:t> IPX </a:t>
            </a:r>
            <a:r>
              <a:rPr lang="en-US" i="1" dirty="0">
                <a:solidFill>
                  <a:srgbClr val="FFFF00"/>
                </a:solidFill>
                <a:effectLst>
                  <a:outerShdw blurRad="38100" dist="38100" dir="2700000" algn="tl">
                    <a:srgbClr val="FFFFFF"/>
                  </a:outerShdw>
                </a:effectLst>
                <a:latin typeface="Arial" charset="0"/>
              </a:rPr>
              <a:t>and</a:t>
            </a:r>
            <a:r>
              <a:rPr lang="en-US" dirty="0">
                <a:effectLst>
                  <a:outerShdw blurRad="38100" dist="38100" dir="2700000" algn="tl">
                    <a:srgbClr val="808080"/>
                  </a:outerShdw>
                </a:effectLst>
                <a:latin typeface="Arial" charset="0"/>
              </a:rPr>
              <a:t> others, simultaneously, over a single dialup or higher speed WAN link.</a:t>
            </a:r>
          </a:p>
          <a:p>
            <a:endParaRPr lang="en-US" dirty="0"/>
          </a:p>
        </p:txBody>
      </p:sp>
      <p:sp>
        <p:nvSpPr>
          <p:cNvPr id="4" name="Slide Number Placeholder 3"/>
          <p:cNvSpPr>
            <a:spLocks noGrp="1"/>
          </p:cNvSpPr>
          <p:nvPr>
            <p:ph type="sldNum" sz="quarter" idx="10"/>
          </p:nvPr>
        </p:nvSpPr>
        <p:spPr/>
        <p:txBody>
          <a:bodyPr/>
          <a:lstStyle/>
          <a:p>
            <a:fld id="{A4930C58-8E9D-6F44-852F-3D5CCA710842}" type="slidenum">
              <a:rPr lang="en-US" smtClean="0"/>
              <a:t>22</a:t>
            </a:fld>
            <a:endParaRPr lang="en-US"/>
          </a:p>
        </p:txBody>
      </p:sp>
    </p:spTree>
    <p:extLst>
      <p:ext uri="{BB962C8B-B14F-4D97-AF65-F5344CB8AC3E}">
        <p14:creationId xmlns:p14="http://schemas.microsoft.com/office/powerpoint/2010/main" val="3942059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6C03AE-FE1B-7248-9CB4-9135106BD834}" type="slidenum">
              <a:rPr lang="en-US"/>
              <a:pPr/>
              <a:t>26</a:t>
            </a:fld>
            <a:endParaRPr lang="en-US"/>
          </a:p>
        </p:txBody>
      </p:sp>
      <p:sp>
        <p:nvSpPr>
          <p:cNvPr id="19458" name="Rectangle 2"/>
          <p:cNvSpPr>
            <a:spLocks noGrp="1" noRot="1" noChangeAspect="1" noChangeArrowheads="1" noTextEdit="1"/>
          </p:cNvSpPr>
          <p:nvPr>
            <p:ph type="sldImg"/>
          </p:nvPr>
        </p:nvSpPr>
        <p:spPr>
          <a:xfrm>
            <a:off x="1144588" y="684213"/>
            <a:ext cx="4572000" cy="3429000"/>
          </a:xfrm>
          <a:ln/>
          <a:extLst>
            <a:ext uri="{FAA26D3D-D897-4be2-8F04-BA451C77F1D7}">
              <ma14:placeholderFlag xmlns="" xmlns:ma14="http://schemas.microsoft.com/office/mac/drawingml/2011/main" val="1"/>
            </a:ext>
          </a:extLst>
        </p:spPr>
      </p:sp>
      <p:sp>
        <p:nvSpPr>
          <p:cNvPr id="19459" name="Rectangle 3"/>
          <p:cNvSpPr>
            <a:spLocks noGrp="1" noChangeArrowheads="1"/>
          </p:cNvSpPr>
          <p:nvPr>
            <p:ph type="body" idx="1"/>
          </p:nvPr>
        </p:nvSpPr>
        <p:spPr>
          <a:xfrm>
            <a:off x="914400" y="4343400"/>
            <a:ext cx="5029200" cy="4116388"/>
          </a:xfrm>
        </p:spPr>
        <p:txBody>
          <a:bodyPr/>
          <a:lstStyle/>
          <a:p>
            <a:endParaRPr lang="en-US"/>
          </a:p>
        </p:txBody>
      </p:sp>
    </p:spTree>
    <p:extLst>
      <p:ext uri="{BB962C8B-B14F-4D97-AF65-F5344CB8AC3E}">
        <p14:creationId xmlns:p14="http://schemas.microsoft.com/office/powerpoint/2010/main" val="160140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exchange takes place in</a:t>
            </a:r>
            <a:r>
              <a:rPr lang="en-US" baseline="0" dirty="0"/>
              <a:t> </a:t>
            </a:r>
            <a:r>
              <a:rPr lang="en-US" dirty="0"/>
              <a:t>both directions and when a station has sent and received an acknowledge packet the link</a:t>
            </a:r>
            <a:r>
              <a:rPr lang="en-US" baseline="0" dirty="0"/>
              <a:t> </a:t>
            </a:r>
            <a:r>
              <a:rPr lang="en-US" dirty="0"/>
              <a:t>layer is declared open.</a:t>
            </a:r>
          </a:p>
          <a:p>
            <a:endParaRPr lang="en-US" dirty="0"/>
          </a:p>
          <a:p>
            <a:r>
              <a:rPr lang="en-US" dirty="0"/>
              <a:t>The other device (let's call it </a:t>
            </a:r>
            <a:r>
              <a:rPr lang="en-US" dirty="0" err="1"/>
              <a:t>sayâ</a:t>
            </a:r>
            <a:r>
              <a:rPr lang="en-US" dirty="0"/>
              <a:t>€¦ device B J) receives the Configure-Request and processes it. It then has three choices of how to respond:</a:t>
            </a:r>
          </a:p>
          <a:p>
            <a:endParaRPr lang="en-US" dirty="0"/>
          </a:p>
          <a:p>
            <a:r>
              <a:rPr lang="en-US" dirty="0"/>
              <a:t>If every option in it is acceptable in every way, device B sends back a Configure-</a:t>
            </a:r>
            <a:r>
              <a:rPr lang="en-US" dirty="0" err="1"/>
              <a:t>Ack</a:t>
            </a:r>
            <a:r>
              <a:rPr lang="en-US" dirty="0"/>
              <a:t> (</a:t>
            </a:r>
            <a:r>
              <a:rPr lang="en-US" dirty="0" err="1"/>
              <a:t>â€œacknowledgeâ</a:t>
            </a:r>
            <a:r>
              <a:rPr lang="en-US" dirty="0"/>
              <a:t>€). The negotiation is complete. </a:t>
            </a:r>
          </a:p>
          <a:p>
            <a:endParaRPr lang="en-US" dirty="0"/>
          </a:p>
          <a:p>
            <a:r>
              <a:rPr lang="en-US" dirty="0"/>
              <a:t>If all the options that device A sent are valid ones that device B recognizes and is capable of negotiating, but it doesn't accept the values device A sent, then device B returns a Configure-</a:t>
            </a:r>
            <a:r>
              <a:rPr lang="en-US" dirty="0" err="1"/>
              <a:t>Nak</a:t>
            </a:r>
            <a:r>
              <a:rPr lang="en-US" dirty="0"/>
              <a:t> (</a:t>
            </a:r>
            <a:r>
              <a:rPr lang="en-US" dirty="0" err="1"/>
              <a:t>â€œnegative</a:t>
            </a:r>
            <a:r>
              <a:rPr lang="en-US" dirty="0"/>
              <a:t> </a:t>
            </a:r>
            <a:r>
              <a:rPr lang="en-US" dirty="0" err="1"/>
              <a:t>acknowledgeâ</a:t>
            </a:r>
            <a:r>
              <a:rPr lang="en-US" dirty="0"/>
              <a:t>€) frame. This message includes a copy of each configuration option that B found unacceptable. </a:t>
            </a:r>
          </a:p>
          <a:p>
            <a:endParaRPr lang="en-US" dirty="0"/>
          </a:p>
          <a:p>
            <a:r>
              <a:rPr lang="en-US" dirty="0"/>
              <a:t>If any of the options that A sent were either unrecognized by B, or represent ways of using the link that B considers not only unacceptable but not even subject to negotiation, it returns a Configure-Reject containing each of the objectionable options.</a:t>
            </a:r>
          </a:p>
        </p:txBody>
      </p:sp>
      <p:sp>
        <p:nvSpPr>
          <p:cNvPr id="4" name="Slide Number Placeholder 3"/>
          <p:cNvSpPr>
            <a:spLocks noGrp="1"/>
          </p:cNvSpPr>
          <p:nvPr>
            <p:ph type="sldNum" sz="quarter" idx="10"/>
          </p:nvPr>
        </p:nvSpPr>
        <p:spPr/>
        <p:txBody>
          <a:bodyPr/>
          <a:lstStyle/>
          <a:p>
            <a:fld id="{414CA366-9A9A-734E-879F-256B4359E69E}" type="slidenum">
              <a:rPr lang="en-US" smtClean="0"/>
              <a:t>28</a:t>
            </a:fld>
            <a:endParaRPr lang="en-US"/>
          </a:p>
        </p:txBody>
      </p:sp>
    </p:spTree>
    <p:extLst>
      <p:ext uri="{BB962C8B-B14F-4D97-AF65-F5344CB8AC3E}">
        <p14:creationId xmlns:p14="http://schemas.microsoft.com/office/powerpoint/2010/main" val="2560735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PPP can terminate the link at any time. This might happen because of the loss of the carrier, authentication failure, link quality failure, the expiration of an idle-period timer, or the administrative closing of the link. </a:t>
            </a:r>
          </a:p>
          <a:p>
            <a:endParaRPr lang="en-US" dirty="0"/>
          </a:p>
          <a:p>
            <a:r>
              <a:rPr lang="en-US" dirty="0"/>
              <a:t>The device initiating the shutdown (which may not be the one that initiated the link in the first place) sends a Terminate-Request message. The other device replies back with a Terminate-Ack. </a:t>
            </a:r>
          </a:p>
        </p:txBody>
      </p:sp>
      <p:sp>
        <p:nvSpPr>
          <p:cNvPr id="4" name="Slide Number Placeholder 3"/>
          <p:cNvSpPr>
            <a:spLocks noGrp="1"/>
          </p:cNvSpPr>
          <p:nvPr>
            <p:ph type="sldNum" sz="quarter" idx="10"/>
          </p:nvPr>
        </p:nvSpPr>
        <p:spPr/>
        <p:txBody>
          <a:bodyPr/>
          <a:lstStyle/>
          <a:p>
            <a:fld id="{414CA366-9A9A-734E-879F-256B4359E69E}" type="slidenum">
              <a:rPr lang="en-US" smtClean="0"/>
              <a:t>31</a:t>
            </a:fld>
            <a:endParaRPr lang="en-US"/>
          </a:p>
        </p:txBody>
      </p:sp>
    </p:spTree>
    <p:extLst>
      <p:ext uri="{BB962C8B-B14F-4D97-AF65-F5344CB8AC3E}">
        <p14:creationId xmlns:p14="http://schemas.microsoft.com/office/powerpoint/2010/main" val="2441930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PAP, the device to be authenticated starts the message exchange by sending a clear text password, claiming to be legitimate.</a:t>
            </a:r>
          </a:p>
          <a:p>
            <a:r>
              <a:rPr lang="en-US" dirty="0"/>
              <a:t>The device at the other end of PPP link compares the password with its own password and if the password is correct, sends back an acknowledgement. </a:t>
            </a:r>
          </a:p>
          <a:p>
            <a:r>
              <a:rPr lang="en-US" dirty="0"/>
              <a:t>The authentication process is one way and one or both devices can authenticate each other separately. </a:t>
            </a:r>
          </a:p>
          <a:p>
            <a:r>
              <a:rPr lang="en-US" dirty="0"/>
              <a:t>PAP is simple in operation as well as configuration but it is insecure because the password is sent in clear text and can be sniffed.</a:t>
            </a:r>
          </a:p>
          <a:p>
            <a:endParaRPr lang="en-US" dirty="0"/>
          </a:p>
          <a:p>
            <a:endParaRPr lang="en-US" dirty="0"/>
          </a:p>
        </p:txBody>
      </p:sp>
      <p:sp>
        <p:nvSpPr>
          <p:cNvPr id="4" name="Slide Number Placeholder 3"/>
          <p:cNvSpPr>
            <a:spLocks noGrp="1"/>
          </p:cNvSpPr>
          <p:nvPr>
            <p:ph type="sldNum" sz="quarter" idx="10"/>
          </p:nvPr>
        </p:nvSpPr>
        <p:spPr/>
        <p:txBody>
          <a:bodyPr/>
          <a:lstStyle/>
          <a:p>
            <a:fld id="{E2AC41EE-D456-9747-B94A-C94BC2457777}" type="slidenum">
              <a:rPr lang="en-US" smtClean="0"/>
              <a:t>45</a:t>
            </a:fld>
            <a:endParaRPr lang="en-US"/>
          </a:p>
        </p:txBody>
      </p:sp>
    </p:spTree>
    <p:extLst>
      <p:ext uri="{BB962C8B-B14F-4D97-AF65-F5344CB8AC3E}">
        <p14:creationId xmlns:p14="http://schemas.microsoft.com/office/powerpoint/2010/main" val="3746362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de-DE" dirty="0">
                <a:latin typeface="+mn-lt"/>
                <a:cs typeface="Calibri"/>
              </a:rPr>
              <a:t>After </a:t>
            </a:r>
            <a:r>
              <a:rPr lang="de-DE" dirty="0" err="1">
                <a:latin typeface="+mn-lt"/>
                <a:cs typeface="Calibri"/>
              </a:rPr>
              <a:t>the</a:t>
            </a:r>
            <a:r>
              <a:rPr lang="de-DE" dirty="0">
                <a:latin typeface="+mn-lt"/>
                <a:cs typeface="Calibri"/>
              </a:rPr>
              <a:t> PPP link </a:t>
            </a:r>
            <a:r>
              <a:rPr lang="de-DE" dirty="0" err="1">
                <a:latin typeface="+mn-lt"/>
                <a:cs typeface="Calibri"/>
              </a:rPr>
              <a:t>establishment</a:t>
            </a:r>
            <a:r>
              <a:rPr lang="de-DE" dirty="0">
                <a:latin typeface="+mn-lt"/>
                <a:cs typeface="Calibri"/>
              </a:rPr>
              <a:t> </a:t>
            </a:r>
            <a:r>
              <a:rPr lang="de-DE" dirty="0" err="1">
                <a:latin typeface="+mn-lt"/>
                <a:cs typeface="Calibri"/>
              </a:rPr>
              <a:t>phase</a:t>
            </a:r>
            <a:r>
              <a:rPr lang="de-DE" dirty="0">
                <a:latin typeface="+mn-lt"/>
                <a:cs typeface="Calibri"/>
              </a:rPr>
              <a:t> </a:t>
            </a:r>
            <a:r>
              <a:rPr lang="de-DE" dirty="0" err="1">
                <a:latin typeface="+mn-lt"/>
                <a:cs typeface="Calibri"/>
              </a:rPr>
              <a:t>is</a:t>
            </a:r>
            <a:r>
              <a:rPr lang="de-DE" dirty="0">
                <a:latin typeface="+mn-lt"/>
                <a:cs typeface="Calibri"/>
              </a:rPr>
              <a:t> </a:t>
            </a:r>
            <a:r>
              <a:rPr lang="de-DE" dirty="0" err="1">
                <a:latin typeface="+mn-lt"/>
                <a:cs typeface="Calibri"/>
              </a:rPr>
              <a:t>complete</a:t>
            </a:r>
            <a:r>
              <a:rPr lang="de-DE" dirty="0">
                <a:latin typeface="+mn-lt"/>
                <a:cs typeface="Calibri"/>
              </a:rPr>
              <a:t>, a </a:t>
            </a:r>
            <a:r>
              <a:rPr lang="de-DE" b="1" dirty="0" err="1">
                <a:latin typeface="+mn-lt"/>
                <a:cs typeface="Calibri"/>
              </a:rPr>
              <a:t>username</a:t>
            </a:r>
            <a:r>
              <a:rPr lang="de-DE" b="1" dirty="0">
                <a:latin typeface="+mn-lt"/>
                <a:cs typeface="Calibri"/>
              </a:rPr>
              <a:t>/</a:t>
            </a:r>
            <a:r>
              <a:rPr lang="de-DE" b="1" dirty="0" err="1">
                <a:latin typeface="+mn-lt"/>
                <a:cs typeface="Calibri"/>
              </a:rPr>
              <a:t>password</a:t>
            </a:r>
            <a:r>
              <a:rPr lang="de-DE" b="1" dirty="0">
                <a:latin typeface="+mn-lt"/>
                <a:cs typeface="Calibri"/>
              </a:rPr>
              <a:t> pair </a:t>
            </a:r>
            <a:r>
              <a:rPr lang="de-DE" b="1" dirty="0" err="1">
                <a:latin typeface="+mn-lt"/>
                <a:cs typeface="Calibri"/>
              </a:rPr>
              <a:t>is</a:t>
            </a:r>
            <a:r>
              <a:rPr lang="de-DE" b="1" dirty="0">
                <a:latin typeface="+mn-lt"/>
                <a:cs typeface="Calibri"/>
              </a:rPr>
              <a:t> </a:t>
            </a:r>
            <a:r>
              <a:rPr lang="de-DE" b="1" dirty="0" err="1">
                <a:latin typeface="+mn-lt"/>
                <a:cs typeface="Calibri"/>
              </a:rPr>
              <a:t>repeatedly</a:t>
            </a:r>
            <a:r>
              <a:rPr lang="de-DE" b="1" dirty="0">
                <a:latin typeface="+mn-lt"/>
                <a:cs typeface="Calibri"/>
              </a:rPr>
              <a:t> </a:t>
            </a:r>
            <a:r>
              <a:rPr lang="de-DE" b="1" dirty="0" err="1">
                <a:latin typeface="+mn-lt"/>
                <a:cs typeface="Calibri"/>
              </a:rPr>
              <a:t>sent</a:t>
            </a:r>
            <a:r>
              <a:rPr lang="de-DE" dirty="0">
                <a:latin typeface="+mn-lt"/>
                <a:cs typeface="Calibri"/>
              </a:rPr>
              <a:t> </a:t>
            </a:r>
            <a:r>
              <a:rPr lang="de-DE" dirty="0" err="1">
                <a:latin typeface="+mn-lt"/>
                <a:cs typeface="Calibri"/>
              </a:rPr>
              <a:t>by</a:t>
            </a:r>
            <a:r>
              <a:rPr lang="de-DE" dirty="0">
                <a:latin typeface="+mn-lt"/>
                <a:cs typeface="Calibri"/>
              </a:rPr>
              <a:t> </a:t>
            </a:r>
            <a:r>
              <a:rPr lang="de-DE" dirty="0" err="1">
                <a:latin typeface="+mn-lt"/>
                <a:cs typeface="Calibri"/>
              </a:rPr>
              <a:t>the</a:t>
            </a:r>
            <a:r>
              <a:rPr lang="de-DE" dirty="0">
                <a:latin typeface="+mn-lt"/>
                <a:cs typeface="Calibri"/>
              </a:rPr>
              <a:t> remote </a:t>
            </a:r>
            <a:r>
              <a:rPr lang="de-DE" dirty="0" err="1">
                <a:latin typeface="+mn-lt"/>
                <a:cs typeface="Calibri"/>
              </a:rPr>
              <a:t>node</a:t>
            </a:r>
            <a:r>
              <a:rPr lang="de-DE" dirty="0">
                <a:latin typeface="+mn-lt"/>
                <a:cs typeface="Calibri"/>
              </a:rPr>
              <a:t> </a:t>
            </a:r>
            <a:r>
              <a:rPr lang="de-DE" dirty="0" err="1">
                <a:latin typeface="+mn-lt"/>
                <a:cs typeface="Calibri"/>
              </a:rPr>
              <a:t>across</a:t>
            </a:r>
            <a:r>
              <a:rPr lang="de-DE" dirty="0">
                <a:latin typeface="+mn-lt"/>
                <a:cs typeface="Calibri"/>
              </a:rPr>
              <a:t> </a:t>
            </a:r>
            <a:r>
              <a:rPr lang="de-DE" dirty="0" err="1">
                <a:latin typeface="+mn-lt"/>
                <a:cs typeface="Calibri"/>
              </a:rPr>
              <a:t>the</a:t>
            </a:r>
            <a:r>
              <a:rPr lang="de-DE" dirty="0">
                <a:latin typeface="+mn-lt"/>
                <a:cs typeface="Calibri"/>
              </a:rPr>
              <a:t> link </a:t>
            </a:r>
            <a:r>
              <a:rPr lang="de-DE" dirty="0" err="1">
                <a:latin typeface="+mn-lt"/>
                <a:cs typeface="Calibri"/>
              </a:rPr>
              <a:t>until</a:t>
            </a:r>
            <a:r>
              <a:rPr lang="de-DE" dirty="0">
                <a:latin typeface="+mn-lt"/>
                <a:cs typeface="Calibri"/>
              </a:rPr>
              <a:t> </a:t>
            </a:r>
            <a:r>
              <a:rPr lang="de-DE" dirty="0" err="1">
                <a:latin typeface="+mn-lt"/>
                <a:cs typeface="Calibri"/>
              </a:rPr>
              <a:t>authentication</a:t>
            </a:r>
            <a:r>
              <a:rPr lang="de-DE" dirty="0">
                <a:latin typeface="+mn-lt"/>
                <a:cs typeface="Calibri"/>
              </a:rPr>
              <a:t> </a:t>
            </a:r>
            <a:r>
              <a:rPr lang="de-DE" dirty="0" err="1">
                <a:latin typeface="+mn-lt"/>
                <a:cs typeface="Calibri"/>
              </a:rPr>
              <a:t>is</a:t>
            </a:r>
            <a:r>
              <a:rPr lang="de-DE" dirty="0">
                <a:latin typeface="+mn-lt"/>
                <a:cs typeface="Calibri"/>
              </a:rPr>
              <a:t> </a:t>
            </a:r>
            <a:r>
              <a:rPr lang="de-DE" dirty="0" err="1">
                <a:latin typeface="+mn-lt"/>
                <a:cs typeface="Calibri"/>
              </a:rPr>
              <a:t>acknowledged</a:t>
            </a:r>
            <a:r>
              <a:rPr lang="de-DE" dirty="0">
                <a:latin typeface="+mn-lt"/>
                <a:cs typeface="Calibri"/>
              </a:rPr>
              <a:t> </a:t>
            </a:r>
            <a:r>
              <a:rPr lang="de-DE" dirty="0" err="1">
                <a:latin typeface="+mn-lt"/>
                <a:cs typeface="Calibri"/>
              </a:rPr>
              <a:t>or</a:t>
            </a:r>
            <a:r>
              <a:rPr lang="de-DE" dirty="0">
                <a:latin typeface="+mn-lt"/>
                <a:cs typeface="Calibri"/>
              </a:rPr>
              <a:t> </a:t>
            </a:r>
            <a:r>
              <a:rPr lang="de-DE" dirty="0" err="1">
                <a:latin typeface="+mn-lt"/>
                <a:cs typeface="Calibri"/>
              </a:rPr>
              <a:t>the</a:t>
            </a:r>
            <a:r>
              <a:rPr lang="de-DE" dirty="0">
                <a:latin typeface="+mn-lt"/>
                <a:cs typeface="Calibri"/>
              </a:rPr>
              <a:t> </a:t>
            </a:r>
            <a:r>
              <a:rPr lang="de-DE" dirty="0" err="1">
                <a:latin typeface="+mn-lt"/>
                <a:cs typeface="Calibri"/>
              </a:rPr>
              <a:t>connection</a:t>
            </a:r>
            <a:r>
              <a:rPr lang="de-DE" dirty="0">
                <a:latin typeface="+mn-lt"/>
                <a:cs typeface="Calibri"/>
              </a:rPr>
              <a:t> </a:t>
            </a:r>
            <a:r>
              <a:rPr lang="de-DE" dirty="0" err="1">
                <a:latin typeface="+mn-lt"/>
                <a:cs typeface="Calibri"/>
              </a:rPr>
              <a:t>is</a:t>
            </a:r>
            <a:r>
              <a:rPr lang="de-DE" dirty="0">
                <a:latin typeface="+mn-lt"/>
                <a:cs typeface="Calibri"/>
              </a:rPr>
              <a:t> </a:t>
            </a:r>
            <a:r>
              <a:rPr lang="de-DE" dirty="0" err="1">
                <a:latin typeface="+mn-lt"/>
                <a:cs typeface="Calibri"/>
              </a:rPr>
              <a:t>terminated</a:t>
            </a:r>
            <a:r>
              <a:rPr lang="de-DE" dirty="0">
                <a:latin typeface="+mn-lt"/>
                <a:cs typeface="Calibri"/>
              </a:rPr>
              <a:t>.   </a:t>
            </a:r>
          </a:p>
          <a:p>
            <a:endParaRPr lang="en-US" dirty="0"/>
          </a:p>
        </p:txBody>
      </p:sp>
      <p:sp>
        <p:nvSpPr>
          <p:cNvPr id="4" name="Slide Number Placeholder 3"/>
          <p:cNvSpPr>
            <a:spLocks noGrp="1"/>
          </p:cNvSpPr>
          <p:nvPr>
            <p:ph type="sldNum" sz="quarter" idx="10"/>
          </p:nvPr>
        </p:nvSpPr>
        <p:spPr/>
        <p:txBody>
          <a:bodyPr/>
          <a:lstStyle/>
          <a:p>
            <a:fld id="{E2AC41EE-D456-9747-B94A-C94BC2457777}" type="slidenum">
              <a:rPr lang="en-US" smtClean="0"/>
              <a:t>46</a:t>
            </a:fld>
            <a:endParaRPr lang="en-US"/>
          </a:p>
        </p:txBody>
      </p:sp>
    </p:spTree>
    <p:extLst>
      <p:ext uri="{BB962C8B-B14F-4D97-AF65-F5344CB8AC3E}">
        <p14:creationId xmlns:p14="http://schemas.microsoft.com/office/powerpoint/2010/main" val="2462576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86953" y="268288"/>
            <a:ext cx="566928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400" y="4208929"/>
            <a:ext cx="5458968"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x-none"/>
              <a:t>Click to edit Master title style</a:t>
            </a:r>
            <a:endParaRPr/>
          </a:p>
        </p:txBody>
      </p:sp>
      <p:sp>
        <p:nvSpPr>
          <p:cNvPr id="3" name="Subtitle 2"/>
          <p:cNvSpPr>
            <a:spLocks noGrp="1"/>
          </p:cNvSpPr>
          <p:nvPr>
            <p:ph type="subTitle" idx="1"/>
          </p:nvPr>
        </p:nvSpPr>
        <p:spPr>
          <a:xfrm>
            <a:off x="3200400" y="5257800"/>
            <a:ext cx="5458968"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dirty="0"/>
          </a:p>
        </p:txBody>
      </p:sp>
      <p:sp>
        <p:nvSpPr>
          <p:cNvPr id="4" name="Date Placeholder 3"/>
          <p:cNvSpPr>
            <a:spLocks noGrp="1"/>
          </p:cNvSpPr>
          <p:nvPr>
            <p:ph type="dt" sz="half" idx="10"/>
          </p:nvPr>
        </p:nvSpPr>
        <p:spPr>
          <a:xfrm>
            <a:off x="3276600" y="390525"/>
            <a:ext cx="5504688"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CE1790A3-A407-3348-B873-C68E8818E2B3}" type="datetimeFigureOut">
              <a:rPr lang="en-US" smtClean="0"/>
              <a:t>02-Jan-24</a:t>
            </a:fld>
            <a:endParaRPr lang="en-US"/>
          </a:p>
        </p:txBody>
      </p:sp>
      <p:sp>
        <p:nvSpPr>
          <p:cNvPr id="5" name="Footer Placeholder 4"/>
          <p:cNvSpPr>
            <a:spLocks noGrp="1"/>
          </p:cNvSpPr>
          <p:nvPr>
            <p:ph type="ftr" sz="quarter" idx="11"/>
          </p:nvPr>
        </p:nvSpPr>
        <p:spPr>
          <a:xfrm>
            <a:off x="3218688" y="6356350"/>
            <a:ext cx="4736592"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8256494"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FD889E0-CAB2-4699-909D-B9A88D47ACB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x-none"/>
              <a:t>Click to edit Master title style</a:t>
            </a:r>
            <a:endParaRPr/>
          </a:p>
        </p:txBody>
      </p:sp>
      <p:sp>
        <p:nvSpPr>
          <p:cNvPr id="3" name="Content Placeholder 2"/>
          <p:cNvSpPr>
            <a:spLocks noGrp="1"/>
          </p:cNvSpPr>
          <p:nvPr>
            <p:ph idx="1"/>
          </p:nvPr>
        </p:nvSpPr>
        <p:spPr/>
        <p:txBody>
          <a:bodyPr/>
          <a:lstStyle>
            <a:lvl5pPr>
              <a:defRPr/>
            </a:lvl5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CE1790A3-A407-3348-B873-C68E8818E2B3}" type="datetimeFigureOut">
              <a:rPr lang="en-US" smtClean="0"/>
              <a:t>02-Jan-24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3186953" y="268288"/>
            <a:ext cx="566928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399" y="4171950"/>
            <a:ext cx="5457919" cy="1085850"/>
          </a:xfrm>
        </p:spPr>
        <p:txBody>
          <a:bodyPr>
            <a:normAutofit/>
          </a:bodyPr>
          <a:lstStyle>
            <a:lvl1pPr>
              <a:defRPr sz="4600"/>
            </a:lvl1pPr>
          </a:lstStyle>
          <a:p>
            <a:r>
              <a:rPr lang="x-none"/>
              <a:t>Click to edit Master title style</a:t>
            </a:r>
            <a:endParaRPr/>
          </a:p>
        </p:txBody>
      </p:sp>
      <p:sp>
        <p:nvSpPr>
          <p:cNvPr id="3" name="Subtitle 2"/>
          <p:cNvSpPr>
            <a:spLocks noGrp="1"/>
          </p:cNvSpPr>
          <p:nvPr>
            <p:ph type="subTitle" idx="1"/>
          </p:nvPr>
        </p:nvSpPr>
        <p:spPr>
          <a:xfrm>
            <a:off x="3200401" y="5257799"/>
            <a:ext cx="5457918"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dirty="0"/>
          </a:p>
        </p:txBody>
      </p:sp>
      <p:sp>
        <p:nvSpPr>
          <p:cNvPr id="4" name="Date Placeholder 3"/>
          <p:cNvSpPr>
            <a:spLocks noGrp="1"/>
          </p:cNvSpPr>
          <p:nvPr>
            <p:ph type="dt" sz="half" idx="10"/>
          </p:nvPr>
        </p:nvSpPr>
        <p:spPr>
          <a:xfrm>
            <a:off x="3276600" y="389965"/>
            <a:ext cx="5499847" cy="365125"/>
          </a:xfrm>
        </p:spPr>
        <p:txBody>
          <a:bodyPr/>
          <a:lstStyle>
            <a:lvl1pPr>
              <a:defRPr sz="2200" b="0" baseline="0">
                <a:solidFill>
                  <a:schemeClr val="bg1"/>
                </a:solidFill>
              </a:defRPr>
            </a:lvl1pPr>
          </a:lstStyle>
          <a:p>
            <a:fld id="{CE1790A3-A407-3348-B873-C68E8818E2B3}" type="datetimeFigureOut">
              <a:rPr lang="en-US" smtClean="0"/>
              <a:t>02-Jan-24</a:t>
            </a:fld>
            <a:endParaRPr lang="en-US"/>
          </a:p>
        </p:txBody>
      </p:sp>
      <p:sp>
        <p:nvSpPr>
          <p:cNvPr id="5" name="Footer Placeholder 4"/>
          <p:cNvSpPr>
            <a:spLocks noGrp="1"/>
          </p:cNvSpPr>
          <p:nvPr>
            <p:ph type="ftr" sz="quarter" idx="11"/>
          </p:nvPr>
        </p:nvSpPr>
        <p:spPr>
          <a:xfrm>
            <a:off x="3213847" y="6356350"/>
            <a:ext cx="4734112" cy="365125"/>
          </a:xfrm>
        </p:spPr>
        <p:txBody>
          <a:bodyPr/>
          <a:lstStyle/>
          <a:p>
            <a:endParaRPr lang="en-US"/>
          </a:p>
        </p:txBody>
      </p:sp>
      <p:sp>
        <p:nvSpPr>
          <p:cNvPr id="6" name="Slide Number Placeholder 5"/>
          <p:cNvSpPr>
            <a:spLocks noGrp="1"/>
          </p:cNvSpPr>
          <p:nvPr>
            <p:ph type="sldNum" sz="quarter" idx="12"/>
          </p:nvPr>
        </p:nvSpPr>
        <p:spPr>
          <a:xfrm>
            <a:off x="8265459"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ED608941-3195-174E-A426-184B6B985930}" type="slidenum">
              <a:rPr lang="en-US" smtClean="0"/>
              <a:t>‹#›</a:t>
            </a:fld>
            <a:endParaRPr lang="en-US"/>
          </a:p>
        </p:txBody>
      </p:sp>
      <p:sp>
        <p:nvSpPr>
          <p:cNvPr id="9" name="Picture Placeholder 8"/>
          <p:cNvSpPr>
            <a:spLocks noGrp="1"/>
          </p:cNvSpPr>
          <p:nvPr>
            <p:ph type="pic" sz="quarter" idx="13"/>
          </p:nvPr>
        </p:nvSpPr>
        <p:spPr>
          <a:xfrm>
            <a:off x="3200400" y="2877671"/>
            <a:ext cx="5646867" cy="1280160"/>
          </a:xfrm>
        </p:spPr>
        <p:txBody>
          <a:bodyPr/>
          <a:lstStyle>
            <a:lvl1pPr>
              <a:buNone/>
              <a:defRPr/>
            </a:lvl1pPr>
          </a:lstStyle>
          <a:p>
            <a:r>
              <a:rPr lang="x-none"/>
              <a:t>Drag picture to placeholder or click icon to add</a:t>
            </a:r>
            <a:endParaRPr/>
          </a:p>
        </p:txBody>
      </p:sp>
      <p:sp>
        <p:nvSpPr>
          <p:cNvPr id="10" name="Rectangle 9"/>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269875"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178423" y="914400"/>
            <a:ext cx="6508377" cy="1143000"/>
          </a:xfrm>
        </p:spPr>
        <p:txBody>
          <a:bodyPr/>
          <a:lstStyle/>
          <a:p>
            <a:r>
              <a:rPr lang="x-none"/>
              <a:t>Click to edit Master title style</a:t>
            </a:r>
            <a:endParaRPr/>
          </a:p>
        </p:txBody>
      </p:sp>
      <p:sp>
        <p:nvSpPr>
          <p:cNvPr id="3" name="Content Placeholder 2"/>
          <p:cNvSpPr>
            <a:spLocks noGrp="1"/>
          </p:cNvSpPr>
          <p:nvPr>
            <p:ph idx="1"/>
          </p:nvPr>
        </p:nvSpPr>
        <p:spPr>
          <a:xfrm>
            <a:off x="2178423" y="2209800"/>
            <a:ext cx="6508377" cy="3916363"/>
          </a:xfrm>
        </p:spPr>
        <p:txBody>
          <a:bodyPr/>
          <a:lstStyle>
            <a:lvl5pPr>
              <a:defRPr/>
            </a:lvl5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CE1790A3-A407-3348-B873-C68E8818E2B3}" type="datetimeFigureOut">
              <a:rPr lang="en-US" smtClean="0"/>
              <a:t>02-Jan-24</a:t>
            </a:fld>
            <a:endParaRPr lang="en-US"/>
          </a:p>
        </p:txBody>
      </p:sp>
      <p:sp>
        <p:nvSpPr>
          <p:cNvPr id="5" name="Footer Placeholder 4"/>
          <p:cNvSpPr>
            <a:spLocks noGrp="1"/>
          </p:cNvSpPr>
          <p:nvPr>
            <p:ph type="ftr" sz="quarter" idx="11"/>
          </p:nvPr>
        </p:nvSpPr>
        <p:spPr>
          <a:xfrm>
            <a:off x="2178423" y="6356350"/>
            <a:ext cx="4926852" cy="365125"/>
          </a:xfrm>
        </p:spPr>
        <p:txBody>
          <a:bodyPr/>
          <a:lstStyle/>
          <a:p>
            <a:endParaRPr lang="en-US"/>
          </a:p>
        </p:txBody>
      </p:sp>
      <p:sp>
        <p:nvSpPr>
          <p:cNvPr id="6" name="Slide Number Placeholder 5"/>
          <p:cNvSpPr>
            <a:spLocks noGrp="1"/>
          </p:cNvSpPr>
          <p:nvPr>
            <p:ph type="sldNum" sz="quarter" idx="12"/>
          </p:nvPr>
        </p:nvSpPr>
        <p:spPr>
          <a:xfrm>
            <a:off x="331694" y="361016"/>
            <a:ext cx="506506" cy="365125"/>
          </a:xfrm>
        </p:spPr>
        <p:txBody>
          <a:bodyPr/>
          <a:lstStyle/>
          <a:p>
            <a:fld id="{ED608941-3195-174E-A426-184B6B985930}" type="slidenum">
              <a:rPr lang="en-US" smtClean="0"/>
              <a:t>‹#›</a:t>
            </a:fld>
            <a:endParaRPr lang="en-US"/>
          </a:p>
        </p:txBody>
      </p:sp>
      <p:sp>
        <p:nvSpPr>
          <p:cNvPr id="9" name="Picture Placeholder 8"/>
          <p:cNvSpPr>
            <a:spLocks noGrp="1"/>
          </p:cNvSpPr>
          <p:nvPr>
            <p:ph type="pic" sz="quarter" idx="13"/>
          </p:nvPr>
        </p:nvSpPr>
        <p:spPr>
          <a:xfrm>
            <a:off x="269875" y="1976718"/>
            <a:ext cx="1645920" cy="4625788"/>
          </a:xfrm>
        </p:spPr>
        <p:txBody>
          <a:bodyPr/>
          <a:lstStyle>
            <a:lvl1pPr>
              <a:buNone/>
              <a:defRPr/>
            </a:lvl1pPr>
          </a:lstStyle>
          <a:p>
            <a:r>
              <a:rPr lang="x-none"/>
              <a:t>Drag picture to placeholder or click icon to add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7758952" y="268288"/>
            <a:ext cx="109907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09801" y="3429000"/>
            <a:ext cx="4966446" cy="1398494"/>
          </a:xfrm>
        </p:spPr>
        <p:txBody>
          <a:bodyPr anchor="b" anchorCtr="0"/>
          <a:lstStyle>
            <a:lvl1pPr algn="r">
              <a:defRPr sz="4600" b="0" cap="none" baseline="0"/>
            </a:lvl1pPr>
          </a:lstStyle>
          <a:p>
            <a:r>
              <a:rPr lang="x-none"/>
              <a:t>Click to edit Master title style</a:t>
            </a:r>
            <a:endParaRPr/>
          </a:p>
        </p:txBody>
      </p:sp>
      <p:sp>
        <p:nvSpPr>
          <p:cNvPr id="3" name="Text Placeholder 2"/>
          <p:cNvSpPr>
            <a:spLocks noGrp="1"/>
          </p:cNvSpPr>
          <p:nvPr>
            <p:ph type="body" idx="1"/>
          </p:nvPr>
        </p:nvSpPr>
        <p:spPr>
          <a:xfrm>
            <a:off x="2209801"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4" name="Date Placeholder 3"/>
          <p:cNvSpPr>
            <a:spLocks noGrp="1"/>
          </p:cNvSpPr>
          <p:nvPr>
            <p:ph type="dt" sz="half" idx="10"/>
          </p:nvPr>
        </p:nvSpPr>
        <p:spPr>
          <a:xfrm>
            <a:off x="5562600" y="6356350"/>
            <a:ext cx="1622612" cy="365125"/>
          </a:xfrm>
        </p:spPr>
        <p:txBody>
          <a:bodyPr/>
          <a:lstStyle/>
          <a:p>
            <a:fld id="{CE1790A3-A407-3348-B873-C68E8818E2B3}" type="datetimeFigureOut">
              <a:rPr lang="en-US" smtClean="0"/>
              <a:t>02-Jan-24</a:t>
            </a:fld>
            <a:endParaRPr lang="en-US"/>
          </a:p>
        </p:txBody>
      </p:sp>
      <p:sp>
        <p:nvSpPr>
          <p:cNvPr id="5" name="Footer Placeholder 4"/>
          <p:cNvSpPr>
            <a:spLocks noGrp="1"/>
          </p:cNvSpPr>
          <p:nvPr>
            <p:ph type="ftr" sz="quarter" idx="11"/>
          </p:nvPr>
        </p:nvSpPr>
        <p:spPr>
          <a:xfrm>
            <a:off x="174812" y="6356350"/>
            <a:ext cx="5311588" cy="365125"/>
          </a:xfrm>
        </p:spPr>
        <p:txBody>
          <a:bodyPr/>
          <a:lstStyle/>
          <a:p>
            <a:endParaRPr lang="en-US"/>
          </a:p>
        </p:txBody>
      </p:sp>
      <p:sp>
        <p:nvSpPr>
          <p:cNvPr id="6" name="Slide Number Placeholder 5"/>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269875" y="4773706"/>
            <a:ext cx="29718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720354" y="3429001"/>
            <a:ext cx="4966446" cy="1398494"/>
          </a:xfrm>
        </p:spPr>
        <p:txBody>
          <a:bodyPr anchor="b" anchorCtr="0"/>
          <a:lstStyle>
            <a:lvl1pPr algn="r">
              <a:defRPr sz="4600" b="0" cap="none" baseline="0"/>
            </a:lvl1pPr>
          </a:lstStyle>
          <a:p>
            <a:r>
              <a:rPr lang="x-none"/>
              <a:t>Click to edit Master title style</a:t>
            </a:r>
            <a:endParaRPr/>
          </a:p>
        </p:txBody>
      </p:sp>
      <p:sp>
        <p:nvSpPr>
          <p:cNvPr id="3" name="Text Placeholder 2"/>
          <p:cNvSpPr>
            <a:spLocks noGrp="1"/>
          </p:cNvSpPr>
          <p:nvPr>
            <p:ph type="body" idx="1"/>
          </p:nvPr>
        </p:nvSpPr>
        <p:spPr>
          <a:xfrm>
            <a:off x="3720354"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6" name="Slide Number Placeholder 5"/>
          <p:cNvSpPr>
            <a:spLocks noGrp="1"/>
          </p:cNvSpPr>
          <p:nvPr>
            <p:ph type="sldNum" sz="quarter" idx="12"/>
          </p:nvPr>
        </p:nvSpPr>
        <p:spPr>
          <a:xfrm>
            <a:off x="351212" y="6104965"/>
            <a:ext cx="506506" cy="365125"/>
          </a:xfrm>
        </p:spPr>
        <p:txBody>
          <a:bodyPr/>
          <a:lstStyle/>
          <a:p>
            <a:fld id="{ED608941-3195-174E-A426-184B6B985930}" type="slidenum">
              <a:rPr lang="en-US" smtClean="0"/>
              <a:t>‹#›</a:t>
            </a:fld>
            <a:endParaRPr lang="en-US"/>
          </a:p>
        </p:txBody>
      </p:sp>
      <p:sp>
        <p:nvSpPr>
          <p:cNvPr id="9" name="Picture Placeholder 8"/>
          <p:cNvSpPr>
            <a:spLocks noGrp="1"/>
          </p:cNvSpPr>
          <p:nvPr>
            <p:ph type="pic" sz="quarter" idx="13"/>
          </p:nvPr>
        </p:nvSpPr>
        <p:spPr>
          <a:xfrm>
            <a:off x="269874" y="268288"/>
            <a:ext cx="2971800" cy="4438650"/>
          </a:xfrm>
        </p:spPr>
        <p:txBody>
          <a:bodyPr/>
          <a:lstStyle>
            <a:lvl1pPr>
              <a:buNone/>
              <a:defRPr/>
            </a:lvl1pPr>
          </a:lstStyle>
          <a:p>
            <a:r>
              <a:rPr lang="x-none"/>
              <a:t>Drag picture to placeholder or click icon to add</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x-none"/>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5" name="Date Placeholder 4"/>
          <p:cNvSpPr>
            <a:spLocks noGrp="1"/>
          </p:cNvSpPr>
          <p:nvPr>
            <p:ph type="dt" sz="half" idx="10"/>
          </p:nvPr>
        </p:nvSpPr>
        <p:spPr/>
        <p:txBody>
          <a:bodyPr/>
          <a:lstStyle/>
          <a:p>
            <a:fld id="{CE1790A3-A407-3348-B873-C68E8818E2B3}" type="datetimeFigureOut">
              <a:rPr lang="en-US" smtClean="0"/>
              <a:t>02-Jan-24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88352" cy="1143000"/>
          </a:xfrm>
        </p:spPr>
        <p:txBody>
          <a:bodyPr/>
          <a:lstStyle>
            <a:lvl1pPr>
              <a:defRPr/>
            </a:lvl1pPr>
          </a:lstStyle>
          <a:p>
            <a:r>
              <a:rPr lang="x-none"/>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7" name="Date Placeholder 6"/>
          <p:cNvSpPr>
            <a:spLocks noGrp="1"/>
          </p:cNvSpPr>
          <p:nvPr>
            <p:ph type="dt" sz="half" idx="10"/>
          </p:nvPr>
        </p:nvSpPr>
        <p:spPr/>
        <p:txBody>
          <a:bodyPr/>
          <a:lstStyle/>
          <a:p>
            <a:fld id="{CE1790A3-A407-3348-B873-C68E8818E2B3}" type="datetimeFigureOut">
              <a:rPr lang="en-US" smtClean="0"/>
              <a:t>02-Jan-24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x-none"/>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5" name="Date Placeholder 4"/>
          <p:cNvSpPr>
            <a:spLocks noGrp="1"/>
          </p:cNvSpPr>
          <p:nvPr>
            <p:ph type="dt" sz="half" idx="10"/>
          </p:nvPr>
        </p:nvSpPr>
        <p:spPr/>
        <p:txBody>
          <a:bodyPr/>
          <a:lstStyle/>
          <a:p>
            <a:fld id="{CE1790A3-A407-3348-B873-C68E8818E2B3}" type="datetimeFigureOut">
              <a:rPr lang="en-US" smtClean="0"/>
              <a:t>02-Jan-24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x-none"/>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5" name="Date Placeholder 4"/>
          <p:cNvSpPr>
            <a:spLocks noGrp="1"/>
          </p:cNvSpPr>
          <p:nvPr>
            <p:ph type="dt" sz="half" idx="10"/>
          </p:nvPr>
        </p:nvSpPr>
        <p:spPr/>
        <p:txBody>
          <a:bodyPr/>
          <a:lstStyle/>
          <a:p>
            <a:fld id="{CE1790A3-A407-3348-B873-C68E8818E2B3}" type="datetimeFigureOut">
              <a:rPr lang="en-US" smtClean="0"/>
              <a:t>02-Jan-24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x-none"/>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5" name="Date Placeholder 4"/>
          <p:cNvSpPr>
            <a:spLocks noGrp="1"/>
          </p:cNvSpPr>
          <p:nvPr>
            <p:ph type="dt" sz="half" idx="10"/>
          </p:nvPr>
        </p:nvSpPr>
        <p:spPr/>
        <p:txBody>
          <a:bodyPr/>
          <a:lstStyle/>
          <a:p>
            <a:fld id="{CE1790A3-A407-3348-B873-C68E8818E2B3}" type="datetimeFigureOut">
              <a:rPr lang="en-US" smtClean="0"/>
              <a:t>02-Jan-24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x-none"/>
              <a:t>Click to edit Master title style</a:t>
            </a:r>
            <a:endParaRPr/>
          </a:p>
        </p:txBody>
      </p:sp>
      <p:sp>
        <p:nvSpPr>
          <p:cNvPr id="3" name="Date Placeholder 2"/>
          <p:cNvSpPr>
            <a:spLocks noGrp="1"/>
          </p:cNvSpPr>
          <p:nvPr>
            <p:ph type="dt" sz="half" idx="10"/>
          </p:nvPr>
        </p:nvSpPr>
        <p:spPr/>
        <p:txBody>
          <a:bodyPr/>
          <a:lstStyle/>
          <a:p>
            <a:fld id="{CE1790A3-A407-3348-B873-C68E8818E2B3}" type="datetimeFigureOut">
              <a:rPr lang="en-US" smtClean="0"/>
              <a:t>02-Jan-24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CE1790A3-A407-3348-B873-C68E8818E2B3}" type="datetimeFigureOut">
              <a:rPr lang="en-US" smtClean="0"/>
              <a:t>02-Jan-24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x-none"/>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CE1790A3-A407-3348-B873-C68E8818E2B3}" type="datetimeFigureOut">
              <a:rPr lang="en-US" smtClean="0"/>
              <a:t>02-Jan-24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4746811" y="268288"/>
            <a:ext cx="41148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x-none"/>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161365" y="6124014"/>
            <a:ext cx="1752600" cy="365125"/>
          </a:xfrm>
        </p:spPr>
        <p:txBody>
          <a:bodyPr/>
          <a:lstStyle>
            <a:lvl1pPr algn="l">
              <a:defRPr/>
            </a:lvl1pPr>
          </a:lstStyle>
          <a:p>
            <a:fld id="{CE1790A3-A407-3348-B873-C68E8818E2B3}" type="datetimeFigureOut">
              <a:rPr lang="en-US" smtClean="0"/>
              <a:t>02-Jan-24</a:t>
            </a:fld>
            <a:endParaRPr lang="en-US"/>
          </a:p>
        </p:txBody>
      </p:sp>
      <p:sp>
        <p:nvSpPr>
          <p:cNvPr id="6" name="Footer Placeholder 5"/>
          <p:cNvSpPr>
            <a:spLocks noGrp="1"/>
          </p:cNvSpPr>
          <p:nvPr>
            <p:ph type="ftr" sz="quarter" idx="11"/>
          </p:nvPr>
        </p:nvSpPr>
        <p:spPr>
          <a:xfrm>
            <a:off x="174812" y="6356350"/>
            <a:ext cx="3863788" cy="365125"/>
          </a:xfrm>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10" name="Picture Placeholder 9"/>
          <p:cNvSpPr>
            <a:spLocks noGrp="1"/>
          </p:cNvSpPr>
          <p:nvPr>
            <p:ph type="pic" sz="quarter" idx="13"/>
          </p:nvPr>
        </p:nvSpPr>
        <p:spPr>
          <a:xfrm>
            <a:off x="4760258" y="990600"/>
            <a:ext cx="4096512" cy="5611813"/>
          </a:xfrm>
        </p:spPr>
        <p:txBody>
          <a:bodyPr/>
          <a:lstStyle>
            <a:lvl1pPr>
              <a:buNone/>
              <a:defRPr/>
            </a:lvl1pPr>
          </a:lstStyle>
          <a:p>
            <a:r>
              <a:rPr lang="x-none"/>
              <a:t>Drag picture to placeholder or click icon to add</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7216775" y="268288"/>
            <a:ext cx="1639457"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x-none"/>
              <a:t>Click to edit Master title style</a:t>
            </a:r>
            <a:endParaRPr/>
          </a:p>
        </p:txBody>
      </p:sp>
      <p:sp>
        <p:nvSpPr>
          <p:cNvPr id="3" name="Picture Placeholder 2"/>
          <p:cNvSpPr>
            <a:spLocks noGrp="1"/>
          </p:cNvSpPr>
          <p:nvPr>
            <p:ph type="pic" idx="1"/>
          </p:nvPr>
        </p:nvSpPr>
        <p:spPr>
          <a:xfrm>
            <a:off x="269874" y="268288"/>
            <a:ext cx="6858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CE1790A3-A407-3348-B873-C68E8818E2B3}" type="datetimeFigureOut">
              <a:rPr lang="en-US" smtClean="0"/>
              <a:t>02-Jan-24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8135471" y="268288"/>
            <a:ext cx="720761"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x-none"/>
              <a:t>Click to edit Master title style</a:t>
            </a:r>
            <a:endParaRPr/>
          </a:p>
        </p:txBody>
      </p:sp>
      <p:sp>
        <p:nvSpPr>
          <p:cNvPr id="3" name="Picture Placeholder 2"/>
          <p:cNvSpPr>
            <a:spLocks noGrp="1"/>
          </p:cNvSpPr>
          <p:nvPr>
            <p:ph type="pic" idx="1"/>
          </p:nvPr>
        </p:nvSpPr>
        <p:spPr>
          <a:xfrm>
            <a:off x="269874" y="268288"/>
            <a:ext cx="3006726"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CE1790A3-A407-3348-B873-C68E8818E2B3}" type="datetimeFigureOut">
              <a:rPr lang="en-US" smtClean="0"/>
              <a:t>02-Jan-24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08941-3195-174E-A426-184B6B985930}" type="slidenum">
              <a:rPr lang="en-US" smtClean="0"/>
              <a:t>‹#›</a:t>
            </a:fld>
            <a:endParaRPr lang="en-US"/>
          </a:p>
        </p:txBody>
      </p:sp>
      <p:sp>
        <p:nvSpPr>
          <p:cNvPr id="10" name="Picture Placeholder 2"/>
          <p:cNvSpPr>
            <a:spLocks noGrp="1"/>
          </p:cNvSpPr>
          <p:nvPr>
            <p:ph type="pic" idx="13"/>
          </p:nvPr>
        </p:nvSpPr>
        <p:spPr>
          <a:xfrm>
            <a:off x="3352800" y="268288"/>
            <a:ext cx="47019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a:p>
        </p:txBody>
      </p:sp>
      <p:sp>
        <p:nvSpPr>
          <p:cNvPr id="11" name="Picture Placeholder 2"/>
          <p:cNvSpPr>
            <a:spLocks noGrp="1"/>
          </p:cNvSpPr>
          <p:nvPr>
            <p:ph type="pic" idx="14"/>
          </p:nvPr>
        </p:nvSpPr>
        <p:spPr>
          <a:xfrm>
            <a:off x="33528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a:p>
        </p:txBody>
      </p:sp>
      <p:sp>
        <p:nvSpPr>
          <p:cNvPr id="12" name="Picture Placeholder 2"/>
          <p:cNvSpPr>
            <a:spLocks noGrp="1"/>
          </p:cNvSpPr>
          <p:nvPr>
            <p:ph type="pic" idx="15"/>
          </p:nvPr>
        </p:nvSpPr>
        <p:spPr>
          <a:xfrm>
            <a:off x="57505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x-none"/>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4" name="Date Placeholder 3"/>
          <p:cNvSpPr>
            <a:spLocks noGrp="1"/>
          </p:cNvSpPr>
          <p:nvPr>
            <p:ph type="dt" sz="half" idx="10"/>
          </p:nvPr>
        </p:nvSpPr>
        <p:spPr/>
        <p:txBody>
          <a:bodyPr/>
          <a:lstStyle/>
          <a:p>
            <a:fld id="{CE1790A3-A407-3348-B873-C68E8818E2B3}" type="datetimeFigureOut">
              <a:rPr lang="en-US" smtClean="0"/>
              <a:t>02-Jan-24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543799" y="1035424"/>
            <a:ext cx="1322295" cy="5090739"/>
          </a:xfrm>
        </p:spPr>
        <p:txBody>
          <a:bodyPr vert="eaVert" anchor="t" anchorCtr="0"/>
          <a:lstStyle/>
          <a:p>
            <a:r>
              <a:rPr lang="x-none"/>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lvl5pPr>
              <a:defRPr/>
            </a:lvl5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4" name="Date Placeholder 3"/>
          <p:cNvSpPr>
            <a:spLocks noGrp="1"/>
          </p:cNvSpPr>
          <p:nvPr>
            <p:ph type="dt" sz="half" idx="10"/>
          </p:nvPr>
        </p:nvSpPr>
        <p:spPr/>
        <p:txBody>
          <a:bodyPr/>
          <a:lstStyle/>
          <a:p>
            <a:fld id="{CE1790A3-A407-3348-B873-C68E8818E2B3}" type="datetimeFigureOut">
              <a:rPr lang="en-US" smtClean="0"/>
              <a:t>02-Jan-24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08941-3195-174E-A426-184B6B98593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914400"/>
            <a:ext cx="6508377" cy="1143000"/>
          </a:xfrm>
          <a:prstGeom prst="rect">
            <a:avLst/>
          </a:prstGeom>
        </p:spPr>
        <p:txBody>
          <a:bodyPr vert="horz" lIns="91440" tIns="45720" rIns="91440" bIns="45720" rtlCol="0" anchor="b" anchorCtr="0">
            <a:noAutofit/>
          </a:bodyPr>
          <a:lstStyle/>
          <a:p>
            <a:r>
              <a:rPr lang="x-none"/>
              <a:t>Click to edit Master title style</a:t>
            </a:r>
            <a:endParaRPr/>
          </a:p>
        </p:txBody>
      </p:sp>
      <p:sp>
        <p:nvSpPr>
          <p:cNvPr id="3" name="Text Placeholder 2"/>
          <p:cNvSpPr>
            <a:spLocks noGrp="1"/>
          </p:cNvSpPr>
          <p:nvPr>
            <p:ph type="body" idx="1"/>
          </p:nvPr>
        </p:nvSpPr>
        <p:spPr>
          <a:xfrm>
            <a:off x="457199" y="2209800"/>
            <a:ext cx="6508377" cy="3916363"/>
          </a:xfrm>
          <a:prstGeom prst="rect">
            <a:avLst/>
          </a:prstGeom>
        </p:spPr>
        <p:txBody>
          <a:bodyPr vert="horz" lIns="91440" tIns="45720" rIns="91440" bIns="45720" rtlCol="0">
            <a:normAutofit/>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dirty="0"/>
          </a:p>
        </p:txBody>
      </p:sp>
      <p:sp>
        <p:nvSpPr>
          <p:cNvPr id="4" name="Date Placeholder 3"/>
          <p:cNvSpPr>
            <a:spLocks noGrp="1"/>
          </p:cNvSpPr>
          <p:nvPr>
            <p:ph type="dt" sz="half" idx="2"/>
          </p:nvPr>
        </p:nvSpPr>
        <p:spPr>
          <a:xfrm>
            <a:off x="7198659" y="6356350"/>
            <a:ext cx="17526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CE1790A3-A407-3348-B873-C68E8818E2B3}" type="datetimeFigureOut">
              <a:rPr lang="en-US" smtClean="0"/>
              <a:t>02-Jan-24</a:t>
            </a:fld>
            <a:endParaRPr lang="en-US"/>
          </a:p>
        </p:txBody>
      </p:sp>
      <p:sp>
        <p:nvSpPr>
          <p:cNvPr id="5" name="Footer Placeholder 4"/>
          <p:cNvSpPr>
            <a:spLocks noGrp="1"/>
          </p:cNvSpPr>
          <p:nvPr>
            <p:ph type="ftr" sz="quarter" idx="3"/>
          </p:nvPr>
        </p:nvSpPr>
        <p:spPr>
          <a:xfrm>
            <a:off x="174812" y="6356350"/>
            <a:ext cx="6007100"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8256494" y="361016"/>
            <a:ext cx="506506" cy="365125"/>
          </a:xfrm>
          <a:prstGeom prst="rect">
            <a:avLst/>
          </a:prstGeom>
        </p:spPr>
        <p:txBody>
          <a:bodyPr vert="horz" lIns="91440" tIns="45720" rIns="91440" bIns="45720" rtlCol="0" anchor="ctr"/>
          <a:lstStyle>
            <a:lvl1pPr algn="r">
              <a:defRPr sz="2200" b="1">
                <a:solidFill>
                  <a:schemeClr val="bg1"/>
                </a:solidFill>
              </a:defRPr>
            </a:lvl1pPr>
          </a:lstStyle>
          <a:p>
            <a:fld id="{ED608941-3195-174E-A426-184B6B98593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PPP Protocol</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40050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03574"/>
            <a:ext cx="6508377" cy="1143000"/>
          </a:xfrm>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solidFill>
                  <a:srgbClr val="404040"/>
                </a:solidFill>
                <a:latin typeface="+mj-lt"/>
                <a:cs typeface="Arial"/>
              </a:rPr>
              <a:t>WAN Data Link Layer protocols</a:t>
            </a:r>
          </a:p>
          <a:p>
            <a:r>
              <a:rPr lang="en-US" dirty="0">
                <a:solidFill>
                  <a:srgbClr val="404040"/>
                </a:solidFill>
                <a:latin typeface="+mj-lt"/>
                <a:cs typeface="Arial"/>
              </a:rPr>
              <a:t>HDLC</a:t>
            </a:r>
          </a:p>
          <a:p>
            <a:r>
              <a:rPr lang="en-US" dirty="0">
                <a:solidFill>
                  <a:srgbClr val="404040"/>
                </a:solidFill>
                <a:latin typeface="+mj-lt"/>
              </a:rPr>
              <a:t>PPP Protocol</a:t>
            </a:r>
          </a:p>
          <a:p>
            <a:pPr lvl="1"/>
            <a:r>
              <a:rPr lang="en-US" sz="2000" dirty="0">
                <a:solidFill>
                  <a:srgbClr val="404040"/>
                </a:solidFill>
                <a:latin typeface="+mj-lt"/>
                <a:cs typeface="Arial"/>
              </a:rPr>
              <a:t>LCP</a:t>
            </a:r>
          </a:p>
          <a:p>
            <a:pPr lvl="1"/>
            <a:r>
              <a:rPr lang="en-US" sz="2000" dirty="0">
                <a:solidFill>
                  <a:srgbClr val="404040"/>
                </a:solidFill>
                <a:latin typeface="+mj-lt"/>
                <a:cs typeface="Arial"/>
              </a:rPr>
              <a:t>NCP</a:t>
            </a:r>
          </a:p>
          <a:p>
            <a:pPr lvl="1"/>
            <a:r>
              <a:rPr lang="en-US" sz="2000" dirty="0">
                <a:solidFill>
                  <a:srgbClr val="404040"/>
                </a:solidFill>
                <a:latin typeface="+mj-lt"/>
              </a:rPr>
              <a:t>PPP Session Establishment Phases</a:t>
            </a:r>
          </a:p>
          <a:p>
            <a:pPr lvl="1"/>
            <a:r>
              <a:rPr lang="en-US" sz="2000" dirty="0">
                <a:solidFill>
                  <a:srgbClr val="404040"/>
                </a:solidFill>
                <a:latin typeface="+mj-lt"/>
              </a:rPr>
              <a:t>Authentication</a:t>
            </a:r>
          </a:p>
          <a:p>
            <a:pPr lvl="2"/>
            <a:r>
              <a:rPr lang="en-US" sz="2000" dirty="0">
                <a:solidFill>
                  <a:srgbClr val="404040"/>
                </a:solidFill>
                <a:latin typeface="+mj-lt"/>
              </a:rPr>
              <a:t>PAP</a:t>
            </a:r>
          </a:p>
          <a:p>
            <a:pPr lvl="2"/>
            <a:r>
              <a:rPr lang="en-US" sz="2000" dirty="0">
                <a:solidFill>
                  <a:srgbClr val="404040"/>
                </a:solidFill>
                <a:latin typeface="+mj-lt"/>
              </a:rPr>
              <a:t>CHAP</a:t>
            </a:r>
          </a:p>
          <a:p>
            <a:endParaRPr lang="en-US" dirty="0">
              <a:solidFill>
                <a:srgbClr val="0000FF"/>
              </a:solidFill>
              <a:latin typeface="Arial"/>
              <a:cs typeface="Arial"/>
            </a:endParaRPr>
          </a:p>
        </p:txBody>
      </p:sp>
    </p:spTree>
    <p:extLst>
      <p:ext uri="{BB962C8B-B14F-4D97-AF65-F5344CB8AC3E}">
        <p14:creationId xmlns:p14="http://schemas.microsoft.com/office/powerpoint/2010/main" val="756144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35004"/>
            <a:ext cx="6508377" cy="1143000"/>
          </a:xfrm>
        </p:spPr>
        <p:txBody>
          <a:bodyPr/>
          <a:lstStyle/>
          <a:p>
            <a:r>
              <a:rPr lang="en-US" sz="3200" dirty="0"/>
              <a:t>WANs</a:t>
            </a:r>
          </a:p>
        </p:txBody>
      </p:sp>
      <p:sp>
        <p:nvSpPr>
          <p:cNvPr id="3" name="Content Placeholder 2"/>
          <p:cNvSpPr>
            <a:spLocks noGrp="1"/>
          </p:cNvSpPr>
          <p:nvPr>
            <p:ph idx="1"/>
          </p:nvPr>
        </p:nvSpPr>
        <p:spPr/>
        <p:txBody>
          <a:bodyPr/>
          <a:lstStyle/>
          <a:p>
            <a:pPr>
              <a:spcBef>
                <a:spcPts val="1200"/>
              </a:spcBef>
            </a:pPr>
            <a:r>
              <a:rPr lang="en-US" dirty="0">
                <a:solidFill>
                  <a:schemeClr val="tx1">
                    <a:lumMod val="75000"/>
                    <a:lumOff val="25000"/>
                  </a:schemeClr>
                </a:solidFill>
                <a:latin typeface="Arial"/>
                <a:cs typeface="Arial"/>
              </a:rPr>
              <a:t>As we have learned, all WAN connections consist of two basic elements:</a:t>
            </a:r>
          </a:p>
          <a:p>
            <a:pPr lvl="1">
              <a:spcBef>
                <a:spcPts val="1200"/>
              </a:spcBef>
            </a:pPr>
            <a:r>
              <a:rPr lang="en-US" dirty="0">
                <a:solidFill>
                  <a:schemeClr val="tx1">
                    <a:lumMod val="75000"/>
                    <a:lumOff val="25000"/>
                  </a:schemeClr>
                </a:solidFill>
                <a:latin typeface="Arial"/>
                <a:cs typeface="Arial"/>
              </a:rPr>
              <a:t>The physical</a:t>
            </a:r>
            <a:r>
              <a:rPr lang="en-US" dirty="0">
                <a:solidFill>
                  <a:schemeClr val="tx1"/>
                </a:solidFill>
                <a:latin typeface="Arial"/>
                <a:cs typeface="Arial"/>
              </a:rPr>
              <a:t> layer devices and </a:t>
            </a:r>
            <a:r>
              <a:rPr lang="en-US" dirty="0">
                <a:solidFill>
                  <a:schemeClr val="tx1">
                    <a:lumMod val="75000"/>
                    <a:lumOff val="25000"/>
                  </a:schemeClr>
                </a:solidFill>
                <a:latin typeface="Arial"/>
                <a:cs typeface="Arial"/>
              </a:rPr>
              <a:t>transmission media.</a:t>
            </a:r>
          </a:p>
          <a:p>
            <a:pPr lvl="1">
              <a:spcBef>
                <a:spcPts val="1200"/>
              </a:spcBef>
            </a:pPr>
            <a:r>
              <a:rPr lang="en-US" dirty="0">
                <a:solidFill>
                  <a:schemeClr val="tx1">
                    <a:lumMod val="75000"/>
                    <a:lumOff val="25000"/>
                  </a:schemeClr>
                </a:solidFill>
                <a:latin typeface="Arial"/>
                <a:cs typeface="Arial"/>
              </a:rPr>
              <a:t>Data-link–layer protocols.</a:t>
            </a:r>
            <a:endParaRPr lang="en-US" dirty="0">
              <a:solidFill>
                <a:schemeClr val="tx1">
                  <a:lumMod val="75000"/>
                  <a:lumOff val="25000"/>
                </a:schemeClr>
              </a:solidFill>
            </a:endParaRPr>
          </a:p>
        </p:txBody>
      </p:sp>
    </p:spTree>
    <p:extLst>
      <p:ext uri="{BB962C8B-B14F-4D97-AF65-F5344CB8AC3E}">
        <p14:creationId xmlns:p14="http://schemas.microsoft.com/office/powerpoint/2010/main" val="3197617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WAN Data Link Layer Protocols</a:t>
            </a:r>
            <a:br>
              <a:rPr lang="en-US" sz="3200" dirty="0"/>
            </a:br>
            <a:endParaRPr lang="en-US" sz="3200" dirty="0"/>
          </a:p>
        </p:txBody>
      </p:sp>
      <p:sp>
        <p:nvSpPr>
          <p:cNvPr id="3" name="Content Placeholder 2"/>
          <p:cNvSpPr>
            <a:spLocks noGrp="1"/>
          </p:cNvSpPr>
          <p:nvPr>
            <p:ph idx="1"/>
          </p:nvPr>
        </p:nvSpPr>
        <p:spPr>
          <a:xfrm>
            <a:off x="457199" y="2209800"/>
            <a:ext cx="8119811" cy="3916363"/>
          </a:xfrm>
        </p:spPr>
        <p:txBody>
          <a:bodyPr>
            <a:normAutofit/>
          </a:bodyPr>
          <a:lstStyle/>
          <a:p>
            <a:r>
              <a:rPr lang="en-US" dirty="0">
                <a:solidFill>
                  <a:schemeClr val="tx1"/>
                </a:solidFill>
                <a:latin typeface="Arial"/>
                <a:cs typeface="Arial"/>
              </a:rPr>
              <a:t>WANs require Data Link layer protocols to provide communication between two devices across the communication line.</a:t>
            </a:r>
          </a:p>
          <a:p>
            <a:r>
              <a:rPr lang="en-US" dirty="0">
                <a:solidFill>
                  <a:schemeClr val="tx1"/>
                </a:solidFill>
                <a:latin typeface="Arial"/>
                <a:cs typeface="Arial"/>
              </a:rPr>
              <a:t>Because there are many different ways to connect devices, there are many different data link protocols.</a:t>
            </a:r>
          </a:p>
          <a:p>
            <a:r>
              <a:rPr lang="en-US" dirty="0">
                <a:solidFill>
                  <a:schemeClr val="tx1"/>
                </a:solidFill>
                <a:latin typeface="Arial"/>
                <a:cs typeface="Arial"/>
              </a:rPr>
              <a:t>Data link protocols may provide any of the following services:</a:t>
            </a:r>
          </a:p>
          <a:p>
            <a:pPr lvl="1"/>
            <a:r>
              <a:rPr lang="en-US" dirty="0">
                <a:solidFill>
                  <a:schemeClr val="tx1"/>
                </a:solidFill>
                <a:latin typeface="Arial"/>
                <a:cs typeface="Arial"/>
              </a:rPr>
              <a:t>Framing </a:t>
            </a:r>
          </a:p>
          <a:p>
            <a:pPr lvl="1"/>
            <a:r>
              <a:rPr lang="en-US" dirty="0">
                <a:solidFill>
                  <a:schemeClr val="tx1"/>
                </a:solidFill>
                <a:latin typeface="Arial"/>
                <a:cs typeface="Arial"/>
              </a:rPr>
              <a:t>Session setup and termination</a:t>
            </a:r>
          </a:p>
          <a:p>
            <a:pPr lvl="1"/>
            <a:r>
              <a:rPr lang="en-US" dirty="0">
                <a:solidFill>
                  <a:schemeClr val="tx1"/>
                </a:solidFill>
                <a:latin typeface="Arial"/>
                <a:cs typeface="Arial"/>
              </a:rPr>
              <a:t>Error detection  </a:t>
            </a:r>
          </a:p>
          <a:p>
            <a:pPr lvl="1"/>
            <a:r>
              <a:rPr lang="en-US" dirty="0">
                <a:solidFill>
                  <a:schemeClr val="tx1"/>
                </a:solidFill>
                <a:latin typeface="Arial"/>
                <a:cs typeface="Arial"/>
              </a:rPr>
              <a:t>Addressing on a multipoint medium </a:t>
            </a:r>
          </a:p>
        </p:txBody>
      </p:sp>
    </p:spTree>
    <p:extLst>
      <p:ext uri="{BB962C8B-B14F-4D97-AF65-F5344CB8AC3E}">
        <p14:creationId xmlns:p14="http://schemas.microsoft.com/office/powerpoint/2010/main" val="3513011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026363" y="0"/>
            <a:ext cx="3462338" cy="1143000"/>
          </a:xfrm>
        </p:spPr>
        <p:txBody>
          <a:bodyPr>
            <a:normAutofit/>
          </a:bodyPr>
          <a:lstStyle/>
          <a:p>
            <a:pPr algn="ctr"/>
            <a:r>
              <a:rPr lang="en-US" sz="2800" dirty="0">
                <a:latin typeface="Calibri" charset="0"/>
                <a:ea typeface="+mn-ea"/>
                <a:cs typeface="+mn-cs"/>
              </a:rPr>
              <a:t>WAN Connection Types</a:t>
            </a:r>
          </a:p>
        </p:txBody>
      </p:sp>
      <p:pic>
        <p:nvPicPr>
          <p:cNvPr id="6147" name="Picture 5" descr="F11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322" y="2030744"/>
            <a:ext cx="4048632" cy="2181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8701" y="1909809"/>
            <a:ext cx="4299289" cy="2302747"/>
          </a:xfrm>
          <a:prstGeom prst="rect">
            <a:avLst/>
          </a:prstGeom>
          <a:noFill/>
          <a:extLst>
            <a:ext uri="{909E8E84-426E-40dd-AFC4-6F175D3DCCD1}">
              <a14:hiddenFill xmlns="" xmlns:a14="http://schemas.microsoft.com/office/drawing/2010/main">
                <a:solidFill>
                  <a:srgbClr val="FFFFFF"/>
                </a:solidFill>
              </a14:hiddenFill>
            </a:ext>
          </a:extLst>
        </p:spPr>
      </p:pic>
      <p:sp>
        <p:nvSpPr>
          <p:cNvPr id="2" name="Rectangle 1"/>
          <p:cNvSpPr/>
          <p:nvPr/>
        </p:nvSpPr>
        <p:spPr>
          <a:xfrm>
            <a:off x="5744345" y="206896"/>
            <a:ext cx="2376447" cy="954107"/>
          </a:xfrm>
          <a:prstGeom prst="rect">
            <a:avLst/>
          </a:prstGeom>
        </p:spPr>
        <p:txBody>
          <a:bodyPr wrap="none">
            <a:spAutoFit/>
          </a:bodyPr>
          <a:lstStyle/>
          <a:p>
            <a:pPr algn="ctr"/>
            <a:r>
              <a:rPr lang="pt-PT" sz="2800" dirty="0">
                <a:solidFill>
                  <a:schemeClr val="accent1"/>
                </a:solidFill>
                <a:latin typeface="Calibri" charset="0"/>
              </a:rPr>
              <a:t>WAN Data Link</a:t>
            </a:r>
          </a:p>
          <a:p>
            <a:pPr algn="ctr"/>
            <a:r>
              <a:rPr lang="pt-PT" sz="2800" dirty="0">
                <a:solidFill>
                  <a:schemeClr val="accent1"/>
                </a:solidFill>
                <a:latin typeface="Calibri" charset="0"/>
              </a:rPr>
              <a:t> Protocolos</a:t>
            </a:r>
            <a:endParaRPr lang="en-US" sz="2800" dirty="0">
              <a:solidFill>
                <a:schemeClr val="accent1"/>
              </a:solidFill>
              <a:latin typeface="Calibri" charset="0"/>
            </a:endParaRPr>
          </a:p>
        </p:txBody>
      </p:sp>
      <p:sp>
        <p:nvSpPr>
          <p:cNvPr id="6" name="Content Placeholder 2"/>
          <p:cNvSpPr txBox="1">
            <a:spLocks/>
          </p:cNvSpPr>
          <p:nvPr/>
        </p:nvSpPr>
        <p:spPr>
          <a:xfrm>
            <a:off x="445289" y="4614627"/>
            <a:ext cx="8086823" cy="3916363"/>
          </a:xfrm>
          <a:prstGeom prst="rect">
            <a:avLst/>
          </a:prstGeom>
        </p:spPr>
        <p:txBody>
          <a:bodyPr>
            <a:normAutofit/>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r>
              <a:rPr lang="en-US" dirty="0">
                <a:solidFill>
                  <a:schemeClr val="tx1"/>
                </a:solidFill>
                <a:latin typeface="Arial"/>
                <a:cs typeface="Arial"/>
              </a:rPr>
              <a:t>Each WAN connection type uses a Data Link layer protocol to encapsulate a packet while it is crossing the WAN link. </a:t>
            </a:r>
          </a:p>
          <a:p>
            <a:r>
              <a:rPr lang="en-US" dirty="0">
                <a:solidFill>
                  <a:schemeClr val="tx1"/>
                </a:solidFill>
                <a:latin typeface="Arial"/>
                <a:cs typeface="Arial"/>
              </a:rPr>
              <a:t>The choice of encapsulation protocols depends on the WAN technology and the equipment. </a:t>
            </a:r>
          </a:p>
          <a:p>
            <a:pPr marL="0" indent="0">
              <a:buFont typeface="Wingdings 2" pitchFamily="18" charset="2"/>
              <a:buNone/>
            </a:pPr>
            <a:r>
              <a:rPr lang="en-US" dirty="0">
                <a:solidFill>
                  <a:schemeClr val="tx1"/>
                </a:solidFill>
                <a:latin typeface="Arial"/>
                <a:cs typeface="Arial"/>
              </a:rPr>
              <a:t> </a:t>
            </a:r>
          </a:p>
          <a:p>
            <a:endParaRPr lang="en-US" dirty="0"/>
          </a:p>
        </p:txBody>
      </p:sp>
    </p:spTree>
    <p:extLst>
      <p:ext uri="{BB962C8B-B14F-4D97-AF65-F5344CB8AC3E}">
        <p14:creationId xmlns:p14="http://schemas.microsoft.com/office/powerpoint/2010/main" val="4073300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HDLC</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10205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199" y="652375"/>
            <a:ext cx="6508377" cy="1143000"/>
          </a:xfrm>
        </p:spPr>
        <p:txBody>
          <a:bodyPr/>
          <a:lstStyle/>
          <a:p>
            <a:r>
              <a:rPr lang="en-US" sz="3200" dirty="0"/>
              <a:t>HDLC</a:t>
            </a:r>
          </a:p>
        </p:txBody>
      </p:sp>
      <p:sp>
        <p:nvSpPr>
          <p:cNvPr id="8" name="Content Placeholder 7"/>
          <p:cNvSpPr>
            <a:spLocks noGrp="1"/>
          </p:cNvSpPr>
          <p:nvPr>
            <p:ph idx="1"/>
          </p:nvPr>
        </p:nvSpPr>
        <p:spPr>
          <a:xfrm>
            <a:off x="457199" y="2209800"/>
            <a:ext cx="8029159" cy="3916363"/>
          </a:xfrm>
        </p:spPr>
        <p:txBody>
          <a:bodyPr>
            <a:normAutofit/>
          </a:bodyPr>
          <a:lstStyle/>
          <a:p>
            <a:r>
              <a:rPr lang="en-US" dirty="0">
                <a:latin typeface="Arial"/>
                <a:cs typeface="Arial"/>
              </a:rPr>
              <a:t>High-level Data Link Control (HDLC) is one of the oldest data link layer protocols for the WAN developed by the ISO.</a:t>
            </a:r>
          </a:p>
          <a:p>
            <a:r>
              <a:rPr lang="en-US" dirty="0">
                <a:latin typeface="Arial"/>
                <a:cs typeface="Arial"/>
              </a:rPr>
              <a:t>HDLC is a bit-oriented protocol for communication over point-to-point and multipoint links.</a:t>
            </a:r>
          </a:p>
          <a:p>
            <a:r>
              <a:rPr lang="en-US" dirty="0">
                <a:latin typeface="Arial"/>
                <a:cs typeface="Arial"/>
              </a:rPr>
              <a:t>Although HDLC can be used for point-to-multipoint connections, the most common usage of HDLC is for point-to-point serial communications.</a:t>
            </a:r>
          </a:p>
          <a:p>
            <a:r>
              <a:rPr lang="en-US" dirty="0">
                <a:latin typeface="Arial"/>
                <a:cs typeface="Arial"/>
              </a:rPr>
              <a:t>It supports full-duplex communication.</a:t>
            </a:r>
          </a:p>
          <a:p>
            <a:pPr marL="0" indent="0">
              <a:buNone/>
            </a:pPr>
            <a:endParaRPr lang="en-US" dirty="0"/>
          </a:p>
        </p:txBody>
      </p:sp>
    </p:spTree>
    <p:extLst>
      <p:ext uri="{BB962C8B-B14F-4D97-AF65-F5344CB8AC3E}">
        <p14:creationId xmlns:p14="http://schemas.microsoft.com/office/powerpoint/2010/main" val="1952756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571752"/>
            <a:ext cx="6508377" cy="1143000"/>
          </a:xfrm>
        </p:spPr>
        <p:txBody>
          <a:bodyPr/>
          <a:lstStyle/>
          <a:p>
            <a:r>
              <a:rPr lang="en-US" sz="3200" dirty="0"/>
              <a:t>HDLC</a:t>
            </a:r>
          </a:p>
        </p:txBody>
      </p:sp>
      <p:sp>
        <p:nvSpPr>
          <p:cNvPr id="3" name="Content Placeholder 2"/>
          <p:cNvSpPr>
            <a:spLocks noGrp="1"/>
          </p:cNvSpPr>
          <p:nvPr>
            <p:ph idx="1"/>
          </p:nvPr>
        </p:nvSpPr>
        <p:spPr>
          <a:xfrm>
            <a:off x="498474" y="2156667"/>
            <a:ext cx="8177293" cy="3969496"/>
          </a:xfrm>
        </p:spPr>
        <p:txBody>
          <a:bodyPr/>
          <a:lstStyle/>
          <a:p>
            <a:r>
              <a:rPr lang="en-US" dirty="0">
                <a:latin typeface="Arial"/>
                <a:cs typeface="Arial"/>
              </a:rPr>
              <a:t>The protocol uses the services of a physical layer, and provides either a best effort or reliable communications path between the transmitter and receiver (i.e. with acknowledged data transfer). </a:t>
            </a:r>
          </a:p>
          <a:p>
            <a:r>
              <a:rPr lang="en-US" dirty="0">
                <a:latin typeface="Arial"/>
                <a:cs typeface="Arial"/>
              </a:rPr>
              <a:t>No authentication can be used with HDLC.</a:t>
            </a:r>
          </a:p>
          <a:p>
            <a:r>
              <a:rPr lang="en-US" dirty="0">
                <a:latin typeface="Arial"/>
                <a:cs typeface="Arial"/>
              </a:rPr>
              <a:t>Many protocol suites use an HDLC (or HDLC-based) link layer, including X.25, the IP point-to-point protocol (PPP) and SNA.</a:t>
            </a:r>
          </a:p>
          <a:p>
            <a:endParaRPr lang="en-US" dirty="0"/>
          </a:p>
          <a:p>
            <a:endParaRPr lang="en-US" dirty="0"/>
          </a:p>
        </p:txBody>
      </p:sp>
      <p:pic>
        <p:nvPicPr>
          <p:cNvPr id="4" name="Picture 3"/>
          <p:cNvPicPr>
            <a:picLocks noChangeAspect="1"/>
          </p:cNvPicPr>
          <p:nvPr/>
        </p:nvPicPr>
        <p:blipFill>
          <a:blip r:embed="rId2"/>
          <a:stretch>
            <a:fillRect/>
          </a:stretch>
        </p:blipFill>
        <p:spPr>
          <a:xfrm>
            <a:off x="1270149" y="5316363"/>
            <a:ext cx="6522972" cy="1197258"/>
          </a:xfrm>
          <a:prstGeom prst="rect">
            <a:avLst/>
          </a:prstGeom>
        </p:spPr>
      </p:pic>
    </p:spTree>
    <p:extLst>
      <p:ext uri="{BB962C8B-B14F-4D97-AF65-F5344CB8AC3E}">
        <p14:creationId xmlns:p14="http://schemas.microsoft.com/office/powerpoint/2010/main" val="1649894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32219"/>
            <a:ext cx="6508377" cy="1143000"/>
          </a:xfrm>
        </p:spPr>
        <p:txBody>
          <a:bodyPr/>
          <a:lstStyle/>
          <a:p>
            <a:r>
              <a:rPr lang="en-US" sz="3200" dirty="0"/>
              <a:t>HDLC Encapsulation</a:t>
            </a:r>
          </a:p>
        </p:txBody>
      </p:sp>
      <p:sp>
        <p:nvSpPr>
          <p:cNvPr id="3" name="Content Placeholder 2"/>
          <p:cNvSpPr>
            <a:spLocks noGrp="1"/>
          </p:cNvSpPr>
          <p:nvPr>
            <p:ph idx="1"/>
          </p:nvPr>
        </p:nvSpPr>
        <p:spPr>
          <a:xfrm>
            <a:off x="457199" y="2209800"/>
            <a:ext cx="7937365" cy="3916363"/>
          </a:xfrm>
        </p:spPr>
        <p:txBody>
          <a:bodyPr/>
          <a:lstStyle/>
          <a:p>
            <a:r>
              <a:rPr lang="en-US" dirty="0">
                <a:latin typeface="Arial"/>
                <a:cs typeface="Arial"/>
              </a:rPr>
              <a:t>HDLC defines a Layer 2 framing structure that allows for flow control and error control through the use of acknowledgments (just on multipoint). </a:t>
            </a:r>
          </a:p>
          <a:p>
            <a:r>
              <a:rPr lang="en-US" dirty="0">
                <a:latin typeface="Arial"/>
                <a:cs typeface="Arial"/>
              </a:rPr>
              <a:t>Each frame has the same format, whether it is a data frame or a control frame.</a:t>
            </a:r>
          </a:p>
          <a:p>
            <a:endParaRPr lang="en-US" dirty="0"/>
          </a:p>
        </p:txBody>
      </p:sp>
      <p:pic>
        <p:nvPicPr>
          <p:cNvPr id="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46342"/>
          <a:stretch/>
        </p:blipFill>
        <p:spPr bwMode="auto">
          <a:xfrm>
            <a:off x="498474" y="4709904"/>
            <a:ext cx="7896090" cy="19465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280173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42900"/>
            <a:ext cx="6508377" cy="1143000"/>
          </a:xfrm>
        </p:spPr>
        <p:txBody>
          <a:bodyPr/>
          <a:lstStyle/>
          <a:p>
            <a:r>
              <a:rPr lang="en-US" dirty="0"/>
              <a:t>HDLC Encapsulation</a:t>
            </a:r>
          </a:p>
        </p:txBody>
      </p:sp>
      <p:sp>
        <p:nvSpPr>
          <p:cNvPr id="3" name="Content Placeholder 2"/>
          <p:cNvSpPr>
            <a:spLocks noGrp="1"/>
          </p:cNvSpPr>
          <p:nvPr>
            <p:ph idx="1"/>
          </p:nvPr>
        </p:nvSpPr>
        <p:spPr>
          <a:xfrm>
            <a:off x="357370" y="1795418"/>
            <a:ext cx="8411194" cy="4921492"/>
          </a:xfrm>
        </p:spPr>
        <p:txBody>
          <a:bodyPr>
            <a:normAutofit/>
          </a:bodyPr>
          <a:lstStyle/>
          <a:p>
            <a:r>
              <a:rPr lang="en-US" b="1" dirty="0">
                <a:solidFill>
                  <a:schemeClr val="accent1"/>
                </a:solidFill>
                <a:latin typeface="Arial"/>
                <a:cs typeface="Arial"/>
              </a:rPr>
              <a:t>Flag :  </a:t>
            </a:r>
          </a:p>
          <a:p>
            <a:pPr lvl="1"/>
            <a:r>
              <a:rPr lang="en-US" dirty="0">
                <a:latin typeface="Arial"/>
                <a:cs typeface="Arial"/>
              </a:rPr>
              <a:t>The frame always starts and ends with an 8-bit Flag field. </a:t>
            </a:r>
          </a:p>
          <a:p>
            <a:pPr lvl="1"/>
            <a:r>
              <a:rPr lang="en-US" dirty="0">
                <a:latin typeface="Arial"/>
                <a:cs typeface="Arial"/>
              </a:rPr>
              <a:t>The bit pattern is 01111110.  </a:t>
            </a:r>
          </a:p>
          <a:p>
            <a:pPr lvl="1"/>
            <a:r>
              <a:rPr lang="en-US" dirty="0">
                <a:latin typeface="Arial"/>
                <a:cs typeface="Arial"/>
              </a:rPr>
              <a:t>The Flag field initiates and terminates error checking. </a:t>
            </a:r>
          </a:p>
          <a:p>
            <a:r>
              <a:rPr lang="en-US" dirty="0">
                <a:solidFill>
                  <a:srgbClr val="663366"/>
                </a:solidFill>
                <a:latin typeface="Arial"/>
                <a:cs typeface="Arial"/>
              </a:rPr>
              <a:t>Transparency</a:t>
            </a:r>
          </a:p>
          <a:p>
            <a:pPr lvl="1"/>
            <a:r>
              <a:rPr lang="en-US" dirty="0">
                <a:latin typeface="Arial"/>
                <a:cs typeface="Arial"/>
              </a:rPr>
              <a:t>The flag sequence must never occur within the content of a frame. </a:t>
            </a:r>
          </a:p>
          <a:p>
            <a:pPr lvl="1"/>
            <a:r>
              <a:rPr lang="en-US" dirty="0">
                <a:latin typeface="Arial"/>
                <a:cs typeface="Arial"/>
              </a:rPr>
              <a:t>A technique known as 0-bit insertion (</a:t>
            </a:r>
            <a:r>
              <a:rPr lang="en-US" i="1" dirty="0">
                <a:solidFill>
                  <a:srgbClr val="663366"/>
                </a:solidFill>
                <a:latin typeface="Arial"/>
                <a:cs typeface="Arial"/>
              </a:rPr>
              <a:t>bit stuffing</a:t>
            </a:r>
            <a:r>
              <a:rPr lang="en-US" dirty="0">
                <a:latin typeface="Arial"/>
                <a:cs typeface="Arial"/>
              </a:rPr>
              <a:t>)  is used to prevent random data synthesizing a flag.</a:t>
            </a:r>
          </a:p>
          <a:p>
            <a:pPr lvl="1"/>
            <a:r>
              <a:rPr lang="en-US" dirty="0">
                <a:latin typeface="Arial"/>
                <a:cs typeface="Arial"/>
              </a:rPr>
              <a:t>This  technique make HDLC </a:t>
            </a:r>
            <a:r>
              <a:rPr lang="en-US" i="1" dirty="0">
                <a:solidFill>
                  <a:srgbClr val="663366"/>
                </a:solidFill>
                <a:latin typeface="Arial"/>
                <a:cs typeface="Arial"/>
              </a:rPr>
              <a:t>transparent</a:t>
            </a:r>
            <a:r>
              <a:rPr lang="en-US" dirty="0">
                <a:latin typeface="Arial"/>
                <a:cs typeface="Arial"/>
              </a:rPr>
              <a:t>, since any stream of bits may be present between the open and closing flag of a frame. </a:t>
            </a:r>
          </a:p>
          <a:p>
            <a:pPr lvl="1"/>
            <a:r>
              <a:rPr lang="en-US" dirty="0">
                <a:latin typeface="Arial"/>
                <a:cs typeface="Arial"/>
              </a:rPr>
              <a:t>The receiving system strips out the inserted bits. </a:t>
            </a:r>
          </a:p>
          <a:p>
            <a:r>
              <a:rPr lang="en-US" dirty="0">
                <a:latin typeface="Arial"/>
                <a:cs typeface="Arial"/>
              </a:rPr>
              <a:t>When frames are transmitted consecutively, the end flag of the first frame is used as the start flag of the next frame.</a:t>
            </a:r>
          </a:p>
          <a:p>
            <a:endParaRPr lang="en-US" dirty="0"/>
          </a:p>
        </p:txBody>
      </p:sp>
    </p:spTree>
    <p:extLst>
      <p:ext uri="{BB962C8B-B14F-4D97-AF65-F5344CB8AC3E}">
        <p14:creationId xmlns:p14="http://schemas.microsoft.com/office/powerpoint/2010/main" val="774315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Bit stuffing </a:t>
            </a:r>
          </a:p>
        </p:txBody>
      </p:sp>
      <p:sp>
        <p:nvSpPr>
          <p:cNvPr id="3" name="Content Placeholder 2"/>
          <p:cNvSpPr>
            <a:spLocks noGrp="1"/>
          </p:cNvSpPr>
          <p:nvPr>
            <p:ph idx="1"/>
          </p:nvPr>
        </p:nvSpPr>
        <p:spPr>
          <a:xfrm>
            <a:off x="457199" y="2209800"/>
            <a:ext cx="8069474" cy="3916363"/>
          </a:xfrm>
        </p:spPr>
        <p:txBody>
          <a:bodyPr/>
          <a:lstStyle/>
          <a:p>
            <a:r>
              <a:rPr lang="en-US" dirty="0">
                <a:latin typeface="Arial"/>
                <a:cs typeface="Arial"/>
              </a:rPr>
              <a:t>Bit stuffing is the process of adding one extra 0 whenever five consecutive 1s follow a 0 in the data, so that the receiver does not mistake the pattern 0111110 for a flag.</a:t>
            </a:r>
          </a:p>
          <a:p>
            <a:endParaRPr lang="en-US"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353" y="3548341"/>
            <a:ext cx="6973699" cy="306779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820880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42900"/>
            <a:ext cx="6508377" cy="1143000"/>
          </a:xfrm>
        </p:spPr>
        <p:txBody>
          <a:bodyPr/>
          <a:lstStyle/>
          <a:p>
            <a:r>
              <a:rPr lang="en-US" dirty="0"/>
              <a:t>HDLC Encapsulation</a:t>
            </a:r>
          </a:p>
        </p:txBody>
      </p:sp>
      <p:sp>
        <p:nvSpPr>
          <p:cNvPr id="3" name="Content Placeholder 2"/>
          <p:cNvSpPr>
            <a:spLocks noGrp="1"/>
          </p:cNvSpPr>
          <p:nvPr>
            <p:ph idx="1"/>
          </p:nvPr>
        </p:nvSpPr>
        <p:spPr>
          <a:xfrm>
            <a:off x="498474" y="1785893"/>
            <a:ext cx="7556313" cy="4878444"/>
          </a:xfrm>
        </p:spPr>
        <p:txBody>
          <a:bodyPr>
            <a:normAutofit/>
          </a:bodyPr>
          <a:lstStyle/>
          <a:p>
            <a:r>
              <a:rPr lang="en-US" b="1" dirty="0">
                <a:solidFill>
                  <a:srgbClr val="663366"/>
                </a:solidFill>
                <a:latin typeface="Arial"/>
                <a:cs typeface="Arial"/>
              </a:rPr>
              <a:t>Address</a:t>
            </a:r>
            <a:r>
              <a:rPr lang="en-US" dirty="0">
                <a:latin typeface="Arial"/>
                <a:cs typeface="Arial"/>
              </a:rPr>
              <a:t>:</a:t>
            </a:r>
          </a:p>
          <a:p>
            <a:pPr lvl="1"/>
            <a:r>
              <a:rPr lang="en-US" dirty="0">
                <a:latin typeface="Arial"/>
                <a:cs typeface="Arial"/>
              </a:rPr>
              <a:t>This field is not needed for point-to-point links, but is always included for the sake of uniformity. </a:t>
            </a:r>
          </a:p>
          <a:p>
            <a:pPr marL="228600" lvl="1" indent="0">
              <a:buNone/>
            </a:pPr>
            <a:endParaRPr lang="en-US" dirty="0">
              <a:latin typeface="Arial"/>
              <a:cs typeface="Arial"/>
            </a:endParaRPr>
          </a:p>
          <a:p>
            <a:r>
              <a:rPr lang="en-US" b="1" dirty="0">
                <a:solidFill>
                  <a:srgbClr val="663366"/>
                </a:solidFill>
                <a:latin typeface="Arial"/>
                <a:cs typeface="Arial"/>
              </a:rPr>
              <a:t>Control Field:</a:t>
            </a:r>
          </a:p>
          <a:p>
            <a:pPr lvl="1"/>
            <a:r>
              <a:rPr lang="en-US" dirty="0">
                <a:latin typeface="Arial"/>
                <a:cs typeface="Arial"/>
              </a:rPr>
              <a:t> It defines the three types of frames I,U and S Frame for HDLC.</a:t>
            </a:r>
          </a:p>
          <a:p>
            <a:pPr marL="228600" lvl="1" indent="0">
              <a:buNone/>
            </a:pPr>
            <a:endParaRPr lang="en-US" dirty="0">
              <a:latin typeface="Arial"/>
              <a:cs typeface="Arial"/>
            </a:endParaRPr>
          </a:p>
          <a:p>
            <a:r>
              <a:rPr lang="en-US" b="1" dirty="0">
                <a:solidFill>
                  <a:srgbClr val="663366"/>
                </a:solidFill>
                <a:latin typeface="Arial"/>
                <a:cs typeface="Arial"/>
              </a:rPr>
              <a:t>Frame Check Sequence (FCS)</a:t>
            </a:r>
          </a:p>
          <a:p>
            <a:pPr lvl="1"/>
            <a:r>
              <a:rPr lang="en-US" dirty="0">
                <a:latin typeface="Arial"/>
                <a:cs typeface="Arial"/>
              </a:rPr>
              <a:t> Is usually a cyclic redundancy check (CRC) calculation remainder. </a:t>
            </a:r>
          </a:p>
          <a:p>
            <a:pPr lvl="1"/>
            <a:r>
              <a:rPr lang="en-US" dirty="0">
                <a:latin typeface="Arial"/>
                <a:cs typeface="Arial"/>
              </a:rPr>
              <a:t>The CRC calculation is redone in the receiver. If the result differs from the value in the original frame, an error is assumed.</a:t>
            </a:r>
          </a:p>
          <a:p>
            <a:pPr marL="228600" lvl="1" indent="0">
              <a:buNone/>
            </a:pPr>
            <a:endParaRPr lang="en-US" dirty="0">
              <a:latin typeface="Arial"/>
              <a:cs typeface="Arial"/>
            </a:endParaRPr>
          </a:p>
        </p:txBody>
      </p:sp>
    </p:spTree>
    <p:extLst>
      <p:ext uri="{BB962C8B-B14F-4D97-AF65-F5344CB8AC3E}">
        <p14:creationId xmlns:p14="http://schemas.microsoft.com/office/powerpoint/2010/main" val="4030947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59596"/>
            <a:ext cx="6508377" cy="1143000"/>
          </a:xfrm>
        </p:spPr>
        <p:txBody>
          <a:bodyPr/>
          <a:lstStyle/>
          <a:p>
            <a:r>
              <a:rPr lang="en-US" dirty="0"/>
              <a:t>HDLC Encapsulation</a:t>
            </a:r>
          </a:p>
        </p:txBody>
      </p:sp>
      <p:sp>
        <p:nvSpPr>
          <p:cNvPr id="3" name="Content Placeholder 2"/>
          <p:cNvSpPr>
            <a:spLocks noGrp="1"/>
          </p:cNvSpPr>
          <p:nvPr>
            <p:ph idx="1"/>
          </p:nvPr>
        </p:nvSpPr>
        <p:spPr>
          <a:xfrm>
            <a:off x="457199" y="2527257"/>
            <a:ext cx="8058837" cy="3916363"/>
          </a:xfrm>
        </p:spPr>
        <p:txBody>
          <a:bodyPr/>
          <a:lstStyle/>
          <a:p>
            <a:r>
              <a:rPr lang="en-US" dirty="0">
                <a:latin typeface="Arial"/>
                <a:cs typeface="Arial"/>
              </a:rPr>
              <a:t>HDLC was not intended to encapsulate multiple Network layer protocols across the same link.</a:t>
            </a:r>
          </a:p>
          <a:p>
            <a:r>
              <a:rPr lang="en-US" dirty="0">
                <a:latin typeface="Arial"/>
                <a:cs typeface="Arial"/>
              </a:rPr>
              <a:t> The HDLC header carries no identification of the type of protocol being carried inside the HDLC encapsulation. </a:t>
            </a:r>
          </a:p>
          <a:p>
            <a:r>
              <a:rPr lang="en-US" dirty="0">
                <a:latin typeface="Arial"/>
                <a:cs typeface="Arial"/>
              </a:rPr>
              <a:t>Because of this, each vendor that uses HDLC has their own way of identifying the Network layer protocol, which means that each vendor’s HDLC is proprietary for their equipment</a:t>
            </a:r>
          </a:p>
        </p:txBody>
      </p:sp>
    </p:spTree>
    <p:extLst>
      <p:ext uri="{BB962C8B-B14F-4D97-AF65-F5344CB8AC3E}">
        <p14:creationId xmlns:p14="http://schemas.microsoft.com/office/powerpoint/2010/main" val="35766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CHDLC</a:t>
            </a:r>
          </a:p>
        </p:txBody>
      </p:sp>
      <p:sp>
        <p:nvSpPr>
          <p:cNvPr id="3" name="Content Placeholder 2"/>
          <p:cNvSpPr>
            <a:spLocks noGrp="1"/>
          </p:cNvSpPr>
          <p:nvPr>
            <p:ph idx="1"/>
          </p:nvPr>
        </p:nvSpPr>
        <p:spPr>
          <a:xfrm>
            <a:off x="457199" y="2209800"/>
            <a:ext cx="8004694" cy="3916363"/>
          </a:xfrm>
        </p:spPr>
        <p:txBody>
          <a:bodyPr/>
          <a:lstStyle/>
          <a:p>
            <a:r>
              <a:rPr lang="en-US" dirty="0">
                <a:latin typeface="Arial"/>
                <a:cs typeface="Arial"/>
              </a:rPr>
              <a:t>Cisco has developed an extension to the HDLC protocol (Cisco HLDC (CHDLC) )to solve the inability to provide multiprotocol support,.</a:t>
            </a:r>
          </a:p>
          <a:p>
            <a:r>
              <a:rPr lang="en-US" dirty="0">
                <a:latin typeface="Arial"/>
                <a:cs typeface="Arial"/>
              </a:rPr>
              <a:t>CHDLC frames contain a field for identifying the network protocol being encapsulated.</a:t>
            </a:r>
          </a:p>
          <a:p>
            <a:endParaRPr lang="en-US" dirty="0"/>
          </a:p>
        </p:txBody>
      </p:sp>
      <p:pic>
        <p:nvPicPr>
          <p:cNvPr id="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55724" b="-816"/>
          <a:stretch/>
        </p:blipFill>
        <p:spPr bwMode="auto">
          <a:xfrm>
            <a:off x="565803" y="4490360"/>
            <a:ext cx="7896090" cy="163580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245373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PPP Protocol</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01786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40921"/>
            <a:ext cx="6508377" cy="1143000"/>
          </a:xfrm>
        </p:spPr>
        <p:txBody>
          <a:bodyPr/>
          <a:lstStyle/>
          <a:p>
            <a:r>
              <a:rPr lang="en-US" dirty="0"/>
              <a:t>PPP</a:t>
            </a:r>
          </a:p>
        </p:txBody>
      </p:sp>
      <p:sp>
        <p:nvSpPr>
          <p:cNvPr id="3" name="Content Placeholder 2"/>
          <p:cNvSpPr>
            <a:spLocks noGrp="1"/>
          </p:cNvSpPr>
          <p:nvPr>
            <p:ph idx="1"/>
          </p:nvPr>
        </p:nvSpPr>
        <p:spPr>
          <a:xfrm>
            <a:off x="457199" y="2209800"/>
            <a:ext cx="8189565" cy="3916363"/>
          </a:xfrm>
        </p:spPr>
        <p:txBody>
          <a:bodyPr/>
          <a:lstStyle/>
          <a:p>
            <a:r>
              <a:rPr lang="en-US" dirty="0">
                <a:latin typeface="Arial"/>
                <a:cs typeface="Arial"/>
              </a:rPr>
              <a:t>Point-to-Point Protocol (PPP) is the name of a single protocol, whereas  the “PPP” can be used to refer to the entire suite of protocols that are related to PPP. </a:t>
            </a:r>
          </a:p>
          <a:p>
            <a:r>
              <a:rPr lang="en-US" dirty="0">
                <a:latin typeface="Arial"/>
                <a:cs typeface="Arial"/>
              </a:rPr>
              <a:t>The PPP protocol was developed by IETF as a means of transmitting data for </a:t>
            </a:r>
            <a:r>
              <a:rPr lang="en-US" dirty="0">
                <a:solidFill>
                  <a:schemeClr val="accent2">
                    <a:lumMod val="50000"/>
                    <a:lumOff val="50000"/>
                  </a:schemeClr>
                </a:solidFill>
                <a:latin typeface="Arial"/>
                <a:cs typeface="Arial"/>
              </a:rPr>
              <a:t>more than one network protocol </a:t>
            </a:r>
            <a:r>
              <a:rPr lang="en-US" dirty="0">
                <a:latin typeface="Arial"/>
                <a:cs typeface="Arial"/>
              </a:rPr>
              <a:t>over the same </a:t>
            </a:r>
            <a:r>
              <a:rPr lang="en-US" dirty="0">
                <a:solidFill>
                  <a:srgbClr val="B050D7"/>
                </a:solidFill>
                <a:latin typeface="Arial"/>
                <a:cs typeface="Arial"/>
              </a:rPr>
              <a:t>point-to-point serial link </a:t>
            </a:r>
            <a:r>
              <a:rPr lang="en-US" dirty="0">
                <a:latin typeface="Arial"/>
                <a:cs typeface="Arial"/>
              </a:rPr>
              <a:t>in a </a:t>
            </a:r>
            <a:r>
              <a:rPr lang="en-US" dirty="0">
                <a:solidFill>
                  <a:srgbClr val="B050D7"/>
                </a:solidFill>
                <a:latin typeface="Arial"/>
                <a:cs typeface="Arial"/>
              </a:rPr>
              <a:t>standard, vendor-independent way</a:t>
            </a:r>
            <a:r>
              <a:rPr lang="en-US" dirty="0">
                <a:latin typeface="Arial"/>
                <a:cs typeface="Arial"/>
              </a:rPr>
              <a:t>.</a:t>
            </a:r>
          </a:p>
          <a:p>
            <a:r>
              <a:rPr lang="en-US" dirty="0">
                <a:latin typeface="Arial"/>
                <a:cs typeface="Arial"/>
              </a:rPr>
              <a:t>It can carry IP, Novell IPX, AppleTalk, and </a:t>
            </a:r>
            <a:r>
              <a:rPr lang="en-US" dirty="0" err="1">
                <a:latin typeface="Arial"/>
                <a:cs typeface="Arial"/>
              </a:rPr>
              <a:t>DECnet</a:t>
            </a:r>
            <a:r>
              <a:rPr lang="en-US" dirty="0">
                <a:latin typeface="Arial"/>
                <a:cs typeface="Arial"/>
              </a:rPr>
              <a:t> traffic. </a:t>
            </a:r>
          </a:p>
          <a:p>
            <a:endParaRPr lang="en-US" dirty="0"/>
          </a:p>
        </p:txBody>
      </p:sp>
      <p:pic>
        <p:nvPicPr>
          <p:cNvPr id="4" name="Picture 3"/>
          <p:cNvPicPr>
            <a:picLocks noChangeAspect="1"/>
          </p:cNvPicPr>
          <p:nvPr/>
        </p:nvPicPr>
        <p:blipFill>
          <a:blip r:embed="rId2"/>
          <a:stretch>
            <a:fillRect/>
          </a:stretch>
        </p:blipFill>
        <p:spPr>
          <a:xfrm>
            <a:off x="1679181" y="5359410"/>
            <a:ext cx="5403517" cy="1058038"/>
          </a:xfrm>
          <a:prstGeom prst="rect">
            <a:avLst/>
          </a:prstGeom>
        </p:spPr>
      </p:pic>
    </p:spTree>
    <p:extLst>
      <p:ext uri="{BB962C8B-B14F-4D97-AF65-F5344CB8AC3E}">
        <p14:creationId xmlns:p14="http://schemas.microsoft.com/office/powerpoint/2010/main" val="1633984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PPP </a:t>
            </a:r>
          </a:p>
        </p:txBody>
      </p:sp>
      <p:sp>
        <p:nvSpPr>
          <p:cNvPr id="3" name="Content Placeholder 2"/>
          <p:cNvSpPr>
            <a:spLocks noGrp="1"/>
          </p:cNvSpPr>
          <p:nvPr>
            <p:ph idx="1"/>
          </p:nvPr>
        </p:nvSpPr>
        <p:spPr>
          <a:xfrm>
            <a:off x="457199" y="2209800"/>
            <a:ext cx="8002810" cy="3916363"/>
          </a:xfrm>
        </p:spPr>
        <p:txBody>
          <a:bodyPr>
            <a:normAutofit/>
          </a:bodyPr>
          <a:lstStyle/>
          <a:p>
            <a:pPr>
              <a:spcBef>
                <a:spcPts val="1200"/>
              </a:spcBef>
            </a:pPr>
            <a:r>
              <a:rPr lang="en-US" dirty="0">
                <a:latin typeface="Arial"/>
                <a:cs typeface="Arial"/>
              </a:rPr>
              <a:t>PPP also offers many features that HDLC does not including the following:</a:t>
            </a:r>
          </a:p>
          <a:p>
            <a:pPr lvl="1">
              <a:spcBef>
                <a:spcPts val="1200"/>
              </a:spcBef>
            </a:pPr>
            <a:r>
              <a:rPr lang="en-US" dirty="0">
                <a:solidFill>
                  <a:schemeClr val="tx1">
                    <a:lumMod val="75000"/>
                    <a:lumOff val="25000"/>
                  </a:schemeClr>
                </a:solidFill>
                <a:latin typeface="Arial"/>
                <a:cs typeface="Arial"/>
              </a:rPr>
              <a:t>Authentication through the Password Authentication Protocol (PAP) and the Challenge-Handshake Authentication Protocol (CHAP)</a:t>
            </a:r>
          </a:p>
          <a:p>
            <a:pPr lvl="1">
              <a:spcBef>
                <a:spcPts val="1200"/>
              </a:spcBef>
            </a:pPr>
            <a:r>
              <a:rPr lang="en-US" dirty="0">
                <a:solidFill>
                  <a:schemeClr val="tx1">
                    <a:lumMod val="75000"/>
                    <a:lumOff val="25000"/>
                  </a:schemeClr>
                </a:solidFill>
                <a:latin typeface="Arial"/>
                <a:cs typeface="Arial"/>
              </a:rPr>
              <a:t>Compression capabilities with Stacker or Predictor</a:t>
            </a:r>
          </a:p>
          <a:p>
            <a:pPr lvl="1">
              <a:spcBef>
                <a:spcPts val="1200"/>
              </a:spcBef>
            </a:pPr>
            <a:r>
              <a:rPr lang="en-US" dirty="0">
                <a:solidFill>
                  <a:schemeClr val="tx1">
                    <a:lumMod val="75000"/>
                    <a:lumOff val="25000"/>
                  </a:schemeClr>
                </a:solidFill>
                <a:latin typeface="Arial"/>
                <a:cs typeface="Arial"/>
              </a:rPr>
              <a:t>PPP Multilink, the ability to bundle physical channels into a single logical channel.</a:t>
            </a:r>
          </a:p>
          <a:p>
            <a:pPr lvl="1">
              <a:spcBef>
                <a:spcPts val="1200"/>
              </a:spcBef>
            </a:pPr>
            <a:r>
              <a:rPr lang="en-US" dirty="0">
                <a:solidFill>
                  <a:schemeClr val="tx1">
                    <a:lumMod val="75000"/>
                    <a:lumOff val="25000"/>
                  </a:schemeClr>
                </a:solidFill>
                <a:latin typeface="Arial"/>
                <a:cs typeface="Arial"/>
              </a:rPr>
              <a:t>Support for Error detection and error recovery features</a:t>
            </a:r>
          </a:p>
          <a:p>
            <a:pPr lvl="1">
              <a:spcBef>
                <a:spcPts val="1200"/>
              </a:spcBef>
            </a:pPr>
            <a:r>
              <a:rPr lang="en-US" dirty="0">
                <a:solidFill>
                  <a:schemeClr val="tx1">
                    <a:lumMod val="75000"/>
                    <a:lumOff val="25000"/>
                  </a:schemeClr>
                </a:solidFill>
                <a:latin typeface="Arial"/>
                <a:cs typeface="Arial"/>
              </a:rPr>
              <a:t>Encapsulation for multiple routed protocols, including IP, Novell IPX, and AppleTalk</a:t>
            </a:r>
          </a:p>
          <a:p>
            <a:pPr marL="0" indent="0">
              <a:buNone/>
            </a:pPr>
            <a:endParaRPr lang="en-US" dirty="0"/>
          </a:p>
        </p:txBody>
      </p:sp>
    </p:spTree>
    <p:extLst>
      <p:ext uri="{BB962C8B-B14F-4D97-AF65-F5344CB8AC3E}">
        <p14:creationId xmlns:p14="http://schemas.microsoft.com/office/powerpoint/2010/main" val="2130533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84899"/>
            <a:ext cx="6508377" cy="1143000"/>
          </a:xfrm>
        </p:spPr>
        <p:txBody>
          <a:bodyPr/>
          <a:lstStyle/>
          <a:p>
            <a:r>
              <a:rPr lang="en-US" dirty="0"/>
              <a:t>PPP </a:t>
            </a:r>
          </a:p>
        </p:txBody>
      </p:sp>
      <p:sp>
        <p:nvSpPr>
          <p:cNvPr id="3" name="Content Placeholder 2"/>
          <p:cNvSpPr>
            <a:spLocks noGrp="1"/>
          </p:cNvSpPr>
          <p:nvPr>
            <p:ph idx="1"/>
          </p:nvPr>
        </p:nvSpPr>
        <p:spPr>
          <a:xfrm>
            <a:off x="457199" y="2209800"/>
            <a:ext cx="7872082" cy="3916363"/>
          </a:xfrm>
        </p:spPr>
        <p:txBody>
          <a:bodyPr/>
          <a:lstStyle/>
          <a:p>
            <a:r>
              <a:rPr lang="en-US" dirty="0">
                <a:latin typeface="Arial"/>
                <a:cs typeface="Arial"/>
              </a:rPr>
              <a:t>PPP is a layered protocol, starting with </a:t>
            </a:r>
            <a:r>
              <a:rPr lang="en-US" dirty="0">
                <a:solidFill>
                  <a:srgbClr val="B050D7"/>
                </a:solidFill>
                <a:latin typeface="Arial"/>
                <a:cs typeface="Arial"/>
              </a:rPr>
              <a:t>a Link Control Protocol (LCP)</a:t>
            </a:r>
            <a:r>
              <a:rPr lang="en-US" dirty="0">
                <a:latin typeface="Arial"/>
                <a:cs typeface="Arial"/>
              </a:rPr>
              <a:t> for link establishment, configuration and testing. Once </a:t>
            </a:r>
            <a:r>
              <a:rPr lang="en-US" dirty="0">
                <a:solidFill>
                  <a:srgbClr val="404040"/>
                </a:solidFill>
                <a:latin typeface="Arial"/>
                <a:cs typeface="Arial"/>
              </a:rPr>
              <a:t>the LCP is initialized</a:t>
            </a:r>
            <a:r>
              <a:rPr lang="en-US" dirty="0">
                <a:latin typeface="Arial"/>
                <a:cs typeface="Arial"/>
              </a:rPr>
              <a:t>, one or many of several </a:t>
            </a:r>
            <a:r>
              <a:rPr lang="en-US" dirty="0">
                <a:solidFill>
                  <a:srgbClr val="B050D7"/>
                </a:solidFill>
                <a:latin typeface="Arial"/>
                <a:cs typeface="Arial"/>
              </a:rPr>
              <a:t>Network Control Protocols (NCPs) </a:t>
            </a:r>
            <a:r>
              <a:rPr lang="en-US" dirty="0">
                <a:latin typeface="Arial"/>
                <a:cs typeface="Arial"/>
              </a:rPr>
              <a:t>can be used to transport traffic for a particular protocol suite. </a:t>
            </a:r>
          </a:p>
        </p:txBody>
      </p:sp>
      <p:pic>
        <p:nvPicPr>
          <p:cNvPr id="4" name="Picture 3"/>
          <p:cNvPicPr>
            <a:picLocks noChangeAspect="1"/>
          </p:cNvPicPr>
          <p:nvPr/>
        </p:nvPicPr>
        <p:blipFill>
          <a:blip r:embed="rId3"/>
          <a:stretch>
            <a:fillRect/>
          </a:stretch>
        </p:blipFill>
        <p:spPr>
          <a:xfrm>
            <a:off x="2349878" y="3976980"/>
            <a:ext cx="5012683" cy="2480140"/>
          </a:xfrm>
          <a:prstGeom prst="rect">
            <a:avLst/>
          </a:prstGeom>
        </p:spPr>
      </p:pic>
    </p:spTree>
    <p:extLst>
      <p:ext uri="{BB962C8B-B14F-4D97-AF65-F5344CB8AC3E}">
        <p14:creationId xmlns:p14="http://schemas.microsoft.com/office/powerpoint/2010/main" val="3607152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84900"/>
            <a:ext cx="6508377" cy="1143000"/>
          </a:xfrm>
        </p:spPr>
        <p:txBody>
          <a:bodyPr/>
          <a:lstStyle/>
          <a:p>
            <a:r>
              <a:rPr lang="en-US" dirty="0"/>
              <a:t>PPP and PHY Layer</a:t>
            </a:r>
          </a:p>
        </p:txBody>
      </p:sp>
      <p:sp>
        <p:nvSpPr>
          <p:cNvPr id="3" name="Content Placeholder 2"/>
          <p:cNvSpPr>
            <a:spLocks noGrp="1"/>
          </p:cNvSpPr>
          <p:nvPr>
            <p:ph idx="1"/>
          </p:nvPr>
        </p:nvSpPr>
        <p:spPr>
          <a:xfrm>
            <a:off x="457199" y="2209800"/>
            <a:ext cx="8077512" cy="3916363"/>
          </a:xfrm>
        </p:spPr>
        <p:txBody>
          <a:bodyPr/>
          <a:lstStyle/>
          <a:p>
            <a:pPr>
              <a:lnSpc>
                <a:spcPct val="90000"/>
              </a:lnSpc>
            </a:pPr>
            <a:r>
              <a:rPr lang="en-US" dirty="0">
                <a:latin typeface="Arial"/>
                <a:cs typeface="Arial"/>
              </a:rPr>
              <a:t>PPP operates at the Data Link layer. </a:t>
            </a:r>
          </a:p>
          <a:p>
            <a:pPr>
              <a:lnSpc>
                <a:spcPct val="90000"/>
              </a:lnSpc>
            </a:pPr>
            <a:r>
              <a:rPr lang="en-US" dirty="0">
                <a:latin typeface="Arial"/>
                <a:cs typeface="Arial"/>
              </a:rPr>
              <a:t>At the physical layer, PPP can be used across synchronous (e.g., ISDN, leased lines) and asynchronous (e.g., modem dialup) data links.</a:t>
            </a:r>
          </a:p>
          <a:p>
            <a:endParaRPr lang="en-US" dirty="0"/>
          </a:p>
        </p:txBody>
      </p:sp>
      <p:pic>
        <p:nvPicPr>
          <p:cNvPr id="4" name="Picture 3"/>
          <p:cNvPicPr>
            <a:picLocks noChangeAspect="1"/>
          </p:cNvPicPr>
          <p:nvPr/>
        </p:nvPicPr>
        <p:blipFill>
          <a:blip r:embed="rId2"/>
          <a:stretch>
            <a:fillRect/>
          </a:stretch>
        </p:blipFill>
        <p:spPr>
          <a:xfrm>
            <a:off x="1915988" y="3917320"/>
            <a:ext cx="5188238" cy="2604372"/>
          </a:xfrm>
          <a:prstGeom prst="rect">
            <a:avLst/>
          </a:prstGeom>
        </p:spPr>
      </p:pic>
    </p:spTree>
    <p:extLst>
      <p:ext uri="{BB962C8B-B14F-4D97-AF65-F5344CB8AC3E}">
        <p14:creationId xmlns:p14="http://schemas.microsoft.com/office/powerpoint/2010/main" val="4166683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59595"/>
            <a:ext cx="6508377" cy="1143000"/>
          </a:xfrm>
        </p:spPr>
        <p:txBody>
          <a:bodyPr/>
          <a:lstStyle/>
          <a:p>
            <a:r>
              <a:rPr lang="en-US" dirty="0"/>
              <a:t>HOW PPP Work</a:t>
            </a:r>
          </a:p>
        </p:txBody>
      </p:sp>
      <p:sp>
        <p:nvSpPr>
          <p:cNvPr id="3" name="Content Placeholder 2"/>
          <p:cNvSpPr>
            <a:spLocks noGrp="1"/>
          </p:cNvSpPr>
          <p:nvPr>
            <p:ph idx="1"/>
          </p:nvPr>
        </p:nvSpPr>
        <p:spPr>
          <a:xfrm>
            <a:off x="457199" y="2209800"/>
            <a:ext cx="8021486" cy="3916363"/>
          </a:xfrm>
        </p:spPr>
        <p:txBody>
          <a:bodyPr/>
          <a:lstStyle/>
          <a:p>
            <a:r>
              <a:rPr lang="en-US" dirty="0">
                <a:latin typeface="Arial"/>
                <a:cs typeface="Arial"/>
              </a:rPr>
              <a:t>The mechanism that PPP uses to carry network traffic is to open a link with a short exchange of packets.</a:t>
            </a:r>
          </a:p>
          <a:p>
            <a:r>
              <a:rPr lang="en-US" dirty="0">
                <a:latin typeface="Arial"/>
                <a:cs typeface="Arial"/>
              </a:rPr>
              <a:t>Once the link is open, network traffic is carried with very little overhead. Frames are sent as unnumbered information frames, meaning that no data link </a:t>
            </a:r>
            <a:r>
              <a:rPr lang="en-US" dirty="0">
                <a:solidFill>
                  <a:srgbClr val="404040"/>
                </a:solidFill>
                <a:latin typeface="Arial"/>
                <a:cs typeface="Arial"/>
              </a:rPr>
              <a:t>acknowledgement is required and no retransmissions are carried out.</a:t>
            </a:r>
            <a:endParaRPr lang="en-US" dirty="0">
              <a:latin typeface="Arial"/>
              <a:cs typeface="Arial"/>
            </a:endParaRPr>
          </a:p>
          <a:p>
            <a:r>
              <a:rPr lang="en-US" dirty="0">
                <a:latin typeface="Arial"/>
                <a:cs typeface="Arial"/>
              </a:rPr>
              <a:t>So once the link is established, PPP acts as a straight data pipe for protocols.</a:t>
            </a:r>
          </a:p>
          <a:p>
            <a:endParaRPr lang="en-US" dirty="0">
              <a:latin typeface="Arial"/>
              <a:cs typeface="Arial"/>
            </a:endParaRPr>
          </a:p>
        </p:txBody>
      </p:sp>
    </p:spTree>
    <p:extLst>
      <p:ext uri="{BB962C8B-B14F-4D97-AF65-F5344CB8AC3E}">
        <p14:creationId xmlns:p14="http://schemas.microsoft.com/office/powerpoint/2010/main" val="274484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PPP Components</a:t>
            </a:r>
          </a:p>
        </p:txBody>
      </p:sp>
      <p:pic>
        <p:nvPicPr>
          <p:cNvPr id="4" name="Picture 3" descr="ppp2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84920" y="3258319"/>
            <a:ext cx="6037927" cy="2667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TextBox 2"/>
          <p:cNvSpPr txBox="1"/>
          <p:nvPr/>
        </p:nvSpPr>
        <p:spPr>
          <a:xfrm flipH="1">
            <a:off x="1918587" y="4126084"/>
            <a:ext cx="945799" cy="369332"/>
          </a:xfrm>
          <a:prstGeom prst="rect">
            <a:avLst/>
          </a:prstGeom>
          <a:noFill/>
        </p:spPr>
        <p:txBody>
          <a:bodyPr wrap="square" rtlCol="0">
            <a:spAutoFit/>
          </a:bodyPr>
          <a:lstStyle/>
          <a:p>
            <a:r>
              <a:rPr lang="en-US" dirty="0"/>
              <a:t>pap</a:t>
            </a:r>
          </a:p>
        </p:txBody>
      </p:sp>
    </p:spTree>
    <p:extLst>
      <p:ext uri="{BB962C8B-B14F-4D97-AF65-F5344CB8AC3E}">
        <p14:creationId xmlns:p14="http://schemas.microsoft.com/office/powerpoint/2010/main" val="2945600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457199" y="596944"/>
            <a:ext cx="6508377" cy="1143000"/>
          </a:xfrm>
        </p:spPr>
        <p:txBody>
          <a:bodyPr/>
          <a:lstStyle/>
          <a:p>
            <a:r>
              <a:rPr lang="en-US" dirty="0"/>
              <a:t>PPP Components</a:t>
            </a:r>
            <a:endParaRPr lang="en-US" dirty="0">
              <a:effectLst>
                <a:outerShdw blurRad="38100" dist="38100" dir="2700000" algn="tl">
                  <a:srgbClr val="FFFFFF"/>
                </a:outerShdw>
              </a:effectLst>
              <a:latin typeface="Arial" charset="0"/>
            </a:endParaRPr>
          </a:p>
        </p:txBody>
      </p:sp>
      <p:sp>
        <p:nvSpPr>
          <p:cNvPr id="214019" name="Rectangle 3"/>
          <p:cNvSpPr>
            <a:spLocks noGrp="1" noChangeArrowheads="1"/>
          </p:cNvSpPr>
          <p:nvPr>
            <p:ph idx="1"/>
          </p:nvPr>
        </p:nvSpPr>
        <p:spPr>
          <a:xfrm>
            <a:off x="457199" y="2209800"/>
            <a:ext cx="8189565" cy="3916363"/>
          </a:xfrm>
        </p:spPr>
        <p:txBody>
          <a:bodyPr>
            <a:normAutofit/>
          </a:bodyPr>
          <a:lstStyle/>
          <a:p>
            <a:pPr marL="457200" lvl="1" indent="0" eaLnBrk="1" hangingPunct="1">
              <a:buNone/>
              <a:defRPr/>
            </a:pPr>
            <a:r>
              <a:rPr lang="en-US" dirty="0">
                <a:latin typeface="Arial"/>
                <a:cs typeface="Arial"/>
              </a:rPr>
              <a:t>Three main components:</a:t>
            </a:r>
          </a:p>
          <a:p>
            <a:pPr lvl="1" eaLnBrk="1" hangingPunct="1">
              <a:defRPr/>
            </a:pPr>
            <a:r>
              <a:rPr lang="en-US" dirty="0">
                <a:solidFill>
                  <a:srgbClr val="0000FF"/>
                </a:solidFill>
                <a:latin typeface="Arial"/>
                <a:cs typeface="Arial"/>
              </a:rPr>
              <a:t>LCP:</a:t>
            </a:r>
          </a:p>
          <a:p>
            <a:pPr lvl="2">
              <a:defRPr/>
            </a:pPr>
            <a:r>
              <a:rPr lang="en-US" dirty="0">
                <a:latin typeface="Arial"/>
                <a:cs typeface="Arial"/>
              </a:rPr>
              <a:t>To </a:t>
            </a:r>
            <a:r>
              <a:rPr lang="en-US" dirty="0">
                <a:solidFill>
                  <a:srgbClr val="FF6600"/>
                </a:solidFill>
                <a:latin typeface="Arial"/>
                <a:cs typeface="Arial"/>
              </a:rPr>
              <a:t>establish</a:t>
            </a:r>
            <a:r>
              <a:rPr lang="en-US" dirty="0">
                <a:latin typeface="Arial"/>
                <a:cs typeface="Arial"/>
              </a:rPr>
              <a:t>, </a:t>
            </a:r>
            <a:r>
              <a:rPr lang="en-US" dirty="0">
                <a:solidFill>
                  <a:schemeClr val="accent1">
                    <a:lumMod val="60000"/>
                    <a:lumOff val="40000"/>
                  </a:schemeClr>
                </a:solidFill>
                <a:latin typeface="Arial"/>
                <a:cs typeface="Arial"/>
              </a:rPr>
              <a:t>configure</a:t>
            </a:r>
            <a:r>
              <a:rPr lang="en-US" dirty="0">
                <a:latin typeface="Arial"/>
                <a:cs typeface="Arial"/>
              </a:rPr>
              <a:t>, </a:t>
            </a:r>
            <a:r>
              <a:rPr lang="en-US" dirty="0">
                <a:solidFill>
                  <a:srgbClr val="008000"/>
                </a:solidFill>
                <a:latin typeface="Arial"/>
                <a:cs typeface="Arial"/>
              </a:rPr>
              <a:t>maintain</a:t>
            </a:r>
            <a:r>
              <a:rPr lang="en-US" dirty="0">
                <a:latin typeface="Arial"/>
                <a:cs typeface="Arial"/>
              </a:rPr>
              <a:t> and </a:t>
            </a:r>
            <a:r>
              <a:rPr lang="en-US" dirty="0">
                <a:solidFill>
                  <a:srgbClr val="3366FF"/>
                </a:solidFill>
                <a:latin typeface="Arial"/>
                <a:cs typeface="Arial"/>
              </a:rPr>
              <a:t>terminate </a:t>
            </a:r>
            <a:r>
              <a:rPr lang="en-US" dirty="0">
                <a:latin typeface="Arial"/>
                <a:cs typeface="Arial"/>
              </a:rPr>
              <a:t>the data link connection.</a:t>
            </a:r>
          </a:p>
          <a:p>
            <a:pPr lvl="1" eaLnBrk="1" hangingPunct="1">
              <a:defRPr/>
            </a:pPr>
            <a:r>
              <a:rPr lang="en-US" dirty="0">
                <a:solidFill>
                  <a:srgbClr val="0000FF"/>
                </a:solidFill>
                <a:latin typeface="Arial"/>
                <a:cs typeface="Arial"/>
              </a:rPr>
              <a:t>NCPs:</a:t>
            </a:r>
          </a:p>
          <a:p>
            <a:pPr lvl="2" eaLnBrk="1" hangingPunct="1">
              <a:defRPr/>
            </a:pPr>
            <a:r>
              <a:rPr lang="en-US" dirty="0">
                <a:latin typeface="Arial"/>
                <a:cs typeface="Arial"/>
              </a:rPr>
              <a:t>Family of NCPs for establishing and configuring different network layer protocols. </a:t>
            </a:r>
          </a:p>
          <a:p>
            <a:pPr lvl="2">
              <a:defRPr/>
            </a:pPr>
            <a:r>
              <a:rPr lang="en-US" dirty="0">
                <a:latin typeface="Arial"/>
                <a:cs typeface="Arial"/>
              </a:rPr>
              <a:t>Allows simultaneous use of multiple Network layer protocols</a:t>
            </a:r>
          </a:p>
          <a:p>
            <a:pPr lvl="2" eaLnBrk="1" hangingPunct="1">
              <a:defRPr/>
            </a:pPr>
            <a:endParaRPr lang="en-US" dirty="0"/>
          </a:p>
          <a:p>
            <a:pPr lvl="2" eaLnBrk="1" hangingPunct="1">
              <a:defRPr/>
            </a:pPr>
            <a:endParaRPr lang="en-US" dirty="0"/>
          </a:p>
        </p:txBody>
      </p:sp>
    </p:spTree>
    <p:extLst>
      <p:ext uri="{BB962C8B-B14F-4D97-AF65-F5344CB8AC3E}">
        <p14:creationId xmlns:p14="http://schemas.microsoft.com/office/powerpoint/2010/main" val="2238113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Encapsulation</a:t>
            </a:r>
          </a:p>
        </p:txBody>
      </p:sp>
      <p:sp>
        <p:nvSpPr>
          <p:cNvPr id="5" name="Content Placeholder 4"/>
          <p:cNvSpPr>
            <a:spLocks noGrp="1"/>
          </p:cNvSpPr>
          <p:nvPr>
            <p:ph idx="1"/>
          </p:nvPr>
        </p:nvSpPr>
        <p:spPr>
          <a:xfrm>
            <a:off x="457199" y="2209800"/>
            <a:ext cx="8282943" cy="3916363"/>
          </a:xfrm>
        </p:spPr>
        <p:txBody>
          <a:bodyPr/>
          <a:lstStyle/>
          <a:p>
            <a:r>
              <a:rPr lang="en-US" dirty="0">
                <a:latin typeface="Arial"/>
                <a:cs typeface="Arial"/>
              </a:rPr>
              <a:t>PPP defines </a:t>
            </a:r>
            <a:r>
              <a:rPr lang="en-US" dirty="0">
                <a:solidFill>
                  <a:schemeClr val="accent6"/>
                </a:solidFill>
                <a:latin typeface="Arial"/>
                <a:cs typeface="Arial"/>
              </a:rPr>
              <a:t>a Protocol Type </a:t>
            </a:r>
            <a:r>
              <a:rPr lang="en-US" dirty="0">
                <a:latin typeface="Arial"/>
                <a:cs typeface="Arial"/>
              </a:rPr>
              <a:t>field.</a:t>
            </a:r>
          </a:p>
          <a:p>
            <a:r>
              <a:rPr lang="en-US" dirty="0">
                <a:latin typeface="Arial"/>
                <a:cs typeface="Arial"/>
              </a:rPr>
              <a:t>The protocol type field identifies the type of packet inside the frame,. The following shows a PPP frame.</a:t>
            </a:r>
          </a:p>
        </p:txBody>
      </p:sp>
      <p:pic>
        <p:nvPicPr>
          <p:cNvPr id="6" name="Picture 5"/>
          <p:cNvPicPr>
            <a:picLocks noChangeAspect="1"/>
          </p:cNvPicPr>
          <p:nvPr/>
        </p:nvPicPr>
        <p:blipFill>
          <a:blip r:embed="rId2"/>
          <a:stretch>
            <a:fillRect/>
          </a:stretch>
        </p:blipFill>
        <p:spPr>
          <a:xfrm>
            <a:off x="0" y="3972048"/>
            <a:ext cx="9144000" cy="2154115"/>
          </a:xfrm>
          <a:prstGeom prst="rect">
            <a:avLst/>
          </a:prstGeom>
        </p:spPr>
      </p:pic>
    </p:spTree>
    <p:extLst>
      <p:ext uri="{BB962C8B-B14F-4D97-AF65-F5344CB8AC3E}">
        <p14:creationId xmlns:p14="http://schemas.microsoft.com/office/powerpoint/2010/main" val="2422716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463863" y="262012"/>
            <a:ext cx="7556313" cy="1116106"/>
          </a:xfrm>
        </p:spPr>
        <p:txBody>
          <a:bodyPr/>
          <a:lstStyle/>
          <a:p>
            <a:r>
              <a:rPr lang="en-US" dirty="0"/>
              <a:t>PPP Data Frame</a:t>
            </a:r>
          </a:p>
        </p:txBody>
      </p:sp>
      <p:sp>
        <p:nvSpPr>
          <p:cNvPr id="197635" name="Rectangle 3"/>
          <p:cNvSpPr>
            <a:spLocks noGrp="1" noChangeArrowheads="1"/>
          </p:cNvSpPr>
          <p:nvPr>
            <p:ph idx="1"/>
          </p:nvPr>
        </p:nvSpPr>
        <p:spPr>
          <a:xfrm>
            <a:off x="463863" y="2249094"/>
            <a:ext cx="8145550" cy="4144963"/>
          </a:xfrm>
        </p:spPr>
        <p:txBody>
          <a:bodyPr>
            <a:normAutofit/>
          </a:bodyPr>
          <a:lstStyle/>
          <a:p>
            <a:r>
              <a:rPr lang="en-US" dirty="0">
                <a:solidFill>
                  <a:srgbClr val="FF0000"/>
                </a:solidFill>
                <a:latin typeface="Arial"/>
                <a:cs typeface="Arial"/>
              </a:rPr>
              <a:t>Flag:</a:t>
            </a:r>
            <a:r>
              <a:rPr lang="en-US" dirty="0">
                <a:latin typeface="Arial"/>
                <a:cs typeface="Arial"/>
              </a:rPr>
              <a:t> delimiter (framing)</a:t>
            </a:r>
          </a:p>
          <a:p>
            <a:r>
              <a:rPr lang="en-US" dirty="0">
                <a:solidFill>
                  <a:srgbClr val="FF0000"/>
                </a:solidFill>
                <a:latin typeface="Arial"/>
                <a:cs typeface="Arial"/>
              </a:rPr>
              <a:t>Address:</a:t>
            </a:r>
            <a:r>
              <a:rPr lang="en-US" dirty="0">
                <a:latin typeface="Arial"/>
                <a:cs typeface="Arial"/>
              </a:rPr>
              <a:t>  does nothing (only one option)</a:t>
            </a:r>
          </a:p>
          <a:p>
            <a:r>
              <a:rPr lang="en-US" dirty="0">
                <a:solidFill>
                  <a:srgbClr val="FF0000"/>
                </a:solidFill>
                <a:latin typeface="Arial"/>
                <a:cs typeface="Arial"/>
              </a:rPr>
              <a:t>Control:</a:t>
            </a:r>
            <a:r>
              <a:rPr lang="en-US" dirty="0">
                <a:latin typeface="Arial"/>
                <a:cs typeface="Arial"/>
              </a:rPr>
              <a:t> does nothing; in the future possible multiple control fields</a:t>
            </a:r>
          </a:p>
          <a:p>
            <a:r>
              <a:rPr lang="en-US" dirty="0">
                <a:solidFill>
                  <a:srgbClr val="FF0000"/>
                </a:solidFill>
                <a:latin typeface="Arial"/>
                <a:cs typeface="Arial"/>
              </a:rPr>
              <a:t>Protocol:</a:t>
            </a:r>
            <a:r>
              <a:rPr lang="en-US" dirty="0">
                <a:latin typeface="Arial"/>
                <a:cs typeface="Arial"/>
              </a:rPr>
              <a:t> upper layer protocol to which frame delivered (</a:t>
            </a:r>
            <a:r>
              <a:rPr lang="en-US" dirty="0" err="1">
                <a:latin typeface="Arial"/>
                <a:cs typeface="Arial"/>
              </a:rPr>
              <a:t>eg</a:t>
            </a:r>
            <a:r>
              <a:rPr lang="en-US" dirty="0">
                <a:latin typeface="Arial"/>
                <a:cs typeface="Arial"/>
              </a:rPr>
              <a:t>, PPP-LCP, IP, IPCP, </a:t>
            </a:r>
            <a:r>
              <a:rPr lang="en-US" dirty="0" err="1">
                <a:latin typeface="Arial"/>
                <a:cs typeface="Arial"/>
              </a:rPr>
              <a:t>etc</a:t>
            </a:r>
            <a:r>
              <a:rPr lang="en-US" dirty="0">
                <a:latin typeface="Arial"/>
                <a:cs typeface="Arial"/>
              </a:rPr>
              <a:t>)</a:t>
            </a:r>
          </a:p>
          <a:p>
            <a:r>
              <a:rPr lang="en-US" dirty="0">
                <a:solidFill>
                  <a:srgbClr val="FF0000"/>
                </a:solidFill>
                <a:latin typeface="Arial"/>
                <a:cs typeface="Arial"/>
              </a:rPr>
              <a:t>Data:</a:t>
            </a:r>
            <a:r>
              <a:rPr lang="en-US" dirty="0">
                <a:latin typeface="Arial"/>
                <a:cs typeface="Arial"/>
              </a:rPr>
              <a:t> upper layer data being carried</a:t>
            </a:r>
          </a:p>
          <a:p>
            <a:r>
              <a:rPr lang="en-US" dirty="0">
                <a:solidFill>
                  <a:srgbClr val="FF0000"/>
                </a:solidFill>
                <a:latin typeface="Arial"/>
                <a:cs typeface="Arial"/>
              </a:rPr>
              <a:t>FCS:</a:t>
            </a:r>
            <a:r>
              <a:rPr lang="en-US" dirty="0">
                <a:latin typeface="Arial"/>
                <a:cs typeface="Arial"/>
              </a:rPr>
              <a:t>  cyclic redundancy check for error detection</a:t>
            </a:r>
          </a:p>
          <a:p>
            <a:pPr marL="0" indent="0">
              <a:buNone/>
            </a:pPr>
            <a:r>
              <a:rPr lang="en-US" dirty="0"/>
              <a:t> </a:t>
            </a:r>
          </a:p>
        </p:txBody>
      </p:sp>
    </p:spTree>
    <p:extLst>
      <p:ext uri="{BB962C8B-B14F-4D97-AF65-F5344CB8AC3E}">
        <p14:creationId xmlns:p14="http://schemas.microsoft.com/office/powerpoint/2010/main" val="1505782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Byte Stuffing</a:t>
            </a:r>
          </a:p>
        </p:txBody>
      </p:sp>
      <p:sp>
        <p:nvSpPr>
          <p:cNvPr id="3" name="Content Placeholder 2"/>
          <p:cNvSpPr>
            <a:spLocks noGrp="1"/>
          </p:cNvSpPr>
          <p:nvPr>
            <p:ph idx="1"/>
          </p:nvPr>
        </p:nvSpPr>
        <p:spPr>
          <a:xfrm>
            <a:off x="457199" y="2209800"/>
            <a:ext cx="8096188" cy="3916363"/>
          </a:xfrm>
        </p:spPr>
        <p:txBody>
          <a:bodyPr>
            <a:normAutofit fontScale="92500" lnSpcReduction="10000"/>
          </a:bodyPr>
          <a:lstStyle/>
          <a:p>
            <a:r>
              <a:rPr lang="en-US" dirty="0">
                <a:latin typeface="Arial"/>
                <a:cs typeface="Arial"/>
              </a:rPr>
              <a:t>One of PPP design requirements is </a:t>
            </a:r>
            <a:r>
              <a:rPr lang="en-US" dirty="0">
                <a:solidFill>
                  <a:schemeClr val="accent6"/>
                </a:solidFill>
                <a:latin typeface="Arial"/>
                <a:cs typeface="Arial"/>
              </a:rPr>
              <a:t>data transparency</a:t>
            </a:r>
            <a:r>
              <a:rPr lang="en-US" dirty="0">
                <a:solidFill>
                  <a:srgbClr val="FF0000"/>
                </a:solidFill>
                <a:latin typeface="Arial"/>
                <a:cs typeface="Arial"/>
              </a:rPr>
              <a:t>.</a:t>
            </a:r>
          </a:p>
          <a:p>
            <a:r>
              <a:rPr lang="en-US" dirty="0">
                <a:solidFill>
                  <a:schemeClr val="tx1"/>
                </a:solidFill>
                <a:latin typeface="Arial"/>
                <a:cs typeface="Arial"/>
              </a:rPr>
              <a:t>Transparency </a:t>
            </a:r>
            <a:r>
              <a:rPr lang="en-US" dirty="0">
                <a:latin typeface="Arial"/>
                <a:cs typeface="Arial"/>
              </a:rPr>
              <a:t>means carrying any bit pattern in the data field</a:t>
            </a:r>
          </a:p>
          <a:p>
            <a:pPr lvl="1"/>
            <a:r>
              <a:rPr lang="en-US" dirty="0">
                <a:latin typeface="Arial"/>
                <a:cs typeface="Arial"/>
              </a:rPr>
              <a:t>data field must be allowed to include flag pattern  &lt;01111110&gt;</a:t>
            </a:r>
          </a:p>
          <a:p>
            <a:pPr lvl="1"/>
            <a:r>
              <a:rPr lang="en-US" u="sng" dirty="0">
                <a:solidFill>
                  <a:srgbClr val="FF0000"/>
                </a:solidFill>
                <a:latin typeface="Arial"/>
                <a:cs typeface="Arial"/>
              </a:rPr>
              <a:t>Q:</a:t>
            </a:r>
            <a:r>
              <a:rPr lang="en-US" dirty="0">
                <a:latin typeface="Arial"/>
                <a:cs typeface="Arial"/>
              </a:rPr>
              <a:t> is received &lt;01111110&gt; data or flag?</a:t>
            </a:r>
          </a:p>
          <a:p>
            <a:pPr marL="0" indent="0">
              <a:buNone/>
            </a:pPr>
            <a:endParaRPr lang="en-US" sz="2000" dirty="0">
              <a:latin typeface="Arial"/>
              <a:cs typeface="Arial"/>
            </a:endParaRPr>
          </a:p>
          <a:p>
            <a:r>
              <a:rPr lang="en-US" dirty="0">
                <a:solidFill>
                  <a:schemeClr val="accent2"/>
                </a:solidFill>
                <a:latin typeface="Arial"/>
                <a:cs typeface="Arial"/>
              </a:rPr>
              <a:t>Sender:</a:t>
            </a:r>
            <a:r>
              <a:rPr lang="en-US" dirty="0">
                <a:latin typeface="Arial"/>
                <a:cs typeface="Arial"/>
              </a:rPr>
              <a:t> adds (</a:t>
            </a:r>
            <a:r>
              <a:rPr lang="ja-JP" altLang="en-US" dirty="0">
                <a:latin typeface="Arial"/>
                <a:cs typeface="Arial"/>
              </a:rPr>
              <a:t>“</a:t>
            </a:r>
            <a:r>
              <a:rPr lang="en-US" dirty="0">
                <a:latin typeface="Arial"/>
                <a:cs typeface="Arial"/>
              </a:rPr>
              <a:t>stuffs</a:t>
            </a:r>
            <a:r>
              <a:rPr lang="ja-JP" altLang="en-US" dirty="0">
                <a:latin typeface="Arial"/>
                <a:cs typeface="Arial"/>
              </a:rPr>
              <a:t>”</a:t>
            </a:r>
            <a:r>
              <a:rPr lang="en-US" dirty="0">
                <a:latin typeface="Arial"/>
                <a:cs typeface="Arial"/>
              </a:rPr>
              <a:t>) extra &lt; 01111110&gt; byte after each &lt; 01111110&gt; </a:t>
            </a:r>
            <a:r>
              <a:rPr lang="en-US" i="1" dirty="0">
                <a:solidFill>
                  <a:srgbClr val="FF0000"/>
                </a:solidFill>
                <a:latin typeface="Arial"/>
                <a:cs typeface="Arial"/>
              </a:rPr>
              <a:t>data  </a:t>
            </a:r>
            <a:r>
              <a:rPr lang="en-US" dirty="0">
                <a:latin typeface="Arial"/>
                <a:cs typeface="Arial"/>
              </a:rPr>
              <a:t>byte</a:t>
            </a:r>
          </a:p>
          <a:p>
            <a:r>
              <a:rPr lang="en-US" dirty="0">
                <a:solidFill>
                  <a:schemeClr val="accent2"/>
                </a:solidFill>
                <a:latin typeface="Arial"/>
                <a:cs typeface="Arial"/>
              </a:rPr>
              <a:t>Receiver:</a:t>
            </a:r>
            <a:r>
              <a:rPr lang="en-US" dirty="0">
                <a:latin typeface="Arial"/>
                <a:cs typeface="Arial"/>
              </a:rPr>
              <a:t> </a:t>
            </a:r>
          </a:p>
          <a:p>
            <a:pPr lvl="1"/>
            <a:r>
              <a:rPr lang="en-US" dirty="0">
                <a:latin typeface="Arial"/>
                <a:cs typeface="Arial"/>
              </a:rPr>
              <a:t>two 01111110 bytes in a row: discard first byte, continue data reception</a:t>
            </a:r>
          </a:p>
          <a:p>
            <a:pPr lvl="1"/>
            <a:r>
              <a:rPr lang="en-US" dirty="0">
                <a:latin typeface="Arial"/>
                <a:cs typeface="Arial"/>
              </a:rPr>
              <a:t>single 01111110: flag byte</a:t>
            </a:r>
          </a:p>
          <a:p>
            <a:endParaRPr lang="en-US" dirty="0"/>
          </a:p>
          <a:p>
            <a:endParaRPr lang="en-US" dirty="0"/>
          </a:p>
        </p:txBody>
      </p:sp>
    </p:spTree>
    <p:extLst>
      <p:ext uri="{BB962C8B-B14F-4D97-AF65-F5344CB8AC3E}">
        <p14:creationId xmlns:p14="http://schemas.microsoft.com/office/powerpoint/2010/main" val="1391851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199" y="204791"/>
            <a:ext cx="6508377" cy="1143000"/>
          </a:xfrm>
        </p:spPr>
        <p:txBody>
          <a:bodyPr/>
          <a:lstStyle/>
          <a:p>
            <a:r>
              <a:rPr lang="en-US" dirty="0"/>
              <a:t>Byte Stuffing</a:t>
            </a:r>
          </a:p>
        </p:txBody>
      </p:sp>
      <p:pic>
        <p:nvPicPr>
          <p:cNvPr id="18435" name="Picture 3"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084" y="2411413"/>
            <a:ext cx="5995987" cy="2163699"/>
          </a:xfrm>
          <a:prstGeom prst="rect">
            <a:avLst/>
          </a:prstGeom>
          <a:noFill/>
          <a:extLst>
            <a:ext uri="{909E8E84-426E-40dd-AFC4-6F175D3DCCD1}">
              <a14:hiddenFill xmlns="" xmlns:a14="http://schemas.microsoft.com/office/drawing/2010/main">
                <a:solidFill>
                  <a:srgbClr val="FFFFFF"/>
                </a:solidFill>
              </a14:hiddenFill>
            </a:ext>
          </a:extLst>
        </p:spPr>
      </p:pic>
      <p:sp>
        <p:nvSpPr>
          <p:cNvPr id="18436" name="Text Box 4"/>
          <p:cNvSpPr txBox="1">
            <a:spLocks noChangeArrowheads="1"/>
          </p:cNvSpPr>
          <p:nvPr/>
        </p:nvSpPr>
        <p:spPr bwMode="auto">
          <a:xfrm>
            <a:off x="403225" y="2191052"/>
            <a:ext cx="1155700" cy="11906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latin typeface="Comic Sans MS" charset="0"/>
              </a:rPr>
              <a:t>flag byte</a:t>
            </a:r>
          </a:p>
          <a:p>
            <a:pPr eaLnBrk="0" hangingPunct="0"/>
            <a:r>
              <a:rPr lang="en-US" dirty="0">
                <a:latin typeface="Comic Sans MS" charset="0"/>
              </a:rPr>
              <a:t>pattern</a:t>
            </a:r>
          </a:p>
          <a:p>
            <a:pPr eaLnBrk="0" hangingPunct="0"/>
            <a:r>
              <a:rPr lang="en-US" dirty="0">
                <a:latin typeface="Comic Sans MS" charset="0"/>
              </a:rPr>
              <a:t>in data</a:t>
            </a:r>
          </a:p>
          <a:p>
            <a:pPr eaLnBrk="0" hangingPunct="0"/>
            <a:r>
              <a:rPr lang="en-US" dirty="0">
                <a:latin typeface="Comic Sans MS" charset="0"/>
              </a:rPr>
              <a:t>to send</a:t>
            </a:r>
          </a:p>
        </p:txBody>
      </p:sp>
      <p:sp>
        <p:nvSpPr>
          <p:cNvPr id="18437" name="Line 5"/>
          <p:cNvSpPr>
            <a:spLocks noChangeShapeType="1"/>
          </p:cNvSpPr>
          <p:nvPr/>
        </p:nvSpPr>
        <p:spPr bwMode="auto">
          <a:xfrm>
            <a:off x="1436296" y="2656983"/>
            <a:ext cx="917575" cy="25876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438" name="Text Box 6"/>
          <p:cNvSpPr txBox="1">
            <a:spLocks noChangeArrowheads="1"/>
          </p:cNvSpPr>
          <p:nvPr/>
        </p:nvSpPr>
        <p:spPr bwMode="auto">
          <a:xfrm>
            <a:off x="4013200" y="5319699"/>
            <a:ext cx="2824163" cy="9159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lang="en-US" dirty="0">
                <a:latin typeface="Comic Sans MS" charset="0"/>
              </a:rPr>
              <a:t>flag byte pattern plus</a:t>
            </a:r>
          </a:p>
          <a:p>
            <a:pPr eaLnBrk="0" hangingPunct="0"/>
            <a:r>
              <a:rPr lang="en-US" dirty="0">
                <a:latin typeface="Comic Sans MS" charset="0"/>
              </a:rPr>
              <a:t>stuffed byte in transmitted  data</a:t>
            </a:r>
          </a:p>
        </p:txBody>
      </p:sp>
      <p:sp>
        <p:nvSpPr>
          <p:cNvPr id="18439" name="Line 7"/>
          <p:cNvSpPr>
            <a:spLocks noChangeShapeType="1"/>
          </p:cNvSpPr>
          <p:nvPr/>
        </p:nvSpPr>
        <p:spPr bwMode="auto">
          <a:xfrm flipH="1" flipV="1">
            <a:off x="4021138" y="4833938"/>
            <a:ext cx="504825" cy="36353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8440" name="Line 8"/>
          <p:cNvSpPr>
            <a:spLocks noChangeShapeType="1"/>
          </p:cNvSpPr>
          <p:nvPr/>
        </p:nvSpPr>
        <p:spPr bwMode="auto">
          <a:xfrm flipV="1">
            <a:off x="5491163" y="4740275"/>
            <a:ext cx="423862" cy="52863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677119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71639"/>
            <a:ext cx="6508377" cy="1143000"/>
          </a:xfrm>
        </p:spPr>
        <p:txBody>
          <a:bodyPr/>
          <a:lstStyle/>
          <a:p>
            <a:r>
              <a:rPr lang="en-US" b="1" dirty="0">
                <a:effectLst>
                  <a:outerShdw blurRad="38100" dist="38100" dir="2700000" algn="tl">
                    <a:srgbClr val="FFFFFF"/>
                  </a:outerShdw>
                </a:effectLst>
                <a:latin typeface="Arial" charset="0"/>
              </a:rPr>
              <a:t>LCP</a:t>
            </a:r>
            <a:endParaRPr lang="en-US" b="1" dirty="0"/>
          </a:p>
        </p:txBody>
      </p:sp>
      <p:sp>
        <p:nvSpPr>
          <p:cNvPr id="3" name="Content Placeholder 2"/>
          <p:cNvSpPr>
            <a:spLocks noGrp="1"/>
          </p:cNvSpPr>
          <p:nvPr>
            <p:ph idx="1"/>
          </p:nvPr>
        </p:nvSpPr>
        <p:spPr>
          <a:xfrm>
            <a:off x="498474" y="2755038"/>
            <a:ext cx="8073588" cy="3572940"/>
          </a:xfrm>
        </p:spPr>
        <p:txBody>
          <a:bodyPr>
            <a:normAutofit/>
          </a:bodyPr>
          <a:lstStyle/>
          <a:p>
            <a:r>
              <a:rPr lang="en-US" dirty="0">
                <a:solidFill>
                  <a:srgbClr val="FF6600"/>
                </a:solidFill>
                <a:latin typeface="Arial"/>
                <a:cs typeface="Arial"/>
              </a:rPr>
              <a:t>Link establish: </a:t>
            </a:r>
            <a:r>
              <a:rPr lang="en-US" dirty="0">
                <a:latin typeface="Arial"/>
                <a:cs typeface="Arial"/>
              </a:rPr>
              <a:t>The process of bringing up the PPP link before any other protocols can begin transmission.</a:t>
            </a:r>
            <a:endParaRPr lang="en-US" dirty="0">
              <a:solidFill>
                <a:srgbClr val="FF6600"/>
              </a:solidFill>
              <a:latin typeface="Arial"/>
              <a:cs typeface="Arial"/>
            </a:endParaRPr>
          </a:p>
          <a:p>
            <a:r>
              <a:rPr lang="en-US" dirty="0">
                <a:solidFill>
                  <a:schemeClr val="accent2">
                    <a:lumMod val="50000"/>
                    <a:lumOff val="50000"/>
                  </a:schemeClr>
                </a:solidFill>
                <a:latin typeface="Arial"/>
                <a:cs typeface="Arial"/>
              </a:rPr>
              <a:t>Link configuration</a:t>
            </a:r>
            <a:r>
              <a:rPr lang="en-US" dirty="0">
                <a:latin typeface="Arial"/>
                <a:cs typeface="Arial"/>
              </a:rPr>
              <a:t>: The process of negotiating and setting up the </a:t>
            </a:r>
            <a:r>
              <a:rPr lang="en-US" i="1" dirty="0">
                <a:latin typeface="Arial"/>
                <a:cs typeface="Arial"/>
              </a:rPr>
              <a:t>parameters</a:t>
            </a:r>
            <a:r>
              <a:rPr lang="en-US" dirty="0">
                <a:latin typeface="Arial"/>
                <a:cs typeface="Arial"/>
              </a:rPr>
              <a:t> of a link. </a:t>
            </a:r>
          </a:p>
          <a:p>
            <a:r>
              <a:rPr lang="en-US" dirty="0">
                <a:solidFill>
                  <a:srgbClr val="008000"/>
                </a:solidFill>
                <a:latin typeface="Arial"/>
                <a:cs typeface="Arial"/>
              </a:rPr>
              <a:t>Link maintenance</a:t>
            </a:r>
            <a:r>
              <a:rPr lang="en-US" dirty="0">
                <a:latin typeface="Arial"/>
                <a:cs typeface="Arial"/>
              </a:rPr>
              <a:t>: The process of managing an opened link. </a:t>
            </a:r>
          </a:p>
          <a:p>
            <a:r>
              <a:rPr lang="en-US" dirty="0">
                <a:solidFill>
                  <a:srgbClr val="3366FF"/>
                </a:solidFill>
                <a:latin typeface="Arial"/>
                <a:cs typeface="Arial"/>
              </a:rPr>
              <a:t>Link termination</a:t>
            </a:r>
            <a:r>
              <a:rPr lang="en-US" dirty="0">
                <a:latin typeface="Arial"/>
                <a:cs typeface="Arial"/>
              </a:rPr>
              <a:t>: The process of closing an existing link when it is no longer needed (or when the underlying physical layer connection closes).</a:t>
            </a:r>
          </a:p>
        </p:txBody>
      </p:sp>
      <p:pic>
        <p:nvPicPr>
          <p:cNvPr id="4" name="Picture 3"/>
          <p:cNvPicPr>
            <a:picLocks noChangeAspect="1"/>
          </p:cNvPicPr>
          <p:nvPr/>
        </p:nvPicPr>
        <p:blipFill>
          <a:blip r:embed="rId2"/>
          <a:stretch>
            <a:fillRect/>
          </a:stretch>
        </p:blipFill>
        <p:spPr>
          <a:xfrm>
            <a:off x="2499587" y="215238"/>
            <a:ext cx="3859582" cy="2071126"/>
          </a:xfrm>
          <a:prstGeom prst="rect">
            <a:avLst/>
          </a:prstGeom>
        </p:spPr>
      </p:pic>
    </p:spTree>
    <p:extLst>
      <p:ext uri="{BB962C8B-B14F-4D97-AF65-F5344CB8AC3E}">
        <p14:creationId xmlns:p14="http://schemas.microsoft.com/office/powerpoint/2010/main" val="913655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26483"/>
            <a:ext cx="6508377" cy="1143000"/>
          </a:xfrm>
        </p:spPr>
        <p:txBody>
          <a:bodyPr/>
          <a:lstStyle/>
          <a:p>
            <a:r>
              <a:rPr lang="en-US" b="1" dirty="0">
                <a:effectLst>
                  <a:outerShdw blurRad="38100" dist="38100" dir="2700000" algn="tl">
                    <a:srgbClr val="FFFFFF"/>
                  </a:outerShdw>
                </a:effectLst>
                <a:latin typeface="Arial" charset="0"/>
              </a:rPr>
              <a:t>LCP</a:t>
            </a:r>
            <a:endParaRPr lang="en-US" dirty="0"/>
          </a:p>
        </p:txBody>
      </p:sp>
      <p:sp>
        <p:nvSpPr>
          <p:cNvPr id="3" name="Content Placeholder 2"/>
          <p:cNvSpPr>
            <a:spLocks noGrp="1"/>
          </p:cNvSpPr>
          <p:nvPr>
            <p:ph idx="1"/>
          </p:nvPr>
        </p:nvSpPr>
        <p:spPr>
          <a:xfrm>
            <a:off x="498474" y="2071775"/>
            <a:ext cx="8110939" cy="4525963"/>
          </a:xfrm>
        </p:spPr>
        <p:txBody>
          <a:bodyPr>
            <a:normAutofit/>
          </a:bodyPr>
          <a:lstStyle/>
          <a:p>
            <a:pPr>
              <a:lnSpc>
                <a:spcPct val="110000"/>
              </a:lnSpc>
            </a:pPr>
            <a:r>
              <a:rPr lang="en-US" dirty="0">
                <a:latin typeface="Arial"/>
                <a:cs typeface="Arial"/>
              </a:rPr>
              <a:t>In </a:t>
            </a:r>
            <a:r>
              <a:rPr lang="en-US" dirty="0">
                <a:solidFill>
                  <a:srgbClr val="B050D7"/>
                </a:solidFill>
                <a:latin typeface="Arial"/>
                <a:cs typeface="Arial"/>
              </a:rPr>
              <a:t>link configuration</a:t>
            </a:r>
            <a:r>
              <a:rPr lang="en-US" dirty="0">
                <a:latin typeface="Arial"/>
                <a:cs typeface="Arial"/>
              </a:rPr>
              <a:t>, LCP frames are exchanged that enable the two physically-connected devices to </a:t>
            </a:r>
            <a:r>
              <a:rPr lang="en-US" i="1" dirty="0">
                <a:latin typeface="Arial"/>
                <a:cs typeface="Arial"/>
              </a:rPr>
              <a:t>negotiate</a:t>
            </a:r>
            <a:r>
              <a:rPr lang="en-US" dirty="0">
                <a:latin typeface="Arial"/>
                <a:cs typeface="Arial"/>
              </a:rPr>
              <a:t> the parameters (configuration options) under which the link will operate.</a:t>
            </a:r>
          </a:p>
          <a:p>
            <a:pPr marL="0" indent="0">
              <a:buNone/>
            </a:pPr>
            <a:endParaRPr lang="en-US" dirty="0">
              <a:latin typeface="Arial"/>
              <a:cs typeface="Arial"/>
            </a:endParaRPr>
          </a:p>
          <a:p>
            <a:endParaRPr lang="en-US" dirty="0">
              <a:latin typeface="Arial"/>
              <a:cs typeface="Arial"/>
            </a:endParaRPr>
          </a:p>
          <a:p>
            <a:endParaRPr lang="en-US" dirty="0">
              <a:latin typeface="Arial"/>
              <a:cs typeface="Arial"/>
            </a:endParaRPr>
          </a:p>
          <a:p>
            <a:r>
              <a:rPr lang="en-US" dirty="0">
                <a:latin typeface="Arial"/>
                <a:cs typeface="Arial"/>
              </a:rPr>
              <a:t>Device1 sends a configure request frame, containing configuration options. </a:t>
            </a:r>
          </a:p>
          <a:p>
            <a:r>
              <a:rPr lang="en-US" dirty="0">
                <a:latin typeface="Arial"/>
                <a:cs typeface="Arial"/>
              </a:rPr>
              <a:t>Device2 responds with a frame confirming that the options are okay, suggesting different options or rejecting the options. </a:t>
            </a:r>
          </a:p>
        </p:txBody>
      </p:sp>
      <p:sp>
        <p:nvSpPr>
          <p:cNvPr id="6" name="Rectangle 5"/>
          <p:cNvSpPr/>
          <p:nvPr/>
        </p:nvSpPr>
        <p:spPr>
          <a:xfrm>
            <a:off x="6498905" y="4265953"/>
            <a:ext cx="1355885" cy="461665"/>
          </a:xfrm>
          <a:prstGeom prst="rect">
            <a:avLst/>
          </a:prstGeom>
        </p:spPr>
        <p:txBody>
          <a:bodyPr wrap="none">
            <a:spAutoFit/>
          </a:bodyPr>
          <a:lstStyle/>
          <a:p>
            <a:r>
              <a:rPr lang="en-US" sz="1200" dirty="0"/>
              <a:t>Configure-</a:t>
            </a:r>
            <a:r>
              <a:rPr lang="en-US" sz="1200" dirty="0" err="1"/>
              <a:t>nak</a:t>
            </a:r>
            <a:endParaRPr lang="en-US" sz="1200" dirty="0"/>
          </a:p>
          <a:p>
            <a:r>
              <a:rPr lang="en-US" sz="1200" dirty="0"/>
              <a:t>Configure-reject</a:t>
            </a:r>
          </a:p>
        </p:txBody>
      </p:sp>
      <p:pic>
        <p:nvPicPr>
          <p:cNvPr id="7" name="Picture 6"/>
          <p:cNvPicPr>
            <a:picLocks noChangeAspect="1"/>
          </p:cNvPicPr>
          <p:nvPr/>
        </p:nvPicPr>
        <p:blipFill>
          <a:blip r:embed="rId3"/>
          <a:stretch>
            <a:fillRect/>
          </a:stretch>
        </p:blipFill>
        <p:spPr>
          <a:xfrm>
            <a:off x="2128729" y="3568418"/>
            <a:ext cx="4370176" cy="1159200"/>
          </a:xfrm>
          <a:prstGeom prst="rect">
            <a:avLst/>
          </a:prstGeom>
        </p:spPr>
      </p:pic>
    </p:spTree>
    <p:extLst>
      <p:ext uri="{BB962C8B-B14F-4D97-AF65-F5344CB8AC3E}">
        <p14:creationId xmlns:p14="http://schemas.microsoft.com/office/powerpoint/2010/main" val="2899211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14400"/>
            <a:ext cx="8458200" cy="609600"/>
          </a:xfrm>
        </p:spPr>
        <p:txBody>
          <a:bodyPr/>
          <a:lstStyle/>
          <a:p>
            <a:r>
              <a:rPr lang="en-US" sz="3200" dirty="0">
                <a:latin typeface="Arial"/>
                <a:cs typeface="Arial"/>
              </a:rPr>
              <a:t>LCP Configuration Options</a:t>
            </a:r>
            <a:br>
              <a:rPr lang="en-US" sz="3200" dirty="0">
                <a:latin typeface="Arial"/>
                <a:cs typeface="Arial"/>
              </a:rPr>
            </a:br>
            <a:endParaRPr lang="en-US" sz="3200" dirty="0">
              <a:latin typeface="Arial"/>
              <a:cs typeface="Arial"/>
            </a:endParaRPr>
          </a:p>
        </p:txBody>
      </p:sp>
      <p:sp>
        <p:nvSpPr>
          <p:cNvPr id="3" name="Content Placeholder 2"/>
          <p:cNvSpPr>
            <a:spLocks noGrp="1"/>
          </p:cNvSpPr>
          <p:nvPr>
            <p:ph idx="1"/>
          </p:nvPr>
        </p:nvSpPr>
        <p:spPr>
          <a:xfrm>
            <a:off x="381000" y="1859938"/>
            <a:ext cx="7556313" cy="5066573"/>
          </a:xfrm>
        </p:spPr>
        <p:txBody>
          <a:bodyPr>
            <a:normAutofit/>
          </a:bodyPr>
          <a:lstStyle/>
          <a:p>
            <a:pPr marL="0" indent="0">
              <a:lnSpc>
                <a:spcPct val="130000"/>
              </a:lnSpc>
              <a:buNone/>
            </a:pPr>
            <a:r>
              <a:rPr lang="en-US" sz="2000" dirty="0">
                <a:latin typeface="Arial"/>
                <a:cs typeface="Arial"/>
              </a:rPr>
              <a:t>LCP offers PPP different options, including the following:</a:t>
            </a:r>
          </a:p>
          <a:p>
            <a:pPr lvl="1">
              <a:lnSpc>
                <a:spcPct val="130000"/>
              </a:lnSpc>
            </a:pPr>
            <a:r>
              <a:rPr lang="en-US" dirty="0">
                <a:solidFill>
                  <a:schemeClr val="accent4"/>
                </a:solidFill>
                <a:latin typeface="Arial"/>
                <a:cs typeface="Arial"/>
              </a:rPr>
              <a:t>Maximum-Receive-Unit (MRU)</a:t>
            </a:r>
            <a:r>
              <a:rPr lang="en-US" dirty="0">
                <a:latin typeface="Arial"/>
                <a:cs typeface="Arial"/>
              </a:rPr>
              <a:t>: Lets a device specify the maximum size datagram it wants the link to be able to carry. </a:t>
            </a:r>
          </a:p>
          <a:p>
            <a:pPr lvl="1">
              <a:lnSpc>
                <a:spcPct val="130000"/>
              </a:lnSpc>
            </a:pPr>
            <a:r>
              <a:rPr lang="en-US" dirty="0">
                <a:solidFill>
                  <a:srgbClr val="999966"/>
                </a:solidFill>
                <a:latin typeface="Arial"/>
                <a:cs typeface="Arial"/>
              </a:rPr>
              <a:t>Authentication-Protocol</a:t>
            </a:r>
            <a:r>
              <a:rPr lang="en-US" dirty="0">
                <a:latin typeface="Arial"/>
                <a:cs typeface="Arial"/>
              </a:rPr>
              <a:t>: the device can indicate the type of authentication protocol it wishes to use (if any). </a:t>
            </a:r>
            <a:endParaRPr lang="en-US" sz="1800" dirty="0">
              <a:latin typeface="Arial"/>
              <a:cs typeface="Arial"/>
            </a:endParaRPr>
          </a:p>
          <a:p>
            <a:pPr lvl="1">
              <a:lnSpc>
                <a:spcPct val="130000"/>
              </a:lnSpc>
            </a:pPr>
            <a:r>
              <a:rPr lang="en-US" sz="1800" dirty="0">
                <a:solidFill>
                  <a:srgbClr val="999966"/>
                </a:solidFill>
                <a:latin typeface="Arial"/>
                <a:cs typeface="Arial"/>
              </a:rPr>
              <a:t>Compression</a:t>
            </a:r>
            <a:r>
              <a:rPr lang="en-US" dirty="0">
                <a:latin typeface="Arial"/>
                <a:cs typeface="Arial"/>
              </a:rPr>
              <a:t>: </a:t>
            </a:r>
            <a:r>
              <a:rPr lang="en-US" sz="1800" dirty="0">
                <a:latin typeface="Arial"/>
                <a:cs typeface="Arial"/>
              </a:rPr>
              <a:t>Allows the device to specify that it wants to use a compression. This is used to increase the throughput of PPP connections</a:t>
            </a:r>
          </a:p>
          <a:p>
            <a:pPr lvl="1">
              <a:lnSpc>
                <a:spcPct val="130000"/>
              </a:lnSpc>
            </a:pPr>
            <a:r>
              <a:rPr lang="en-US" dirty="0">
                <a:solidFill>
                  <a:srgbClr val="999966"/>
                </a:solidFill>
                <a:latin typeface="Arial"/>
                <a:cs typeface="Arial"/>
              </a:rPr>
              <a:t>Quality-Protocol</a:t>
            </a:r>
            <a:r>
              <a:rPr lang="en-US" dirty="0">
                <a:latin typeface="Arial"/>
                <a:cs typeface="Arial"/>
              </a:rPr>
              <a:t>: If the device wants to enable quality monitoring on the link, what protocol to use </a:t>
            </a:r>
          </a:p>
          <a:p>
            <a:pPr lvl="1">
              <a:lnSpc>
                <a:spcPct val="130000"/>
              </a:lnSpc>
            </a:pPr>
            <a:r>
              <a:rPr lang="en-US" dirty="0">
                <a:latin typeface="Arial"/>
                <a:cs typeface="Arial"/>
              </a:rPr>
              <a:t>Other options: </a:t>
            </a:r>
            <a:r>
              <a:rPr lang="en-US" dirty="0">
                <a:solidFill>
                  <a:srgbClr val="999966"/>
                </a:solidFill>
                <a:latin typeface="Arial"/>
                <a:cs typeface="Arial"/>
              </a:rPr>
              <a:t>Error </a:t>
            </a:r>
            <a:r>
              <a:rPr lang="en-US" sz="1800" dirty="0">
                <a:solidFill>
                  <a:srgbClr val="999966"/>
                </a:solidFill>
                <a:latin typeface="Arial"/>
                <a:cs typeface="Arial"/>
              </a:rPr>
              <a:t>detection</a:t>
            </a:r>
            <a:r>
              <a:rPr lang="en-US" sz="1800" dirty="0">
                <a:latin typeface="Arial"/>
                <a:cs typeface="Arial"/>
              </a:rPr>
              <a:t>, </a:t>
            </a:r>
            <a:r>
              <a:rPr lang="en-US" sz="1800" dirty="0">
                <a:solidFill>
                  <a:srgbClr val="999966"/>
                </a:solidFill>
                <a:latin typeface="Arial"/>
                <a:cs typeface="Arial"/>
              </a:rPr>
              <a:t>Magic Number</a:t>
            </a:r>
            <a:r>
              <a:rPr lang="en-US" sz="1800" dirty="0">
                <a:latin typeface="Arial"/>
                <a:cs typeface="Arial"/>
              </a:rPr>
              <a:t>, </a:t>
            </a:r>
            <a:r>
              <a:rPr lang="en-US" sz="1800" dirty="0">
                <a:solidFill>
                  <a:srgbClr val="999966"/>
                </a:solidFill>
                <a:latin typeface="Arial"/>
                <a:cs typeface="Arial"/>
              </a:rPr>
              <a:t>Multilink</a:t>
            </a:r>
          </a:p>
          <a:p>
            <a:pPr marL="0" indent="0">
              <a:buNone/>
            </a:pPr>
            <a:endParaRPr lang="en-US" dirty="0"/>
          </a:p>
        </p:txBody>
      </p:sp>
    </p:spTree>
    <p:extLst>
      <p:ext uri="{BB962C8B-B14F-4D97-AF65-F5344CB8AC3E}">
        <p14:creationId xmlns:p14="http://schemas.microsoft.com/office/powerpoint/2010/main" val="3673255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9561"/>
            <a:ext cx="6508377" cy="1143000"/>
          </a:xfrm>
        </p:spPr>
        <p:txBody>
          <a:bodyPr/>
          <a:lstStyle/>
          <a:p>
            <a:r>
              <a:rPr lang="en-US" b="1" dirty="0">
                <a:effectLst>
                  <a:outerShdw blurRad="38100" dist="38100" dir="2700000" algn="tl">
                    <a:srgbClr val="FFFFFF"/>
                  </a:outerShdw>
                </a:effectLst>
                <a:latin typeface="Arial" charset="0"/>
              </a:rPr>
              <a:t>LCP</a:t>
            </a:r>
            <a:endParaRPr lang="en-US" dirty="0"/>
          </a:p>
        </p:txBody>
      </p:sp>
      <p:sp>
        <p:nvSpPr>
          <p:cNvPr id="3" name="Content Placeholder 2"/>
          <p:cNvSpPr>
            <a:spLocks noGrp="1"/>
          </p:cNvSpPr>
          <p:nvPr>
            <p:ph idx="1"/>
          </p:nvPr>
        </p:nvSpPr>
        <p:spPr>
          <a:xfrm>
            <a:off x="498474" y="1936508"/>
            <a:ext cx="8092264" cy="4921492"/>
          </a:xfrm>
        </p:spPr>
        <p:txBody>
          <a:bodyPr>
            <a:normAutofit lnSpcReduction="10000"/>
          </a:bodyPr>
          <a:lstStyle/>
          <a:p>
            <a:r>
              <a:rPr lang="en-US" dirty="0">
                <a:latin typeface="Arial"/>
                <a:cs typeface="Arial"/>
              </a:rPr>
              <a:t>During </a:t>
            </a:r>
            <a:r>
              <a:rPr lang="en-US" dirty="0">
                <a:solidFill>
                  <a:srgbClr val="008000"/>
                </a:solidFill>
                <a:latin typeface="Arial"/>
                <a:cs typeface="Arial"/>
              </a:rPr>
              <a:t>link maintenance</a:t>
            </a:r>
            <a:r>
              <a:rPr lang="en-US" dirty="0">
                <a:latin typeface="Arial"/>
                <a:cs typeface="Arial"/>
              </a:rPr>
              <a:t>, LCP can use messages to provide feedback and test the link</a:t>
            </a:r>
          </a:p>
          <a:p>
            <a:pPr marL="0" indent="0">
              <a:buNone/>
            </a:pPr>
            <a:endParaRPr lang="en-US" dirty="0">
              <a:latin typeface="Arial"/>
              <a:cs typeface="Arial"/>
            </a:endParaRPr>
          </a:p>
          <a:p>
            <a:pPr marL="0" indent="0">
              <a:buNone/>
            </a:pPr>
            <a:endParaRPr lang="en-US" dirty="0">
              <a:latin typeface="Arial"/>
              <a:cs typeface="Arial"/>
            </a:endParaRPr>
          </a:p>
          <a:p>
            <a:endParaRPr lang="en-US" dirty="0">
              <a:latin typeface="Arial"/>
              <a:cs typeface="Arial"/>
            </a:endParaRPr>
          </a:p>
          <a:p>
            <a:pPr marL="0" indent="0">
              <a:buNone/>
            </a:pPr>
            <a:endParaRPr lang="en-US" dirty="0">
              <a:latin typeface="Arial"/>
              <a:cs typeface="Arial"/>
            </a:endParaRPr>
          </a:p>
          <a:p>
            <a:r>
              <a:rPr lang="en-US" dirty="0">
                <a:latin typeface="Arial"/>
                <a:cs typeface="Arial"/>
              </a:rPr>
              <a:t>Echo-Request, Echo-Reply, and Discard-Request - These frames can be used for testing the link.</a:t>
            </a:r>
          </a:p>
          <a:p>
            <a:r>
              <a:rPr lang="en-US" dirty="0">
                <a:latin typeface="Arial"/>
                <a:cs typeface="Arial"/>
              </a:rPr>
              <a:t>Code-Reject and Protocol-Reject - These frame types provide feedback when one device receives an invalid frame due to either an unrecognized LCP code (LCP frame type) or a bad protocol identifier.</a:t>
            </a:r>
          </a:p>
        </p:txBody>
      </p:sp>
      <p:pic>
        <p:nvPicPr>
          <p:cNvPr id="4" name="Picture 3"/>
          <p:cNvPicPr>
            <a:picLocks noChangeAspect="1"/>
          </p:cNvPicPr>
          <p:nvPr/>
        </p:nvPicPr>
        <p:blipFill>
          <a:blip r:embed="rId2"/>
          <a:stretch>
            <a:fillRect/>
          </a:stretch>
        </p:blipFill>
        <p:spPr>
          <a:xfrm>
            <a:off x="1313205" y="2791110"/>
            <a:ext cx="6329220" cy="1657328"/>
          </a:xfrm>
          <a:prstGeom prst="rect">
            <a:avLst/>
          </a:prstGeom>
        </p:spPr>
      </p:pic>
    </p:spTree>
    <p:extLst>
      <p:ext uri="{BB962C8B-B14F-4D97-AF65-F5344CB8AC3E}">
        <p14:creationId xmlns:p14="http://schemas.microsoft.com/office/powerpoint/2010/main" val="2239549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b="1" dirty="0">
                <a:effectLst>
                  <a:outerShdw blurRad="38100" dist="38100" dir="2700000" algn="tl">
                    <a:srgbClr val="FFFFFF"/>
                  </a:outerShdw>
                </a:effectLst>
                <a:latin typeface="Arial" charset="0"/>
              </a:rPr>
              <a:t>LCP</a:t>
            </a:r>
            <a:endParaRPr lang="en-US" dirty="0"/>
          </a:p>
        </p:txBody>
      </p:sp>
      <p:sp>
        <p:nvSpPr>
          <p:cNvPr id="3" name="Content Placeholder 2"/>
          <p:cNvSpPr>
            <a:spLocks noGrp="1"/>
          </p:cNvSpPr>
          <p:nvPr>
            <p:ph idx="1"/>
          </p:nvPr>
        </p:nvSpPr>
        <p:spPr>
          <a:xfrm>
            <a:off x="457199" y="2209800"/>
            <a:ext cx="8114863" cy="4139335"/>
          </a:xfrm>
        </p:spPr>
        <p:txBody>
          <a:bodyPr>
            <a:normAutofit/>
          </a:bodyPr>
          <a:lstStyle/>
          <a:p>
            <a:r>
              <a:rPr lang="en-US" dirty="0">
                <a:latin typeface="Arial"/>
                <a:cs typeface="Arial"/>
              </a:rPr>
              <a:t>The LCP closes the link by exchanging Terminate packets.</a:t>
            </a:r>
          </a:p>
          <a:p>
            <a:pPr marL="0" indent="0">
              <a:buNone/>
            </a:pPr>
            <a:endParaRPr lang="en-US" dirty="0">
              <a:latin typeface="Arial"/>
              <a:cs typeface="Arial"/>
            </a:endParaRPr>
          </a:p>
          <a:p>
            <a:pPr marL="0" indent="0">
              <a:buNone/>
            </a:pPr>
            <a:endParaRPr lang="en-US" dirty="0">
              <a:latin typeface="Arial"/>
              <a:cs typeface="Arial"/>
            </a:endParaRPr>
          </a:p>
          <a:p>
            <a:pPr marL="0" indent="0">
              <a:buNone/>
            </a:pPr>
            <a:r>
              <a:rPr lang="en-US" dirty="0">
                <a:latin typeface="Arial"/>
                <a:cs typeface="Arial"/>
              </a:rPr>
              <a:t> </a:t>
            </a:r>
          </a:p>
          <a:p>
            <a:r>
              <a:rPr lang="en-US" dirty="0">
                <a:latin typeface="Arial"/>
                <a:cs typeface="Arial"/>
              </a:rPr>
              <a:t>A termination request indicates that the device sending it needs to close the link.</a:t>
            </a:r>
          </a:p>
          <a:p>
            <a:r>
              <a:rPr lang="en-US" dirty="0">
                <a:latin typeface="Arial"/>
                <a:cs typeface="Arial"/>
              </a:rPr>
              <a:t>When the link is closing, PPP informs the network layer protocols so that they may take appropriate action.</a:t>
            </a:r>
          </a:p>
        </p:txBody>
      </p:sp>
      <p:pic>
        <p:nvPicPr>
          <p:cNvPr id="4" name="Picture 3"/>
          <p:cNvPicPr>
            <a:picLocks noChangeAspect="1"/>
          </p:cNvPicPr>
          <p:nvPr/>
        </p:nvPicPr>
        <p:blipFill>
          <a:blip r:embed="rId3"/>
          <a:stretch>
            <a:fillRect/>
          </a:stretch>
        </p:blipFill>
        <p:spPr>
          <a:xfrm>
            <a:off x="1119455" y="2929621"/>
            <a:ext cx="6350747" cy="1162493"/>
          </a:xfrm>
          <a:prstGeom prst="rect">
            <a:avLst/>
          </a:prstGeom>
        </p:spPr>
      </p:pic>
    </p:spTree>
    <p:extLst>
      <p:ext uri="{BB962C8B-B14F-4D97-AF65-F5344CB8AC3E}">
        <p14:creationId xmlns:p14="http://schemas.microsoft.com/office/powerpoint/2010/main" val="202904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b="1" dirty="0">
                <a:effectLst>
                  <a:outerShdw blurRad="38100" dist="38100" dir="2700000" algn="tl">
                    <a:srgbClr val="FFFFFF"/>
                  </a:outerShdw>
                </a:effectLst>
                <a:latin typeface="Arial" charset="0"/>
              </a:rPr>
              <a:t>NCP</a:t>
            </a:r>
            <a:endParaRPr lang="en-US" dirty="0"/>
          </a:p>
        </p:txBody>
      </p:sp>
      <p:sp>
        <p:nvSpPr>
          <p:cNvPr id="3" name="Content Placeholder 2"/>
          <p:cNvSpPr>
            <a:spLocks noGrp="1"/>
          </p:cNvSpPr>
          <p:nvPr>
            <p:ph idx="1"/>
          </p:nvPr>
        </p:nvSpPr>
        <p:spPr>
          <a:xfrm>
            <a:off x="498474" y="4074287"/>
            <a:ext cx="7556313" cy="3034189"/>
          </a:xfrm>
        </p:spPr>
        <p:txBody>
          <a:bodyPr/>
          <a:lstStyle/>
          <a:p>
            <a:endParaRPr lang="en-US" dirty="0"/>
          </a:p>
          <a:p>
            <a:endParaRPr lang="en-US" dirty="0"/>
          </a:p>
          <a:p>
            <a:r>
              <a:rPr lang="en-US" dirty="0">
                <a:latin typeface="Arial"/>
                <a:cs typeface="Arial"/>
              </a:rPr>
              <a:t>PPP use the NCP to permit multiple network layer protocols to operate on the same communications link.</a:t>
            </a:r>
          </a:p>
          <a:p>
            <a:pPr marL="0" indent="0">
              <a:buNone/>
            </a:pPr>
            <a:endParaRPr lang="en-US" dirty="0">
              <a:latin typeface="Arial"/>
              <a:cs typeface="Arial"/>
            </a:endParaRPr>
          </a:p>
        </p:txBody>
      </p:sp>
      <p:pic>
        <p:nvPicPr>
          <p:cNvPr id="4" name="Picture 3"/>
          <p:cNvPicPr>
            <a:picLocks noChangeAspect="1"/>
          </p:cNvPicPr>
          <p:nvPr/>
        </p:nvPicPr>
        <p:blipFill>
          <a:blip r:embed="rId2"/>
          <a:stretch>
            <a:fillRect/>
          </a:stretch>
        </p:blipFill>
        <p:spPr>
          <a:xfrm>
            <a:off x="2241696" y="2104396"/>
            <a:ext cx="4195164" cy="2618452"/>
          </a:xfrm>
          <a:prstGeom prst="rect">
            <a:avLst/>
          </a:prstGeom>
        </p:spPr>
      </p:pic>
    </p:spTree>
    <p:extLst>
      <p:ext uri="{BB962C8B-B14F-4D97-AF65-F5344CB8AC3E}">
        <p14:creationId xmlns:p14="http://schemas.microsoft.com/office/powerpoint/2010/main" val="391266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03573"/>
            <a:ext cx="6508377" cy="1143000"/>
          </a:xfrm>
        </p:spPr>
        <p:txBody>
          <a:bodyPr/>
          <a:lstStyle/>
          <a:p>
            <a:r>
              <a:rPr lang="en-US" b="1" dirty="0">
                <a:effectLst>
                  <a:outerShdw blurRad="38100" dist="38100" dir="2700000" algn="tl">
                    <a:srgbClr val="FFFFFF"/>
                  </a:outerShdw>
                </a:effectLst>
                <a:latin typeface="Arial" charset="0"/>
              </a:rPr>
              <a:t>NCP</a:t>
            </a:r>
            <a:endParaRPr lang="en-US" dirty="0"/>
          </a:p>
        </p:txBody>
      </p:sp>
      <p:sp>
        <p:nvSpPr>
          <p:cNvPr id="3" name="Content Placeholder 2"/>
          <p:cNvSpPr>
            <a:spLocks noGrp="1"/>
          </p:cNvSpPr>
          <p:nvPr>
            <p:ph idx="1"/>
          </p:nvPr>
        </p:nvSpPr>
        <p:spPr>
          <a:xfrm>
            <a:off x="457199" y="2209800"/>
            <a:ext cx="7965459" cy="3916363"/>
          </a:xfrm>
        </p:spPr>
        <p:txBody>
          <a:bodyPr/>
          <a:lstStyle/>
          <a:p>
            <a:r>
              <a:rPr lang="en-US" dirty="0">
                <a:latin typeface="Arial"/>
                <a:cs typeface="Arial"/>
              </a:rPr>
              <a:t>For every network layer protocol used, PPP uses a separate NCP. For example, IPv4 uses the IP Control Protocol (IPCP) and IPv6 uses IPv6 Control Protocol (IPv6CP).</a:t>
            </a:r>
          </a:p>
        </p:txBody>
      </p:sp>
      <p:pic>
        <p:nvPicPr>
          <p:cNvPr id="4" name="Picture 3"/>
          <p:cNvPicPr>
            <a:picLocks noChangeAspect="1"/>
          </p:cNvPicPr>
          <p:nvPr/>
        </p:nvPicPr>
        <p:blipFill>
          <a:blip r:embed="rId2"/>
          <a:stretch>
            <a:fillRect/>
          </a:stretch>
        </p:blipFill>
        <p:spPr>
          <a:xfrm>
            <a:off x="1894460" y="3745130"/>
            <a:ext cx="5651941" cy="2381033"/>
          </a:xfrm>
          <a:prstGeom prst="rect">
            <a:avLst/>
          </a:prstGeom>
        </p:spPr>
      </p:pic>
    </p:spTree>
    <p:extLst>
      <p:ext uri="{BB962C8B-B14F-4D97-AF65-F5344CB8AC3E}">
        <p14:creationId xmlns:p14="http://schemas.microsoft.com/office/powerpoint/2010/main" val="168939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568491"/>
            <a:ext cx="9144000" cy="6002594"/>
          </a:xfrm>
          <a:prstGeom prst="rect">
            <a:avLst/>
          </a:prstGeom>
        </p:spPr>
      </p:pic>
    </p:spTree>
    <p:extLst>
      <p:ext uri="{BB962C8B-B14F-4D97-AF65-F5344CB8AC3E}">
        <p14:creationId xmlns:p14="http://schemas.microsoft.com/office/powerpoint/2010/main" val="719570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199" y="484899"/>
            <a:ext cx="6508377" cy="1143000"/>
          </a:xfrm>
        </p:spPr>
        <p:txBody>
          <a:bodyPr/>
          <a:lstStyle/>
          <a:p>
            <a:r>
              <a:rPr lang="en-US" dirty="0"/>
              <a:t>PPP Session Establishment</a:t>
            </a:r>
          </a:p>
        </p:txBody>
      </p:sp>
      <p:sp>
        <p:nvSpPr>
          <p:cNvPr id="24579" name="Rectangle 3"/>
          <p:cNvSpPr>
            <a:spLocks noGrp="1" noChangeArrowheads="1"/>
          </p:cNvSpPr>
          <p:nvPr>
            <p:ph idx="1"/>
          </p:nvPr>
        </p:nvSpPr>
        <p:spPr>
          <a:xfrm>
            <a:off x="457199" y="4211697"/>
            <a:ext cx="8534400" cy="2667000"/>
          </a:xfrm>
        </p:spPr>
        <p:txBody>
          <a:bodyPr/>
          <a:lstStyle/>
          <a:p>
            <a:r>
              <a:rPr lang="en-US" dirty="0">
                <a:latin typeface="Calibri"/>
                <a:cs typeface="Calibri"/>
              </a:rPr>
              <a:t>PPP session establishment progresses through three phases:</a:t>
            </a:r>
          </a:p>
          <a:p>
            <a:pPr lvl="1"/>
            <a:r>
              <a:rPr lang="en-US" dirty="0">
                <a:latin typeface="Calibri"/>
                <a:cs typeface="Calibri"/>
              </a:rPr>
              <a:t>link establishment</a:t>
            </a:r>
          </a:p>
          <a:p>
            <a:pPr lvl="1"/>
            <a:r>
              <a:rPr lang="en-US" dirty="0">
                <a:latin typeface="Calibri"/>
                <a:cs typeface="Calibri"/>
              </a:rPr>
              <a:t>authentication</a:t>
            </a:r>
          </a:p>
          <a:p>
            <a:pPr lvl="1"/>
            <a:r>
              <a:rPr lang="en-US" dirty="0">
                <a:latin typeface="Calibri"/>
                <a:cs typeface="Calibri"/>
              </a:rPr>
              <a:t>network layer protocol phase</a:t>
            </a:r>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471" y="2006600"/>
            <a:ext cx="7343775" cy="1879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40216125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ChangeArrowheads="1"/>
          </p:cNvSpPr>
          <p:nvPr>
            <p:ph type="title"/>
          </p:nvPr>
        </p:nvSpPr>
        <p:spPr/>
        <p:txBody>
          <a:bodyPr/>
          <a:lstStyle/>
          <a:p>
            <a:r>
              <a:rPr lang="en-US"/>
              <a:t>PPP Session Establishment (Detail)</a:t>
            </a:r>
          </a:p>
        </p:txBody>
      </p:sp>
      <p:sp>
        <p:nvSpPr>
          <p:cNvPr id="57347" name="Rectangle 1027"/>
          <p:cNvSpPr>
            <a:spLocks noGrp="1" noChangeArrowheads="1"/>
          </p:cNvSpPr>
          <p:nvPr>
            <p:ph idx="1"/>
          </p:nvPr>
        </p:nvSpPr>
        <p:spPr>
          <a:xfrm>
            <a:off x="651933" y="2974163"/>
            <a:ext cx="8153400" cy="2514600"/>
          </a:xfrm>
        </p:spPr>
        <p:txBody>
          <a:bodyPr/>
          <a:lstStyle/>
          <a:p>
            <a:pPr>
              <a:spcBef>
                <a:spcPts val="500"/>
              </a:spcBef>
              <a:spcAft>
                <a:spcPts val="500"/>
              </a:spcAft>
              <a:buFont typeface="Arial" charset="0"/>
              <a:buNone/>
            </a:pPr>
            <a:r>
              <a:rPr lang="en-US" dirty="0">
                <a:latin typeface="Calibri"/>
                <a:cs typeface="Calibri"/>
              </a:rPr>
              <a:t>1.  Link establishment - (LCPs)</a:t>
            </a:r>
          </a:p>
          <a:p>
            <a:pPr>
              <a:spcBef>
                <a:spcPts val="500"/>
              </a:spcBef>
              <a:spcAft>
                <a:spcPts val="500"/>
              </a:spcAft>
              <a:buFont typeface="Arial" charset="0"/>
              <a:buNone/>
            </a:pPr>
            <a:r>
              <a:rPr lang="en-US" dirty="0">
                <a:latin typeface="Calibri"/>
                <a:cs typeface="Calibri"/>
              </a:rPr>
              <a:t>2.  Authentication - Optional (LCPs)</a:t>
            </a:r>
          </a:p>
          <a:p>
            <a:pPr>
              <a:spcBef>
                <a:spcPts val="500"/>
              </a:spcBef>
              <a:spcAft>
                <a:spcPts val="500"/>
              </a:spcAft>
              <a:buFont typeface="Arial" charset="0"/>
              <a:buNone/>
            </a:pPr>
            <a:r>
              <a:rPr lang="en-US" dirty="0">
                <a:latin typeface="Calibri"/>
                <a:cs typeface="Calibri"/>
              </a:rPr>
              <a:t>3.  Link quality determination - Optional (LCPs)</a:t>
            </a:r>
          </a:p>
          <a:p>
            <a:pPr>
              <a:spcBef>
                <a:spcPts val="500"/>
              </a:spcBef>
              <a:spcAft>
                <a:spcPts val="500"/>
              </a:spcAft>
              <a:buFont typeface="Arial" charset="0"/>
              <a:buNone/>
            </a:pPr>
            <a:r>
              <a:rPr lang="en-US" dirty="0">
                <a:latin typeface="Calibri"/>
                <a:cs typeface="Calibri"/>
              </a:rPr>
              <a:t>4.  Network layer protocol configuration (NCPs)</a:t>
            </a:r>
          </a:p>
          <a:p>
            <a:pPr>
              <a:spcBef>
                <a:spcPts val="500"/>
              </a:spcBef>
              <a:spcAft>
                <a:spcPts val="500"/>
              </a:spcAft>
              <a:buFont typeface="Arial" charset="0"/>
              <a:buNone/>
            </a:pPr>
            <a:r>
              <a:rPr lang="en-US" dirty="0">
                <a:latin typeface="Calibri"/>
                <a:cs typeface="Calibri"/>
              </a:rPr>
              <a:t>5.  Link termination  (LCPs)</a:t>
            </a:r>
          </a:p>
        </p:txBody>
      </p:sp>
    </p:spTree>
    <p:extLst>
      <p:ext uri="{BB962C8B-B14F-4D97-AF65-F5344CB8AC3E}">
        <p14:creationId xmlns:p14="http://schemas.microsoft.com/office/powerpoint/2010/main" val="41018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199" y="342900"/>
            <a:ext cx="6508377" cy="1143000"/>
          </a:xfrm>
        </p:spPr>
        <p:txBody>
          <a:bodyPr/>
          <a:lstStyle/>
          <a:p>
            <a:r>
              <a:rPr lang="en-US" b="1" dirty="0">
                <a:cs typeface="Arial" charset="0"/>
              </a:rPr>
              <a:t>1- Link-establishment phase</a:t>
            </a:r>
          </a:p>
        </p:txBody>
      </p:sp>
      <p:sp>
        <p:nvSpPr>
          <p:cNvPr id="25603" name="Rectangle 3"/>
          <p:cNvSpPr>
            <a:spLocks noGrp="1" noChangeArrowheads="1"/>
          </p:cNvSpPr>
          <p:nvPr>
            <p:ph idx="1"/>
          </p:nvPr>
        </p:nvSpPr>
        <p:spPr>
          <a:xfrm>
            <a:off x="381000" y="2071823"/>
            <a:ext cx="8265764" cy="5209660"/>
          </a:xfrm>
        </p:spPr>
        <p:txBody>
          <a:bodyPr>
            <a:normAutofit/>
          </a:bodyPr>
          <a:lstStyle/>
          <a:p>
            <a:pPr>
              <a:lnSpc>
                <a:spcPct val="90000"/>
              </a:lnSpc>
            </a:pPr>
            <a:r>
              <a:rPr lang="en-US" dirty="0">
                <a:latin typeface="Calibri"/>
                <a:cs typeface="Calibri"/>
              </a:rPr>
              <a:t>Before any network layer packets can be exchanged, LCP must first open the connection and negotiate the configuration parameters.  </a:t>
            </a:r>
            <a:endParaRPr lang="en-US" sz="2000" dirty="0">
              <a:latin typeface="Calibri"/>
              <a:cs typeface="Calibri"/>
            </a:endParaRPr>
          </a:p>
          <a:p>
            <a:pPr>
              <a:lnSpc>
                <a:spcPct val="90000"/>
              </a:lnSpc>
            </a:pPr>
            <a:r>
              <a:rPr lang="en-US" sz="2000" dirty="0">
                <a:latin typeface="Calibri"/>
                <a:cs typeface="Calibri"/>
              </a:rPr>
              <a:t>In this phase each PPP device sends LCP frames to configure the data link.</a:t>
            </a:r>
          </a:p>
          <a:p>
            <a:pPr>
              <a:lnSpc>
                <a:spcPct val="90000"/>
              </a:lnSpc>
            </a:pPr>
            <a:r>
              <a:rPr lang="en-US" sz="2000" dirty="0">
                <a:latin typeface="Calibri"/>
                <a:cs typeface="Calibri"/>
              </a:rPr>
              <a:t>LCP frames contain a configuration option field that allows devices to negotiate the use of options such as the maximum transmission unit (MTU), compression of certain PPP fields, and the link-authentication protocol. </a:t>
            </a:r>
          </a:p>
          <a:p>
            <a:pPr>
              <a:lnSpc>
                <a:spcPct val="90000"/>
              </a:lnSpc>
            </a:pPr>
            <a:r>
              <a:rPr lang="en-US" sz="2000" dirty="0">
                <a:latin typeface="Calibri"/>
                <a:cs typeface="Calibri"/>
              </a:rPr>
              <a:t>If a configuration option is not included in an LCP packet, the default value for that configuration option is assumed.   </a:t>
            </a:r>
          </a:p>
          <a:p>
            <a:pPr>
              <a:lnSpc>
                <a:spcPct val="90000"/>
              </a:lnSpc>
            </a:pPr>
            <a:r>
              <a:rPr lang="en-US" sz="2000" dirty="0">
                <a:latin typeface="Calibri"/>
                <a:cs typeface="Calibri"/>
              </a:rPr>
              <a:t>This phase is complete when a configuration acknowledgment frame has been sent and received. </a:t>
            </a:r>
          </a:p>
        </p:txBody>
      </p:sp>
      <p:pic>
        <p:nvPicPr>
          <p:cNvPr id="25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5993172"/>
            <a:ext cx="3962400" cy="7955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5937542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8771" y="896258"/>
            <a:ext cx="6019800" cy="20494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8771" y="3338286"/>
            <a:ext cx="5638800" cy="3150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29465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PPP Multilink (MLP)</a:t>
            </a:r>
          </a:p>
        </p:txBody>
      </p:sp>
      <p:sp>
        <p:nvSpPr>
          <p:cNvPr id="3" name="Content Placeholder 2"/>
          <p:cNvSpPr>
            <a:spLocks noGrp="1"/>
          </p:cNvSpPr>
          <p:nvPr>
            <p:ph idx="1"/>
          </p:nvPr>
        </p:nvSpPr>
        <p:spPr>
          <a:xfrm>
            <a:off x="498474" y="4160837"/>
            <a:ext cx="7556313" cy="2697163"/>
          </a:xfrm>
        </p:spPr>
        <p:txBody>
          <a:bodyPr/>
          <a:lstStyle/>
          <a:p>
            <a:pPr marL="342900" indent="-342900">
              <a:spcBef>
                <a:spcPct val="20000"/>
              </a:spcBef>
              <a:buClr>
                <a:srgbClr val="009999"/>
              </a:buClr>
              <a:buSzPct val="125000"/>
              <a:buFont typeface="Arial" charset="0"/>
              <a:buChar char="•"/>
            </a:pPr>
            <a:r>
              <a:rPr lang="en-US" dirty="0">
                <a:solidFill>
                  <a:srgbClr val="000000"/>
                </a:solidFill>
                <a:latin typeface="Arial" charset="0"/>
                <a:cs typeface="Arial" charset="0"/>
              </a:rPr>
              <a:t>In some environments, it may be necessary to bundle multiple serial links to act as single link with aggregated bandwidth. </a:t>
            </a:r>
          </a:p>
          <a:p>
            <a:pPr marL="342900" indent="-342900">
              <a:spcBef>
                <a:spcPct val="20000"/>
              </a:spcBef>
              <a:buClr>
                <a:srgbClr val="009999"/>
              </a:buClr>
              <a:buSzPct val="125000"/>
              <a:buFont typeface="Arial" charset="0"/>
              <a:buChar char="•"/>
            </a:pPr>
            <a:r>
              <a:rPr lang="en-US" dirty="0">
                <a:solidFill>
                  <a:srgbClr val="000000"/>
                </a:solidFill>
                <a:latin typeface="Arial" charset="0"/>
                <a:cs typeface="Arial" charset="0"/>
              </a:rPr>
              <a:t>PPP Multilink is common with ISDN.</a:t>
            </a:r>
          </a:p>
          <a:p>
            <a:pPr marL="342900" indent="-342900">
              <a:spcBef>
                <a:spcPct val="20000"/>
              </a:spcBef>
              <a:buClr>
                <a:srgbClr val="009999"/>
              </a:buClr>
              <a:buSzPct val="125000"/>
              <a:buFont typeface="Arial" charset="0"/>
              <a:buChar char="•"/>
            </a:pPr>
            <a:endParaRPr lang="en-US" dirty="0">
              <a:solidFill>
                <a:srgbClr val="000000"/>
              </a:solidFill>
              <a:latin typeface="Arial" charset="0"/>
              <a:cs typeface="Arial" charset="0"/>
            </a:endParaRPr>
          </a:p>
        </p:txBody>
      </p:sp>
      <p:pic>
        <p:nvPicPr>
          <p:cNvPr id="5" name="Picture 4"/>
          <p:cNvPicPr>
            <a:picLocks noChangeAspect="1"/>
          </p:cNvPicPr>
          <p:nvPr/>
        </p:nvPicPr>
        <p:blipFill>
          <a:blip r:embed="rId2"/>
          <a:stretch>
            <a:fillRect/>
          </a:stretch>
        </p:blipFill>
        <p:spPr>
          <a:xfrm>
            <a:off x="1651000" y="2603499"/>
            <a:ext cx="5007429" cy="1061357"/>
          </a:xfrm>
          <a:prstGeom prst="rect">
            <a:avLst/>
          </a:prstGeom>
        </p:spPr>
      </p:pic>
    </p:spTree>
    <p:extLst>
      <p:ext uri="{BB962C8B-B14F-4D97-AF65-F5344CB8AC3E}">
        <p14:creationId xmlns:p14="http://schemas.microsoft.com/office/powerpoint/2010/main" val="40605137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03573"/>
            <a:ext cx="6508377" cy="1143000"/>
          </a:xfrm>
        </p:spPr>
        <p:txBody>
          <a:bodyPr/>
          <a:lstStyle/>
          <a:p>
            <a:r>
              <a:rPr lang="en-US" dirty="0">
                <a:cs typeface="Arial" charset="0"/>
              </a:rPr>
              <a:t>Compression </a:t>
            </a:r>
            <a:endParaRPr lang="en-US" dirty="0"/>
          </a:p>
        </p:txBody>
      </p:sp>
      <p:sp>
        <p:nvSpPr>
          <p:cNvPr id="3" name="Content Placeholder 2"/>
          <p:cNvSpPr>
            <a:spLocks noGrp="1"/>
          </p:cNvSpPr>
          <p:nvPr>
            <p:ph idx="1"/>
          </p:nvPr>
        </p:nvSpPr>
        <p:spPr>
          <a:xfrm>
            <a:off x="457199" y="2471235"/>
            <a:ext cx="7965459" cy="3916363"/>
          </a:xfrm>
        </p:spPr>
        <p:txBody>
          <a:bodyPr/>
          <a:lstStyle/>
          <a:p>
            <a:pPr>
              <a:spcBef>
                <a:spcPts val="1200"/>
              </a:spcBef>
            </a:pPr>
            <a:r>
              <a:rPr lang="en-US" dirty="0">
                <a:latin typeface="Calibri"/>
                <a:cs typeface="Calibri"/>
              </a:rPr>
              <a:t>Point-to-point software compression can be configured on serial interfaces that use PPP encapsulation. </a:t>
            </a:r>
          </a:p>
          <a:p>
            <a:pPr>
              <a:spcBef>
                <a:spcPts val="1200"/>
              </a:spcBef>
            </a:pPr>
            <a:r>
              <a:rPr lang="en-US" dirty="0">
                <a:latin typeface="Calibri"/>
                <a:cs typeface="Calibri"/>
              </a:rPr>
              <a:t>Compression is performed in software and might significantly affect system performance because it is software, not hardware compression. </a:t>
            </a:r>
          </a:p>
          <a:p>
            <a:pPr>
              <a:spcBef>
                <a:spcPts val="1200"/>
              </a:spcBef>
              <a:spcAft>
                <a:spcPts val="500"/>
              </a:spcAft>
            </a:pPr>
            <a:r>
              <a:rPr lang="en-US" dirty="0">
                <a:latin typeface="Calibri"/>
                <a:cs typeface="Calibri"/>
              </a:rPr>
              <a:t>Compression can be CPU or memory intensive.</a:t>
            </a:r>
          </a:p>
          <a:p>
            <a:endParaRPr lang="en-US" dirty="0"/>
          </a:p>
        </p:txBody>
      </p:sp>
    </p:spTree>
    <p:extLst>
      <p:ext uri="{BB962C8B-B14F-4D97-AF65-F5344CB8AC3E}">
        <p14:creationId xmlns:p14="http://schemas.microsoft.com/office/powerpoint/2010/main" val="29442486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Error Detection</a:t>
            </a:r>
          </a:p>
        </p:txBody>
      </p:sp>
      <p:sp>
        <p:nvSpPr>
          <p:cNvPr id="3" name="Content Placeholder 2"/>
          <p:cNvSpPr>
            <a:spLocks noGrp="1"/>
          </p:cNvSpPr>
          <p:nvPr>
            <p:ph idx="1"/>
          </p:nvPr>
        </p:nvSpPr>
        <p:spPr>
          <a:xfrm>
            <a:off x="457199" y="2272098"/>
            <a:ext cx="7946784" cy="3916363"/>
          </a:xfrm>
        </p:spPr>
        <p:txBody>
          <a:bodyPr/>
          <a:lstStyle/>
          <a:p>
            <a:r>
              <a:rPr lang="en-US" dirty="0">
                <a:latin typeface="Calibri"/>
                <a:cs typeface="Calibri"/>
              </a:rPr>
              <a:t>Link Quality Monitoring (LQM) is available on all serial interfaces running PPP. </a:t>
            </a:r>
          </a:p>
          <a:p>
            <a:r>
              <a:rPr lang="en-US" dirty="0">
                <a:latin typeface="Calibri"/>
                <a:cs typeface="Calibri"/>
              </a:rPr>
              <a:t>LQM will monitor the link quality, and if the quality drops below a configured percentage, the link will be taken down. </a:t>
            </a:r>
          </a:p>
          <a:p>
            <a:r>
              <a:rPr lang="en-US" dirty="0">
                <a:latin typeface="Calibri"/>
                <a:cs typeface="Calibri"/>
              </a:rPr>
              <a:t>The percentages are calculated for both the incoming and outgoing directions.</a:t>
            </a:r>
          </a:p>
          <a:p>
            <a:endParaRPr lang="en-US" dirty="0"/>
          </a:p>
        </p:txBody>
      </p:sp>
    </p:spTree>
    <p:extLst>
      <p:ext uri="{BB962C8B-B14F-4D97-AF65-F5344CB8AC3E}">
        <p14:creationId xmlns:p14="http://schemas.microsoft.com/office/powerpoint/2010/main" val="1130322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199" y="416415"/>
            <a:ext cx="6508377" cy="1143000"/>
          </a:xfrm>
        </p:spPr>
        <p:txBody>
          <a:bodyPr/>
          <a:lstStyle/>
          <a:p>
            <a:r>
              <a:rPr lang="en-US" b="1" dirty="0"/>
              <a:t>2- Authentication Phase (Optional)</a:t>
            </a:r>
          </a:p>
        </p:txBody>
      </p:sp>
      <p:sp>
        <p:nvSpPr>
          <p:cNvPr id="26627" name="Rectangle 3"/>
          <p:cNvSpPr>
            <a:spLocks noGrp="1" noChangeArrowheads="1"/>
          </p:cNvSpPr>
          <p:nvPr>
            <p:ph idx="1"/>
          </p:nvPr>
        </p:nvSpPr>
        <p:spPr>
          <a:xfrm>
            <a:off x="457199" y="3665744"/>
            <a:ext cx="8534400" cy="2667000"/>
          </a:xfrm>
        </p:spPr>
        <p:txBody>
          <a:bodyPr>
            <a:normAutofit lnSpcReduction="10000"/>
          </a:bodyPr>
          <a:lstStyle/>
          <a:p>
            <a:pPr>
              <a:lnSpc>
                <a:spcPct val="90000"/>
              </a:lnSpc>
            </a:pPr>
            <a:r>
              <a:rPr lang="en-US" sz="2000" dirty="0">
                <a:latin typeface="Calibri"/>
                <a:cs typeface="Calibri"/>
              </a:rPr>
              <a:t>After the link has been established and the </a:t>
            </a:r>
            <a:r>
              <a:rPr lang="en-US" sz="2000" b="1" dirty="0">
                <a:latin typeface="Calibri"/>
                <a:cs typeface="Calibri"/>
              </a:rPr>
              <a:t>authentication protocol decided</a:t>
            </a:r>
            <a:r>
              <a:rPr lang="en-US" sz="2000" dirty="0">
                <a:latin typeface="Calibri"/>
                <a:cs typeface="Calibri"/>
              </a:rPr>
              <a:t> on, the peer may be authenticated. </a:t>
            </a:r>
          </a:p>
          <a:p>
            <a:pPr>
              <a:lnSpc>
                <a:spcPct val="90000"/>
              </a:lnSpc>
            </a:pPr>
            <a:r>
              <a:rPr lang="en-US" sz="2000" dirty="0">
                <a:latin typeface="Calibri"/>
                <a:cs typeface="Calibri"/>
              </a:rPr>
              <a:t>Authentication, if used, takes place before the network layer protocol phase is entered. </a:t>
            </a:r>
          </a:p>
          <a:p>
            <a:pPr>
              <a:lnSpc>
                <a:spcPct val="90000"/>
              </a:lnSpc>
            </a:pPr>
            <a:r>
              <a:rPr lang="en-US" sz="2000" dirty="0">
                <a:latin typeface="Calibri"/>
                <a:cs typeface="Calibri"/>
              </a:rPr>
              <a:t>As part of this phase, LCP also allows for an </a:t>
            </a:r>
            <a:r>
              <a:rPr lang="en-US" sz="2000" b="1" dirty="0">
                <a:latin typeface="Calibri"/>
                <a:cs typeface="Calibri"/>
              </a:rPr>
              <a:t>optional link-quality determination test. </a:t>
            </a:r>
          </a:p>
          <a:p>
            <a:pPr lvl="1">
              <a:lnSpc>
                <a:spcPct val="90000"/>
              </a:lnSpc>
            </a:pPr>
            <a:r>
              <a:rPr lang="en-US" sz="2000" dirty="0">
                <a:latin typeface="Calibri"/>
                <a:cs typeface="Calibri"/>
              </a:rPr>
              <a:t>The link is tested to determine whether the </a:t>
            </a:r>
            <a:r>
              <a:rPr lang="en-US" sz="2000" b="1" dirty="0">
                <a:latin typeface="Calibri"/>
                <a:cs typeface="Calibri"/>
              </a:rPr>
              <a:t>link quality is good enough</a:t>
            </a:r>
            <a:r>
              <a:rPr lang="en-US" sz="2000" dirty="0">
                <a:latin typeface="Calibri"/>
                <a:cs typeface="Calibri"/>
              </a:rPr>
              <a:t> to bring up network layer protocols </a:t>
            </a:r>
          </a:p>
        </p:txBody>
      </p:sp>
      <p:pic>
        <p:nvPicPr>
          <p:cNvPr id="266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683" y="2174311"/>
            <a:ext cx="7324725" cy="1219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3205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Authentication</a:t>
            </a:r>
          </a:p>
        </p:txBody>
      </p:sp>
      <p:sp>
        <p:nvSpPr>
          <p:cNvPr id="3" name="Content Placeholder 2"/>
          <p:cNvSpPr>
            <a:spLocks noGrp="1"/>
          </p:cNvSpPr>
          <p:nvPr>
            <p:ph idx="1"/>
          </p:nvPr>
        </p:nvSpPr>
        <p:spPr>
          <a:xfrm>
            <a:off x="457199" y="2209800"/>
            <a:ext cx="7872082" cy="3916363"/>
          </a:xfrm>
        </p:spPr>
        <p:txBody>
          <a:bodyPr/>
          <a:lstStyle/>
          <a:p>
            <a:pPr>
              <a:spcAft>
                <a:spcPts val="600"/>
              </a:spcAft>
            </a:pPr>
            <a:r>
              <a:rPr lang="en-US" dirty="0">
                <a:latin typeface="Calibri"/>
                <a:cs typeface="Calibri"/>
              </a:rPr>
              <a:t>Authentication is a mechanism used to verify the identity of another device. </a:t>
            </a:r>
          </a:p>
          <a:p>
            <a:pPr>
              <a:spcAft>
                <a:spcPts val="600"/>
              </a:spcAft>
            </a:pPr>
            <a:r>
              <a:rPr lang="en-US" dirty="0">
                <a:latin typeface="Calibri"/>
                <a:cs typeface="Calibri"/>
              </a:rPr>
              <a:t>This identity verification is needed to confirm that the other device is legitimate and not some one only appearing to be an authentic device in order to cause damage or steal information.</a:t>
            </a:r>
          </a:p>
          <a:p>
            <a:r>
              <a:rPr lang="en-US" dirty="0">
                <a:latin typeface="Calibri"/>
                <a:cs typeface="Calibri"/>
              </a:rPr>
              <a:t>PPP defines two authentication protocols:</a:t>
            </a:r>
          </a:p>
          <a:p>
            <a:pPr lvl="1"/>
            <a:r>
              <a:rPr lang="en-US" dirty="0">
                <a:latin typeface="Calibri"/>
                <a:cs typeface="Calibri"/>
              </a:rPr>
              <a:t>Password Authentication Protocol (PAP)</a:t>
            </a:r>
          </a:p>
          <a:p>
            <a:pPr lvl="1"/>
            <a:r>
              <a:rPr lang="en-US" dirty="0">
                <a:latin typeface="Calibri"/>
                <a:cs typeface="Calibri"/>
              </a:rPr>
              <a:t>Channel Handshake Authentication Protocol (CHAP). </a:t>
            </a:r>
          </a:p>
          <a:p>
            <a:pPr marL="0" indent="0">
              <a:spcAft>
                <a:spcPts val="600"/>
              </a:spcAft>
              <a:buNone/>
            </a:pPr>
            <a:endParaRPr lang="en-US" dirty="0">
              <a:latin typeface="Calibri"/>
              <a:cs typeface="Calibri"/>
            </a:endParaRPr>
          </a:p>
          <a:p>
            <a:endParaRPr lang="en-US" dirty="0"/>
          </a:p>
        </p:txBody>
      </p:sp>
    </p:spTree>
    <p:extLst>
      <p:ext uri="{BB962C8B-B14F-4D97-AF65-F5344CB8AC3E}">
        <p14:creationId xmlns:p14="http://schemas.microsoft.com/office/powerpoint/2010/main" val="14917755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199" y="423131"/>
            <a:ext cx="6508377" cy="1143000"/>
          </a:xfrm>
        </p:spPr>
        <p:txBody>
          <a:bodyPr/>
          <a:lstStyle/>
          <a:p>
            <a:r>
              <a:rPr lang="en-US" dirty="0"/>
              <a:t>PPP authentication protocols</a:t>
            </a:r>
          </a:p>
        </p:txBody>
      </p:sp>
      <p:pic>
        <p:nvPicPr>
          <p:cNvPr id="286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4172" y="2781756"/>
            <a:ext cx="5334000" cy="13852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86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5335" y="4813861"/>
            <a:ext cx="5257800" cy="147092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8683" name="Line 11"/>
          <p:cNvSpPr>
            <a:spLocks noChangeShapeType="1"/>
          </p:cNvSpPr>
          <p:nvPr/>
        </p:nvSpPr>
        <p:spPr bwMode="auto">
          <a:xfrm>
            <a:off x="3770363" y="3013646"/>
            <a:ext cx="609600" cy="0"/>
          </a:xfrm>
          <a:prstGeom prst="line">
            <a:avLst/>
          </a:prstGeom>
          <a:noFill/>
          <a:ln w="254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8684" name="Line 12"/>
          <p:cNvSpPr>
            <a:spLocks noChangeShapeType="1"/>
          </p:cNvSpPr>
          <p:nvPr/>
        </p:nvSpPr>
        <p:spPr bwMode="auto">
          <a:xfrm>
            <a:off x="3770363" y="5055847"/>
            <a:ext cx="609600" cy="0"/>
          </a:xfrm>
          <a:prstGeom prst="line">
            <a:avLst/>
          </a:prstGeom>
          <a:noFill/>
          <a:ln w="254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 name="Rectangle 1"/>
          <p:cNvSpPr/>
          <p:nvPr/>
        </p:nvSpPr>
        <p:spPr>
          <a:xfrm>
            <a:off x="609600" y="1889296"/>
            <a:ext cx="7251408" cy="707886"/>
          </a:xfrm>
          <a:prstGeom prst="rect">
            <a:avLst/>
          </a:prstGeom>
        </p:spPr>
        <p:txBody>
          <a:bodyPr wrap="square">
            <a:spAutoFit/>
          </a:bodyPr>
          <a:lstStyle/>
          <a:p>
            <a:pPr marL="285750" indent="-285750">
              <a:buFont typeface="Arial"/>
              <a:buChar char="•"/>
            </a:pPr>
            <a:r>
              <a:rPr lang="en-US" sz="2000" dirty="0">
                <a:latin typeface="Calibri"/>
                <a:cs typeface="Calibri"/>
              </a:rPr>
              <a:t>Both protocols involve exchanges of messages between the two PPP devices, but there are differences in detail. </a:t>
            </a:r>
          </a:p>
        </p:txBody>
      </p:sp>
    </p:spTree>
    <p:extLst>
      <p:ext uri="{BB962C8B-B14F-4D97-AF65-F5344CB8AC3E}">
        <p14:creationId xmlns:p14="http://schemas.microsoft.com/office/powerpoint/2010/main" val="250736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224213"/>
            <a:ext cx="6400800" cy="3195637"/>
          </a:xfrm>
          <a:prstGeom prst="rect">
            <a:avLst/>
          </a:prstGeom>
          <a:noFill/>
          <a:extLst>
            <a:ext uri="{909E8E84-426E-40dd-AFC4-6F175D3DCCD1}">
              <a14:hiddenFill xmlns="" xmlns:a14="http://schemas.microsoft.com/office/drawing/2010/main">
                <a:solidFill>
                  <a:srgbClr val="FFFFFF"/>
                </a:solidFill>
              </a14:hiddenFill>
            </a:ext>
          </a:extLst>
        </p:spPr>
      </p:pic>
      <p:pic>
        <p:nvPicPr>
          <p:cNvPr id="3276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533400"/>
            <a:ext cx="6629400" cy="2800350"/>
          </a:xfrm>
          <a:prstGeom prst="rect">
            <a:avLst/>
          </a:prstGeom>
          <a:noFill/>
          <a:extLst>
            <a:ext uri="{909E8E84-426E-40dd-AFC4-6F175D3DCCD1}">
              <a14:hiddenFill xmlns="" xmlns:a14="http://schemas.microsoft.com/office/drawing/2010/main">
                <a:solidFill>
                  <a:srgbClr val="FFFFFF"/>
                </a:solidFill>
              </a14:hiddenFill>
            </a:ext>
          </a:extLst>
        </p:spPr>
      </p:pic>
      <p:sp>
        <p:nvSpPr>
          <p:cNvPr id="327682" name="Rectangle 2"/>
          <p:cNvSpPr>
            <a:spLocks noGrp="1"/>
          </p:cNvSpPr>
          <p:nvPr>
            <p:ph type="title"/>
          </p:nvPr>
        </p:nvSpPr>
        <p:spPr>
          <a:xfrm>
            <a:off x="1488217" y="0"/>
            <a:ext cx="6172200" cy="762000"/>
          </a:xfrm>
        </p:spPr>
        <p:txBody>
          <a:bodyPr/>
          <a:lstStyle/>
          <a:p>
            <a:pPr algn="ctr"/>
            <a:r>
              <a:rPr lang="pt-PT" sz="3600" dirty="0">
                <a:latin typeface="Calibri" charset="0"/>
              </a:rPr>
              <a:t>PAP</a:t>
            </a:r>
            <a:endParaRPr lang="en-US" sz="3600" dirty="0">
              <a:latin typeface="Calibri" charset="0"/>
            </a:endParaRPr>
          </a:p>
        </p:txBody>
      </p:sp>
    </p:spTree>
    <p:extLst>
      <p:ext uri="{BB962C8B-B14F-4D97-AF65-F5344CB8AC3E}">
        <p14:creationId xmlns:p14="http://schemas.microsoft.com/office/powerpoint/2010/main" val="42855050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30394" y="576471"/>
            <a:ext cx="7556313" cy="1116106"/>
          </a:xfrm>
        </p:spPr>
        <p:txBody>
          <a:bodyPr/>
          <a:lstStyle/>
          <a:p>
            <a:r>
              <a:rPr lang="en-US" sz="3200" dirty="0"/>
              <a:t>Password Authentication Protocol (PAP)</a:t>
            </a:r>
          </a:p>
        </p:txBody>
      </p:sp>
      <p:sp>
        <p:nvSpPr>
          <p:cNvPr id="29699" name="Rectangle 3"/>
          <p:cNvSpPr>
            <a:spLocks noGrp="1" noChangeArrowheads="1"/>
          </p:cNvSpPr>
          <p:nvPr>
            <p:ph idx="1"/>
          </p:nvPr>
        </p:nvSpPr>
        <p:spPr>
          <a:xfrm>
            <a:off x="498474" y="2340571"/>
            <a:ext cx="8534400" cy="3124200"/>
          </a:xfrm>
        </p:spPr>
        <p:txBody>
          <a:bodyPr>
            <a:noAutofit/>
          </a:bodyPr>
          <a:lstStyle/>
          <a:p>
            <a:pPr>
              <a:lnSpc>
                <a:spcPct val="110000"/>
              </a:lnSpc>
              <a:spcBef>
                <a:spcPts val="1400"/>
              </a:spcBef>
            </a:pPr>
            <a:r>
              <a:rPr lang="de-DE" dirty="0">
                <a:latin typeface="Calibri"/>
                <a:cs typeface="Calibri"/>
              </a:rPr>
              <a:t>PAP </a:t>
            </a:r>
            <a:r>
              <a:rPr lang="de-DE" dirty="0" err="1">
                <a:latin typeface="Calibri"/>
                <a:cs typeface="Calibri"/>
              </a:rPr>
              <a:t>provides</a:t>
            </a:r>
            <a:r>
              <a:rPr lang="de-DE" dirty="0">
                <a:latin typeface="Calibri"/>
                <a:cs typeface="Calibri"/>
              </a:rPr>
              <a:t> a simple </a:t>
            </a:r>
            <a:r>
              <a:rPr lang="de-DE" dirty="0" err="1">
                <a:latin typeface="Calibri"/>
                <a:cs typeface="Calibri"/>
              </a:rPr>
              <a:t>method</a:t>
            </a:r>
            <a:r>
              <a:rPr lang="de-DE" dirty="0">
                <a:latin typeface="Calibri"/>
                <a:cs typeface="Calibri"/>
              </a:rPr>
              <a:t> </a:t>
            </a:r>
            <a:r>
              <a:rPr lang="de-DE" dirty="0" err="1">
                <a:latin typeface="Calibri"/>
                <a:cs typeface="Calibri"/>
              </a:rPr>
              <a:t>for</a:t>
            </a:r>
            <a:r>
              <a:rPr lang="de-DE" dirty="0">
                <a:latin typeface="Calibri"/>
                <a:cs typeface="Calibri"/>
              </a:rPr>
              <a:t> a remote </a:t>
            </a:r>
            <a:r>
              <a:rPr lang="de-DE" dirty="0" err="1">
                <a:latin typeface="Calibri"/>
                <a:cs typeface="Calibri"/>
              </a:rPr>
              <a:t>node</a:t>
            </a:r>
            <a:r>
              <a:rPr lang="de-DE" dirty="0">
                <a:latin typeface="Calibri"/>
                <a:cs typeface="Calibri"/>
              </a:rPr>
              <a:t> </a:t>
            </a:r>
            <a:r>
              <a:rPr lang="de-DE" dirty="0" err="1">
                <a:latin typeface="Calibri"/>
                <a:cs typeface="Calibri"/>
              </a:rPr>
              <a:t>to</a:t>
            </a:r>
            <a:r>
              <a:rPr lang="de-DE" dirty="0">
                <a:latin typeface="Calibri"/>
                <a:cs typeface="Calibri"/>
              </a:rPr>
              <a:t> </a:t>
            </a:r>
            <a:r>
              <a:rPr lang="de-DE" dirty="0" err="1">
                <a:latin typeface="Calibri"/>
                <a:cs typeface="Calibri"/>
              </a:rPr>
              <a:t>establish</a:t>
            </a:r>
            <a:r>
              <a:rPr lang="de-DE" dirty="0">
                <a:latin typeface="Calibri"/>
                <a:cs typeface="Calibri"/>
              </a:rPr>
              <a:t> </a:t>
            </a:r>
            <a:r>
              <a:rPr lang="de-DE" dirty="0" err="1">
                <a:latin typeface="Calibri"/>
                <a:cs typeface="Calibri"/>
              </a:rPr>
              <a:t>its</a:t>
            </a:r>
            <a:r>
              <a:rPr lang="de-DE" dirty="0">
                <a:latin typeface="Calibri"/>
                <a:cs typeface="Calibri"/>
              </a:rPr>
              <a:t> </a:t>
            </a:r>
            <a:r>
              <a:rPr lang="de-DE" dirty="0" err="1">
                <a:latin typeface="Calibri"/>
                <a:cs typeface="Calibri"/>
              </a:rPr>
              <a:t>identity</a:t>
            </a:r>
            <a:r>
              <a:rPr lang="de-DE" dirty="0">
                <a:latin typeface="Calibri"/>
                <a:cs typeface="Calibri"/>
              </a:rPr>
              <a:t>, </a:t>
            </a:r>
            <a:r>
              <a:rPr lang="de-DE" dirty="0" err="1">
                <a:latin typeface="Calibri"/>
                <a:cs typeface="Calibri"/>
              </a:rPr>
              <a:t>using</a:t>
            </a:r>
            <a:r>
              <a:rPr lang="de-DE" b="1" dirty="0">
                <a:latin typeface="Calibri"/>
                <a:cs typeface="Calibri"/>
              </a:rPr>
              <a:t> a </a:t>
            </a:r>
            <a:r>
              <a:rPr lang="de-DE" b="1" dirty="0" err="1">
                <a:latin typeface="Calibri"/>
                <a:cs typeface="Calibri"/>
              </a:rPr>
              <a:t>two-way</a:t>
            </a:r>
            <a:r>
              <a:rPr lang="de-DE" b="1" dirty="0">
                <a:latin typeface="Calibri"/>
                <a:cs typeface="Calibri"/>
              </a:rPr>
              <a:t> </a:t>
            </a:r>
            <a:r>
              <a:rPr lang="de-DE" b="1" dirty="0" err="1">
                <a:latin typeface="Calibri"/>
                <a:cs typeface="Calibri"/>
              </a:rPr>
              <a:t>handshake</a:t>
            </a:r>
            <a:r>
              <a:rPr lang="de-DE" dirty="0">
                <a:latin typeface="Calibri"/>
                <a:cs typeface="Calibri"/>
              </a:rPr>
              <a:t>.  </a:t>
            </a:r>
          </a:p>
          <a:p>
            <a:pPr>
              <a:lnSpc>
                <a:spcPct val="110000"/>
              </a:lnSpc>
              <a:spcBef>
                <a:spcPts val="1400"/>
              </a:spcBef>
            </a:pPr>
            <a:r>
              <a:rPr lang="en-US" dirty="0">
                <a:latin typeface="Calibri"/>
                <a:cs typeface="Calibri"/>
              </a:rPr>
              <a:t>The authentication process is </a:t>
            </a:r>
            <a:r>
              <a:rPr lang="en-US" b="1" dirty="0">
                <a:latin typeface="Calibri"/>
                <a:cs typeface="Calibri"/>
              </a:rPr>
              <a:t>one way authentication method </a:t>
            </a:r>
            <a:r>
              <a:rPr lang="en-US" dirty="0">
                <a:latin typeface="Calibri"/>
                <a:cs typeface="Calibri"/>
              </a:rPr>
              <a:t>and one or both devices can authenticate each other separately</a:t>
            </a:r>
            <a:r>
              <a:rPr lang="en-US" dirty="0"/>
              <a:t>. </a:t>
            </a:r>
            <a:endParaRPr lang="de-DE" dirty="0">
              <a:latin typeface="Calibri"/>
              <a:cs typeface="Calibri"/>
            </a:endParaRPr>
          </a:p>
          <a:p>
            <a:pPr>
              <a:lnSpc>
                <a:spcPct val="110000"/>
              </a:lnSpc>
              <a:spcBef>
                <a:spcPts val="1400"/>
              </a:spcBef>
            </a:pPr>
            <a:r>
              <a:rPr lang="de-DE" dirty="0">
                <a:latin typeface="Calibri"/>
                <a:cs typeface="Calibri"/>
              </a:rPr>
              <a:t>PAP </a:t>
            </a:r>
            <a:r>
              <a:rPr lang="de-DE" dirty="0" err="1">
                <a:latin typeface="Calibri"/>
                <a:cs typeface="Calibri"/>
              </a:rPr>
              <a:t>is</a:t>
            </a:r>
            <a:r>
              <a:rPr lang="de-DE" dirty="0">
                <a:latin typeface="Calibri"/>
                <a:cs typeface="Calibri"/>
              </a:rPr>
              <a:t> not a strong </a:t>
            </a:r>
            <a:r>
              <a:rPr lang="de-DE" dirty="0" err="1">
                <a:latin typeface="Calibri"/>
                <a:cs typeface="Calibri"/>
              </a:rPr>
              <a:t>authentication</a:t>
            </a:r>
            <a:r>
              <a:rPr lang="de-DE" dirty="0">
                <a:latin typeface="Calibri"/>
                <a:cs typeface="Calibri"/>
              </a:rPr>
              <a:t> </a:t>
            </a:r>
            <a:r>
              <a:rPr lang="de-DE" dirty="0" err="1">
                <a:latin typeface="Calibri"/>
                <a:cs typeface="Calibri"/>
              </a:rPr>
              <a:t>protocol</a:t>
            </a:r>
            <a:r>
              <a:rPr lang="de-DE" dirty="0">
                <a:latin typeface="Calibri"/>
                <a:cs typeface="Calibri"/>
              </a:rPr>
              <a:t>. </a:t>
            </a:r>
          </a:p>
          <a:p>
            <a:pPr>
              <a:lnSpc>
                <a:spcPct val="110000"/>
              </a:lnSpc>
              <a:spcBef>
                <a:spcPts val="1400"/>
              </a:spcBef>
            </a:pPr>
            <a:r>
              <a:rPr lang="de-DE" dirty="0">
                <a:latin typeface="Calibri"/>
                <a:cs typeface="Calibri"/>
              </a:rPr>
              <a:t>Passwords </a:t>
            </a:r>
            <a:r>
              <a:rPr lang="de-DE" dirty="0" err="1">
                <a:latin typeface="Calibri"/>
                <a:cs typeface="Calibri"/>
              </a:rPr>
              <a:t>are</a:t>
            </a:r>
            <a:r>
              <a:rPr lang="de-DE" dirty="0">
                <a:latin typeface="Calibri"/>
                <a:cs typeface="Calibri"/>
              </a:rPr>
              <a:t> </a:t>
            </a:r>
            <a:r>
              <a:rPr lang="de-DE" dirty="0" err="1">
                <a:latin typeface="Calibri"/>
                <a:cs typeface="Calibri"/>
              </a:rPr>
              <a:t>sent</a:t>
            </a:r>
            <a:r>
              <a:rPr lang="de-DE" dirty="0">
                <a:latin typeface="Calibri"/>
                <a:cs typeface="Calibri"/>
              </a:rPr>
              <a:t> </a:t>
            </a:r>
            <a:r>
              <a:rPr lang="de-DE" dirty="0" err="1">
                <a:latin typeface="Calibri"/>
                <a:cs typeface="Calibri"/>
              </a:rPr>
              <a:t>across</a:t>
            </a:r>
            <a:r>
              <a:rPr lang="de-DE" dirty="0">
                <a:latin typeface="Calibri"/>
                <a:cs typeface="Calibri"/>
              </a:rPr>
              <a:t> </a:t>
            </a:r>
            <a:r>
              <a:rPr lang="de-DE" dirty="0" err="1">
                <a:latin typeface="Calibri"/>
                <a:cs typeface="Calibri"/>
              </a:rPr>
              <a:t>the</a:t>
            </a:r>
            <a:r>
              <a:rPr lang="de-DE" dirty="0">
                <a:latin typeface="Calibri"/>
                <a:cs typeface="Calibri"/>
              </a:rPr>
              <a:t> link in </a:t>
            </a:r>
            <a:r>
              <a:rPr lang="de-DE" b="1" dirty="0" err="1">
                <a:latin typeface="Calibri"/>
                <a:cs typeface="Calibri"/>
              </a:rPr>
              <a:t>clear</a:t>
            </a:r>
            <a:r>
              <a:rPr lang="de-DE" b="1" dirty="0">
                <a:latin typeface="Calibri"/>
                <a:cs typeface="Calibri"/>
              </a:rPr>
              <a:t> </a:t>
            </a:r>
            <a:r>
              <a:rPr lang="de-DE" b="1" dirty="0" err="1">
                <a:latin typeface="Calibri"/>
                <a:cs typeface="Calibri"/>
              </a:rPr>
              <a:t>text</a:t>
            </a:r>
            <a:r>
              <a:rPr lang="de-DE" dirty="0">
                <a:latin typeface="Calibri"/>
                <a:cs typeface="Calibri"/>
              </a:rPr>
              <a:t> </a:t>
            </a:r>
            <a:r>
              <a:rPr lang="de-DE" dirty="0" err="1">
                <a:latin typeface="Calibri"/>
                <a:cs typeface="Calibri"/>
              </a:rPr>
              <a:t>and</a:t>
            </a:r>
            <a:r>
              <a:rPr lang="de-DE" dirty="0">
                <a:latin typeface="Calibri"/>
                <a:cs typeface="Calibri"/>
              </a:rPr>
              <a:t> </a:t>
            </a:r>
            <a:r>
              <a:rPr lang="de-DE" dirty="0" err="1">
                <a:latin typeface="Calibri"/>
                <a:cs typeface="Calibri"/>
              </a:rPr>
              <a:t>there</a:t>
            </a:r>
            <a:r>
              <a:rPr lang="de-DE" dirty="0">
                <a:latin typeface="Calibri"/>
                <a:cs typeface="Calibri"/>
              </a:rPr>
              <a:t> </a:t>
            </a:r>
            <a:r>
              <a:rPr lang="de-DE" dirty="0" err="1">
                <a:latin typeface="Calibri"/>
                <a:cs typeface="Calibri"/>
              </a:rPr>
              <a:t>is</a:t>
            </a:r>
            <a:r>
              <a:rPr lang="de-DE" dirty="0">
                <a:latin typeface="Calibri"/>
                <a:cs typeface="Calibri"/>
              </a:rPr>
              <a:t> </a:t>
            </a:r>
            <a:r>
              <a:rPr lang="de-DE" dirty="0" err="1">
                <a:latin typeface="Calibri"/>
                <a:cs typeface="Calibri"/>
              </a:rPr>
              <a:t>no</a:t>
            </a:r>
            <a:r>
              <a:rPr lang="de-DE" dirty="0">
                <a:latin typeface="Calibri"/>
                <a:cs typeface="Calibri"/>
              </a:rPr>
              <a:t> </a:t>
            </a:r>
            <a:r>
              <a:rPr lang="de-DE" dirty="0" err="1">
                <a:latin typeface="Calibri"/>
                <a:cs typeface="Calibri"/>
              </a:rPr>
              <a:t>protection</a:t>
            </a:r>
            <a:r>
              <a:rPr lang="de-DE" dirty="0">
                <a:latin typeface="Calibri"/>
                <a:cs typeface="Calibri"/>
              </a:rPr>
              <a:t> </a:t>
            </a:r>
            <a:r>
              <a:rPr lang="de-DE" dirty="0" err="1">
                <a:latin typeface="Calibri"/>
                <a:cs typeface="Calibri"/>
              </a:rPr>
              <a:t>from</a:t>
            </a:r>
            <a:r>
              <a:rPr lang="de-DE" dirty="0">
                <a:latin typeface="Calibri"/>
                <a:cs typeface="Calibri"/>
              </a:rPr>
              <a:t> </a:t>
            </a:r>
            <a:r>
              <a:rPr lang="de-DE" dirty="0" err="1">
                <a:latin typeface="Calibri"/>
                <a:cs typeface="Calibri"/>
              </a:rPr>
              <a:t>playback</a:t>
            </a:r>
            <a:r>
              <a:rPr lang="de-DE" dirty="0">
                <a:latin typeface="Calibri"/>
                <a:cs typeface="Calibri"/>
              </a:rPr>
              <a:t> </a:t>
            </a:r>
            <a:r>
              <a:rPr lang="de-DE" dirty="0" err="1">
                <a:latin typeface="Calibri"/>
                <a:cs typeface="Calibri"/>
              </a:rPr>
              <a:t>or</a:t>
            </a:r>
            <a:r>
              <a:rPr lang="de-DE" dirty="0">
                <a:latin typeface="Calibri"/>
                <a:cs typeface="Calibri"/>
              </a:rPr>
              <a:t> </a:t>
            </a:r>
            <a:r>
              <a:rPr lang="de-DE" dirty="0" err="1">
                <a:latin typeface="Calibri"/>
                <a:cs typeface="Calibri"/>
              </a:rPr>
              <a:t>repeated</a:t>
            </a:r>
            <a:r>
              <a:rPr lang="de-DE" dirty="0">
                <a:latin typeface="Calibri"/>
                <a:cs typeface="Calibri"/>
              </a:rPr>
              <a:t> </a:t>
            </a:r>
            <a:r>
              <a:rPr lang="de-DE" dirty="0" err="1">
                <a:latin typeface="Calibri"/>
                <a:cs typeface="Calibri"/>
              </a:rPr>
              <a:t>trial-and-error</a:t>
            </a:r>
            <a:r>
              <a:rPr lang="de-DE" dirty="0">
                <a:latin typeface="Calibri"/>
                <a:cs typeface="Calibri"/>
              </a:rPr>
              <a:t> </a:t>
            </a:r>
            <a:r>
              <a:rPr lang="de-DE" dirty="0" err="1">
                <a:latin typeface="Calibri"/>
                <a:cs typeface="Calibri"/>
              </a:rPr>
              <a:t>attacks</a:t>
            </a:r>
            <a:r>
              <a:rPr lang="de-DE" dirty="0">
                <a:latin typeface="Calibri"/>
                <a:cs typeface="Calibri"/>
              </a:rPr>
              <a:t>. </a:t>
            </a:r>
          </a:p>
        </p:txBody>
      </p:sp>
    </p:spTree>
    <p:extLst>
      <p:ext uri="{BB962C8B-B14F-4D97-AF65-F5344CB8AC3E}">
        <p14:creationId xmlns:p14="http://schemas.microsoft.com/office/powerpoint/2010/main" val="7188809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42900"/>
            <a:ext cx="6508377" cy="1143000"/>
          </a:xfrm>
        </p:spPr>
        <p:txBody>
          <a:bodyPr/>
          <a:lstStyle/>
          <a:p>
            <a:r>
              <a:rPr lang="en-US" dirty="0"/>
              <a:t>CHAP</a:t>
            </a:r>
          </a:p>
        </p:txBody>
      </p:sp>
      <p:pic>
        <p:nvPicPr>
          <p:cNvPr id="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327" y="2116927"/>
            <a:ext cx="6508460" cy="35687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4995939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199" y="342900"/>
            <a:ext cx="6508377" cy="1143000"/>
          </a:xfrm>
        </p:spPr>
        <p:txBody>
          <a:bodyPr>
            <a:normAutofit/>
          </a:bodyPr>
          <a:lstStyle/>
          <a:p>
            <a:r>
              <a:rPr lang="en-US" dirty="0"/>
              <a:t>CHAP</a:t>
            </a:r>
          </a:p>
        </p:txBody>
      </p:sp>
      <p:sp>
        <p:nvSpPr>
          <p:cNvPr id="30723" name="Rectangle 3"/>
          <p:cNvSpPr>
            <a:spLocks noGrp="1" noChangeArrowheads="1"/>
          </p:cNvSpPr>
          <p:nvPr>
            <p:ph idx="1"/>
          </p:nvPr>
        </p:nvSpPr>
        <p:spPr>
          <a:xfrm>
            <a:off x="381000" y="2126267"/>
            <a:ext cx="8534400" cy="4918472"/>
          </a:xfrm>
        </p:spPr>
        <p:txBody>
          <a:bodyPr>
            <a:normAutofit/>
          </a:bodyPr>
          <a:lstStyle/>
          <a:p>
            <a:pPr>
              <a:lnSpc>
                <a:spcPct val="90000"/>
              </a:lnSpc>
            </a:pPr>
            <a:r>
              <a:rPr lang="en-US" sz="2000" dirty="0">
                <a:latin typeface="Calibri"/>
                <a:cs typeface="Calibri"/>
              </a:rPr>
              <a:t>CHAP  </a:t>
            </a:r>
            <a:r>
              <a:rPr lang="en-US" dirty="0">
                <a:latin typeface="Calibri"/>
                <a:cs typeface="Calibri"/>
              </a:rPr>
              <a:t>uses a </a:t>
            </a:r>
            <a:r>
              <a:rPr lang="en-US" b="1" dirty="0">
                <a:latin typeface="Calibri"/>
                <a:cs typeface="Calibri"/>
              </a:rPr>
              <a:t>three-way handshake </a:t>
            </a:r>
            <a:r>
              <a:rPr lang="en-US" dirty="0">
                <a:latin typeface="Calibri"/>
                <a:cs typeface="Calibri"/>
              </a:rPr>
              <a:t>to </a:t>
            </a:r>
            <a:r>
              <a:rPr lang="en-US" sz="2000" dirty="0">
                <a:latin typeface="Calibri"/>
                <a:cs typeface="Calibri"/>
              </a:rPr>
              <a:t>verify the identity of the remote node. </a:t>
            </a:r>
          </a:p>
          <a:p>
            <a:pPr>
              <a:lnSpc>
                <a:spcPct val="90000"/>
              </a:lnSpc>
            </a:pPr>
            <a:r>
              <a:rPr lang="en-US" sz="2000" dirty="0">
                <a:latin typeface="Calibri"/>
                <a:cs typeface="Calibri"/>
              </a:rPr>
              <a:t>After the PPP link establishment phase is complete, the local router sends a "</a:t>
            </a:r>
            <a:r>
              <a:rPr lang="en-US" sz="2000" dirty="0">
                <a:solidFill>
                  <a:schemeClr val="accent2">
                    <a:lumMod val="50000"/>
                    <a:lumOff val="50000"/>
                  </a:schemeClr>
                </a:solidFill>
                <a:latin typeface="Calibri"/>
                <a:cs typeface="Calibri"/>
              </a:rPr>
              <a:t>challenge</a:t>
            </a:r>
            <a:r>
              <a:rPr lang="en-US" sz="2000" dirty="0">
                <a:latin typeface="Calibri"/>
                <a:cs typeface="Calibri"/>
              </a:rPr>
              <a:t>" message to the remote node. </a:t>
            </a:r>
          </a:p>
          <a:p>
            <a:pPr>
              <a:lnSpc>
                <a:spcPct val="90000"/>
              </a:lnSpc>
            </a:pPr>
            <a:r>
              <a:rPr lang="en-US" sz="2000" dirty="0">
                <a:latin typeface="Calibri"/>
                <a:cs typeface="Calibri"/>
              </a:rPr>
              <a:t>The remote node </a:t>
            </a:r>
            <a:r>
              <a:rPr lang="en-US" sz="2000" dirty="0">
                <a:solidFill>
                  <a:srgbClr val="B050D7"/>
                </a:solidFill>
                <a:latin typeface="Calibri"/>
                <a:cs typeface="Calibri"/>
              </a:rPr>
              <a:t>responds </a:t>
            </a:r>
            <a:r>
              <a:rPr lang="en-US" sz="2000" dirty="0">
                <a:latin typeface="Calibri"/>
                <a:cs typeface="Calibri"/>
              </a:rPr>
              <a:t>with a </a:t>
            </a:r>
            <a:r>
              <a:rPr lang="en-US" sz="2000" dirty="0">
                <a:solidFill>
                  <a:srgbClr val="B050D7"/>
                </a:solidFill>
                <a:latin typeface="Calibri"/>
                <a:cs typeface="Calibri"/>
              </a:rPr>
              <a:t>value </a:t>
            </a:r>
            <a:r>
              <a:rPr lang="en-US" sz="2000" dirty="0">
                <a:latin typeface="Calibri"/>
                <a:cs typeface="Calibri"/>
              </a:rPr>
              <a:t>calculated using a one-way hash function, which is typically </a:t>
            </a:r>
            <a:r>
              <a:rPr lang="en-US" sz="2000" dirty="0">
                <a:solidFill>
                  <a:srgbClr val="B050D7"/>
                </a:solidFill>
                <a:latin typeface="Calibri"/>
                <a:cs typeface="Calibri"/>
              </a:rPr>
              <a:t>Message Digest 5 </a:t>
            </a:r>
            <a:r>
              <a:rPr lang="en-US" sz="2000" dirty="0">
                <a:latin typeface="Calibri"/>
                <a:cs typeface="Calibri"/>
              </a:rPr>
              <a:t>(MD5). </a:t>
            </a:r>
          </a:p>
          <a:p>
            <a:pPr>
              <a:lnSpc>
                <a:spcPct val="90000"/>
              </a:lnSpc>
            </a:pPr>
            <a:r>
              <a:rPr lang="en-US" sz="2000" dirty="0">
                <a:latin typeface="Calibri"/>
                <a:cs typeface="Calibri"/>
              </a:rPr>
              <a:t>This response is based on the password and challenge message. </a:t>
            </a:r>
          </a:p>
          <a:p>
            <a:pPr>
              <a:lnSpc>
                <a:spcPct val="90000"/>
              </a:lnSpc>
            </a:pPr>
            <a:r>
              <a:rPr lang="en-US" sz="2000" dirty="0">
                <a:latin typeface="Calibri"/>
                <a:cs typeface="Calibri"/>
              </a:rPr>
              <a:t>The local router checks the response against its own calculation of the expected hash value. </a:t>
            </a:r>
          </a:p>
          <a:p>
            <a:pPr>
              <a:lnSpc>
                <a:spcPct val="90000"/>
              </a:lnSpc>
            </a:pPr>
            <a:r>
              <a:rPr lang="en-US" sz="2000" dirty="0">
                <a:latin typeface="Calibri"/>
                <a:cs typeface="Calibri"/>
              </a:rPr>
              <a:t>If the values match, the authentication is acknowledged, otherwise the connection is immediately terminated. </a:t>
            </a:r>
          </a:p>
        </p:txBody>
      </p:sp>
    </p:spTree>
    <p:extLst>
      <p:ext uri="{BB962C8B-B14F-4D97-AF65-F5344CB8AC3E}">
        <p14:creationId xmlns:p14="http://schemas.microsoft.com/office/powerpoint/2010/main" val="28066067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199" y="604335"/>
            <a:ext cx="6508377" cy="1143000"/>
          </a:xfrm>
        </p:spPr>
        <p:txBody>
          <a:bodyPr>
            <a:normAutofit/>
          </a:bodyPr>
          <a:lstStyle/>
          <a:p>
            <a:r>
              <a:rPr lang="en-US" dirty="0"/>
              <a:t>CHAP</a:t>
            </a:r>
          </a:p>
        </p:txBody>
      </p:sp>
      <p:sp>
        <p:nvSpPr>
          <p:cNvPr id="31747" name="Rectangle 3"/>
          <p:cNvSpPr>
            <a:spLocks noGrp="1" noChangeArrowheads="1"/>
          </p:cNvSpPr>
          <p:nvPr>
            <p:ph idx="1"/>
          </p:nvPr>
        </p:nvSpPr>
        <p:spPr>
          <a:xfrm>
            <a:off x="381000" y="2193471"/>
            <a:ext cx="8534400" cy="2971800"/>
          </a:xfrm>
        </p:spPr>
        <p:txBody>
          <a:bodyPr/>
          <a:lstStyle/>
          <a:p>
            <a:r>
              <a:rPr lang="en-US" sz="2000" dirty="0">
                <a:latin typeface="Calibri"/>
                <a:cs typeface="Calibri"/>
              </a:rPr>
              <a:t>CHAP provides protection against playback attack through the use of a variable challenge value that is unique and unpredictable. </a:t>
            </a:r>
          </a:p>
          <a:p>
            <a:r>
              <a:rPr lang="en-US" sz="2000" dirty="0">
                <a:latin typeface="Calibri"/>
                <a:cs typeface="Calibri"/>
              </a:rPr>
              <a:t>Since the challenge is unique and random, the resulting hash value will also be unique and random. </a:t>
            </a:r>
          </a:p>
          <a:p>
            <a:pPr marL="0" indent="0">
              <a:buNone/>
            </a:pPr>
            <a:endParaRPr lang="en-US" sz="2000" dirty="0">
              <a:latin typeface="Calibri"/>
              <a:cs typeface="Calibri"/>
            </a:endParaRPr>
          </a:p>
        </p:txBody>
      </p:sp>
    </p:spTree>
    <p:extLst>
      <p:ext uri="{BB962C8B-B14F-4D97-AF65-F5344CB8AC3E}">
        <p14:creationId xmlns:p14="http://schemas.microsoft.com/office/powerpoint/2010/main" val="3469440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b="1" dirty="0"/>
              <a:t>3- Network Layer Protocol Phase</a:t>
            </a:r>
          </a:p>
        </p:txBody>
      </p:sp>
      <p:sp>
        <p:nvSpPr>
          <p:cNvPr id="27651" name="Rectangle 3"/>
          <p:cNvSpPr>
            <a:spLocks noGrp="1" noChangeArrowheads="1"/>
          </p:cNvSpPr>
          <p:nvPr>
            <p:ph idx="1"/>
          </p:nvPr>
        </p:nvSpPr>
        <p:spPr>
          <a:xfrm>
            <a:off x="381000" y="2602680"/>
            <a:ext cx="8534400" cy="3859959"/>
          </a:xfrm>
        </p:spPr>
        <p:txBody>
          <a:bodyPr>
            <a:normAutofit/>
          </a:bodyPr>
          <a:lstStyle/>
          <a:p>
            <a:pPr>
              <a:lnSpc>
                <a:spcPct val="120000"/>
              </a:lnSpc>
            </a:pPr>
            <a:r>
              <a:rPr lang="en-US" sz="2000" dirty="0">
                <a:latin typeface="Calibri"/>
                <a:cs typeface="Calibri"/>
              </a:rPr>
              <a:t>In this phase the PPP devices send NCP packets to choose and configure one or more network layer protocols, such as IP.   </a:t>
            </a:r>
          </a:p>
          <a:p>
            <a:pPr>
              <a:lnSpc>
                <a:spcPct val="120000"/>
              </a:lnSpc>
            </a:pPr>
            <a:r>
              <a:rPr lang="en-US" sz="2000" dirty="0">
                <a:latin typeface="Calibri"/>
                <a:cs typeface="Calibri"/>
              </a:rPr>
              <a:t>Once each of the chosen network layer protocols has been configured, packets from each network layer protocol can be sent over the link. </a:t>
            </a:r>
          </a:p>
          <a:p>
            <a:pPr>
              <a:lnSpc>
                <a:spcPct val="120000"/>
              </a:lnSpc>
            </a:pPr>
            <a:r>
              <a:rPr lang="en-US" sz="2000" dirty="0">
                <a:latin typeface="Calibri"/>
                <a:cs typeface="Calibri"/>
              </a:rPr>
              <a:t>The PPP link remains configured for communications until LCP or NCP frames close the link.</a:t>
            </a:r>
          </a:p>
        </p:txBody>
      </p:sp>
    </p:spTree>
    <p:extLst>
      <p:ext uri="{BB962C8B-B14F-4D97-AF65-F5344CB8AC3E}">
        <p14:creationId xmlns:p14="http://schemas.microsoft.com/office/powerpoint/2010/main" val="35785418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71500" y="224086"/>
            <a:ext cx="7986748" cy="6633913"/>
          </a:xfrm>
          <a:prstGeom prst="rect">
            <a:avLst/>
          </a:prstGeom>
        </p:spPr>
      </p:pic>
      <p:sp>
        <p:nvSpPr>
          <p:cNvPr id="5" name="Rectangle 4"/>
          <p:cNvSpPr/>
          <p:nvPr/>
        </p:nvSpPr>
        <p:spPr>
          <a:xfrm>
            <a:off x="1942254" y="4033568"/>
            <a:ext cx="1157882" cy="429501"/>
          </a:xfrm>
          <a:prstGeom prst="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PAP</a:t>
            </a:r>
          </a:p>
        </p:txBody>
      </p:sp>
      <p:sp>
        <p:nvSpPr>
          <p:cNvPr id="6" name="Rectangle 5"/>
          <p:cNvSpPr/>
          <p:nvPr/>
        </p:nvSpPr>
        <p:spPr>
          <a:xfrm>
            <a:off x="5680353" y="4033568"/>
            <a:ext cx="1378992" cy="429501"/>
          </a:xfrm>
          <a:prstGeom prst="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rPr>
              <a:t>CHAP</a:t>
            </a:r>
          </a:p>
        </p:txBody>
      </p:sp>
      <p:sp>
        <p:nvSpPr>
          <p:cNvPr id="7" name="Rectangle 6"/>
          <p:cNvSpPr/>
          <p:nvPr/>
        </p:nvSpPr>
        <p:spPr>
          <a:xfrm>
            <a:off x="2300085" y="2729401"/>
            <a:ext cx="1157882" cy="42950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5440568" y="2729401"/>
            <a:ext cx="1157882" cy="42950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8102767"/>
      </p:ext>
    </p:extLst>
  </p:cSld>
  <p:clrMapOvr>
    <a:masterClrMapping/>
  </p:clrMapOvr>
</p:sld>
</file>

<file path=ppt/theme/theme1.xml><?xml version="1.0" encoding="utf-8"?>
<a:theme xmlns:a="http://schemas.openxmlformats.org/drawingml/2006/main" name="Plaz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CAD4DD3AEB58E458FE2BB115391F984" ma:contentTypeVersion="0" ma:contentTypeDescription="Create a new document." ma:contentTypeScope="" ma:versionID="db74ddb0c6b2a9f6e3d14e453642470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25BEC5C-DC90-459A-935C-4810F2942249}">
  <ds:schemaRefs>
    <ds:schemaRef ds:uri="http://schemas.microsoft.com/sharepoint/v3/contenttype/forms"/>
  </ds:schemaRefs>
</ds:datastoreItem>
</file>

<file path=customXml/itemProps2.xml><?xml version="1.0" encoding="utf-8"?>
<ds:datastoreItem xmlns:ds="http://schemas.openxmlformats.org/officeDocument/2006/customXml" ds:itemID="{1B4D6718-B4D4-4AA5-8315-3AEF8AA22A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E671E385-B546-481C-BEB9-E7693C19280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Plaza.thmx</Template>
  <TotalTime>338</TotalTime>
  <Words>3499</Words>
  <Application>Microsoft Office PowerPoint</Application>
  <PresentationFormat>On-screen Show (4:3)</PresentationFormat>
  <Paragraphs>313</Paragraphs>
  <Slides>51</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Century Gothic</vt:lpstr>
      <vt:lpstr>Comic Sans MS</vt:lpstr>
      <vt:lpstr>Wingdings 2</vt:lpstr>
      <vt:lpstr>Plaza</vt:lpstr>
      <vt:lpstr>PPP Protocol</vt:lpstr>
      <vt:lpstr>Outline</vt:lpstr>
      <vt:lpstr>WANs</vt:lpstr>
      <vt:lpstr>WAN Data Link Layer Protocols </vt:lpstr>
      <vt:lpstr>WAN Connection Types</vt:lpstr>
      <vt:lpstr>HDLC</vt:lpstr>
      <vt:lpstr>HDLC</vt:lpstr>
      <vt:lpstr>HDLC</vt:lpstr>
      <vt:lpstr>HDLC Encapsulation</vt:lpstr>
      <vt:lpstr>HDLC Encapsulation</vt:lpstr>
      <vt:lpstr>Bit stuffing </vt:lpstr>
      <vt:lpstr>HDLC Encapsulation</vt:lpstr>
      <vt:lpstr>HDLC Encapsulation</vt:lpstr>
      <vt:lpstr>CHDLC</vt:lpstr>
      <vt:lpstr>PPP Protocol</vt:lpstr>
      <vt:lpstr>PPP</vt:lpstr>
      <vt:lpstr>PPP </vt:lpstr>
      <vt:lpstr>PPP </vt:lpstr>
      <vt:lpstr>PPP and PHY Layer</vt:lpstr>
      <vt:lpstr>HOW PPP Work</vt:lpstr>
      <vt:lpstr>PPP Components</vt:lpstr>
      <vt:lpstr>PPP Components</vt:lpstr>
      <vt:lpstr>Encapsulation</vt:lpstr>
      <vt:lpstr>PPP Data Frame</vt:lpstr>
      <vt:lpstr>Byte Stuffing</vt:lpstr>
      <vt:lpstr>Byte Stuffing</vt:lpstr>
      <vt:lpstr>LCP</vt:lpstr>
      <vt:lpstr>LCP</vt:lpstr>
      <vt:lpstr>LCP Configuration Options </vt:lpstr>
      <vt:lpstr>LCP</vt:lpstr>
      <vt:lpstr>LCP</vt:lpstr>
      <vt:lpstr>NCP</vt:lpstr>
      <vt:lpstr>NCP</vt:lpstr>
      <vt:lpstr>PowerPoint Presentation</vt:lpstr>
      <vt:lpstr>PPP Session Establishment</vt:lpstr>
      <vt:lpstr>PPP Session Establishment (Detail)</vt:lpstr>
      <vt:lpstr>1- Link-establishment phase</vt:lpstr>
      <vt:lpstr>PowerPoint Presentation</vt:lpstr>
      <vt:lpstr>PPP Multilink (MLP)</vt:lpstr>
      <vt:lpstr>Compression </vt:lpstr>
      <vt:lpstr>Error Detection</vt:lpstr>
      <vt:lpstr>2- Authentication Phase (Optional)</vt:lpstr>
      <vt:lpstr>Authentication</vt:lpstr>
      <vt:lpstr>PPP authentication protocols</vt:lpstr>
      <vt:lpstr>PAP</vt:lpstr>
      <vt:lpstr>Password Authentication Protocol (PAP)</vt:lpstr>
      <vt:lpstr>CHAP</vt:lpstr>
      <vt:lpstr>CHAP</vt:lpstr>
      <vt:lpstr>CHAP</vt:lpstr>
      <vt:lpstr>3- Network Layer Protocol Phase</vt:lpstr>
      <vt:lpstr>PowerPoint Presentation</vt:lpstr>
    </vt:vector>
  </TitlesOfParts>
  <Company>KSU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Nour Alhariqi</dc:creator>
  <cp:lastModifiedBy>LEWIS MKWABU</cp:lastModifiedBy>
  <cp:revision>47</cp:revision>
  <dcterms:created xsi:type="dcterms:W3CDTF">2017-03-28T17:42:12Z</dcterms:created>
  <dcterms:modified xsi:type="dcterms:W3CDTF">2024-01-02T18:53:39Z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0x010100FCAD4DD3AEB58E458FE2BB115391F984</vt:lpwstr>
  </property>
</Properties>
</file>