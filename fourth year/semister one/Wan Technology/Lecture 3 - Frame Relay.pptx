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43680" y="176911"/>
            <a:ext cx="1056639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3269" y="2000834"/>
            <a:ext cx="7617460" cy="1977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6382" y="2498217"/>
            <a:ext cx="289687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Frame</a:t>
            </a:r>
            <a:r>
              <a:rPr dirty="0" spc="-95"/>
              <a:t> </a:t>
            </a:r>
            <a:r>
              <a:rPr dirty="0"/>
              <a:t>Relay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2" y="2060448"/>
            <a:ext cx="8662242" cy="28083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0834"/>
            <a:ext cx="7616825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</a:tabLst>
            </a:pPr>
            <a:r>
              <a:rPr dirty="0" sz="3200">
                <a:latin typeface="Times New Roman"/>
                <a:cs typeface="Times New Roman"/>
              </a:rPr>
              <a:t>Frame Relay </a:t>
            </a:r>
            <a:r>
              <a:rPr dirty="0" sz="3200" spc="-5">
                <a:latin typeface="Times New Roman"/>
                <a:cs typeface="Times New Roman"/>
              </a:rPr>
              <a:t>is </a:t>
            </a:r>
            <a:r>
              <a:rPr dirty="0" sz="3200">
                <a:latin typeface="Times New Roman"/>
                <a:cs typeface="Times New Roman"/>
              </a:rPr>
              <a:t>a high-performance WAN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protocol that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operates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at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>
                <a:latin typeface="Times New Roman"/>
                <a:cs typeface="Times New Roman"/>
              </a:rPr>
              <a:t> physical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and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Data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Link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layers</a:t>
            </a:r>
            <a:r>
              <a:rPr dirty="0" sz="3200">
                <a:latin typeface="Times New Roman"/>
                <a:cs typeface="Times New Roman"/>
              </a:rPr>
              <a:t> of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>
                <a:latin typeface="Times New Roman"/>
                <a:cs typeface="Times New Roman"/>
              </a:rPr>
              <a:t> OSI</a:t>
            </a:r>
            <a:r>
              <a:rPr dirty="0" sz="3200" spc="80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reference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model.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0834"/>
            <a:ext cx="7618095" cy="3928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</a:tabLst>
            </a:pPr>
            <a:r>
              <a:rPr dirty="0" sz="3200">
                <a:latin typeface="Times New Roman"/>
                <a:cs typeface="Times New Roman"/>
              </a:rPr>
              <a:t>Network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providers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commonly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implement </a:t>
            </a:r>
            <a:r>
              <a:rPr dirty="0" sz="3200">
                <a:latin typeface="Times New Roman"/>
                <a:cs typeface="Times New Roman"/>
              </a:rPr>
              <a:t> Frame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Relay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for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voice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data</a:t>
            </a:r>
            <a:r>
              <a:rPr dirty="0" sz="3200">
                <a:latin typeface="Times New Roman"/>
                <a:cs typeface="Times New Roman"/>
              </a:rPr>
              <a:t> as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an </a:t>
            </a:r>
            <a:r>
              <a:rPr dirty="0" sz="3200">
                <a:latin typeface="Times New Roman"/>
                <a:cs typeface="Times New Roman"/>
              </a:rPr>
              <a:t> encapsulation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technique,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between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LANs over a WAN. Each </a:t>
            </a:r>
            <a:r>
              <a:rPr dirty="0" sz="3200" spc="-5">
                <a:latin typeface="Times New Roman"/>
                <a:cs typeface="Times New Roman"/>
              </a:rPr>
              <a:t>end </a:t>
            </a:r>
            <a:r>
              <a:rPr dirty="0" sz="3200">
                <a:latin typeface="Times New Roman"/>
                <a:cs typeface="Times New Roman"/>
              </a:rPr>
              <a:t>user gets a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private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line</a:t>
            </a:r>
            <a:r>
              <a:rPr dirty="0" sz="3200">
                <a:latin typeface="Times New Roman"/>
                <a:cs typeface="Times New Roman"/>
              </a:rPr>
              <a:t> (or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leased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line)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to</a:t>
            </a:r>
            <a:r>
              <a:rPr dirty="0" sz="3200">
                <a:latin typeface="Times New Roman"/>
                <a:cs typeface="Times New Roman"/>
              </a:rPr>
              <a:t> a</a:t>
            </a:r>
            <a:r>
              <a:rPr dirty="0" sz="3200" spc="80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Frame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Relay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node.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Frame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Relay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network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handles the transmission over a frequently </a:t>
            </a:r>
            <a:r>
              <a:rPr dirty="0" sz="3200" spc="5">
                <a:latin typeface="Times New Roman"/>
                <a:cs typeface="Times New Roman"/>
              </a:rPr>
              <a:t> changing</a:t>
            </a:r>
            <a:r>
              <a:rPr dirty="0" sz="3200" spc="-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path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transparent</a:t>
            </a:r>
            <a:r>
              <a:rPr dirty="0" sz="3200" spc="-5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to </a:t>
            </a:r>
            <a:r>
              <a:rPr dirty="0" sz="3200">
                <a:latin typeface="Times New Roman"/>
                <a:cs typeface="Times New Roman"/>
              </a:rPr>
              <a:t>all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5">
                <a:latin typeface="Times New Roman"/>
                <a:cs typeface="Times New Roman"/>
              </a:rPr>
              <a:t>end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users.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0834"/>
            <a:ext cx="7618730" cy="2952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</a:tabLst>
            </a:pPr>
            <a:r>
              <a:rPr dirty="0" sz="3200">
                <a:latin typeface="Times New Roman"/>
                <a:cs typeface="Times New Roman"/>
              </a:rPr>
              <a:t>Frame Relay </a:t>
            </a:r>
            <a:r>
              <a:rPr dirty="0" sz="3200" spc="5">
                <a:latin typeface="Times New Roman"/>
                <a:cs typeface="Times New Roman"/>
              </a:rPr>
              <a:t>has </a:t>
            </a:r>
            <a:r>
              <a:rPr dirty="0" sz="3200">
                <a:latin typeface="Times New Roman"/>
                <a:cs typeface="Times New Roman"/>
              </a:rPr>
              <a:t>become one of the most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extensively used WAN protocols, primarily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because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it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is</a:t>
            </a:r>
            <a:r>
              <a:rPr dirty="0" sz="3200">
                <a:latin typeface="Times New Roman"/>
                <a:cs typeface="Times New Roman"/>
              </a:rPr>
              <a:t> inexpensive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compared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15">
                <a:latin typeface="Times New Roman"/>
                <a:cs typeface="Times New Roman"/>
              </a:rPr>
              <a:t>to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dedicated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lines.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In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addition,</a:t>
            </a:r>
            <a:r>
              <a:rPr dirty="0" sz="3200" spc="80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configuring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user equipment </a:t>
            </a:r>
            <a:r>
              <a:rPr dirty="0" sz="3200" spc="-5">
                <a:latin typeface="Times New Roman"/>
                <a:cs typeface="Times New Roman"/>
              </a:rPr>
              <a:t>in </a:t>
            </a:r>
            <a:r>
              <a:rPr dirty="0" sz="3200">
                <a:latin typeface="Times New Roman"/>
                <a:cs typeface="Times New Roman"/>
              </a:rPr>
              <a:t>a Frame Relay network </a:t>
            </a:r>
            <a:r>
              <a:rPr dirty="0" sz="3200" spc="-5">
                <a:latin typeface="Times New Roman"/>
                <a:cs typeface="Times New Roman"/>
              </a:rPr>
              <a:t>is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very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simple.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0834"/>
            <a:ext cx="7617459" cy="34410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</a:tabLst>
            </a:pPr>
            <a:r>
              <a:rPr dirty="0" sz="3200">
                <a:latin typeface="Times New Roman"/>
                <a:cs typeface="Times New Roman"/>
              </a:rPr>
              <a:t>Frame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Relay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connections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are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created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by </a:t>
            </a:r>
            <a:r>
              <a:rPr dirty="0" sz="3200">
                <a:latin typeface="Times New Roman"/>
                <a:cs typeface="Times New Roman"/>
              </a:rPr>
              <a:t> configuring CPE routers or other devices </a:t>
            </a:r>
            <a:r>
              <a:rPr dirty="0" sz="3200" spc="-15">
                <a:latin typeface="Times New Roman"/>
                <a:cs typeface="Times New Roman"/>
              </a:rPr>
              <a:t>to 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communicate </a:t>
            </a:r>
            <a:r>
              <a:rPr dirty="0" sz="3200" spc="-5">
                <a:latin typeface="Times New Roman"/>
                <a:cs typeface="Times New Roman"/>
              </a:rPr>
              <a:t>with </a:t>
            </a:r>
            <a:r>
              <a:rPr dirty="0" sz="3200">
                <a:latin typeface="Times New Roman"/>
                <a:cs typeface="Times New Roman"/>
              </a:rPr>
              <a:t>a service provider </a:t>
            </a:r>
            <a:r>
              <a:rPr dirty="0" sz="3200" spc="-5">
                <a:latin typeface="Times New Roman"/>
                <a:cs typeface="Times New Roman"/>
              </a:rPr>
              <a:t>Frame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Relay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switch.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>
                <a:latin typeface="Times New Roman"/>
                <a:cs typeface="Times New Roman"/>
              </a:rPr>
              <a:t> service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provider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configures the </a:t>
            </a:r>
            <a:r>
              <a:rPr dirty="0" sz="3200" spc="-5">
                <a:latin typeface="Times New Roman"/>
                <a:cs typeface="Times New Roman"/>
              </a:rPr>
              <a:t>Frame </a:t>
            </a:r>
            <a:r>
              <a:rPr dirty="0" sz="3200">
                <a:latin typeface="Times New Roman"/>
                <a:cs typeface="Times New Roman"/>
              </a:rPr>
              <a:t>Relay switch, which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helps </a:t>
            </a:r>
            <a:r>
              <a:rPr dirty="0" sz="3200">
                <a:latin typeface="Times New Roman"/>
                <a:cs typeface="Times New Roman"/>
              </a:rPr>
              <a:t>keep </a:t>
            </a:r>
            <a:r>
              <a:rPr dirty="0" sz="3200" spc="-5">
                <a:latin typeface="Times New Roman"/>
                <a:cs typeface="Times New Roman"/>
              </a:rPr>
              <a:t>end-user </a:t>
            </a:r>
            <a:r>
              <a:rPr dirty="0" sz="3200">
                <a:latin typeface="Times New Roman"/>
                <a:cs typeface="Times New Roman"/>
              </a:rPr>
              <a:t>configuration </a:t>
            </a:r>
            <a:r>
              <a:rPr dirty="0" sz="3200" spc="-5">
                <a:latin typeface="Times New Roman"/>
                <a:cs typeface="Times New Roman"/>
              </a:rPr>
              <a:t>tasks </a:t>
            </a:r>
            <a:r>
              <a:rPr dirty="0" sz="3200" spc="-10">
                <a:latin typeface="Times New Roman"/>
                <a:cs typeface="Times New Roman"/>
              </a:rPr>
              <a:t>to </a:t>
            </a:r>
            <a:r>
              <a:rPr dirty="0" sz="3200">
                <a:latin typeface="Times New Roman"/>
                <a:cs typeface="Times New Roman"/>
              </a:rPr>
              <a:t>a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minimum.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952066"/>
            <a:ext cx="7617459" cy="402590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just" marL="355600" marR="5080" indent="-343535">
              <a:lnSpc>
                <a:spcPct val="90000"/>
              </a:lnSpc>
              <a:spcBef>
                <a:spcPts val="490"/>
              </a:spcBef>
              <a:buChar char="•"/>
              <a:tabLst>
                <a:tab pos="356235" algn="l"/>
              </a:tabLst>
            </a:pPr>
            <a:r>
              <a:rPr dirty="0" sz="3200">
                <a:latin typeface="Times New Roman"/>
                <a:cs typeface="Times New Roman"/>
              </a:rPr>
              <a:t>Frame Relay has become the most </a:t>
            </a:r>
            <a:r>
              <a:rPr dirty="0" sz="3200" spc="-5">
                <a:latin typeface="Times New Roman"/>
                <a:cs typeface="Times New Roman"/>
              </a:rPr>
              <a:t>widely </a:t>
            </a:r>
            <a:r>
              <a:rPr dirty="0" sz="3200">
                <a:latin typeface="Times New Roman"/>
                <a:cs typeface="Times New Roman"/>
              </a:rPr>
              <a:t> used </a:t>
            </a:r>
            <a:r>
              <a:rPr dirty="0" sz="3200" spc="-5">
                <a:latin typeface="Times New Roman"/>
                <a:cs typeface="Times New Roman"/>
              </a:rPr>
              <a:t>WAN </a:t>
            </a:r>
            <a:r>
              <a:rPr dirty="0" sz="3200">
                <a:latin typeface="Times New Roman"/>
                <a:cs typeface="Times New Roman"/>
              </a:rPr>
              <a:t>technology </a:t>
            </a:r>
            <a:r>
              <a:rPr dirty="0" sz="3200" spc="-10">
                <a:latin typeface="Times New Roman"/>
                <a:cs typeface="Times New Roman"/>
              </a:rPr>
              <a:t>in </a:t>
            </a:r>
            <a:r>
              <a:rPr dirty="0" sz="3200" spc="-5">
                <a:latin typeface="Times New Roman"/>
                <a:cs typeface="Times New Roman"/>
              </a:rPr>
              <a:t>the world. Large </a:t>
            </a:r>
            <a:r>
              <a:rPr dirty="0" sz="3200">
                <a:latin typeface="Times New Roman"/>
                <a:cs typeface="Times New Roman"/>
              </a:rPr>
              <a:t> enterprises,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governments,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ISPs,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small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businesses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Frame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Relay,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primarily </a:t>
            </a:r>
            <a:r>
              <a:rPr dirty="0" sz="3200">
                <a:latin typeface="Times New Roman"/>
                <a:cs typeface="Times New Roman"/>
              </a:rPr>
              <a:t> because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of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its</a:t>
            </a:r>
            <a:r>
              <a:rPr dirty="0" sz="3200">
                <a:latin typeface="Times New Roman"/>
                <a:cs typeface="Times New Roman"/>
              </a:rPr>
              <a:t> price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flexibility.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As </a:t>
            </a:r>
            <a:r>
              <a:rPr dirty="0" sz="3200" spc="-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organizations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grow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depend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more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and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more </a:t>
            </a:r>
            <a:r>
              <a:rPr dirty="0" sz="3200" spc="-5">
                <a:latin typeface="Times New Roman"/>
                <a:cs typeface="Times New Roman"/>
              </a:rPr>
              <a:t>on </a:t>
            </a:r>
            <a:r>
              <a:rPr dirty="0" sz="3200">
                <a:latin typeface="Times New Roman"/>
                <a:cs typeface="Times New Roman"/>
              </a:rPr>
              <a:t>reliable data transport, </a:t>
            </a:r>
            <a:r>
              <a:rPr dirty="0" sz="3200" spc="-5">
                <a:latin typeface="Times New Roman"/>
                <a:cs typeface="Times New Roman"/>
              </a:rPr>
              <a:t>traditional </a:t>
            </a:r>
            <a:r>
              <a:rPr dirty="0" sz="3200">
                <a:latin typeface="Times New Roman"/>
                <a:cs typeface="Times New Roman"/>
              </a:rPr>
              <a:t> leased-line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solutions</a:t>
            </a:r>
            <a:r>
              <a:rPr dirty="0" sz="3200">
                <a:latin typeface="Times New Roman"/>
                <a:cs typeface="Times New Roman"/>
              </a:rPr>
              <a:t> are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prohibitively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expensive.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2358"/>
            <a:ext cx="7616825" cy="17322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6235" algn="l"/>
              </a:tabLst>
            </a:pPr>
            <a:r>
              <a:rPr dirty="0" sz="2800">
                <a:latin typeface="Times New Roman"/>
                <a:cs typeface="Times New Roman"/>
              </a:rPr>
              <a:t>Frame </a:t>
            </a:r>
            <a:r>
              <a:rPr dirty="0" sz="2800" spc="-5">
                <a:latin typeface="Times New Roman"/>
                <a:cs typeface="Times New Roman"/>
              </a:rPr>
              <a:t>Relay </a:t>
            </a:r>
            <a:r>
              <a:rPr dirty="0" sz="2800">
                <a:latin typeface="Times New Roman"/>
                <a:cs typeface="Times New Roman"/>
              </a:rPr>
              <a:t>reduces </a:t>
            </a:r>
            <a:r>
              <a:rPr dirty="0" sz="2800" spc="-5">
                <a:latin typeface="Times New Roman"/>
                <a:cs typeface="Times New Roman"/>
              </a:rPr>
              <a:t>network </a:t>
            </a:r>
            <a:r>
              <a:rPr dirty="0" sz="2800">
                <a:latin typeface="Times New Roman"/>
                <a:cs typeface="Times New Roman"/>
              </a:rPr>
              <a:t>costs by using </a:t>
            </a:r>
            <a:r>
              <a:rPr dirty="0" sz="2800" spc="-5">
                <a:latin typeface="Times New Roman"/>
                <a:cs typeface="Times New Roman"/>
              </a:rPr>
              <a:t>less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equipment,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less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complexity,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easier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implementation. </a:t>
            </a:r>
            <a:r>
              <a:rPr dirty="0" sz="2800">
                <a:latin typeface="Times New Roman"/>
                <a:cs typeface="Times New Roman"/>
              </a:rPr>
              <a:t>Moreover, </a:t>
            </a:r>
            <a:r>
              <a:rPr dirty="0" sz="2800" spc="-5">
                <a:latin typeface="Times New Roman"/>
                <a:cs typeface="Times New Roman"/>
              </a:rPr>
              <a:t>Frame Relay </a:t>
            </a:r>
            <a:r>
              <a:rPr dirty="0" sz="2800">
                <a:latin typeface="Times New Roman"/>
                <a:cs typeface="Times New Roman"/>
              </a:rPr>
              <a:t>provides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greater</a:t>
            </a:r>
            <a:r>
              <a:rPr dirty="0" sz="2800" spc="39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bandwidth,</a:t>
            </a:r>
            <a:r>
              <a:rPr dirty="0" sz="2800" spc="39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reliability,</a:t>
            </a:r>
            <a:r>
              <a:rPr dirty="0" sz="2800" spc="39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 spc="40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resiliency</a:t>
            </a:r>
            <a:r>
              <a:rPr dirty="0" sz="2800" spc="39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than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26435" y="3709797"/>
            <a:ext cx="123634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4130">
              <a:lnSpc>
                <a:spcPct val="100000"/>
              </a:lnSpc>
              <a:spcBef>
                <a:spcPts val="95"/>
              </a:spcBef>
              <a:tabLst>
                <a:tab pos="789305" algn="l"/>
              </a:tabLst>
            </a:pPr>
            <a:r>
              <a:rPr dirty="0" sz="2800" spc="-5">
                <a:latin typeface="Times New Roman"/>
                <a:cs typeface="Times New Roman"/>
              </a:rPr>
              <a:t>leased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5">
                <a:latin typeface="Times New Roman"/>
                <a:cs typeface="Times New Roman"/>
              </a:rPr>
              <a:t>t</a:t>
            </a:r>
            <a:r>
              <a:rPr dirty="0" sz="2800">
                <a:latin typeface="Times New Roman"/>
                <a:cs typeface="Times New Roman"/>
              </a:rPr>
              <a:t>h</a:t>
            </a:r>
            <a:r>
              <a:rPr dirty="0" sz="2800" spc="-5"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66030" y="3709797"/>
            <a:ext cx="117030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8590" marR="5080" indent="-13589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lines.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</a:t>
            </a:r>
            <a:r>
              <a:rPr dirty="0" sz="2800" spc="-5">
                <a:latin typeface="Times New Roman"/>
                <a:cs typeface="Times New Roman"/>
              </a:rPr>
              <a:t>r</a:t>
            </a:r>
            <a:r>
              <a:rPr dirty="0" sz="2800" spc="5">
                <a:latin typeface="Times New Roman"/>
                <a:cs typeface="Times New Roman"/>
              </a:rPr>
              <a:t>o</a:t>
            </a:r>
            <a:r>
              <a:rPr dirty="0" sz="2800" spc="-5">
                <a:latin typeface="Times New Roman"/>
                <a:cs typeface="Times New Roman"/>
              </a:rPr>
              <a:t>wth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55004" y="3709797"/>
            <a:ext cx="262636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3679" marR="5080" indent="-220979">
              <a:lnSpc>
                <a:spcPct val="100000"/>
              </a:lnSpc>
              <a:spcBef>
                <a:spcPts val="95"/>
              </a:spcBef>
              <a:tabLst>
                <a:tab pos="796290" algn="l"/>
                <a:tab pos="1152525" algn="l"/>
              </a:tabLst>
            </a:pPr>
            <a:r>
              <a:rPr dirty="0" sz="2800" spc="-5">
                <a:latin typeface="Times New Roman"/>
                <a:cs typeface="Times New Roman"/>
              </a:rPr>
              <a:t>With</a:t>
            </a:r>
            <a:r>
              <a:rPr dirty="0" sz="2800" spc="-5">
                <a:latin typeface="Times New Roman"/>
                <a:cs typeface="Times New Roman"/>
              </a:rPr>
              <a:t>		</a:t>
            </a:r>
            <a:r>
              <a:rPr dirty="0" sz="2800" spc="-5">
                <a:latin typeface="Times New Roman"/>
                <a:cs typeface="Times New Roman"/>
              </a:rPr>
              <a:t>i</a:t>
            </a:r>
            <a:r>
              <a:rPr dirty="0" sz="2800">
                <a:latin typeface="Times New Roman"/>
                <a:cs typeface="Times New Roman"/>
              </a:rPr>
              <a:t>n</a:t>
            </a:r>
            <a:r>
              <a:rPr dirty="0" sz="2800" spc="-5">
                <a:latin typeface="Times New Roman"/>
                <a:cs typeface="Times New Roman"/>
              </a:rPr>
              <a:t>creasing 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5">
                <a:latin typeface="Times New Roman"/>
                <a:cs typeface="Times New Roman"/>
              </a:rPr>
              <a:t>f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on</a:t>
            </a:r>
            <a:r>
              <a:rPr dirty="0" sz="2800" spc="-30">
                <a:latin typeface="Times New Roman"/>
                <a:cs typeface="Times New Roman"/>
              </a:rPr>
              <a:t>e</a:t>
            </a:r>
            <a:r>
              <a:rPr dirty="0" sz="2800" spc="-5">
                <a:latin typeface="Times New Roman"/>
                <a:cs typeface="Times New Roman"/>
              </a:rPr>
              <a:t>-t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5">
                <a:latin typeface="Times New Roman"/>
                <a:cs typeface="Times New Roman"/>
              </a:rPr>
              <a:t>-</a:t>
            </a:r>
            <a:r>
              <a:rPr dirty="0" sz="2800" spc="-20">
                <a:latin typeface="Times New Roman"/>
                <a:cs typeface="Times New Roman"/>
              </a:rPr>
              <a:t>m</a:t>
            </a:r>
            <a:r>
              <a:rPr dirty="0" sz="2800" spc="-5">
                <a:latin typeface="Times New Roman"/>
                <a:cs typeface="Times New Roman"/>
              </a:rPr>
              <a:t>any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744" y="3709797"/>
            <a:ext cx="2085339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242060" algn="l"/>
                <a:tab pos="1428115" algn="l"/>
              </a:tabLst>
            </a:pPr>
            <a:r>
              <a:rPr dirty="0" sz="2800">
                <a:latin typeface="Times New Roman"/>
                <a:cs typeface="Times New Roman"/>
              </a:rPr>
              <a:t>private		or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globalization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</a:t>
            </a:r>
            <a:r>
              <a:rPr dirty="0" sz="2800" spc="-5">
                <a:latin typeface="Times New Roman"/>
                <a:cs typeface="Times New Roman"/>
              </a:rPr>
              <a:t>ra</a:t>
            </a:r>
            <a:r>
              <a:rPr dirty="0" sz="2800" spc="5">
                <a:latin typeface="Times New Roman"/>
                <a:cs typeface="Times New Roman"/>
              </a:rPr>
              <a:t>n</a:t>
            </a:r>
            <a:r>
              <a:rPr dirty="0" sz="2800" spc="-5">
                <a:latin typeface="Times New Roman"/>
                <a:cs typeface="Times New Roman"/>
              </a:rPr>
              <a:t>ch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5">
                <a:latin typeface="Times New Roman"/>
                <a:cs typeface="Times New Roman"/>
              </a:rPr>
              <a:t>f</a:t>
            </a:r>
            <a:r>
              <a:rPr dirty="0" sz="2800" spc="5">
                <a:latin typeface="Times New Roman"/>
                <a:cs typeface="Times New Roman"/>
              </a:rPr>
              <a:t>f</a:t>
            </a:r>
            <a:r>
              <a:rPr dirty="0" sz="2800" spc="-5">
                <a:latin typeface="Times New Roman"/>
                <a:cs typeface="Times New Roman"/>
              </a:rPr>
              <a:t>ice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9127" y="4563236"/>
            <a:ext cx="49498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45945" algn="l"/>
                <a:tab pos="3014980" algn="l"/>
                <a:tab pos="4106545" algn="l"/>
              </a:tabLst>
            </a:pPr>
            <a:r>
              <a:rPr dirty="0" sz="2800" spc="-5">
                <a:latin typeface="Times New Roman"/>
                <a:cs typeface="Times New Roman"/>
              </a:rPr>
              <a:t>t</a:t>
            </a:r>
            <a:r>
              <a:rPr dirty="0" sz="2800">
                <a:latin typeface="Times New Roman"/>
                <a:cs typeface="Times New Roman"/>
              </a:rPr>
              <a:t>opo</a:t>
            </a:r>
            <a:r>
              <a:rPr dirty="0" sz="2800" spc="-15">
                <a:latin typeface="Times New Roman"/>
                <a:cs typeface="Times New Roman"/>
              </a:rPr>
              <a:t>l</a:t>
            </a:r>
            <a:r>
              <a:rPr dirty="0" sz="2800">
                <a:latin typeface="Times New Roman"/>
                <a:cs typeface="Times New Roman"/>
              </a:rPr>
              <a:t>og</a:t>
            </a:r>
            <a:r>
              <a:rPr dirty="0" sz="2800" spc="-5">
                <a:latin typeface="Times New Roman"/>
                <a:cs typeface="Times New Roman"/>
              </a:rPr>
              <a:t>ies,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F</a:t>
            </a:r>
            <a:r>
              <a:rPr dirty="0" sz="2800" spc="5">
                <a:latin typeface="Times New Roman"/>
                <a:cs typeface="Times New Roman"/>
              </a:rPr>
              <a:t>r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-25">
                <a:latin typeface="Times New Roman"/>
                <a:cs typeface="Times New Roman"/>
              </a:rPr>
              <a:t>m</a:t>
            </a:r>
            <a:r>
              <a:rPr dirty="0" sz="2800" spc="-5">
                <a:latin typeface="Times New Roman"/>
                <a:cs typeface="Times New Roman"/>
              </a:rPr>
              <a:t>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R</a:t>
            </a:r>
            <a:r>
              <a:rPr dirty="0" sz="2800" spc="-5">
                <a:latin typeface="Times New Roman"/>
                <a:cs typeface="Times New Roman"/>
              </a:rPr>
              <a:t>elay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5">
                <a:latin typeface="Times New Roman"/>
                <a:cs typeface="Times New Roman"/>
              </a:rPr>
              <a:t>f</a:t>
            </a:r>
            <a:r>
              <a:rPr dirty="0" sz="2800" spc="5">
                <a:latin typeface="Times New Roman"/>
                <a:cs typeface="Times New Roman"/>
              </a:rPr>
              <a:t>f</a:t>
            </a:r>
            <a:r>
              <a:rPr dirty="0" sz="2800" spc="-5">
                <a:latin typeface="Times New Roman"/>
                <a:cs typeface="Times New Roman"/>
              </a:rPr>
              <a:t>ers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7744" y="4990033"/>
            <a:ext cx="727265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268095" algn="l"/>
                <a:tab pos="2625090" algn="l"/>
                <a:tab pos="4491990" algn="l"/>
                <a:tab pos="5196205" algn="l"/>
                <a:tab pos="6197600" algn="l"/>
                <a:tab pos="6961505" algn="l"/>
              </a:tabLst>
            </a:pPr>
            <a:r>
              <a:rPr dirty="0" sz="2800" spc="-5">
                <a:latin typeface="Times New Roman"/>
                <a:cs typeface="Times New Roman"/>
              </a:rPr>
              <a:t>simpler</a:t>
            </a:r>
            <a:r>
              <a:rPr dirty="0" sz="2800" spc="-5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netw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5">
                <a:latin typeface="Times New Roman"/>
                <a:cs typeface="Times New Roman"/>
              </a:rPr>
              <a:t>rk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5">
                <a:latin typeface="Times New Roman"/>
                <a:cs typeface="Times New Roman"/>
              </a:rPr>
              <a:t>r</a:t>
            </a:r>
            <a:r>
              <a:rPr dirty="0" sz="2800" spc="-5">
                <a:latin typeface="Times New Roman"/>
                <a:cs typeface="Times New Roman"/>
              </a:rPr>
              <a:t>chitec</a:t>
            </a:r>
            <a:r>
              <a:rPr dirty="0" sz="2800" spc="-20">
                <a:latin typeface="Times New Roman"/>
                <a:cs typeface="Times New Roman"/>
              </a:rPr>
              <a:t>t</a:t>
            </a:r>
            <a:r>
              <a:rPr dirty="0" sz="2800" spc="-5">
                <a:latin typeface="Times New Roman"/>
                <a:cs typeface="Times New Roman"/>
              </a:rPr>
              <a:t>u</a:t>
            </a:r>
            <a:r>
              <a:rPr dirty="0" sz="2800" spc="5">
                <a:latin typeface="Times New Roman"/>
                <a:cs typeface="Times New Roman"/>
              </a:rPr>
              <a:t>r</a:t>
            </a:r>
            <a:r>
              <a:rPr dirty="0" sz="2800" spc="-5">
                <a:latin typeface="Times New Roman"/>
                <a:cs typeface="Times New Roman"/>
              </a:rPr>
              <a:t>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l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>
                <a:latin typeface="Times New Roman"/>
                <a:cs typeface="Times New Roman"/>
              </a:rPr>
              <a:t>w</a:t>
            </a:r>
            <a:r>
              <a:rPr dirty="0" sz="2800" spc="-5">
                <a:latin typeface="Times New Roman"/>
                <a:cs typeface="Times New Roman"/>
              </a:rPr>
              <a:t>er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co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5">
                <a:latin typeface="Times New Roman"/>
                <a:cs typeface="Times New Roman"/>
              </a:rPr>
              <a:t>t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of  </a:t>
            </a:r>
            <a:r>
              <a:rPr dirty="0" sz="2800">
                <a:latin typeface="Times New Roman"/>
                <a:cs typeface="Times New Roman"/>
              </a:rPr>
              <a:t>ownership.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0834"/>
            <a:ext cx="7618730" cy="39287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  <a:tab pos="3745229" algn="l"/>
                <a:tab pos="5887085" algn="l"/>
              </a:tabLst>
            </a:pPr>
            <a:r>
              <a:rPr dirty="0" sz="3200">
                <a:latin typeface="Times New Roman"/>
                <a:cs typeface="Times New Roman"/>
              </a:rPr>
              <a:t>Using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example</a:t>
            </a:r>
            <a:r>
              <a:rPr dirty="0" sz="3200" spc="5">
                <a:latin typeface="Times New Roman"/>
                <a:cs typeface="Times New Roman"/>
              </a:rPr>
              <a:t> of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large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enterprise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network </a:t>
            </a:r>
            <a:r>
              <a:rPr dirty="0" sz="3200" spc="-5">
                <a:latin typeface="Times New Roman"/>
                <a:cs typeface="Times New Roman"/>
              </a:rPr>
              <a:t>helps illustrate the </a:t>
            </a:r>
            <a:r>
              <a:rPr dirty="0" sz="3200">
                <a:latin typeface="Times New Roman"/>
                <a:cs typeface="Times New Roman"/>
              </a:rPr>
              <a:t>benefits of </a:t>
            </a:r>
            <a:r>
              <a:rPr dirty="0" sz="3200" spc="-5">
                <a:latin typeface="Times New Roman"/>
                <a:cs typeface="Times New Roman"/>
              </a:rPr>
              <a:t>using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 </a:t>
            </a:r>
            <a:r>
              <a:rPr dirty="0" sz="3200" spc="-5">
                <a:latin typeface="Times New Roman"/>
                <a:cs typeface="Times New Roman"/>
              </a:rPr>
              <a:t>Frame </a:t>
            </a:r>
            <a:r>
              <a:rPr dirty="0" sz="3200">
                <a:latin typeface="Times New Roman"/>
                <a:cs typeface="Times New Roman"/>
              </a:rPr>
              <a:t>Relay </a:t>
            </a:r>
            <a:r>
              <a:rPr dirty="0" sz="3200" spc="-5">
                <a:latin typeface="Times New Roman"/>
                <a:cs typeface="Times New Roman"/>
              </a:rPr>
              <a:t>WAN. In the example </a:t>
            </a:r>
            <a:r>
              <a:rPr dirty="0" sz="3200">
                <a:latin typeface="Times New Roman"/>
                <a:cs typeface="Times New Roman"/>
              </a:rPr>
              <a:t>shown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in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>
                <a:latin typeface="Times New Roman"/>
                <a:cs typeface="Times New Roman"/>
              </a:rPr>
              <a:t> figure,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Span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Engineering</a:t>
            </a:r>
            <a:r>
              <a:rPr dirty="0" sz="3200" spc="5">
                <a:latin typeface="Times New Roman"/>
                <a:cs typeface="Times New Roman"/>
              </a:rPr>
              <a:t> has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five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campuses across </a:t>
            </a:r>
            <a:r>
              <a:rPr dirty="0" sz="3200" spc="-5">
                <a:latin typeface="Times New Roman"/>
                <a:cs typeface="Times New Roman"/>
              </a:rPr>
              <a:t>North </a:t>
            </a:r>
            <a:r>
              <a:rPr dirty="0" sz="3200">
                <a:latin typeface="Times New Roman"/>
                <a:cs typeface="Times New Roman"/>
              </a:rPr>
              <a:t>America. Like most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orga</a:t>
            </a:r>
            <a:r>
              <a:rPr dirty="0" sz="3200" spc="5">
                <a:latin typeface="Times New Roman"/>
                <a:cs typeface="Times New Roman"/>
              </a:rPr>
              <a:t>n</a:t>
            </a:r>
            <a:r>
              <a:rPr dirty="0" sz="3200">
                <a:latin typeface="Times New Roman"/>
                <a:cs typeface="Times New Roman"/>
              </a:rPr>
              <a:t>iz</a:t>
            </a:r>
            <a:r>
              <a:rPr dirty="0" sz="3200" spc="5">
                <a:latin typeface="Times New Roman"/>
                <a:cs typeface="Times New Roman"/>
              </a:rPr>
              <a:t>a</a:t>
            </a:r>
            <a:r>
              <a:rPr dirty="0" sz="3200" spc="-20">
                <a:latin typeface="Times New Roman"/>
                <a:cs typeface="Times New Roman"/>
              </a:rPr>
              <a:t>t</a:t>
            </a:r>
            <a:r>
              <a:rPr dirty="0" sz="3200">
                <a:latin typeface="Times New Roman"/>
                <a:cs typeface="Times New Roman"/>
              </a:rPr>
              <a:t>io</a:t>
            </a:r>
            <a:r>
              <a:rPr dirty="0" sz="3200" spc="5">
                <a:latin typeface="Times New Roman"/>
                <a:cs typeface="Times New Roman"/>
              </a:rPr>
              <a:t>n</a:t>
            </a:r>
            <a:r>
              <a:rPr dirty="0" sz="3200">
                <a:latin typeface="Times New Roman"/>
                <a:cs typeface="Times New Roman"/>
              </a:rPr>
              <a:t>s,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Span's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bandwidth  </a:t>
            </a:r>
            <a:r>
              <a:rPr dirty="0" sz="3200">
                <a:latin typeface="Times New Roman"/>
                <a:cs typeface="Times New Roman"/>
              </a:rPr>
              <a:t>requirements do not fit "a one size fits all"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solution.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4000"/>
            <a:ext cx="914400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952066"/>
            <a:ext cx="7617459" cy="402590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just" marL="355600" marR="5080" indent="-343535">
              <a:lnSpc>
                <a:spcPct val="90000"/>
              </a:lnSpc>
              <a:spcBef>
                <a:spcPts val="490"/>
              </a:spcBef>
              <a:buChar char="•"/>
              <a:tabLst>
                <a:tab pos="356235" algn="l"/>
              </a:tabLst>
            </a:pPr>
            <a:r>
              <a:rPr dirty="0" sz="3200">
                <a:latin typeface="Times New Roman"/>
                <a:cs typeface="Times New Roman"/>
              </a:rPr>
              <a:t>The </a:t>
            </a:r>
            <a:r>
              <a:rPr dirty="0" sz="3200" spc="-5">
                <a:latin typeface="Times New Roman"/>
                <a:cs typeface="Times New Roman"/>
              </a:rPr>
              <a:t>first </a:t>
            </a:r>
            <a:r>
              <a:rPr dirty="0" sz="3200">
                <a:latin typeface="Times New Roman"/>
                <a:cs typeface="Times New Roman"/>
              </a:rPr>
              <a:t>thing </a:t>
            </a:r>
            <a:r>
              <a:rPr dirty="0" sz="3200" spc="-10">
                <a:latin typeface="Times New Roman"/>
                <a:cs typeface="Times New Roman"/>
              </a:rPr>
              <a:t>to </a:t>
            </a:r>
            <a:r>
              <a:rPr dirty="0" sz="3200">
                <a:latin typeface="Times New Roman"/>
                <a:cs typeface="Times New Roman"/>
              </a:rPr>
              <a:t>consider </a:t>
            </a:r>
            <a:r>
              <a:rPr dirty="0" sz="3200" spc="-5">
                <a:latin typeface="Times New Roman"/>
                <a:cs typeface="Times New Roman"/>
              </a:rPr>
              <a:t>is </a:t>
            </a:r>
            <a:r>
              <a:rPr dirty="0" sz="3200">
                <a:latin typeface="Times New Roman"/>
                <a:cs typeface="Times New Roman"/>
              </a:rPr>
              <a:t>the bandwidth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requirement of each site. Working </a:t>
            </a:r>
            <a:r>
              <a:rPr dirty="0" sz="3200" spc="5">
                <a:latin typeface="Times New Roman"/>
                <a:cs typeface="Times New Roman"/>
              </a:rPr>
              <a:t>out </a:t>
            </a:r>
            <a:r>
              <a:rPr dirty="0" sz="3200">
                <a:latin typeface="Times New Roman"/>
                <a:cs typeface="Times New Roman"/>
              </a:rPr>
              <a:t>from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 headquarters, the </a:t>
            </a:r>
            <a:r>
              <a:rPr dirty="0" sz="3200" spc="-5">
                <a:latin typeface="Times New Roman"/>
                <a:cs typeface="Times New Roman"/>
              </a:rPr>
              <a:t>Chicago to </a:t>
            </a:r>
            <a:r>
              <a:rPr dirty="0" sz="3200">
                <a:latin typeface="Times New Roman"/>
                <a:cs typeface="Times New Roman"/>
              </a:rPr>
              <a:t>New York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connection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requires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maximum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speed</a:t>
            </a:r>
            <a:r>
              <a:rPr dirty="0" sz="3200" spc="5">
                <a:latin typeface="Times New Roman"/>
                <a:cs typeface="Times New Roman"/>
              </a:rPr>
              <a:t> of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256 kb/s. </a:t>
            </a:r>
            <a:r>
              <a:rPr dirty="0" sz="3200" spc="-5">
                <a:latin typeface="Times New Roman"/>
                <a:cs typeface="Times New Roman"/>
              </a:rPr>
              <a:t>Three </a:t>
            </a:r>
            <a:r>
              <a:rPr dirty="0" sz="3200">
                <a:latin typeface="Times New Roman"/>
                <a:cs typeface="Times New Roman"/>
              </a:rPr>
              <a:t>other sites need a maximum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speed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of</a:t>
            </a:r>
            <a:r>
              <a:rPr dirty="0" sz="3200">
                <a:latin typeface="Times New Roman"/>
                <a:cs typeface="Times New Roman"/>
              </a:rPr>
              <a:t> 48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kb/s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connecting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to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 </a:t>
            </a:r>
            <a:r>
              <a:rPr dirty="0" sz="3200">
                <a:latin typeface="Times New Roman"/>
                <a:cs typeface="Times New Roman"/>
              </a:rPr>
              <a:t> headquarters, </a:t>
            </a:r>
            <a:r>
              <a:rPr dirty="0" sz="3200" spc="-5">
                <a:latin typeface="Times New Roman"/>
                <a:cs typeface="Times New Roman"/>
              </a:rPr>
              <a:t>while the </a:t>
            </a:r>
            <a:r>
              <a:rPr dirty="0" sz="3200">
                <a:latin typeface="Times New Roman"/>
                <a:cs typeface="Times New Roman"/>
              </a:rPr>
              <a:t>connection between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5">
                <a:latin typeface="Times New Roman"/>
                <a:cs typeface="Times New Roman"/>
              </a:rPr>
              <a:t> New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York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Dallas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branch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offices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requires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only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12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kb/s.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0834"/>
            <a:ext cx="7616190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dirty="0" sz="3200">
                <a:latin typeface="Times New Roman"/>
                <a:cs typeface="Times New Roman"/>
              </a:rPr>
              <a:t>Before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Frame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Relay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became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available,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Span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leased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dedicated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lines.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046" y="576262"/>
            <a:ext cx="9018953" cy="5705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599059"/>
            <a:ext cx="7616825" cy="506158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355600" marR="5080" indent="-343535">
              <a:lnSpc>
                <a:spcPct val="90000"/>
              </a:lnSpc>
              <a:spcBef>
                <a:spcPts val="430"/>
              </a:spcBef>
              <a:buChar char="•"/>
              <a:tabLst>
                <a:tab pos="356235" algn="l"/>
              </a:tabLst>
            </a:pPr>
            <a:r>
              <a:rPr dirty="0" sz="2800" spc="-5">
                <a:latin typeface="Times New Roman"/>
                <a:cs typeface="Times New Roman"/>
              </a:rPr>
              <a:t>Using </a:t>
            </a:r>
            <a:r>
              <a:rPr dirty="0" sz="2800" spc="-5" b="1">
                <a:latin typeface="Times New Roman"/>
                <a:cs typeface="Times New Roman"/>
              </a:rPr>
              <a:t>leased lines</a:t>
            </a:r>
            <a:r>
              <a:rPr dirty="0" sz="2800" spc="-5">
                <a:latin typeface="Times New Roman"/>
                <a:cs typeface="Times New Roman"/>
              </a:rPr>
              <a:t>, </a:t>
            </a:r>
            <a:r>
              <a:rPr dirty="0" sz="2800" spc="-10">
                <a:latin typeface="Times New Roman"/>
                <a:cs typeface="Times New Roman"/>
              </a:rPr>
              <a:t>each </a:t>
            </a:r>
            <a:r>
              <a:rPr dirty="0" sz="2800">
                <a:latin typeface="Times New Roman"/>
                <a:cs typeface="Times New Roman"/>
              </a:rPr>
              <a:t>Span </a:t>
            </a:r>
            <a:r>
              <a:rPr dirty="0" sz="2800" spc="-5">
                <a:latin typeface="Times New Roman"/>
                <a:cs typeface="Times New Roman"/>
              </a:rPr>
              <a:t>site is connected </a:t>
            </a:r>
            <a:r>
              <a:rPr dirty="0" sz="2800">
                <a:latin typeface="Times New Roman"/>
                <a:cs typeface="Times New Roman"/>
              </a:rPr>
              <a:t> through </a:t>
            </a:r>
            <a:r>
              <a:rPr dirty="0" sz="2800" spc="-5">
                <a:latin typeface="Times New Roman"/>
                <a:cs typeface="Times New Roman"/>
              </a:rPr>
              <a:t>a switch at the local telephone company's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central</a:t>
            </a:r>
            <a:r>
              <a:rPr dirty="0" sz="2800">
                <a:latin typeface="Times New Roman"/>
                <a:cs typeface="Times New Roman"/>
              </a:rPr>
              <a:t> office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(CO)</a:t>
            </a:r>
            <a:r>
              <a:rPr dirty="0" sz="2800">
                <a:latin typeface="Times New Roman"/>
                <a:cs typeface="Times New Roman"/>
              </a:rPr>
              <a:t> through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local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loop,</a:t>
            </a:r>
            <a:r>
              <a:rPr dirty="0" sz="2800" spc="7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then across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-5">
                <a:latin typeface="Times New Roman"/>
                <a:cs typeface="Times New Roman"/>
              </a:rPr>
              <a:t>entire </a:t>
            </a:r>
            <a:r>
              <a:rPr dirty="0" sz="2800">
                <a:latin typeface="Times New Roman"/>
                <a:cs typeface="Times New Roman"/>
              </a:rPr>
              <a:t>network. </a:t>
            </a:r>
            <a:r>
              <a:rPr dirty="0" sz="2800" spc="-5">
                <a:latin typeface="Times New Roman"/>
                <a:cs typeface="Times New Roman"/>
              </a:rPr>
              <a:t>The Chicago and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New</a:t>
            </a:r>
            <a:r>
              <a:rPr dirty="0" sz="2800">
                <a:latin typeface="Times New Roman"/>
                <a:cs typeface="Times New Roman"/>
              </a:rPr>
              <a:t> York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sites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each</a:t>
            </a:r>
            <a:r>
              <a:rPr dirty="0" sz="2800" spc="-5">
                <a:latin typeface="Times New Roman"/>
                <a:cs typeface="Times New Roman"/>
              </a:rPr>
              <a:t> use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dedicated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T1</a:t>
            </a:r>
            <a:r>
              <a:rPr dirty="0" sz="2800">
                <a:latin typeface="Times New Roman"/>
                <a:cs typeface="Times New Roman"/>
              </a:rPr>
              <a:t> line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(equivalent to </a:t>
            </a:r>
            <a:r>
              <a:rPr dirty="0" sz="2800">
                <a:latin typeface="Times New Roman"/>
                <a:cs typeface="Times New Roman"/>
              </a:rPr>
              <a:t>24 DS0 </a:t>
            </a:r>
            <a:r>
              <a:rPr dirty="0" sz="2800" spc="-5">
                <a:latin typeface="Times New Roman"/>
                <a:cs typeface="Times New Roman"/>
              </a:rPr>
              <a:t>channels) to </a:t>
            </a:r>
            <a:r>
              <a:rPr dirty="0" sz="2800">
                <a:latin typeface="Times New Roman"/>
                <a:cs typeface="Times New Roman"/>
              </a:rPr>
              <a:t>connect </a:t>
            </a:r>
            <a:r>
              <a:rPr dirty="0" sz="2800" spc="-5">
                <a:latin typeface="Times New Roman"/>
                <a:cs typeface="Times New Roman"/>
              </a:rPr>
              <a:t>to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switch,</a:t>
            </a:r>
            <a:r>
              <a:rPr dirty="0" sz="2800">
                <a:latin typeface="Times New Roman"/>
                <a:cs typeface="Times New Roman"/>
              </a:rPr>
              <a:t> while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other</a:t>
            </a:r>
            <a:r>
              <a:rPr dirty="0" sz="2800">
                <a:latin typeface="Times New Roman"/>
                <a:cs typeface="Times New Roman"/>
              </a:rPr>
              <a:t> sites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use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ISDN</a:t>
            </a:r>
            <a:r>
              <a:rPr dirty="0" sz="2800" spc="70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connections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(56 </a:t>
            </a:r>
            <a:r>
              <a:rPr dirty="0" sz="2800">
                <a:latin typeface="Times New Roman"/>
                <a:cs typeface="Times New Roman"/>
              </a:rPr>
              <a:t>kb/s). </a:t>
            </a:r>
            <a:r>
              <a:rPr dirty="0" sz="2800" spc="-5">
                <a:latin typeface="Times New Roman"/>
                <a:cs typeface="Times New Roman"/>
              </a:rPr>
              <a:t>Because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-5">
                <a:latin typeface="Times New Roman"/>
                <a:cs typeface="Times New Roman"/>
              </a:rPr>
              <a:t>Dallas site connects with </a:t>
            </a:r>
            <a:r>
              <a:rPr dirty="0" sz="2800">
                <a:latin typeface="Times New Roman"/>
                <a:cs typeface="Times New Roman"/>
              </a:rPr>
              <a:t> both </a:t>
            </a:r>
            <a:r>
              <a:rPr dirty="0" sz="2800" spc="-5">
                <a:latin typeface="Times New Roman"/>
                <a:cs typeface="Times New Roman"/>
              </a:rPr>
              <a:t>New </a:t>
            </a:r>
            <a:r>
              <a:rPr dirty="0" sz="2800">
                <a:latin typeface="Times New Roman"/>
                <a:cs typeface="Times New Roman"/>
              </a:rPr>
              <a:t>York </a:t>
            </a:r>
            <a:r>
              <a:rPr dirty="0" sz="2800" spc="-5">
                <a:latin typeface="Times New Roman"/>
                <a:cs typeface="Times New Roman"/>
              </a:rPr>
              <a:t>and Chicago, it has </a:t>
            </a:r>
            <a:r>
              <a:rPr dirty="0" sz="2800" spc="-10">
                <a:latin typeface="Times New Roman"/>
                <a:cs typeface="Times New Roman"/>
              </a:rPr>
              <a:t>two </a:t>
            </a:r>
            <a:r>
              <a:rPr dirty="0" sz="2800" spc="-5">
                <a:latin typeface="Times New Roman"/>
                <a:cs typeface="Times New Roman"/>
              </a:rPr>
              <a:t>locally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leased lines. The </a:t>
            </a:r>
            <a:r>
              <a:rPr dirty="0" sz="2800">
                <a:latin typeface="Times New Roman"/>
                <a:cs typeface="Times New Roman"/>
              </a:rPr>
              <a:t>network providers </a:t>
            </a:r>
            <a:r>
              <a:rPr dirty="0" sz="2800" spc="-5">
                <a:latin typeface="Times New Roman"/>
                <a:cs typeface="Times New Roman"/>
              </a:rPr>
              <a:t>have provided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Span </a:t>
            </a:r>
            <a:r>
              <a:rPr dirty="0" sz="2800" spc="-5">
                <a:latin typeface="Times New Roman"/>
                <a:cs typeface="Times New Roman"/>
              </a:rPr>
              <a:t>with </a:t>
            </a:r>
            <a:r>
              <a:rPr dirty="0" sz="2800">
                <a:latin typeface="Times New Roman"/>
                <a:cs typeface="Times New Roman"/>
              </a:rPr>
              <a:t>one </a:t>
            </a:r>
            <a:r>
              <a:rPr dirty="0" sz="2800" spc="-5">
                <a:latin typeface="Times New Roman"/>
                <a:cs typeface="Times New Roman"/>
              </a:rPr>
              <a:t>DS0 between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-5">
                <a:latin typeface="Times New Roman"/>
                <a:cs typeface="Times New Roman"/>
              </a:rPr>
              <a:t>respective COs,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except </a:t>
            </a:r>
            <a:r>
              <a:rPr dirty="0" sz="2800">
                <a:latin typeface="Times New Roman"/>
                <a:cs typeface="Times New Roman"/>
              </a:rPr>
              <a:t>for the larger pipe </a:t>
            </a:r>
            <a:r>
              <a:rPr dirty="0" sz="2800" spc="-5">
                <a:latin typeface="Times New Roman"/>
                <a:cs typeface="Times New Roman"/>
              </a:rPr>
              <a:t>connecting Chicago </a:t>
            </a:r>
            <a:r>
              <a:rPr dirty="0" sz="2800" spc="-15">
                <a:latin typeface="Times New Roman"/>
                <a:cs typeface="Times New Roman"/>
              </a:rPr>
              <a:t>to 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New</a:t>
            </a:r>
            <a:r>
              <a:rPr dirty="0" sz="2800">
                <a:latin typeface="Times New Roman"/>
                <a:cs typeface="Times New Roman"/>
              </a:rPr>
              <a:t> York, </a:t>
            </a:r>
            <a:r>
              <a:rPr dirty="0" sz="2800" spc="-5">
                <a:latin typeface="Times New Roman"/>
                <a:cs typeface="Times New Roman"/>
              </a:rPr>
              <a:t>which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has </a:t>
            </a:r>
            <a:r>
              <a:rPr dirty="0" sz="2800">
                <a:latin typeface="Times New Roman"/>
                <a:cs typeface="Times New Roman"/>
              </a:rPr>
              <a:t>four </a:t>
            </a:r>
            <a:r>
              <a:rPr dirty="0" sz="2800" spc="-5">
                <a:latin typeface="Times New Roman"/>
                <a:cs typeface="Times New Roman"/>
              </a:rPr>
              <a:t>DS0s.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0834"/>
            <a:ext cx="7618095" cy="34410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</a:tabLst>
            </a:pPr>
            <a:r>
              <a:rPr dirty="0" sz="3200">
                <a:latin typeface="Times New Roman"/>
                <a:cs typeface="Times New Roman"/>
              </a:rPr>
              <a:t>DS0s are priced differently </a:t>
            </a:r>
            <a:r>
              <a:rPr dirty="0" sz="3200" spc="-5">
                <a:latin typeface="Times New Roman"/>
                <a:cs typeface="Times New Roman"/>
              </a:rPr>
              <a:t>from region </a:t>
            </a:r>
            <a:r>
              <a:rPr dirty="0" sz="3200" spc="-20">
                <a:latin typeface="Times New Roman"/>
                <a:cs typeface="Times New Roman"/>
              </a:rPr>
              <a:t>to 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region, and usually are offered at a </a:t>
            </a:r>
            <a:r>
              <a:rPr dirty="0" sz="3200" spc="-5">
                <a:latin typeface="Times New Roman"/>
                <a:cs typeface="Times New Roman"/>
              </a:rPr>
              <a:t>fixed </a:t>
            </a:r>
            <a:r>
              <a:rPr dirty="0" sz="3200">
                <a:latin typeface="Times New Roman"/>
                <a:cs typeface="Times New Roman"/>
              </a:rPr>
              <a:t> price. These lines are </a:t>
            </a:r>
            <a:r>
              <a:rPr dirty="0" sz="3200" spc="-5">
                <a:latin typeface="Times New Roman"/>
                <a:cs typeface="Times New Roman"/>
              </a:rPr>
              <a:t>truly </a:t>
            </a:r>
            <a:r>
              <a:rPr dirty="0" sz="3200">
                <a:latin typeface="Times New Roman"/>
                <a:cs typeface="Times New Roman"/>
              </a:rPr>
              <a:t>dedicated </a:t>
            </a:r>
            <a:r>
              <a:rPr dirty="0" sz="3200" spc="-5">
                <a:latin typeface="Times New Roman"/>
                <a:cs typeface="Times New Roman"/>
              </a:rPr>
              <a:t>in </a:t>
            </a:r>
            <a:r>
              <a:rPr dirty="0" sz="3200">
                <a:latin typeface="Times New Roman"/>
                <a:cs typeface="Times New Roman"/>
              </a:rPr>
              <a:t>that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 network provider reserves </a:t>
            </a:r>
            <a:r>
              <a:rPr dirty="0" sz="3200" spc="-5">
                <a:latin typeface="Times New Roman"/>
                <a:cs typeface="Times New Roman"/>
              </a:rPr>
              <a:t>that </a:t>
            </a:r>
            <a:r>
              <a:rPr dirty="0" sz="3200">
                <a:latin typeface="Times New Roman"/>
                <a:cs typeface="Times New Roman"/>
              </a:rPr>
              <a:t>line </a:t>
            </a:r>
            <a:r>
              <a:rPr dirty="0" sz="3200" spc="-5">
                <a:latin typeface="Times New Roman"/>
                <a:cs typeface="Times New Roman"/>
              </a:rPr>
              <a:t>for </a:t>
            </a:r>
            <a:r>
              <a:rPr dirty="0" sz="3200">
                <a:latin typeface="Times New Roman"/>
                <a:cs typeface="Times New Roman"/>
              </a:rPr>
              <a:t> Span's own use. There </a:t>
            </a:r>
            <a:r>
              <a:rPr dirty="0" sz="3200" spc="-5">
                <a:latin typeface="Times New Roman"/>
                <a:cs typeface="Times New Roman"/>
              </a:rPr>
              <a:t>is </a:t>
            </a:r>
            <a:r>
              <a:rPr dirty="0" sz="3200">
                <a:latin typeface="Times New Roman"/>
                <a:cs typeface="Times New Roman"/>
              </a:rPr>
              <a:t>no sharing, </a:t>
            </a:r>
            <a:r>
              <a:rPr dirty="0" sz="3200" spc="-5">
                <a:latin typeface="Times New Roman"/>
                <a:cs typeface="Times New Roman"/>
              </a:rPr>
              <a:t>and </a:t>
            </a:r>
            <a:r>
              <a:rPr dirty="0" sz="3200">
                <a:latin typeface="Times New Roman"/>
                <a:cs typeface="Times New Roman"/>
              </a:rPr>
              <a:t> Span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is</a:t>
            </a:r>
            <a:r>
              <a:rPr dirty="0" sz="3200">
                <a:latin typeface="Times New Roman"/>
                <a:cs typeface="Times New Roman"/>
              </a:rPr>
              <a:t> paying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for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end-to-end</a:t>
            </a:r>
            <a:r>
              <a:rPr dirty="0" sz="3200">
                <a:latin typeface="Times New Roman"/>
                <a:cs typeface="Times New Roman"/>
              </a:rPr>
              <a:t> circuit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regardless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 spc="5">
                <a:latin typeface="Times New Roman"/>
                <a:cs typeface="Times New Roman"/>
              </a:rPr>
              <a:t>of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5">
                <a:latin typeface="Times New Roman"/>
                <a:cs typeface="Times New Roman"/>
              </a:rPr>
              <a:t>how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much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bandwidth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it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0834"/>
            <a:ext cx="7616825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</a:tabLst>
            </a:pPr>
            <a:r>
              <a:rPr dirty="0" sz="3200">
                <a:latin typeface="Times New Roman"/>
                <a:cs typeface="Times New Roman"/>
              </a:rPr>
              <a:t>A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dedicated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line</a:t>
            </a:r>
            <a:r>
              <a:rPr dirty="0" sz="3200">
                <a:latin typeface="Times New Roman"/>
                <a:cs typeface="Times New Roman"/>
              </a:rPr>
              <a:t> provides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little</a:t>
            </a:r>
            <a:r>
              <a:rPr dirty="0" sz="3200">
                <a:latin typeface="Times New Roman"/>
                <a:cs typeface="Times New Roman"/>
              </a:rPr>
              <a:t> practical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opportunity</a:t>
            </a:r>
            <a:r>
              <a:rPr dirty="0" sz="3200">
                <a:latin typeface="Times New Roman"/>
                <a:cs typeface="Times New Roman"/>
              </a:rPr>
              <a:t> for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one-to-many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connection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without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getting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more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lines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from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network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744" y="3464128"/>
            <a:ext cx="49980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84045" algn="l"/>
                <a:tab pos="2615565" algn="l"/>
                <a:tab pos="3504565" algn="l"/>
              </a:tabLst>
            </a:pPr>
            <a:r>
              <a:rPr dirty="0" sz="3200">
                <a:latin typeface="Times New Roman"/>
                <a:cs typeface="Times New Roman"/>
              </a:rPr>
              <a:t>provide</a:t>
            </a:r>
            <a:r>
              <a:rPr dirty="0" sz="3200" spc="-15">
                <a:latin typeface="Times New Roman"/>
                <a:cs typeface="Times New Roman"/>
              </a:rPr>
              <a:t>r</a:t>
            </a:r>
            <a:r>
              <a:rPr dirty="0" sz="3200">
                <a:latin typeface="Times New Roman"/>
                <a:cs typeface="Times New Roman"/>
              </a:rPr>
              <a:t>.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10">
                <a:latin typeface="Times New Roman"/>
                <a:cs typeface="Times New Roman"/>
              </a:rPr>
              <a:t>I</a:t>
            </a:r>
            <a:r>
              <a:rPr dirty="0" sz="3200">
                <a:latin typeface="Times New Roman"/>
                <a:cs typeface="Times New Roman"/>
              </a:rPr>
              <a:t>n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t</a:t>
            </a:r>
            <a:r>
              <a:rPr dirty="0" sz="3200">
                <a:latin typeface="Times New Roman"/>
                <a:cs typeface="Times New Roman"/>
              </a:rPr>
              <a:t>he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exa</a:t>
            </a:r>
            <a:r>
              <a:rPr dirty="0" sz="3200" spc="-10">
                <a:latin typeface="Times New Roman"/>
                <a:cs typeface="Times New Roman"/>
              </a:rPr>
              <a:t>m</a:t>
            </a:r>
            <a:r>
              <a:rPr dirty="0" sz="3200">
                <a:latin typeface="Times New Roman"/>
                <a:cs typeface="Times New Roman"/>
              </a:rPr>
              <a:t>pl</a:t>
            </a:r>
            <a:r>
              <a:rPr dirty="0" sz="3200" spc="5">
                <a:latin typeface="Times New Roman"/>
                <a:cs typeface="Times New Roman"/>
              </a:rPr>
              <a:t>e</a:t>
            </a:r>
            <a:r>
              <a:rPr dirty="0" sz="3200"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744" y="3952113"/>
            <a:ext cx="479996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96235" algn="l"/>
                <a:tab pos="4042410" algn="l"/>
              </a:tabLst>
            </a:pPr>
            <a:r>
              <a:rPr dirty="0" sz="3200">
                <a:latin typeface="Times New Roman"/>
                <a:cs typeface="Times New Roman"/>
              </a:rPr>
              <a:t>co</a:t>
            </a:r>
            <a:r>
              <a:rPr dirty="0" sz="3200" spc="5">
                <a:latin typeface="Times New Roman"/>
                <a:cs typeface="Times New Roman"/>
              </a:rPr>
              <a:t>m</a:t>
            </a:r>
            <a:r>
              <a:rPr dirty="0" sz="3200">
                <a:latin typeface="Times New Roman"/>
                <a:cs typeface="Times New Roman"/>
              </a:rPr>
              <a:t>m</a:t>
            </a:r>
            <a:r>
              <a:rPr dirty="0" sz="3200" spc="-10">
                <a:latin typeface="Times New Roman"/>
                <a:cs typeface="Times New Roman"/>
              </a:rPr>
              <a:t>u</a:t>
            </a:r>
            <a:r>
              <a:rPr dirty="0" sz="3200">
                <a:latin typeface="Times New Roman"/>
                <a:cs typeface="Times New Roman"/>
              </a:rPr>
              <a:t>nication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m</a:t>
            </a:r>
            <a:r>
              <a:rPr dirty="0" sz="3200" spc="5">
                <a:latin typeface="Times New Roman"/>
                <a:cs typeface="Times New Roman"/>
              </a:rPr>
              <a:t>u</a:t>
            </a:r>
            <a:r>
              <a:rPr dirty="0" sz="3200">
                <a:latin typeface="Times New Roman"/>
                <a:cs typeface="Times New Roman"/>
              </a:rPr>
              <a:t>st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f</a:t>
            </a:r>
            <a:r>
              <a:rPr dirty="0" sz="3200" spc="-15">
                <a:latin typeface="Times New Roman"/>
                <a:cs typeface="Times New Roman"/>
              </a:rPr>
              <a:t>l</a:t>
            </a:r>
            <a:r>
              <a:rPr dirty="0" sz="3200">
                <a:latin typeface="Times New Roman"/>
                <a:cs typeface="Times New Roman"/>
              </a:rPr>
              <a:t>ow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38113" y="3464128"/>
            <a:ext cx="214312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233045">
              <a:lnSpc>
                <a:spcPct val="100000"/>
              </a:lnSpc>
              <a:spcBef>
                <a:spcPts val="105"/>
              </a:spcBef>
              <a:tabLst>
                <a:tab pos="1631314" algn="l"/>
                <a:tab pos="1722755" algn="l"/>
              </a:tabLst>
            </a:pPr>
            <a:r>
              <a:rPr dirty="0" sz="3200">
                <a:latin typeface="Times New Roman"/>
                <a:cs typeface="Times New Roman"/>
              </a:rPr>
              <a:t>almost</a:t>
            </a:r>
            <a:r>
              <a:rPr dirty="0" sz="3200">
                <a:latin typeface="Times New Roman"/>
                <a:cs typeface="Times New Roman"/>
              </a:rPr>
              <a:t>		</a:t>
            </a:r>
            <a:r>
              <a:rPr dirty="0" sz="3200">
                <a:latin typeface="Times New Roman"/>
                <a:cs typeface="Times New Roman"/>
              </a:rPr>
              <a:t>all  </a:t>
            </a:r>
            <a:r>
              <a:rPr dirty="0" sz="3200" spc="-20">
                <a:latin typeface="Times New Roman"/>
                <a:cs typeface="Times New Roman"/>
              </a:rPr>
              <a:t>t</a:t>
            </a:r>
            <a:r>
              <a:rPr dirty="0" sz="3200">
                <a:latin typeface="Times New Roman"/>
                <a:cs typeface="Times New Roman"/>
              </a:rPr>
              <a:t>hrough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t</a:t>
            </a:r>
            <a:r>
              <a:rPr dirty="0" sz="3200">
                <a:latin typeface="Times New Roman"/>
                <a:cs typeface="Times New Roman"/>
              </a:rPr>
              <a:t>he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744" y="4439792"/>
            <a:ext cx="7272655" cy="1002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Times New Roman"/>
                <a:cs typeface="Times New Roman"/>
              </a:rPr>
              <a:t>corporate headquarters,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simply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to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reduce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cost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 spc="5">
                <a:latin typeface="Times New Roman"/>
                <a:cs typeface="Times New Roman"/>
              </a:rPr>
              <a:t>of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additional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lines.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0834"/>
            <a:ext cx="7614920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</a:tabLst>
            </a:pPr>
            <a:r>
              <a:rPr dirty="0" sz="3200">
                <a:latin typeface="Times New Roman"/>
                <a:cs typeface="Times New Roman"/>
              </a:rPr>
              <a:t>If </a:t>
            </a:r>
            <a:r>
              <a:rPr dirty="0" sz="3200" spc="-5">
                <a:latin typeface="Times New Roman"/>
                <a:cs typeface="Times New Roman"/>
              </a:rPr>
              <a:t>you </a:t>
            </a:r>
            <a:r>
              <a:rPr dirty="0" sz="3200">
                <a:latin typeface="Times New Roman"/>
                <a:cs typeface="Times New Roman"/>
              </a:rPr>
              <a:t>examine what each site requires </a:t>
            </a:r>
            <a:r>
              <a:rPr dirty="0" sz="3200" spc="-20">
                <a:latin typeface="Times New Roman"/>
                <a:cs typeface="Times New Roman"/>
              </a:rPr>
              <a:t>in 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terms </a:t>
            </a:r>
            <a:r>
              <a:rPr dirty="0" sz="3200" spc="-5">
                <a:latin typeface="Times New Roman"/>
                <a:cs typeface="Times New Roman"/>
              </a:rPr>
              <a:t>of</a:t>
            </a:r>
            <a:r>
              <a:rPr dirty="0" sz="3200">
                <a:latin typeface="Times New Roman"/>
                <a:cs typeface="Times New Roman"/>
              </a:rPr>
              <a:t> bandwidth, </a:t>
            </a:r>
            <a:r>
              <a:rPr dirty="0" sz="3200" spc="-5">
                <a:latin typeface="Times New Roman"/>
                <a:cs typeface="Times New Roman"/>
              </a:rPr>
              <a:t>you</a:t>
            </a:r>
            <a:r>
              <a:rPr dirty="0" sz="3200">
                <a:latin typeface="Times New Roman"/>
                <a:cs typeface="Times New Roman"/>
              </a:rPr>
              <a:t> notice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lack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of </a:t>
            </a:r>
            <a:r>
              <a:rPr dirty="0" sz="3200">
                <a:latin typeface="Times New Roman"/>
                <a:cs typeface="Times New Roman"/>
              </a:rPr>
              <a:t> efficiency: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952066"/>
            <a:ext cx="613981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  <a:tab pos="1541145" algn="l"/>
                <a:tab pos="3856990" algn="l"/>
                <a:tab pos="5470525" algn="l"/>
              </a:tabLst>
            </a:pP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lease</a:t>
            </a:r>
            <a:r>
              <a:rPr dirty="0" sz="3200" spc="5">
                <a:latin typeface="Times New Roman"/>
                <a:cs typeface="Times New Roman"/>
              </a:rPr>
              <a:t>d</a:t>
            </a:r>
            <a:r>
              <a:rPr dirty="0" sz="3200" spc="-15">
                <a:latin typeface="Times New Roman"/>
                <a:cs typeface="Times New Roman"/>
              </a:rPr>
              <a:t>-</a:t>
            </a:r>
            <a:r>
              <a:rPr dirty="0" sz="3200">
                <a:latin typeface="Times New Roman"/>
                <a:cs typeface="Times New Roman"/>
              </a:rPr>
              <a:t>line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design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also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744" y="1952066"/>
            <a:ext cx="7274559" cy="95313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 marR="5080" indent="6323965">
              <a:lnSpc>
                <a:spcPts val="3460"/>
              </a:lnSpc>
              <a:spcBef>
                <a:spcPts val="535"/>
              </a:spcBef>
              <a:tabLst>
                <a:tab pos="2103755" algn="l"/>
                <a:tab pos="3596004" algn="l"/>
                <a:tab pos="5179060" algn="l"/>
                <a:tab pos="6062345" algn="l"/>
              </a:tabLst>
            </a:pPr>
            <a:r>
              <a:rPr dirty="0" sz="3200">
                <a:latin typeface="Times New Roman"/>
                <a:cs typeface="Times New Roman"/>
              </a:rPr>
              <a:t>l</a:t>
            </a:r>
            <a:r>
              <a:rPr dirty="0" sz="3200" spc="-20">
                <a:latin typeface="Times New Roman"/>
                <a:cs typeface="Times New Roman"/>
              </a:rPr>
              <a:t>i</a:t>
            </a:r>
            <a:r>
              <a:rPr dirty="0" sz="3200">
                <a:latin typeface="Times New Roman"/>
                <a:cs typeface="Times New Roman"/>
              </a:rPr>
              <a:t>mi</a:t>
            </a:r>
            <a:r>
              <a:rPr dirty="0" sz="3200" spc="-20">
                <a:latin typeface="Times New Roman"/>
                <a:cs typeface="Times New Roman"/>
              </a:rPr>
              <a:t>t</a:t>
            </a:r>
            <a:r>
              <a:rPr dirty="0" sz="3200">
                <a:latin typeface="Times New Roman"/>
                <a:cs typeface="Times New Roman"/>
              </a:rPr>
              <a:t>s  </a:t>
            </a:r>
            <a:r>
              <a:rPr dirty="0" sz="3200">
                <a:latin typeface="Times New Roman"/>
                <a:cs typeface="Times New Roman"/>
              </a:rPr>
              <a:t>fle</a:t>
            </a:r>
            <a:r>
              <a:rPr dirty="0" sz="3200" spc="10">
                <a:latin typeface="Times New Roman"/>
                <a:cs typeface="Times New Roman"/>
              </a:rPr>
              <a:t>x</a:t>
            </a:r>
            <a:r>
              <a:rPr dirty="0" sz="3200" spc="-20">
                <a:latin typeface="Times New Roman"/>
                <a:cs typeface="Times New Roman"/>
              </a:rPr>
              <a:t>i</a:t>
            </a:r>
            <a:r>
              <a:rPr dirty="0" sz="3200">
                <a:latin typeface="Times New Roman"/>
                <a:cs typeface="Times New Roman"/>
              </a:rPr>
              <a:t>bili</a:t>
            </a:r>
            <a:r>
              <a:rPr dirty="0" sz="3200" spc="-20">
                <a:latin typeface="Times New Roman"/>
                <a:cs typeface="Times New Roman"/>
              </a:rPr>
              <a:t>t</a:t>
            </a:r>
            <a:r>
              <a:rPr dirty="0" sz="3200" spc="5">
                <a:latin typeface="Times New Roman"/>
                <a:cs typeface="Times New Roman"/>
              </a:rPr>
              <a:t>y</a:t>
            </a:r>
            <a:r>
              <a:rPr dirty="0" sz="3200">
                <a:latin typeface="Times New Roman"/>
                <a:cs typeface="Times New Roman"/>
              </a:rPr>
              <a:t>.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Unless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cir</a:t>
            </a:r>
            <a:r>
              <a:rPr dirty="0" sz="3200" spc="10">
                <a:latin typeface="Times New Roman"/>
                <a:cs typeface="Times New Roman"/>
              </a:rPr>
              <a:t>c</a:t>
            </a:r>
            <a:r>
              <a:rPr dirty="0" sz="3200">
                <a:latin typeface="Times New Roman"/>
                <a:cs typeface="Times New Roman"/>
              </a:rPr>
              <a:t>uits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a</a:t>
            </a:r>
            <a:r>
              <a:rPr dirty="0" sz="3200" spc="5">
                <a:latin typeface="Times New Roman"/>
                <a:cs typeface="Times New Roman"/>
              </a:rPr>
              <a:t>r</a:t>
            </a:r>
            <a:r>
              <a:rPr dirty="0" sz="3200">
                <a:latin typeface="Times New Roman"/>
                <a:cs typeface="Times New Roman"/>
              </a:rPr>
              <a:t>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alr</a:t>
            </a:r>
            <a:r>
              <a:rPr dirty="0" sz="3200" spc="10">
                <a:latin typeface="Times New Roman"/>
                <a:cs typeface="Times New Roman"/>
              </a:rPr>
              <a:t>e</a:t>
            </a:r>
            <a:r>
              <a:rPr dirty="0" sz="3200">
                <a:latin typeface="Times New Roman"/>
                <a:cs typeface="Times New Roman"/>
              </a:rPr>
              <a:t>ady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744" y="2830195"/>
            <a:ext cx="7273925" cy="314833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12700" marR="5080">
              <a:lnSpc>
                <a:spcPct val="90000"/>
              </a:lnSpc>
              <a:spcBef>
                <a:spcPts val="484"/>
              </a:spcBef>
            </a:pPr>
            <a:r>
              <a:rPr dirty="0" sz="3200">
                <a:latin typeface="Times New Roman"/>
                <a:cs typeface="Times New Roman"/>
              </a:rPr>
              <a:t>installed,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connecting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new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sites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typically </a:t>
            </a:r>
            <a:r>
              <a:rPr dirty="0" sz="3200">
                <a:latin typeface="Times New Roman"/>
                <a:cs typeface="Times New Roman"/>
              </a:rPr>
              <a:t> requires </a:t>
            </a:r>
            <a:r>
              <a:rPr dirty="0" sz="3200" spc="5">
                <a:latin typeface="Times New Roman"/>
                <a:cs typeface="Times New Roman"/>
              </a:rPr>
              <a:t>new </a:t>
            </a:r>
            <a:r>
              <a:rPr dirty="0" sz="3200">
                <a:latin typeface="Times New Roman"/>
                <a:cs typeface="Times New Roman"/>
              </a:rPr>
              <a:t>circuit installations and </a:t>
            </a:r>
            <a:r>
              <a:rPr dirty="0" sz="3200" spc="-5">
                <a:latin typeface="Times New Roman"/>
                <a:cs typeface="Times New Roman"/>
              </a:rPr>
              <a:t>takes </a:t>
            </a:r>
            <a:r>
              <a:rPr dirty="0" sz="3200">
                <a:latin typeface="Times New Roman"/>
                <a:cs typeface="Times New Roman"/>
              </a:rPr>
              <a:t> considerable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time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to</a:t>
            </a:r>
            <a:r>
              <a:rPr dirty="0" sz="3200">
                <a:latin typeface="Times New Roman"/>
                <a:cs typeface="Times New Roman"/>
              </a:rPr>
              <a:t> implement.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From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network </a:t>
            </a:r>
            <a:r>
              <a:rPr dirty="0" sz="3200" spc="-5">
                <a:latin typeface="Times New Roman"/>
                <a:cs typeface="Times New Roman"/>
              </a:rPr>
              <a:t>reliability point </a:t>
            </a:r>
            <a:r>
              <a:rPr dirty="0" sz="3200">
                <a:latin typeface="Times New Roman"/>
                <a:cs typeface="Times New Roman"/>
              </a:rPr>
              <a:t>of view, imagine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additional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costs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in</a:t>
            </a:r>
            <a:r>
              <a:rPr dirty="0" sz="3200" spc="-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money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complexity </a:t>
            </a:r>
            <a:r>
              <a:rPr dirty="0" sz="3200">
                <a:latin typeface="Times New Roman"/>
                <a:cs typeface="Times New Roman"/>
              </a:rPr>
              <a:t>of adding spare and redundant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circuits.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2358"/>
            <a:ext cx="7618095" cy="34397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6235" algn="l"/>
              </a:tabLst>
            </a:pPr>
            <a:r>
              <a:rPr dirty="0" sz="2800" spc="-5">
                <a:latin typeface="Times New Roman"/>
                <a:cs typeface="Times New Roman"/>
              </a:rPr>
              <a:t>Span's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Frame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Relay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network</a:t>
            </a:r>
            <a:r>
              <a:rPr dirty="0" sz="2800">
                <a:latin typeface="Times New Roman"/>
                <a:cs typeface="Times New Roman"/>
              </a:rPr>
              <a:t> uses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permanent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virtual circuits (PVCs). A </a:t>
            </a:r>
            <a:r>
              <a:rPr dirty="0" sz="2800">
                <a:latin typeface="Times New Roman"/>
                <a:cs typeface="Times New Roman"/>
              </a:rPr>
              <a:t>PVC </a:t>
            </a:r>
            <a:r>
              <a:rPr dirty="0" sz="2800" spc="-5">
                <a:latin typeface="Times New Roman"/>
                <a:cs typeface="Times New Roman"/>
              </a:rPr>
              <a:t>is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-5">
                <a:latin typeface="Times New Roman"/>
                <a:cs typeface="Times New Roman"/>
              </a:rPr>
              <a:t>logical path </a:t>
            </a:r>
            <a:r>
              <a:rPr dirty="0" sz="2800">
                <a:latin typeface="Times New Roman"/>
                <a:cs typeface="Times New Roman"/>
              </a:rPr>
              <a:t> along </a:t>
            </a:r>
            <a:r>
              <a:rPr dirty="0" sz="2800" spc="-5">
                <a:latin typeface="Times New Roman"/>
                <a:cs typeface="Times New Roman"/>
              </a:rPr>
              <a:t>an originating Frame Relay </a:t>
            </a:r>
            <a:r>
              <a:rPr dirty="0" sz="2800">
                <a:latin typeface="Times New Roman"/>
                <a:cs typeface="Times New Roman"/>
              </a:rPr>
              <a:t>link, through </a:t>
            </a:r>
            <a:r>
              <a:rPr dirty="0" sz="2800" spc="-5">
                <a:latin typeface="Times New Roman"/>
                <a:cs typeface="Times New Roman"/>
              </a:rPr>
              <a:t>the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network,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along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terminating</a:t>
            </a:r>
            <a:r>
              <a:rPr dirty="0" sz="2800" spc="69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Frame</a:t>
            </a:r>
            <a:r>
              <a:rPr dirty="0" sz="2800" spc="68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Relay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link to its ultimate destination. Compare this to the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physical path used by a dedicated connection. </a:t>
            </a:r>
            <a:r>
              <a:rPr dirty="0" sz="2800">
                <a:latin typeface="Times New Roman"/>
                <a:cs typeface="Times New Roman"/>
              </a:rPr>
              <a:t>In </a:t>
            </a:r>
            <a:r>
              <a:rPr dirty="0" sz="2800" spc="-5">
                <a:latin typeface="Times New Roman"/>
                <a:cs typeface="Times New Roman"/>
              </a:rPr>
              <a:t>a </a:t>
            </a:r>
            <a:r>
              <a:rPr dirty="0" sz="2800">
                <a:latin typeface="Times New Roman"/>
                <a:cs typeface="Times New Roman"/>
              </a:rPr>
              <a:t> network </a:t>
            </a:r>
            <a:r>
              <a:rPr dirty="0" sz="2800" spc="-5">
                <a:latin typeface="Times New Roman"/>
                <a:cs typeface="Times New Roman"/>
              </a:rPr>
              <a:t>with Frame Relay access, a </a:t>
            </a:r>
            <a:r>
              <a:rPr dirty="0" sz="2800">
                <a:latin typeface="Times New Roman"/>
                <a:cs typeface="Times New Roman"/>
              </a:rPr>
              <a:t>PVC </a:t>
            </a:r>
            <a:r>
              <a:rPr dirty="0" sz="2800" spc="-5">
                <a:latin typeface="Times New Roman"/>
                <a:cs typeface="Times New Roman"/>
              </a:rPr>
              <a:t>uniquely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defines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path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between two </a:t>
            </a:r>
            <a:r>
              <a:rPr dirty="0" sz="2800">
                <a:latin typeface="Times New Roman"/>
                <a:cs typeface="Times New Roman"/>
              </a:rPr>
              <a:t>endpoints.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9400"/>
            <a:ext cx="9144000" cy="62471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5390" y="847090"/>
            <a:ext cx="710819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/>
              <a:t>Cost</a:t>
            </a:r>
            <a:r>
              <a:rPr dirty="0" sz="4000" spc="10"/>
              <a:t> </a:t>
            </a:r>
            <a:r>
              <a:rPr dirty="0" sz="4000" spc="-5"/>
              <a:t>Effectiveness of Frame</a:t>
            </a:r>
            <a:r>
              <a:rPr dirty="0" sz="4000" spc="30"/>
              <a:t> </a:t>
            </a:r>
            <a:r>
              <a:rPr dirty="0" sz="4000" spc="-5"/>
              <a:t>Relay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4540" y="1917014"/>
            <a:ext cx="7616825" cy="420814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algn="just" marL="355600" marR="5080" indent="-343535">
              <a:lnSpc>
                <a:spcPct val="80000"/>
              </a:lnSpc>
              <a:spcBef>
                <a:spcPts val="770"/>
              </a:spcBef>
              <a:buChar char="•"/>
              <a:tabLst>
                <a:tab pos="356235" algn="l"/>
              </a:tabLst>
            </a:pPr>
            <a:r>
              <a:rPr dirty="0" sz="2800">
                <a:latin typeface="Times New Roman"/>
                <a:cs typeface="Times New Roman"/>
              </a:rPr>
              <a:t>Frame </a:t>
            </a:r>
            <a:r>
              <a:rPr dirty="0" sz="2800" spc="-5">
                <a:latin typeface="Times New Roman"/>
                <a:cs typeface="Times New Roman"/>
              </a:rPr>
              <a:t>Relay is a more cost-effective option for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two reasons. </a:t>
            </a:r>
            <a:r>
              <a:rPr dirty="0" sz="2800" spc="-5" b="1">
                <a:latin typeface="Times New Roman"/>
                <a:cs typeface="Times New Roman"/>
              </a:rPr>
              <a:t>First</a:t>
            </a:r>
            <a:r>
              <a:rPr dirty="0" sz="2800" spc="-5">
                <a:latin typeface="Times New Roman"/>
                <a:cs typeface="Times New Roman"/>
              </a:rPr>
              <a:t>, with dedicated lines, customers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pay</a:t>
            </a:r>
            <a:r>
              <a:rPr dirty="0" sz="2800" spc="5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56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</a:t>
            </a:r>
            <a:r>
              <a:rPr dirty="0" sz="2800" spc="57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end-to-end</a:t>
            </a:r>
            <a:r>
              <a:rPr dirty="0" sz="2800" spc="56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connection.</a:t>
            </a:r>
            <a:r>
              <a:rPr dirty="0" sz="2800" spc="55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That</a:t>
            </a:r>
            <a:r>
              <a:rPr dirty="0" sz="2800" spc="56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includes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-5">
                <a:latin typeface="Times New Roman"/>
                <a:cs typeface="Times New Roman"/>
              </a:rPr>
              <a:t>local loop </a:t>
            </a:r>
            <a:r>
              <a:rPr dirty="0" sz="2800" spc="-10">
                <a:latin typeface="Times New Roman"/>
                <a:cs typeface="Times New Roman"/>
              </a:rPr>
              <a:t>and </a:t>
            </a:r>
            <a:r>
              <a:rPr dirty="0" sz="2800" spc="-5">
                <a:latin typeface="Times New Roman"/>
                <a:cs typeface="Times New Roman"/>
              </a:rPr>
              <a:t>the </a:t>
            </a:r>
            <a:r>
              <a:rPr dirty="0" sz="2800">
                <a:latin typeface="Times New Roman"/>
                <a:cs typeface="Times New Roman"/>
              </a:rPr>
              <a:t>network </a:t>
            </a:r>
            <a:r>
              <a:rPr dirty="0" sz="2800" spc="-5">
                <a:latin typeface="Times New Roman"/>
                <a:cs typeface="Times New Roman"/>
              </a:rPr>
              <a:t>link. With Frame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Relay, customers </a:t>
            </a:r>
            <a:r>
              <a:rPr dirty="0" sz="2800">
                <a:latin typeface="Times New Roman"/>
                <a:cs typeface="Times New Roman"/>
              </a:rPr>
              <a:t>only </a:t>
            </a:r>
            <a:r>
              <a:rPr dirty="0" sz="2800" spc="-5">
                <a:latin typeface="Times New Roman"/>
                <a:cs typeface="Times New Roman"/>
              </a:rPr>
              <a:t>pay </a:t>
            </a:r>
            <a:r>
              <a:rPr dirty="0" sz="2800">
                <a:latin typeface="Times New Roman"/>
                <a:cs typeface="Times New Roman"/>
              </a:rPr>
              <a:t>for the </a:t>
            </a:r>
            <a:r>
              <a:rPr dirty="0" sz="2800" spc="-5">
                <a:latin typeface="Times New Roman"/>
                <a:cs typeface="Times New Roman"/>
              </a:rPr>
              <a:t>local </a:t>
            </a:r>
            <a:r>
              <a:rPr dirty="0" sz="2800">
                <a:latin typeface="Times New Roman"/>
                <a:cs typeface="Times New Roman"/>
              </a:rPr>
              <a:t>loop, </a:t>
            </a:r>
            <a:r>
              <a:rPr dirty="0" sz="2800" spc="-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 for the bandwidth </a:t>
            </a:r>
            <a:r>
              <a:rPr dirty="0" sz="2800" spc="-5">
                <a:latin typeface="Times New Roman"/>
                <a:cs typeface="Times New Roman"/>
              </a:rPr>
              <a:t>they </a:t>
            </a:r>
            <a:r>
              <a:rPr dirty="0" sz="2800">
                <a:latin typeface="Times New Roman"/>
                <a:cs typeface="Times New Roman"/>
              </a:rPr>
              <a:t>purchase from the network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provider. Distance between </a:t>
            </a:r>
            <a:r>
              <a:rPr dirty="0" sz="2800">
                <a:latin typeface="Times New Roman"/>
                <a:cs typeface="Times New Roman"/>
              </a:rPr>
              <a:t>nodes </a:t>
            </a:r>
            <a:r>
              <a:rPr dirty="0" sz="2800" spc="-10">
                <a:latin typeface="Times New Roman"/>
                <a:cs typeface="Times New Roman"/>
              </a:rPr>
              <a:t>is </a:t>
            </a:r>
            <a:r>
              <a:rPr dirty="0" sz="2800">
                <a:latin typeface="Times New Roman"/>
                <a:cs typeface="Times New Roman"/>
              </a:rPr>
              <a:t>not </a:t>
            </a:r>
            <a:r>
              <a:rPr dirty="0" sz="2800" spc="-5">
                <a:latin typeface="Times New Roman"/>
                <a:cs typeface="Times New Roman"/>
              </a:rPr>
              <a:t>important.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While</a:t>
            </a:r>
            <a:r>
              <a:rPr dirty="0" sz="2800" spc="67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in</a:t>
            </a:r>
            <a:r>
              <a:rPr dirty="0" sz="2800" spc="67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67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dedicated-line</a:t>
            </a:r>
            <a:r>
              <a:rPr dirty="0" sz="2800" spc="67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model,</a:t>
            </a:r>
            <a:r>
              <a:rPr dirty="0" sz="2800" spc="66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customers</a:t>
            </a:r>
            <a:r>
              <a:rPr dirty="0" sz="2800" spc="68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use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dedicated </a:t>
            </a:r>
            <a:r>
              <a:rPr dirty="0" sz="2800">
                <a:latin typeface="Times New Roman"/>
                <a:cs typeface="Times New Roman"/>
              </a:rPr>
              <a:t>lines </a:t>
            </a:r>
            <a:r>
              <a:rPr dirty="0" sz="2800" spc="-5">
                <a:latin typeface="Times New Roman"/>
                <a:cs typeface="Times New Roman"/>
              </a:rPr>
              <a:t>provided in increments </a:t>
            </a:r>
            <a:r>
              <a:rPr dirty="0" sz="2800">
                <a:latin typeface="Times New Roman"/>
                <a:cs typeface="Times New Roman"/>
              </a:rPr>
              <a:t>of 64 kb/s,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Frame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Relay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customers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can</a:t>
            </a:r>
            <a:r>
              <a:rPr dirty="0" sz="2800">
                <a:latin typeface="Times New Roman"/>
                <a:cs typeface="Times New Roman"/>
              </a:rPr>
              <a:t> define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their</a:t>
            </a:r>
            <a:r>
              <a:rPr dirty="0" sz="2800">
                <a:latin typeface="Times New Roman"/>
                <a:cs typeface="Times New Roman"/>
              </a:rPr>
              <a:t> virtual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circuit</a:t>
            </a:r>
            <a:r>
              <a:rPr dirty="0" sz="2800" spc="66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needs</a:t>
            </a:r>
            <a:r>
              <a:rPr dirty="0" sz="2800" spc="67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</a:t>
            </a:r>
            <a:r>
              <a:rPr dirty="0" sz="2800" spc="67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far</a:t>
            </a:r>
            <a:r>
              <a:rPr dirty="0" sz="2800" spc="67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greater</a:t>
            </a:r>
            <a:r>
              <a:rPr dirty="0" sz="2800" spc="6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granularity,</a:t>
            </a:r>
            <a:r>
              <a:rPr dirty="0" sz="2800" spc="6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often</a:t>
            </a:r>
            <a:r>
              <a:rPr dirty="0" sz="2800" spc="665">
                <a:latin typeface="Times New Roman"/>
                <a:cs typeface="Times New Roman"/>
              </a:rPr>
              <a:t> </a:t>
            </a:r>
            <a:r>
              <a:rPr dirty="0" sz="2800" spc="-15">
                <a:latin typeface="Times New Roman"/>
                <a:cs typeface="Times New Roman"/>
              </a:rPr>
              <a:t>in </a:t>
            </a:r>
            <a:r>
              <a:rPr dirty="0" sz="2800" spc="-69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increments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as small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4</a:t>
            </a:r>
            <a:r>
              <a:rPr dirty="0" sz="2800">
                <a:latin typeface="Times New Roman"/>
                <a:cs typeface="Times New Roman"/>
              </a:rPr>
              <a:t> kb/s.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2358"/>
            <a:ext cx="7616825" cy="3866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6235" algn="l"/>
              </a:tabLst>
            </a:pP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second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reason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Frame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Relay's</a:t>
            </a:r>
            <a:r>
              <a:rPr dirty="0" sz="2800">
                <a:latin typeface="Times New Roman"/>
                <a:cs typeface="Times New Roman"/>
              </a:rPr>
              <a:t> cost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effectiveness is that it shares bandwidth across a </a:t>
            </a:r>
            <a:r>
              <a:rPr dirty="0" sz="2800">
                <a:latin typeface="Times New Roman"/>
                <a:cs typeface="Times New Roman"/>
              </a:rPr>
              <a:t> larger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base</a:t>
            </a:r>
            <a:r>
              <a:rPr dirty="0" sz="2800">
                <a:latin typeface="Times New Roman"/>
                <a:cs typeface="Times New Roman"/>
              </a:rPr>
              <a:t> of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customers.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Typically,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>
                <a:latin typeface="Times New Roman"/>
                <a:cs typeface="Times New Roman"/>
              </a:rPr>
              <a:t> network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provider </a:t>
            </a:r>
            <a:r>
              <a:rPr dirty="0" sz="2800" spc="-10">
                <a:latin typeface="Times New Roman"/>
                <a:cs typeface="Times New Roman"/>
              </a:rPr>
              <a:t>can </a:t>
            </a:r>
            <a:r>
              <a:rPr dirty="0" sz="2800" spc="-5">
                <a:latin typeface="Times New Roman"/>
                <a:cs typeface="Times New Roman"/>
              </a:rPr>
              <a:t>service </a:t>
            </a:r>
            <a:r>
              <a:rPr dirty="0" sz="2800">
                <a:latin typeface="Times New Roman"/>
                <a:cs typeface="Times New Roman"/>
              </a:rPr>
              <a:t>40 or </a:t>
            </a:r>
            <a:r>
              <a:rPr dirty="0" sz="2800" spc="-5">
                <a:latin typeface="Times New Roman"/>
                <a:cs typeface="Times New Roman"/>
              </a:rPr>
              <a:t>more </a:t>
            </a:r>
            <a:r>
              <a:rPr dirty="0" sz="2800">
                <a:latin typeface="Times New Roman"/>
                <a:cs typeface="Times New Roman"/>
              </a:rPr>
              <a:t>56 kb/s </a:t>
            </a:r>
            <a:r>
              <a:rPr dirty="0" sz="2800" spc="-5">
                <a:latin typeface="Times New Roman"/>
                <a:cs typeface="Times New Roman"/>
              </a:rPr>
              <a:t>customers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over one </a:t>
            </a:r>
            <a:r>
              <a:rPr dirty="0" sz="2800" spc="-5">
                <a:latin typeface="Times New Roman"/>
                <a:cs typeface="Times New Roman"/>
              </a:rPr>
              <a:t>T1 circuit. Using dedicated lines would </a:t>
            </a:r>
            <a:r>
              <a:rPr dirty="0" sz="2800">
                <a:latin typeface="Times New Roman"/>
                <a:cs typeface="Times New Roman"/>
              </a:rPr>
              <a:t> require more DSU/CSUs (one for </a:t>
            </a:r>
            <a:r>
              <a:rPr dirty="0" sz="2800" spc="-10">
                <a:latin typeface="Times New Roman"/>
                <a:cs typeface="Times New Roman"/>
              </a:rPr>
              <a:t>each </a:t>
            </a:r>
            <a:r>
              <a:rPr dirty="0" sz="2800">
                <a:latin typeface="Times New Roman"/>
                <a:cs typeface="Times New Roman"/>
              </a:rPr>
              <a:t>line) </a:t>
            </a:r>
            <a:r>
              <a:rPr dirty="0" sz="2800" spc="-10">
                <a:latin typeface="Times New Roman"/>
                <a:cs typeface="Times New Roman"/>
              </a:rPr>
              <a:t>and </a:t>
            </a:r>
            <a:r>
              <a:rPr dirty="0" sz="2800" spc="-5">
                <a:latin typeface="Times New Roman"/>
                <a:cs typeface="Times New Roman"/>
              </a:rPr>
              <a:t> more complicated routing and switching. Network </a:t>
            </a:r>
            <a:r>
              <a:rPr dirty="0" sz="2800">
                <a:latin typeface="Times New Roman"/>
                <a:cs typeface="Times New Roman"/>
              </a:rPr>
              <a:t> providers save </a:t>
            </a:r>
            <a:r>
              <a:rPr dirty="0" sz="2800" spc="-5">
                <a:latin typeface="Times New Roman"/>
                <a:cs typeface="Times New Roman"/>
              </a:rPr>
              <a:t>because </a:t>
            </a:r>
            <a:r>
              <a:rPr dirty="0" sz="2800">
                <a:latin typeface="Times New Roman"/>
                <a:cs typeface="Times New Roman"/>
              </a:rPr>
              <a:t>there </a:t>
            </a:r>
            <a:r>
              <a:rPr dirty="0" sz="2800" spc="-10">
                <a:latin typeface="Times New Roman"/>
                <a:cs typeface="Times New Roman"/>
              </a:rPr>
              <a:t>is </a:t>
            </a:r>
            <a:r>
              <a:rPr dirty="0" sz="2800" spc="-5">
                <a:latin typeface="Times New Roman"/>
                <a:cs typeface="Times New Roman"/>
              </a:rPr>
              <a:t>less equipment to </a:t>
            </a:r>
            <a:r>
              <a:rPr dirty="0" sz="2800">
                <a:latin typeface="Times New Roman"/>
                <a:cs typeface="Times New Roman"/>
              </a:rPr>
              <a:t> purchase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maintain.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/>
              <a:t>Cost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104137"/>
            <a:ext cx="7618095" cy="506095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just" marL="355600" marR="5080" indent="-343535">
              <a:lnSpc>
                <a:spcPct val="89600"/>
              </a:lnSpc>
              <a:spcBef>
                <a:spcPts val="445"/>
              </a:spcBef>
            </a:pPr>
            <a:r>
              <a:rPr dirty="0" sz="2800" spc="-5">
                <a:latin typeface="Times New Roman"/>
                <a:cs typeface="Times New Roman"/>
              </a:rPr>
              <a:t>The table </a:t>
            </a:r>
            <a:r>
              <a:rPr dirty="0" sz="2800">
                <a:latin typeface="Times New Roman"/>
                <a:cs typeface="Times New Roman"/>
              </a:rPr>
              <a:t>shows </a:t>
            </a:r>
            <a:r>
              <a:rPr dirty="0" sz="2800" spc="-5">
                <a:latin typeface="Times New Roman"/>
                <a:cs typeface="Times New Roman"/>
              </a:rPr>
              <a:t>a representative cost </a:t>
            </a:r>
            <a:r>
              <a:rPr dirty="0" sz="2800">
                <a:latin typeface="Times New Roman"/>
                <a:cs typeface="Times New Roman"/>
              </a:rPr>
              <a:t>comparison for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comparable </a:t>
            </a:r>
            <a:r>
              <a:rPr dirty="0" sz="2800">
                <a:latin typeface="Times New Roman"/>
                <a:cs typeface="Times New Roman"/>
              </a:rPr>
              <a:t>ISDN and </a:t>
            </a:r>
            <a:r>
              <a:rPr dirty="0" sz="2800" spc="-5">
                <a:latin typeface="Times New Roman"/>
                <a:cs typeface="Times New Roman"/>
              </a:rPr>
              <a:t>Frame Relay connections.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While </a:t>
            </a:r>
            <a:r>
              <a:rPr dirty="0" sz="2950" spc="-80" i="1">
                <a:latin typeface="Times New Roman"/>
                <a:cs typeface="Times New Roman"/>
              </a:rPr>
              <a:t>initial </a:t>
            </a:r>
            <a:r>
              <a:rPr dirty="0" sz="2950" spc="-65" i="1">
                <a:latin typeface="Times New Roman"/>
                <a:cs typeface="Times New Roman"/>
              </a:rPr>
              <a:t>costs for </a:t>
            </a:r>
            <a:r>
              <a:rPr dirty="0" sz="2950" spc="-145" i="1">
                <a:latin typeface="Times New Roman"/>
                <a:cs typeface="Times New Roman"/>
              </a:rPr>
              <a:t>Frame </a:t>
            </a:r>
            <a:r>
              <a:rPr dirty="0" sz="2950" spc="-40" i="1">
                <a:latin typeface="Times New Roman"/>
                <a:cs typeface="Times New Roman"/>
              </a:rPr>
              <a:t>Relay </a:t>
            </a:r>
            <a:r>
              <a:rPr dirty="0" sz="2950" spc="-175" i="1">
                <a:latin typeface="Times New Roman"/>
                <a:cs typeface="Times New Roman"/>
              </a:rPr>
              <a:t>are </a:t>
            </a:r>
            <a:r>
              <a:rPr dirty="0" sz="2950" spc="-95" i="1">
                <a:latin typeface="Times New Roman"/>
                <a:cs typeface="Times New Roman"/>
              </a:rPr>
              <a:t>higher </a:t>
            </a:r>
            <a:r>
              <a:rPr dirty="0" sz="2800" spc="-5">
                <a:latin typeface="Times New Roman"/>
                <a:cs typeface="Times New Roman"/>
              </a:rPr>
              <a:t>than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 ISDN, the </a:t>
            </a:r>
            <a:r>
              <a:rPr dirty="0" sz="2800" spc="-5">
                <a:latin typeface="Times New Roman"/>
                <a:cs typeface="Times New Roman"/>
              </a:rPr>
              <a:t>monthly cost </a:t>
            </a:r>
            <a:r>
              <a:rPr dirty="0" sz="2800" spc="-10">
                <a:latin typeface="Times New Roman"/>
                <a:cs typeface="Times New Roman"/>
              </a:rPr>
              <a:t>is </a:t>
            </a:r>
            <a:r>
              <a:rPr dirty="0" sz="2800" spc="-5">
                <a:latin typeface="Times New Roman"/>
                <a:cs typeface="Times New Roman"/>
              </a:rPr>
              <a:t>considerably lower.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Frame Relay is easier to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manage and</a:t>
            </a:r>
            <a:r>
              <a:rPr dirty="0" sz="2800">
                <a:latin typeface="Times New Roman"/>
                <a:cs typeface="Times New Roman"/>
              </a:rPr>
              <a:t> configure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than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ISDN.</a:t>
            </a:r>
            <a:r>
              <a:rPr dirty="0" sz="2800">
                <a:latin typeface="Times New Roman"/>
                <a:cs typeface="Times New Roman"/>
              </a:rPr>
              <a:t> In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addition,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customers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can</a:t>
            </a:r>
            <a:r>
              <a:rPr dirty="0" sz="2800" spc="-5">
                <a:latin typeface="Times New Roman"/>
                <a:cs typeface="Times New Roman"/>
              </a:rPr>
              <a:t> increase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their bandwidth as their needs </a:t>
            </a:r>
            <a:r>
              <a:rPr dirty="0" sz="2800">
                <a:latin typeface="Times New Roman"/>
                <a:cs typeface="Times New Roman"/>
              </a:rPr>
              <a:t>grow </a:t>
            </a:r>
            <a:r>
              <a:rPr dirty="0" sz="2800" spc="-5">
                <a:latin typeface="Times New Roman"/>
                <a:cs typeface="Times New Roman"/>
              </a:rPr>
              <a:t>in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-5">
                <a:latin typeface="Times New Roman"/>
                <a:cs typeface="Times New Roman"/>
              </a:rPr>
              <a:t>future. </a:t>
            </a:r>
            <a:r>
              <a:rPr dirty="0" sz="2800">
                <a:latin typeface="Times New Roman"/>
                <a:cs typeface="Times New Roman"/>
              </a:rPr>
              <a:t> Frame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Relay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customers</a:t>
            </a:r>
            <a:r>
              <a:rPr dirty="0" sz="2800">
                <a:latin typeface="Times New Roman"/>
                <a:cs typeface="Times New Roman"/>
              </a:rPr>
              <a:t> pay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only</a:t>
            </a:r>
            <a:r>
              <a:rPr dirty="0" sz="2800">
                <a:latin typeface="Times New Roman"/>
                <a:cs typeface="Times New Roman"/>
              </a:rPr>
              <a:t> for</a:t>
            </a:r>
            <a:r>
              <a:rPr dirty="0" sz="2800" spc="7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bandwidth they need. With Frame Relay, there are </a:t>
            </a:r>
            <a:r>
              <a:rPr dirty="0" sz="2800">
                <a:latin typeface="Times New Roman"/>
                <a:cs typeface="Times New Roman"/>
              </a:rPr>
              <a:t> no hourly </a:t>
            </a:r>
            <a:r>
              <a:rPr dirty="0" sz="2800" spc="-5">
                <a:latin typeface="Times New Roman"/>
                <a:cs typeface="Times New Roman"/>
              </a:rPr>
              <a:t>charges, while </a:t>
            </a:r>
            <a:r>
              <a:rPr dirty="0" sz="2800">
                <a:latin typeface="Times New Roman"/>
                <a:cs typeface="Times New Roman"/>
              </a:rPr>
              <a:t>ISDN </a:t>
            </a:r>
            <a:r>
              <a:rPr dirty="0" sz="2800" spc="-5">
                <a:latin typeface="Times New Roman"/>
                <a:cs typeface="Times New Roman"/>
              </a:rPr>
              <a:t>calls </a:t>
            </a:r>
            <a:r>
              <a:rPr dirty="0" sz="2800">
                <a:latin typeface="Times New Roman"/>
                <a:cs typeface="Times New Roman"/>
              </a:rPr>
              <a:t>are </a:t>
            </a:r>
            <a:r>
              <a:rPr dirty="0" sz="2800" spc="-5">
                <a:latin typeface="Times New Roman"/>
                <a:cs typeface="Times New Roman"/>
              </a:rPr>
              <a:t>metered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can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result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in</a:t>
            </a:r>
            <a:r>
              <a:rPr dirty="0" sz="2800" spc="-5">
                <a:latin typeface="Times New Roman"/>
                <a:cs typeface="Times New Roman"/>
              </a:rPr>
              <a:t> unexpectedly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high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monthly </a:t>
            </a:r>
            <a:r>
              <a:rPr dirty="0" sz="2800">
                <a:latin typeface="Times New Roman"/>
                <a:cs typeface="Times New Roman"/>
              </a:rPr>
              <a:t> charges from the telephone </a:t>
            </a:r>
            <a:r>
              <a:rPr dirty="0" sz="2800" spc="-5">
                <a:latin typeface="Times New Roman"/>
                <a:cs typeface="Times New Roman"/>
              </a:rPr>
              <a:t>company if a full-time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connection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maintained.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30262"/>
            <a:ext cx="9069537" cy="51230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2520" y="813562"/>
            <a:ext cx="537781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dirty="0" spc="-45"/>
              <a:t> </a:t>
            </a:r>
            <a:r>
              <a:rPr dirty="0"/>
              <a:t>Frame</a:t>
            </a:r>
            <a:r>
              <a:rPr dirty="0" spc="-20"/>
              <a:t> </a:t>
            </a:r>
            <a:r>
              <a:rPr dirty="0"/>
              <a:t>Relay</a:t>
            </a:r>
            <a:r>
              <a:rPr dirty="0" spc="-50"/>
              <a:t> </a:t>
            </a:r>
            <a:r>
              <a:rPr dirty="0"/>
              <a:t>WAN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7014"/>
            <a:ext cx="7617459" cy="420814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algn="just" marL="355600" marR="5080" indent="-343535">
              <a:lnSpc>
                <a:spcPct val="80000"/>
              </a:lnSpc>
              <a:spcBef>
                <a:spcPts val="770"/>
              </a:spcBef>
              <a:buChar char="•"/>
              <a:tabLst>
                <a:tab pos="356235" algn="l"/>
              </a:tabLst>
            </a:pPr>
            <a:r>
              <a:rPr dirty="0" sz="2800">
                <a:latin typeface="Times New Roman"/>
                <a:cs typeface="Times New Roman"/>
              </a:rPr>
              <a:t>In</a:t>
            </a:r>
            <a:r>
              <a:rPr dirty="0" sz="2800" spc="6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66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late</a:t>
            </a:r>
            <a:r>
              <a:rPr dirty="0" sz="2800" spc="6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1970s</a:t>
            </a:r>
            <a:r>
              <a:rPr dirty="0" sz="2800" spc="67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 spc="67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into</a:t>
            </a:r>
            <a:r>
              <a:rPr dirty="0" sz="2800" spc="68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 spc="65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early</a:t>
            </a:r>
            <a:r>
              <a:rPr dirty="0" sz="2800" spc="66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1990s,</a:t>
            </a:r>
            <a:r>
              <a:rPr dirty="0" sz="2800" spc="6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WAN</a:t>
            </a:r>
            <a:r>
              <a:rPr dirty="0" sz="2800">
                <a:latin typeface="Times New Roman"/>
                <a:cs typeface="Times New Roman"/>
              </a:rPr>
              <a:t> technology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joining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end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sites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was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typically </a:t>
            </a:r>
            <a:r>
              <a:rPr dirty="0" sz="2800">
                <a:latin typeface="Times New Roman"/>
                <a:cs typeface="Times New Roman"/>
              </a:rPr>
              <a:t>using the </a:t>
            </a:r>
            <a:r>
              <a:rPr dirty="0" sz="2800" spc="-5">
                <a:latin typeface="Times New Roman"/>
                <a:cs typeface="Times New Roman"/>
              </a:rPr>
              <a:t>X.25 protocol. Now </a:t>
            </a:r>
            <a:r>
              <a:rPr dirty="0" sz="2800">
                <a:latin typeface="Times New Roman"/>
                <a:cs typeface="Times New Roman"/>
              </a:rPr>
              <a:t>considered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 legacy </a:t>
            </a:r>
            <a:r>
              <a:rPr dirty="0" sz="2800">
                <a:latin typeface="Times New Roman"/>
                <a:cs typeface="Times New Roman"/>
              </a:rPr>
              <a:t>protocol, </a:t>
            </a:r>
            <a:r>
              <a:rPr dirty="0" sz="2800" spc="-5">
                <a:latin typeface="Times New Roman"/>
                <a:cs typeface="Times New Roman"/>
              </a:rPr>
              <a:t>X.25 was a </a:t>
            </a:r>
            <a:r>
              <a:rPr dirty="0" sz="2800">
                <a:latin typeface="Times New Roman"/>
                <a:cs typeface="Times New Roman"/>
              </a:rPr>
              <a:t>very </a:t>
            </a:r>
            <a:r>
              <a:rPr dirty="0" sz="2800" spc="-5">
                <a:latin typeface="Times New Roman"/>
                <a:cs typeface="Times New Roman"/>
              </a:rPr>
              <a:t>popular packet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switching technology because it provided a very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reliable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connection</a:t>
            </a:r>
            <a:r>
              <a:rPr dirty="0" sz="2800">
                <a:latin typeface="Times New Roman"/>
                <a:cs typeface="Times New Roman"/>
              </a:rPr>
              <a:t> over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unreliable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cabling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infrastructures. </a:t>
            </a:r>
            <a:r>
              <a:rPr dirty="0" sz="2800">
                <a:latin typeface="Times New Roman"/>
                <a:cs typeface="Times New Roman"/>
              </a:rPr>
              <a:t>It did so by </a:t>
            </a:r>
            <a:r>
              <a:rPr dirty="0" sz="2800" spc="-5">
                <a:latin typeface="Times New Roman"/>
                <a:cs typeface="Times New Roman"/>
              </a:rPr>
              <a:t>including additional </a:t>
            </a:r>
            <a:r>
              <a:rPr dirty="0" sz="2800">
                <a:latin typeface="Times New Roman"/>
                <a:cs typeface="Times New Roman"/>
              </a:rPr>
              <a:t> error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control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flow</a:t>
            </a:r>
            <a:r>
              <a:rPr dirty="0" sz="2800">
                <a:latin typeface="Times New Roman"/>
                <a:cs typeface="Times New Roman"/>
              </a:rPr>
              <a:t> control.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However,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these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additional features </a:t>
            </a:r>
            <a:r>
              <a:rPr dirty="0" sz="2800">
                <a:latin typeface="Times New Roman"/>
                <a:cs typeface="Times New Roman"/>
              </a:rPr>
              <a:t>added </a:t>
            </a:r>
            <a:r>
              <a:rPr dirty="0" sz="2800" spc="-5">
                <a:latin typeface="Times New Roman"/>
                <a:cs typeface="Times New Roman"/>
              </a:rPr>
              <a:t>overhead to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-5">
                <a:latin typeface="Times New Roman"/>
                <a:cs typeface="Times New Roman"/>
              </a:rPr>
              <a:t>protocol.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Its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major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application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was</a:t>
            </a:r>
            <a:r>
              <a:rPr dirty="0" sz="2800">
                <a:latin typeface="Times New Roman"/>
                <a:cs typeface="Times New Roman"/>
              </a:rPr>
              <a:t> for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processing</a:t>
            </a:r>
            <a:r>
              <a:rPr dirty="0" sz="2800" spc="7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credit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card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authorization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5">
                <a:latin typeface="Times New Roman"/>
                <a:cs typeface="Times New Roman"/>
              </a:rPr>
              <a:t>for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automatic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teller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machines.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4172" y="813562"/>
            <a:ext cx="637413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dirty="0" spc="-35"/>
              <a:t> </a:t>
            </a:r>
            <a:r>
              <a:rPr dirty="0"/>
              <a:t>Frame</a:t>
            </a:r>
            <a:r>
              <a:rPr dirty="0" spc="-40"/>
              <a:t> </a:t>
            </a:r>
            <a:r>
              <a:rPr dirty="0"/>
              <a:t>Relay</a:t>
            </a:r>
            <a:r>
              <a:rPr dirty="0" spc="-20"/>
              <a:t> </a:t>
            </a:r>
            <a:r>
              <a:rPr dirty="0"/>
              <a:t>concepts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2358"/>
            <a:ext cx="7618095" cy="3866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6235" algn="l"/>
              </a:tabLst>
            </a:pPr>
            <a:r>
              <a:rPr dirty="0" sz="2800" spc="-5">
                <a:latin typeface="Times New Roman"/>
                <a:cs typeface="Times New Roman"/>
              </a:rPr>
              <a:t>When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you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build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>
                <a:latin typeface="Times New Roman"/>
                <a:cs typeface="Times New Roman"/>
              </a:rPr>
              <a:t> WAN,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regardless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transport</a:t>
            </a:r>
            <a:r>
              <a:rPr dirty="0" sz="2800" spc="29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you</a:t>
            </a:r>
            <a:r>
              <a:rPr dirty="0" sz="2800" spc="3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choose,</a:t>
            </a:r>
            <a:r>
              <a:rPr dirty="0" sz="2800" spc="28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there</a:t>
            </a:r>
            <a:r>
              <a:rPr dirty="0" sz="2800" spc="3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is</a:t>
            </a:r>
            <a:r>
              <a:rPr dirty="0" sz="2800" spc="3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always</a:t>
            </a:r>
            <a:r>
              <a:rPr dirty="0" sz="2800" spc="30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3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minimum </a:t>
            </a:r>
            <a:r>
              <a:rPr dirty="0" sz="2800" spc="-69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three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basic</a:t>
            </a:r>
            <a:r>
              <a:rPr dirty="0" sz="2800">
                <a:latin typeface="Times New Roman"/>
                <a:cs typeface="Times New Roman"/>
              </a:rPr>
              <a:t> components,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groups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of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components, </a:t>
            </a:r>
            <a:r>
              <a:rPr dirty="0" sz="2800" spc="-5">
                <a:latin typeface="Times New Roman"/>
                <a:cs typeface="Times New Roman"/>
              </a:rPr>
              <a:t>connecting any </a:t>
            </a:r>
            <a:r>
              <a:rPr dirty="0" sz="2800" spc="-10">
                <a:latin typeface="Times New Roman"/>
                <a:cs typeface="Times New Roman"/>
              </a:rPr>
              <a:t>two </a:t>
            </a:r>
            <a:r>
              <a:rPr dirty="0" sz="2800">
                <a:latin typeface="Times New Roman"/>
                <a:cs typeface="Times New Roman"/>
              </a:rPr>
              <a:t>sites. </a:t>
            </a:r>
            <a:r>
              <a:rPr dirty="0" sz="2800" spc="-5">
                <a:latin typeface="Times New Roman"/>
                <a:cs typeface="Times New Roman"/>
              </a:rPr>
              <a:t>Each site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needs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its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own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equipment</a:t>
            </a:r>
            <a:r>
              <a:rPr dirty="0" sz="2800">
                <a:latin typeface="Times New Roman"/>
                <a:cs typeface="Times New Roman"/>
              </a:rPr>
              <a:t> (DTE)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to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access</a:t>
            </a:r>
            <a:r>
              <a:rPr dirty="0" sz="2800">
                <a:latin typeface="Times New Roman"/>
                <a:cs typeface="Times New Roman"/>
              </a:rPr>
              <a:t> the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telephone company's </a:t>
            </a:r>
            <a:r>
              <a:rPr dirty="0" sz="2800" spc="-10">
                <a:latin typeface="Times New Roman"/>
                <a:cs typeface="Times New Roman"/>
              </a:rPr>
              <a:t>CO </a:t>
            </a:r>
            <a:r>
              <a:rPr dirty="0" sz="2800">
                <a:latin typeface="Times New Roman"/>
                <a:cs typeface="Times New Roman"/>
              </a:rPr>
              <a:t>serving the </a:t>
            </a:r>
            <a:r>
              <a:rPr dirty="0" sz="2800" spc="-10">
                <a:latin typeface="Times New Roman"/>
                <a:cs typeface="Times New Roman"/>
              </a:rPr>
              <a:t>area </a:t>
            </a:r>
            <a:r>
              <a:rPr dirty="0" sz="2800">
                <a:latin typeface="Times New Roman"/>
                <a:cs typeface="Times New Roman"/>
              </a:rPr>
              <a:t>(DCE).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 </a:t>
            </a:r>
            <a:r>
              <a:rPr dirty="0" sz="2800">
                <a:latin typeface="Times New Roman"/>
                <a:cs typeface="Times New Roman"/>
              </a:rPr>
              <a:t>third </a:t>
            </a:r>
            <a:r>
              <a:rPr dirty="0" sz="2800" spc="-5">
                <a:latin typeface="Times New Roman"/>
                <a:cs typeface="Times New Roman"/>
              </a:rPr>
              <a:t>component sits in the middle, joining the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two access </a:t>
            </a:r>
            <a:r>
              <a:rPr dirty="0" sz="2800">
                <a:latin typeface="Times New Roman"/>
                <a:cs typeface="Times New Roman"/>
              </a:rPr>
              <a:t>points. In the figure, this </a:t>
            </a:r>
            <a:r>
              <a:rPr dirty="0" sz="2800" spc="-5">
                <a:latin typeface="Times New Roman"/>
                <a:cs typeface="Times New Roman"/>
              </a:rPr>
              <a:t>is </a:t>
            </a:r>
            <a:r>
              <a:rPr dirty="0" sz="2800">
                <a:latin typeface="Times New Roman"/>
                <a:cs typeface="Times New Roman"/>
              </a:rPr>
              <a:t>the portion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supplied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by the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Frame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Relay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backbone.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706" y="423862"/>
            <a:ext cx="8920293" cy="60102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917014"/>
            <a:ext cx="12782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dirty="0" sz="2800" spc="-5">
                <a:latin typeface="Times New Roman"/>
                <a:cs typeface="Times New Roman"/>
              </a:rPr>
              <a:t>F</a:t>
            </a:r>
            <a:r>
              <a:rPr dirty="0" sz="2800" spc="5">
                <a:latin typeface="Times New Roman"/>
                <a:cs typeface="Times New Roman"/>
              </a:rPr>
              <a:t>r</a:t>
            </a:r>
            <a:r>
              <a:rPr dirty="0" sz="2800" spc="-5">
                <a:latin typeface="Times New Roman"/>
                <a:cs typeface="Times New Roman"/>
              </a:rPr>
              <a:t>ame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2698" y="1917014"/>
            <a:ext cx="60960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09980" algn="l"/>
                <a:tab pos="1850389" algn="l"/>
                <a:tab pos="2928620" algn="l"/>
                <a:tab pos="4501515" algn="l"/>
                <a:tab pos="5380990" algn="l"/>
              </a:tabLst>
            </a:pPr>
            <a:r>
              <a:rPr dirty="0" sz="2800" spc="-5">
                <a:latin typeface="Times New Roman"/>
                <a:cs typeface="Times New Roman"/>
              </a:rPr>
              <a:t>Relay</a:t>
            </a:r>
            <a:r>
              <a:rPr dirty="0" sz="2800" spc="-5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has</a:t>
            </a:r>
            <a:r>
              <a:rPr dirty="0" sz="2800" spc="-5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l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5">
                <a:latin typeface="Times New Roman"/>
                <a:cs typeface="Times New Roman"/>
              </a:rPr>
              <a:t>wer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10">
                <a:latin typeface="Times New Roman"/>
                <a:cs typeface="Times New Roman"/>
              </a:rPr>
              <a:t>o</a:t>
            </a:r>
            <a:r>
              <a:rPr dirty="0" sz="2800" spc="-5">
                <a:latin typeface="Times New Roman"/>
                <a:cs typeface="Times New Roman"/>
              </a:rPr>
              <a:t>ve</a:t>
            </a:r>
            <a:r>
              <a:rPr dirty="0" sz="2800">
                <a:latin typeface="Times New Roman"/>
                <a:cs typeface="Times New Roman"/>
              </a:rPr>
              <a:t>r</a:t>
            </a:r>
            <a:r>
              <a:rPr dirty="0" sz="2800" spc="-5">
                <a:latin typeface="Times New Roman"/>
                <a:cs typeface="Times New Roman"/>
              </a:rPr>
              <a:t>head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0">
                <a:latin typeface="Times New Roman"/>
                <a:cs typeface="Times New Roman"/>
              </a:rPr>
              <a:t>t</a:t>
            </a:r>
            <a:r>
              <a:rPr dirty="0" sz="2800" spc="-5">
                <a:latin typeface="Times New Roman"/>
                <a:cs typeface="Times New Roman"/>
              </a:rPr>
              <a:t>han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X</a:t>
            </a:r>
            <a:r>
              <a:rPr dirty="0" sz="2800" spc="-10">
                <a:latin typeface="Times New Roman"/>
                <a:cs typeface="Times New Roman"/>
              </a:rPr>
              <a:t>.</a:t>
            </a:r>
            <a:r>
              <a:rPr dirty="0" sz="2800">
                <a:latin typeface="Times New Roman"/>
                <a:cs typeface="Times New Roman"/>
              </a:rPr>
              <a:t>25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744" y="2258694"/>
            <a:ext cx="7274559" cy="3865879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algn="just" marL="12700" marR="5080">
              <a:lnSpc>
                <a:spcPct val="80000"/>
              </a:lnSpc>
              <a:spcBef>
                <a:spcPts val="765"/>
              </a:spcBef>
            </a:pPr>
            <a:r>
              <a:rPr dirty="0" sz="2800" spc="-5">
                <a:latin typeface="Times New Roman"/>
                <a:cs typeface="Times New Roman"/>
              </a:rPr>
              <a:t>because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it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has</a:t>
            </a:r>
            <a:r>
              <a:rPr dirty="0" sz="2800">
                <a:latin typeface="Times New Roman"/>
                <a:cs typeface="Times New Roman"/>
              </a:rPr>
              <a:t> fewer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capabilities.</a:t>
            </a:r>
            <a:r>
              <a:rPr dirty="0" sz="2800">
                <a:latin typeface="Times New Roman"/>
                <a:cs typeface="Times New Roman"/>
              </a:rPr>
              <a:t> For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example,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Frame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Relay</a:t>
            </a:r>
            <a:r>
              <a:rPr dirty="0" sz="2800">
                <a:latin typeface="Times New Roman"/>
                <a:cs typeface="Times New Roman"/>
              </a:rPr>
              <a:t> does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not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provide</a:t>
            </a:r>
            <a:r>
              <a:rPr dirty="0" sz="2800">
                <a:latin typeface="Times New Roman"/>
                <a:cs typeface="Times New Roman"/>
              </a:rPr>
              <a:t> error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correction,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modern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WAN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facilities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offer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more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reliable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connection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services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>
                <a:latin typeface="Times New Roman"/>
                <a:cs typeface="Times New Roman"/>
              </a:rPr>
              <a:t> higher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degree</a:t>
            </a:r>
            <a:r>
              <a:rPr dirty="0" sz="2800">
                <a:latin typeface="Times New Roman"/>
                <a:cs typeface="Times New Roman"/>
              </a:rPr>
              <a:t> of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reliability than older facilities. The Frame Relay </a:t>
            </a:r>
            <a:r>
              <a:rPr dirty="0" sz="2800">
                <a:latin typeface="Times New Roman"/>
                <a:cs typeface="Times New Roman"/>
              </a:rPr>
              <a:t> node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simply</a:t>
            </a:r>
            <a:r>
              <a:rPr dirty="0" sz="2800">
                <a:latin typeface="Times New Roman"/>
                <a:cs typeface="Times New Roman"/>
              </a:rPr>
              <a:t> drops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packets</a:t>
            </a:r>
            <a:r>
              <a:rPr dirty="0" sz="2800">
                <a:latin typeface="Times New Roman"/>
                <a:cs typeface="Times New Roman"/>
              </a:rPr>
              <a:t> without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notification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when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it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detects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errors.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Any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necessary</a:t>
            </a:r>
            <a:r>
              <a:rPr dirty="0" sz="2800">
                <a:latin typeface="Times New Roman"/>
                <a:cs typeface="Times New Roman"/>
              </a:rPr>
              <a:t> error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correction, such </a:t>
            </a:r>
            <a:r>
              <a:rPr dirty="0" sz="2800" spc="-5">
                <a:latin typeface="Times New Roman"/>
                <a:cs typeface="Times New Roman"/>
              </a:rPr>
              <a:t>as retransmission </a:t>
            </a:r>
            <a:r>
              <a:rPr dirty="0" sz="2800">
                <a:latin typeface="Times New Roman"/>
                <a:cs typeface="Times New Roman"/>
              </a:rPr>
              <a:t>of </a:t>
            </a:r>
            <a:r>
              <a:rPr dirty="0" sz="2800" spc="-5">
                <a:latin typeface="Times New Roman"/>
                <a:cs typeface="Times New Roman"/>
              </a:rPr>
              <a:t>data, is left to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endpoints.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This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makes</a:t>
            </a:r>
            <a:r>
              <a:rPr dirty="0" sz="2800">
                <a:latin typeface="Times New Roman"/>
                <a:cs typeface="Times New Roman"/>
              </a:rPr>
              <a:t> propagation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from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customer </a:t>
            </a:r>
            <a:r>
              <a:rPr dirty="0" sz="2800">
                <a:latin typeface="Times New Roman"/>
                <a:cs typeface="Times New Roman"/>
              </a:rPr>
              <a:t>end </a:t>
            </a:r>
            <a:r>
              <a:rPr dirty="0" sz="2800" spc="-5">
                <a:latin typeface="Times New Roman"/>
                <a:cs typeface="Times New Roman"/>
              </a:rPr>
              <a:t>to customer end </a:t>
            </a:r>
            <a:r>
              <a:rPr dirty="0" sz="2800">
                <a:latin typeface="Times New Roman"/>
                <a:cs typeface="Times New Roman"/>
              </a:rPr>
              <a:t>through the network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very fast.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398145"/>
            <a:ext cx="7618730" cy="558673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algn="just" marL="355600" marR="5080" indent="-343535">
              <a:lnSpc>
                <a:spcPct val="80000"/>
              </a:lnSpc>
              <a:spcBef>
                <a:spcPts val="869"/>
              </a:spcBef>
              <a:buChar char="•"/>
              <a:tabLst>
                <a:tab pos="356235" algn="l"/>
              </a:tabLst>
            </a:pPr>
            <a:r>
              <a:rPr dirty="0" sz="3200">
                <a:latin typeface="Times New Roman"/>
                <a:cs typeface="Times New Roman"/>
              </a:rPr>
              <a:t>Frame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Relay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handles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volume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speed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efficiently</a:t>
            </a:r>
            <a:r>
              <a:rPr dirty="0" sz="3200">
                <a:latin typeface="Times New Roman"/>
                <a:cs typeface="Times New Roman"/>
              </a:rPr>
              <a:t> by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combining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necessary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functions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of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data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link</a:t>
            </a:r>
            <a:r>
              <a:rPr dirty="0" sz="3200">
                <a:latin typeface="Times New Roman"/>
                <a:cs typeface="Times New Roman"/>
              </a:rPr>
              <a:t> and</a:t>
            </a:r>
            <a:r>
              <a:rPr dirty="0" sz="3200" spc="80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Network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layers </a:t>
            </a:r>
            <a:r>
              <a:rPr dirty="0" sz="3200" spc="-5">
                <a:latin typeface="Times New Roman"/>
                <a:cs typeface="Times New Roman"/>
              </a:rPr>
              <a:t>into </a:t>
            </a:r>
            <a:r>
              <a:rPr dirty="0" sz="3200">
                <a:latin typeface="Times New Roman"/>
                <a:cs typeface="Times New Roman"/>
              </a:rPr>
              <a:t>one </a:t>
            </a:r>
            <a:r>
              <a:rPr dirty="0" sz="3200" spc="-5">
                <a:latin typeface="Times New Roman"/>
                <a:cs typeface="Times New Roman"/>
              </a:rPr>
              <a:t>simple </a:t>
            </a:r>
            <a:r>
              <a:rPr dirty="0" sz="3200">
                <a:latin typeface="Times New Roman"/>
                <a:cs typeface="Times New Roman"/>
              </a:rPr>
              <a:t>protocol. As a data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link </a:t>
            </a:r>
            <a:r>
              <a:rPr dirty="0" sz="3200" spc="-5">
                <a:latin typeface="Times New Roman"/>
                <a:cs typeface="Times New Roman"/>
              </a:rPr>
              <a:t>protocol, Frame Relay </a:t>
            </a:r>
            <a:r>
              <a:rPr dirty="0" sz="3200">
                <a:latin typeface="Times New Roman"/>
                <a:cs typeface="Times New Roman"/>
              </a:rPr>
              <a:t>provides access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to</a:t>
            </a:r>
            <a:r>
              <a:rPr dirty="0" sz="3200" spc="5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</a:t>
            </a:r>
            <a:r>
              <a:rPr dirty="0" sz="3200" spc="5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network,</a:t>
            </a:r>
            <a:r>
              <a:rPr dirty="0" sz="3200" spc="5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delimits</a:t>
            </a:r>
            <a:r>
              <a:rPr dirty="0" sz="3200" spc="53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and</a:t>
            </a:r>
            <a:r>
              <a:rPr dirty="0" sz="3200" spc="5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delivers</a:t>
            </a:r>
            <a:r>
              <a:rPr dirty="0" sz="3200" spc="5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frames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in proper order, and recognizes transmission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errors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through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standard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Cyclic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Redundancy Check. As a network protocol,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Frame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Relay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provides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multiple</a:t>
            </a:r>
            <a:r>
              <a:rPr dirty="0" sz="3200">
                <a:latin typeface="Times New Roman"/>
                <a:cs typeface="Times New Roman"/>
              </a:rPr>
              <a:t> logical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connections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over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single</a:t>
            </a:r>
            <a:r>
              <a:rPr dirty="0" sz="3200">
                <a:latin typeface="Times New Roman"/>
                <a:cs typeface="Times New Roman"/>
              </a:rPr>
              <a:t> physical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circuit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 </a:t>
            </a:r>
            <a:r>
              <a:rPr dirty="0" sz="3200" spc="-5">
                <a:latin typeface="Times New Roman"/>
                <a:cs typeface="Times New Roman"/>
              </a:rPr>
              <a:t>allows </a:t>
            </a:r>
            <a:r>
              <a:rPr dirty="0" sz="3200">
                <a:latin typeface="Times New Roman"/>
                <a:cs typeface="Times New Roman"/>
              </a:rPr>
              <a:t>the network </a:t>
            </a:r>
            <a:r>
              <a:rPr dirty="0" sz="3200" spc="-10">
                <a:latin typeface="Times New Roman"/>
                <a:cs typeface="Times New Roman"/>
              </a:rPr>
              <a:t>to </a:t>
            </a:r>
            <a:r>
              <a:rPr dirty="0" sz="3200">
                <a:latin typeface="Times New Roman"/>
                <a:cs typeface="Times New Roman"/>
              </a:rPr>
              <a:t>route data over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those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connections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to</a:t>
            </a:r>
            <a:r>
              <a:rPr dirty="0" sz="3200" spc="-5">
                <a:latin typeface="Times New Roman"/>
                <a:cs typeface="Times New Roman"/>
              </a:rPr>
              <a:t> its</a:t>
            </a:r>
            <a:r>
              <a:rPr dirty="0" sz="3200">
                <a:latin typeface="Times New Roman"/>
                <a:cs typeface="Times New Roman"/>
              </a:rPr>
              <a:t> intended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destinations.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542670"/>
            <a:ext cx="7617459" cy="285559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algn="just" marL="355600" marR="5080" indent="-343535">
              <a:lnSpc>
                <a:spcPct val="80000"/>
              </a:lnSpc>
              <a:spcBef>
                <a:spcPts val="869"/>
              </a:spcBef>
              <a:buChar char="•"/>
              <a:tabLst>
                <a:tab pos="356235" algn="l"/>
              </a:tabLst>
            </a:pPr>
            <a:r>
              <a:rPr dirty="0" sz="3200">
                <a:latin typeface="Times New Roman"/>
                <a:cs typeface="Times New Roman"/>
              </a:rPr>
              <a:t>Frame Relay operates between an end-user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device, such as a LAN </a:t>
            </a:r>
            <a:r>
              <a:rPr dirty="0" sz="3200" spc="-5">
                <a:latin typeface="Times New Roman"/>
                <a:cs typeface="Times New Roman"/>
              </a:rPr>
              <a:t>bridge </a:t>
            </a:r>
            <a:r>
              <a:rPr dirty="0" sz="3200">
                <a:latin typeface="Times New Roman"/>
                <a:cs typeface="Times New Roman"/>
              </a:rPr>
              <a:t>or router, and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 network. </a:t>
            </a:r>
            <a:r>
              <a:rPr dirty="0" sz="3200" spc="-5">
                <a:latin typeface="Times New Roman"/>
                <a:cs typeface="Times New Roman"/>
              </a:rPr>
              <a:t>The </a:t>
            </a:r>
            <a:r>
              <a:rPr dirty="0" sz="3200">
                <a:latin typeface="Times New Roman"/>
                <a:cs typeface="Times New Roman"/>
              </a:rPr>
              <a:t>network </a:t>
            </a:r>
            <a:r>
              <a:rPr dirty="0" sz="3200" spc="-5">
                <a:latin typeface="Times New Roman"/>
                <a:cs typeface="Times New Roman"/>
              </a:rPr>
              <a:t>itself </a:t>
            </a:r>
            <a:r>
              <a:rPr dirty="0" sz="3200">
                <a:latin typeface="Times New Roman"/>
                <a:cs typeface="Times New Roman"/>
              </a:rPr>
              <a:t>can use </a:t>
            </a:r>
            <a:r>
              <a:rPr dirty="0" sz="3200" spc="-5">
                <a:latin typeface="Times New Roman"/>
                <a:cs typeface="Times New Roman"/>
              </a:rPr>
              <a:t>any </a:t>
            </a:r>
            <a:r>
              <a:rPr dirty="0" sz="3200">
                <a:latin typeface="Times New Roman"/>
                <a:cs typeface="Times New Roman"/>
              </a:rPr>
              <a:t> transmission </a:t>
            </a:r>
            <a:r>
              <a:rPr dirty="0" sz="3200" spc="-5">
                <a:latin typeface="Times New Roman"/>
                <a:cs typeface="Times New Roman"/>
              </a:rPr>
              <a:t>method that is </a:t>
            </a:r>
            <a:r>
              <a:rPr dirty="0" sz="3200">
                <a:latin typeface="Times New Roman"/>
                <a:cs typeface="Times New Roman"/>
              </a:rPr>
              <a:t>compatible with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 speed </a:t>
            </a:r>
            <a:r>
              <a:rPr dirty="0" sz="3200" spc="-5">
                <a:latin typeface="Times New Roman"/>
                <a:cs typeface="Times New Roman"/>
              </a:rPr>
              <a:t>and </a:t>
            </a:r>
            <a:r>
              <a:rPr dirty="0" sz="3200">
                <a:latin typeface="Times New Roman"/>
                <a:cs typeface="Times New Roman"/>
              </a:rPr>
              <a:t>efficiency that Frame </a:t>
            </a:r>
            <a:r>
              <a:rPr dirty="0" sz="3200" spc="-5">
                <a:latin typeface="Times New Roman"/>
                <a:cs typeface="Times New Roman"/>
              </a:rPr>
              <a:t>Relay </a:t>
            </a:r>
            <a:r>
              <a:rPr dirty="0" sz="3200">
                <a:latin typeface="Times New Roman"/>
                <a:cs typeface="Times New Roman"/>
              </a:rPr>
              <a:t> applications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require.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Some</a:t>
            </a:r>
            <a:r>
              <a:rPr dirty="0" sz="3200">
                <a:latin typeface="Times New Roman"/>
                <a:cs typeface="Times New Roman"/>
              </a:rPr>
              <a:t> networks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Frame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Relay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itself,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but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others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digital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744" y="3274314"/>
            <a:ext cx="60642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47800" algn="l"/>
                <a:tab pos="3426460" algn="l"/>
                <a:tab pos="4161154" algn="l"/>
                <a:tab pos="5462905" algn="l"/>
              </a:tabLst>
            </a:pPr>
            <a:r>
              <a:rPr dirty="0" sz="3200">
                <a:latin typeface="Times New Roman"/>
                <a:cs typeface="Times New Roman"/>
              </a:rPr>
              <a:t>circ</a:t>
            </a:r>
            <a:r>
              <a:rPr dirty="0" sz="3200" spc="5">
                <a:latin typeface="Times New Roman"/>
                <a:cs typeface="Times New Roman"/>
              </a:rPr>
              <a:t>u</a:t>
            </a:r>
            <a:r>
              <a:rPr dirty="0" sz="3200">
                <a:latin typeface="Times New Roman"/>
                <a:cs typeface="Times New Roman"/>
              </a:rPr>
              <a:t>it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swit</a:t>
            </a:r>
            <a:r>
              <a:rPr dirty="0" sz="3200" spc="5">
                <a:latin typeface="Times New Roman"/>
                <a:cs typeface="Times New Roman"/>
              </a:rPr>
              <a:t>c</a:t>
            </a:r>
            <a:r>
              <a:rPr dirty="0" sz="3200">
                <a:latin typeface="Times New Roman"/>
                <a:cs typeface="Times New Roman"/>
              </a:rPr>
              <a:t>hi</a:t>
            </a:r>
            <a:r>
              <a:rPr dirty="0" sz="3200" spc="-10">
                <a:latin typeface="Times New Roman"/>
                <a:cs typeface="Times New Roman"/>
              </a:rPr>
              <a:t>n</a:t>
            </a:r>
            <a:r>
              <a:rPr dirty="0" sz="3200">
                <a:latin typeface="Times New Roman"/>
                <a:cs typeface="Times New Roman"/>
              </a:rPr>
              <a:t>g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5">
                <a:latin typeface="Times New Roman"/>
                <a:cs typeface="Times New Roman"/>
              </a:rPr>
              <a:t>o</a:t>
            </a:r>
            <a:r>
              <a:rPr dirty="0" sz="3200">
                <a:latin typeface="Times New Roman"/>
                <a:cs typeface="Times New Roman"/>
              </a:rPr>
              <a:t>r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ATM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cell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744" y="3664458"/>
            <a:ext cx="572262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9270" algn="l"/>
                <a:tab pos="2787650" algn="l"/>
                <a:tab pos="4135120" algn="l"/>
                <a:tab pos="5528945" algn="l"/>
              </a:tabLst>
            </a:pPr>
            <a:r>
              <a:rPr dirty="0" sz="3200">
                <a:latin typeface="Times New Roman"/>
                <a:cs typeface="Times New Roman"/>
              </a:rPr>
              <a:t>s</a:t>
            </a:r>
            <a:r>
              <a:rPr dirty="0" sz="3200" spc="5">
                <a:latin typeface="Times New Roman"/>
                <a:cs typeface="Times New Roman"/>
              </a:rPr>
              <a:t>y</a:t>
            </a:r>
            <a:r>
              <a:rPr dirty="0" sz="3200">
                <a:latin typeface="Times New Roman"/>
                <a:cs typeface="Times New Roman"/>
              </a:rPr>
              <a:t>ste</a:t>
            </a:r>
            <a:r>
              <a:rPr dirty="0" sz="3200" spc="10">
                <a:latin typeface="Times New Roman"/>
                <a:cs typeface="Times New Roman"/>
              </a:rPr>
              <a:t>m</a:t>
            </a:r>
            <a:r>
              <a:rPr dirty="0" sz="3200" spc="-20">
                <a:latin typeface="Times New Roman"/>
                <a:cs typeface="Times New Roman"/>
              </a:rPr>
              <a:t>s</a:t>
            </a:r>
            <a:r>
              <a:rPr dirty="0" sz="3200">
                <a:latin typeface="Times New Roman"/>
                <a:cs typeface="Times New Roman"/>
              </a:rPr>
              <a:t>.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f</a:t>
            </a:r>
            <a:r>
              <a:rPr dirty="0" sz="3200" spc="-15">
                <a:latin typeface="Times New Roman"/>
                <a:cs typeface="Times New Roman"/>
              </a:rPr>
              <a:t>i</a:t>
            </a:r>
            <a:r>
              <a:rPr dirty="0" sz="3200">
                <a:latin typeface="Times New Roman"/>
                <a:cs typeface="Times New Roman"/>
              </a:rPr>
              <a:t>gure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shows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75754" y="3274314"/>
            <a:ext cx="1206500" cy="129413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algn="just" marL="12700" marR="5080" indent="367030">
              <a:lnSpc>
                <a:spcPts val="3070"/>
              </a:lnSpc>
              <a:spcBef>
                <a:spcPts val="844"/>
              </a:spcBef>
            </a:pPr>
            <a:r>
              <a:rPr dirty="0" sz="3200">
                <a:latin typeface="Times New Roman"/>
                <a:cs typeface="Times New Roman"/>
              </a:rPr>
              <a:t>relay  circ</a:t>
            </a:r>
            <a:r>
              <a:rPr dirty="0" sz="3200" spc="5">
                <a:latin typeface="Times New Roman"/>
                <a:cs typeface="Times New Roman"/>
              </a:rPr>
              <a:t>u</a:t>
            </a:r>
            <a:r>
              <a:rPr dirty="0" sz="3200">
                <a:latin typeface="Times New Roman"/>
                <a:cs typeface="Times New Roman"/>
              </a:rPr>
              <a:t>i</a:t>
            </a:r>
            <a:r>
              <a:rPr dirty="0" sz="3200" spc="-15">
                <a:latin typeface="Times New Roman"/>
                <a:cs typeface="Times New Roman"/>
              </a:rPr>
              <a:t>t</a:t>
            </a:r>
            <a:r>
              <a:rPr dirty="0" sz="3200">
                <a:latin typeface="Times New Roman"/>
                <a:cs typeface="Times New Roman"/>
              </a:rPr>
              <a:t>-  </a:t>
            </a:r>
            <a:r>
              <a:rPr dirty="0" sz="3200" spc="5">
                <a:latin typeface="Times New Roman"/>
                <a:cs typeface="Times New Roman"/>
              </a:rPr>
              <a:t>by</a:t>
            </a:r>
            <a:r>
              <a:rPr dirty="0" sz="3200" spc="46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744" y="4054297"/>
            <a:ext cx="5821045" cy="90487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 marR="5080">
              <a:lnSpc>
                <a:spcPts val="3070"/>
              </a:lnSpc>
              <a:spcBef>
                <a:spcPts val="850"/>
              </a:spcBef>
              <a:tabLst>
                <a:tab pos="1868805" algn="l"/>
                <a:tab pos="3702685" algn="l"/>
                <a:tab pos="4315460" algn="l"/>
              </a:tabLst>
            </a:pPr>
            <a:r>
              <a:rPr dirty="0" sz="3200">
                <a:latin typeface="Times New Roman"/>
                <a:cs typeface="Times New Roman"/>
              </a:rPr>
              <a:t>switc</a:t>
            </a:r>
            <a:r>
              <a:rPr dirty="0" sz="3200" spc="5">
                <a:latin typeface="Times New Roman"/>
                <a:cs typeface="Times New Roman"/>
              </a:rPr>
              <a:t>h</a:t>
            </a:r>
            <a:r>
              <a:rPr dirty="0" sz="3200" spc="-20">
                <a:latin typeface="Times New Roman"/>
                <a:cs typeface="Times New Roman"/>
              </a:rPr>
              <a:t>i</a:t>
            </a:r>
            <a:r>
              <a:rPr dirty="0" sz="3200">
                <a:latin typeface="Times New Roman"/>
                <a:cs typeface="Times New Roman"/>
              </a:rPr>
              <a:t>ng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backbone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5">
                <a:latin typeface="Times New Roman"/>
                <a:cs typeface="Times New Roman"/>
              </a:rPr>
              <a:t>a</a:t>
            </a:r>
            <a:r>
              <a:rPr dirty="0" sz="3200">
                <a:latin typeface="Times New Roman"/>
                <a:cs typeface="Times New Roman"/>
              </a:rPr>
              <a:t>s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in</a:t>
            </a:r>
            <a:r>
              <a:rPr dirty="0" sz="3200" spc="5">
                <a:latin typeface="Times New Roman"/>
                <a:cs typeface="Times New Roman"/>
              </a:rPr>
              <a:t>d</a:t>
            </a:r>
            <a:r>
              <a:rPr dirty="0" sz="3200" spc="-20">
                <a:latin typeface="Times New Roman"/>
                <a:cs typeface="Times New Roman"/>
              </a:rPr>
              <a:t>i</a:t>
            </a:r>
            <a:r>
              <a:rPr dirty="0" sz="3200">
                <a:latin typeface="Times New Roman"/>
                <a:cs typeface="Times New Roman"/>
              </a:rPr>
              <a:t>c</a:t>
            </a:r>
            <a:r>
              <a:rPr dirty="0" sz="3200" spc="5">
                <a:latin typeface="Times New Roman"/>
                <a:cs typeface="Times New Roman"/>
              </a:rPr>
              <a:t>a</a:t>
            </a:r>
            <a:r>
              <a:rPr dirty="0" sz="3200">
                <a:latin typeface="Times New Roman"/>
                <a:cs typeface="Times New Roman"/>
              </a:rPr>
              <a:t>ted  </a:t>
            </a:r>
            <a:r>
              <a:rPr dirty="0" sz="3200">
                <a:latin typeface="Times New Roman"/>
                <a:cs typeface="Times New Roman"/>
              </a:rPr>
              <a:t>Class</a:t>
            </a:r>
            <a:r>
              <a:rPr dirty="0" sz="3200" spc="-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4/5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switches.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4336" y="813562"/>
            <a:ext cx="527304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Frame</a:t>
            </a:r>
            <a:r>
              <a:rPr dirty="0" spc="-55"/>
              <a:t> </a:t>
            </a:r>
            <a:r>
              <a:rPr dirty="0"/>
              <a:t>Relay</a:t>
            </a:r>
            <a:r>
              <a:rPr dirty="0" spc="-30"/>
              <a:t> </a:t>
            </a:r>
            <a:r>
              <a:rPr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834"/>
            <a:ext cx="7616190" cy="19773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6235" algn="l"/>
              </a:tabLst>
            </a:pP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3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connection</a:t>
            </a:r>
            <a:r>
              <a:rPr dirty="0" sz="3200" spc="30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between</a:t>
            </a:r>
            <a:r>
              <a:rPr dirty="0" sz="3200" spc="3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</a:t>
            </a:r>
            <a:r>
              <a:rPr dirty="0" sz="3200" spc="31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DTE</a:t>
            </a:r>
            <a:r>
              <a:rPr dirty="0" sz="3200" spc="30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device</a:t>
            </a:r>
            <a:r>
              <a:rPr dirty="0" sz="3200" spc="3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 DCE device consists </a:t>
            </a:r>
            <a:r>
              <a:rPr dirty="0" sz="3200" spc="-5">
                <a:latin typeface="Times New Roman"/>
                <a:cs typeface="Times New Roman"/>
              </a:rPr>
              <a:t>of </a:t>
            </a:r>
            <a:r>
              <a:rPr dirty="0" sz="3200">
                <a:latin typeface="Times New Roman"/>
                <a:cs typeface="Times New Roman"/>
              </a:rPr>
              <a:t>both a Physical 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layer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component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link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layer </a:t>
            </a:r>
            <a:r>
              <a:rPr dirty="0" sz="3200">
                <a:latin typeface="Times New Roman"/>
                <a:cs typeface="Times New Roman"/>
              </a:rPr>
              <a:t> component: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495681"/>
            <a:ext cx="280289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  <a:tab pos="1433195" algn="l"/>
              </a:tabLst>
            </a:pP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physi</a:t>
            </a:r>
            <a:r>
              <a:rPr dirty="0" sz="3200" spc="5">
                <a:latin typeface="Times New Roman"/>
                <a:cs typeface="Times New Roman"/>
              </a:rPr>
              <a:t>c</a:t>
            </a:r>
            <a:r>
              <a:rPr dirty="0" sz="3200">
                <a:latin typeface="Times New Roman"/>
                <a:cs typeface="Times New Roman"/>
              </a:rPr>
              <a:t>al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5386" y="495681"/>
            <a:ext cx="183451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imes New Roman"/>
                <a:cs typeface="Times New Roman"/>
              </a:rPr>
              <a:t>co</a:t>
            </a:r>
            <a:r>
              <a:rPr dirty="0" sz="3200" spc="5">
                <a:latin typeface="Times New Roman"/>
                <a:cs typeface="Times New Roman"/>
              </a:rPr>
              <a:t>m</a:t>
            </a:r>
            <a:r>
              <a:rPr dirty="0" sz="3200">
                <a:latin typeface="Times New Roman"/>
                <a:cs typeface="Times New Roman"/>
              </a:rPr>
              <a:t>ponent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744" y="983361"/>
            <a:ext cx="402907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21890" algn="l"/>
              </a:tabLst>
            </a:pPr>
            <a:r>
              <a:rPr dirty="0" sz="3200">
                <a:latin typeface="Times New Roman"/>
                <a:cs typeface="Times New Roman"/>
              </a:rPr>
              <a:t>m</a:t>
            </a:r>
            <a:r>
              <a:rPr dirty="0" sz="3200" spc="5">
                <a:latin typeface="Times New Roman"/>
                <a:cs typeface="Times New Roman"/>
              </a:rPr>
              <a:t>e</a:t>
            </a:r>
            <a:r>
              <a:rPr dirty="0" sz="3200">
                <a:latin typeface="Times New Roman"/>
                <a:cs typeface="Times New Roman"/>
              </a:rPr>
              <a:t>chanical,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electric</a:t>
            </a:r>
            <a:r>
              <a:rPr dirty="0" sz="3200" spc="5">
                <a:latin typeface="Times New Roman"/>
                <a:cs typeface="Times New Roman"/>
              </a:rPr>
              <a:t>a</a:t>
            </a:r>
            <a:r>
              <a:rPr dirty="0" sz="3200">
                <a:latin typeface="Times New Roman"/>
                <a:cs typeface="Times New Roman"/>
              </a:rPr>
              <a:t>l,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62980" y="983361"/>
            <a:ext cx="17760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imes New Roman"/>
                <a:cs typeface="Times New Roman"/>
              </a:rPr>
              <a:t>function</a:t>
            </a:r>
            <a:r>
              <a:rPr dirty="0" sz="3200" spc="5">
                <a:latin typeface="Times New Roman"/>
                <a:cs typeface="Times New Roman"/>
              </a:rPr>
              <a:t>a</a:t>
            </a:r>
            <a:r>
              <a:rPr dirty="0" sz="3200" spc="-20">
                <a:latin typeface="Times New Roman"/>
                <a:cs typeface="Times New Roman"/>
              </a:rPr>
              <a:t>l</a:t>
            </a:r>
            <a:r>
              <a:rPr dirty="0" sz="3200"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8113" y="495681"/>
            <a:ext cx="2142490" cy="100139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L="1541145" marR="5080" indent="-1529080">
              <a:lnSpc>
                <a:spcPct val="100000"/>
              </a:lnSpc>
              <a:spcBef>
                <a:spcPts val="105"/>
              </a:spcBef>
              <a:tabLst>
                <a:tab pos="1632585" algn="l"/>
              </a:tabLst>
            </a:pPr>
            <a:r>
              <a:rPr dirty="0" sz="3200">
                <a:latin typeface="Times New Roman"/>
                <a:cs typeface="Times New Roman"/>
              </a:rPr>
              <a:t>defines</a:t>
            </a:r>
            <a:r>
              <a:rPr dirty="0" sz="3200">
                <a:latin typeface="Times New Roman"/>
                <a:cs typeface="Times New Roman"/>
              </a:rPr>
              <a:t>		</a:t>
            </a:r>
            <a:r>
              <a:rPr dirty="0" sz="3200" spc="-20">
                <a:latin typeface="Times New Roman"/>
                <a:cs typeface="Times New Roman"/>
              </a:rPr>
              <a:t>t</a:t>
            </a:r>
            <a:r>
              <a:rPr dirty="0" sz="3200">
                <a:latin typeface="Times New Roman"/>
                <a:cs typeface="Times New Roman"/>
              </a:rPr>
              <a:t>he  and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7744" y="1471421"/>
            <a:ext cx="727329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imes New Roman"/>
                <a:cs typeface="Times New Roman"/>
              </a:rPr>
              <a:t>procedural</a:t>
            </a:r>
            <a:r>
              <a:rPr dirty="0" sz="3200" spc="19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specifications</a:t>
            </a:r>
            <a:r>
              <a:rPr dirty="0" sz="3200" spc="1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for</a:t>
            </a:r>
            <a:r>
              <a:rPr dirty="0" sz="3200" spc="19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2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connection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7744" y="1959101"/>
            <a:ext cx="476567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64970" algn="l"/>
                <a:tab pos="2455545" algn="l"/>
                <a:tab pos="4074160" algn="l"/>
              </a:tabLst>
            </a:pPr>
            <a:r>
              <a:rPr dirty="0" sz="3200">
                <a:latin typeface="Times New Roman"/>
                <a:cs typeface="Times New Roman"/>
              </a:rPr>
              <a:t>b</a:t>
            </a:r>
            <a:r>
              <a:rPr dirty="0" sz="3200" spc="10">
                <a:latin typeface="Times New Roman"/>
                <a:cs typeface="Times New Roman"/>
              </a:rPr>
              <a:t>e</a:t>
            </a:r>
            <a:r>
              <a:rPr dirty="0" sz="3200">
                <a:latin typeface="Times New Roman"/>
                <a:cs typeface="Times New Roman"/>
              </a:rPr>
              <a:t>tween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5">
                <a:latin typeface="Times New Roman"/>
                <a:cs typeface="Times New Roman"/>
              </a:rPr>
              <a:t>th</a:t>
            </a:r>
            <a:r>
              <a:rPr dirty="0" sz="3200">
                <a:latin typeface="Times New Roman"/>
                <a:cs typeface="Times New Roman"/>
              </a:rPr>
              <a:t>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de</a:t>
            </a:r>
            <a:r>
              <a:rPr dirty="0" sz="3200" spc="5">
                <a:latin typeface="Times New Roman"/>
                <a:cs typeface="Times New Roman"/>
              </a:rPr>
              <a:t>v</a:t>
            </a:r>
            <a:r>
              <a:rPr dirty="0" sz="3200">
                <a:latin typeface="Times New Roman"/>
                <a:cs typeface="Times New Roman"/>
              </a:rPr>
              <a:t>ic</a:t>
            </a:r>
            <a:r>
              <a:rPr dirty="0" sz="3200" spc="5">
                <a:latin typeface="Times New Roman"/>
                <a:cs typeface="Times New Roman"/>
              </a:rPr>
              <a:t>e</a:t>
            </a:r>
            <a:r>
              <a:rPr dirty="0" sz="3200" spc="-5">
                <a:latin typeface="Times New Roman"/>
                <a:cs typeface="Times New Roman"/>
              </a:rPr>
              <a:t>s</a:t>
            </a:r>
            <a:r>
              <a:rPr dirty="0" sz="3200">
                <a:latin typeface="Times New Roman"/>
                <a:cs typeface="Times New Roman"/>
              </a:rPr>
              <a:t>.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One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42101" y="1959101"/>
            <a:ext cx="224091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5160" algn="l"/>
                <a:tab pos="1436370" algn="l"/>
              </a:tabLst>
            </a:pPr>
            <a:r>
              <a:rPr dirty="0" sz="3200" spc="-5">
                <a:latin typeface="Times New Roman"/>
                <a:cs typeface="Times New Roman"/>
              </a:rPr>
              <a:t>o</a:t>
            </a:r>
            <a:r>
              <a:rPr dirty="0" sz="3200">
                <a:latin typeface="Times New Roman"/>
                <a:cs typeface="Times New Roman"/>
              </a:rPr>
              <a:t>f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t</a:t>
            </a:r>
            <a:r>
              <a:rPr dirty="0" sz="3200">
                <a:latin typeface="Times New Roman"/>
                <a:cs typeface="Times New Roman"/>
              </a:rPr>
              <a:t>he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most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540" y="2446782"/>
            <a:ext cx="7615555" cy="15868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>
              <a:lnSpc>
                <a:spcPct val="100000"/>
              </a:lnSpc>
              <a:spcBef>
                <a:spcPts val="105"/>
              </a:spcBef>
              <a:tabLst>
                <a:tab pos="2381250" algn="l"/>
                <a:tab pos="3413125" algn="l"/>
                <a:tab pos="5078730" algn="l"/>
                <a:tab pos="6179820" algn="l"/>
              </a:tabLst>
            </a:pPr>
            <a:r>
              <a:rPr dirty="0" sz="3200">
                <a:latin typeface="Times New Roman"/>
                <a:cs typeface="Times New Roman"/>
              </a:rPr>
              <a:t>co</a:t>
            </a:r>
            <a:r>
              <a:rPr dirty="0" sz="3200" spc="5">
                <a:latin typeface="Times New Roman"/>
                <a:cs typeface="Times New Roman"/>
              </a:rPr>
              <a:t>m</a:t>
            </a:r>
            <a:r>
              <a:rPr dirty="0" sz="3200">
                <a:latin typeface="Times New Roman"/>
                <a:cs typeface="Times New Roman"/>
              </a:rPr>
              <a:t>m</a:t>
            </a:r>
            <a:r>
              <a:rPr dirty="0" sz="3200" spc="-10">
                <a:latin typeface="Times New Roman"/>
                <a:cs typeface="Times New Roman"/>
              </a:rPr>
              <a:t>o</a:t>
            </a:r>
            <a:r>
              <a:rPr dirty="0" sz="3200">
                <a:latin typeface="Times New Roman"/>
                <a:cs typeface="Times New Roman"/>
              </a:rPr>
              <a:t>nly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u</a:t>
            </a:r>
            <a:r>
              <a:rPr dirty="0" sz="3200" spc="5">
                <a:latin typeface="Times New Roman"/>
                <a:cs typeface="Times New Roman"/>
              </a:rPr>
              <a:t>s</a:t>
            </a:r>
            <a:r>
              <a:rPr dirty="0" sz="3200">
                <a:latin typeface="Times New Roman"/>
                <a:cs typeface="Times New Roman"/>
              </a:rPr>
              <a:t>ed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Ph</a:t>
            </a:r>
            <a:r>
              <a:rPr dirty="0" sz="3200" spc="5">
                <a:latin typeface="Times New Roman"/>
                <a:cs typeface="Times New Roman"/>
              </a:rPr>
              <a:t>y</a:t>
            </a:r>
            <a:r>
              <a:rPr dirty="0" sz="3200">
                <a:latin typeface="Times New Roman"/>
                <a:cs typeface="Times New Roman"/>
              </a:rPr>
              <a:t>s</a:t>
            </a:r>
            <a:r>
              <a:rPr dirty="0" sz="3200" spc="-10">
                <a:latin typeface="Times New Roman"/>
                <a:cs typeface="Times New Roman"/>
              </a:rPr>
              <a:t>i</a:t>
            </a:r>
            <a:r>
              <a:rPr dirty="0" sz="3200">
                <a:latin typeface="Times New Roman"/>
                <a:cs typeface="Times New Roman"/>
              </a:rPr>
              <a:t>c</a:t>
            </a:r>
            <a:r>
              <a:rPr dirty="0" sz="3200" spc="10">
                <a:latin typeface="Times New Roman"/>
                <a:cs typeface="Times New Roman"/>
              </a:rPr>
              <a:t>a</a:t>
            </a:r>
            <a:r>
              <a:rPr dirty="0" sz="3200">
                <a:latin typeface="Times New Roman"/>
                <a:cs typeface="Times New Roman"/>
              </a:rPr>
              <a:t>l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layer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i</a:t>
            </a:r>
            <a:r>
              <a:rPr dirty="0" sz="3200">
                <a:latin typeface="Times New Roman"/>
                <a:cs typeface="Times New Roman"/>
              </a:rPr>
              <a:t>nt</a:t>
            </a:r>
            <a:r>
              <a:rPr dirty="0" sz="3200" spc="5">
                <a:latin typeface="Times New Roman"/>
                <a:cs typeface="Times New Roman"/>
              </a:rPr>
              <a:t>e</a:t>
            </a:r>
            <a:r>
              <a:rPr dirty="0" sz="3200">
                <a:latin typeface="Times New Roman"/>
                <a:cs typeface="Times New Roman"/>
              </a:rPr>
              <a:t>rface  </a:t>
            </a:r>
            <a:r>
              <a:rPr dirty="0" sz="3200">
                <a:latin typeface="Times New Roman"/>
                <a:cs typeface="Times New Roman"/>
              </a:rPr>
              <a:t>specifications</a:t>
            </a:r>
            <a:r>
              <a:rPr dirty="0" sz="3200" spc="-5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 RS-232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specification.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3200">
                <a:latin typeface="Times New Roman"/>
                <a:cs typeface="Times New Roman"/>
              </a:rPr>
              <a:t>•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7099" y="3720867"/>
            <a:ext cx="2243464" cy="266106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4575" y="534979"/>
            <a:ext cx="4961924" cy="588712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2000834"/>
            <a:ext cx="19716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  <a:tab pos="1326515" algn="l"/>
              </a:tabLst>
            </a:pP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li</a:t>
            </a:r>
            <a:r>
              <a:rPr dirty="0" sz="3200" spc="-15">
                <a:latin typeface="Times New Roman"/>
                <a:cs typeface="Times New Roman"/>
              </a:rPr>
              <a:t>n</a:t>
            </a:r>
            <a:r>
              <a:rPr dirty="0" sz="3200">
                <a:latin typeface="Times New Roman"/>
                <a:cs typeface="Times New Roman"/>
              </a:rPr>
              <a:t>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9651" y="2000834"/>
            <a:ext cx="53314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62685" algn="l"/>
                <a:tab pos="3308985" algn="l"/>
                <a:tab pos="4822825" algn="l"/>
              </a:tabLst>
            </a:pPr>
            <a:r>
              <a:rPr dirty="0" sz="3200">
                <a:latin typeface="Times New Roman"/>
                <a:cs typeface="Times New Roman"/>
              </a:rPr>
              <a:t>layer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component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>
                <a:latin typeface="Times New Roman"/>
                <a:cs typeface="Times New Roman"/>
              </a:rPr>
              <a:t>def</a:t>
            </a:r>
            <a:r>
              <a:rPr dirty="0" sz="3200" spc="-10">
                <a:latin typeface="Times New Roman"/>
                <a:cs typeface="Times New Roman"/>
              </a:rPr>
              <a:t>i</a:t>
            </a:r>
            <a:r>
              <a:rPr dirty="0" sz="3200">
                <a:latin typeface="Times New Roman"/>
                <a:cs typeface="Times New Roman"/>
              </a:rPr>
              <a:t>n</a:t>
            </a:r>
            <a:r>
              <a:rPr dirty="0" sz="3200" spc="5">
                <a:latin typeface="Times New Roman"/>
                <a:cs typeface="Times New Roman"/>
              </a:rPr>
              <a:t>e</a:t>
            </a:r>
            <a:r>
              <a:rPr dirty="0" sz="3200">
                <a:latin typeface="Times New Roman"/>
                <a:cs typeface="Times New Roman"/>
              </a:rPr>
              <a:t>s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 spc="-20">
                <a:latin typeface="Times New Roman"/>
                <a:cs typeface="Times New Roman"/>
              </a:rPr>
              <a:t>t</a:t>
            </a:r>
            <a:r>
              <a:rPr dirty="0" sz="3200">
                <a:latin typeface="Times New Roman"/>
                <a:cs typeface="Times New Roman"/>
              </a:rPr>
              <a:t>he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744" y="2488819"/>
            <a:ext cx="7275195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Times New Roman"/>
                <a:cs typeface="Times New Roman"/>
              </a:rPr>
              <a:t>protocol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that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establishes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connection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between the DTE device, such as a </a:t>
            </a:r>
            <a:r>
              <a:rPr dirty="0" sz="3200" spc="-5">
                <a:latin typeface="Times New Roman"/>
                <a:cs typeface="Times New Roman"/>
              </a:rPr>
              <a:t>router, 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5">
                <a:latin typeface="Times New Roman"/>
                <a:cs typeface="Times New Roman"/>
              </a:rPr>
              <a:t>and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-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DCE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device,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such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as a</a:t>
            </a:r>
            <a:r>
              <a:rPr dirty="0" sz="3200" spc="-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switch.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386029"/>
            <a:ext cx="7618730" cy="577278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algn="just" marL="355600" marR="5080" indent="-343535">
              <a:lnSpc>
                <a:spcPct val="90000"/>
              </a:lnSpc>
              <a:spcBef>
                <a:spcPts val="415"/>
              </a:spcBef>
              <a:buClr>
                <a:srgbClr val="000000"/>
              </a:buClr>
              <a:buFont typeface="Times New Roman"/>
              <a:buChar char="•"/>
              <a:tabLst>
                <a:tab pos="356235" algn="l"/>
              </a:tabLst>
            </a:pPr>
            <a:r>
              <a:rPr dirty="0" u="heavy" sz="2600" b="1">
                <a:solidFill>
                  <a:srgbClr val="CCCCFF"/>
                </a:solidFill>
                <a:uFill>
                  <a:solidFill>
                    <a:srgbClr val="CCCCFF"/>
                  </a:solidFill>
                </a:uFill>
                <a:latin typeface="Times New Roman"/>
                <a:cs typeface="Times New Roman"/>
              </a:rPr>
              <a:t>When </a:t>
            </a:r>
            <a:r>
              <a:rPr dirty="0" sz="2600" spc="-5">
                <a:latin typeface="Times New Roman"/>
                <a:cs typeface="Times New Roman"/>
              </a:rPr>
              <a:t>carriers </a:t>
            </a:r>
            <a:r>
              <a:rPr dirty="0" sz="2600">
                <a:latin typeface="Times New Roman"/>
                <a:cs typeface="Times New Roman"/>
              </a:rPr>
              <a:t>use </a:t>
            </a:r>
            <a:r>
              <a:rPr dirty="0" sz="2600" spc="-5">
                <a:latin typeface="Times New Roman"/>
                <a:cs typeface="Times New Roman"/>
              </a:rPr>
              <a:t>Frame </a:t>
            </a:r>
            <a:r>
              <a:rPr dirty="0" sz="2600">
                <a:latin typeface="Times New Roman"/>
                <a:cs typeface="Times New Roman"/>
              </a:rPr>
              <a:t>Relay to </a:t>
            </a:r>
            <a:r>
              <a:rPr dirty="0" sz="2600" spc="-5">
                <a:latin typeface="Times New Roman"/>
                <a:cs typeface="Times New Roman"/>
              </a:rPr>
              <a:t>interconnect </a:t>
            </a:r>
            <a:r>
              <a:rPr dirty="0" sz="2600">
                <a:latin typeface="Times New Roman"/>
                <a:cs typeface="Times New Roman"/>
              </a:rPr>
              <a:t>LANs, </a:t>
            </a:r>
            <a:r>
              <a:rPr dirty="0" sz="2600" spc="-6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 router </a:t>
            </a:r>
            <a:r>
              <a:rPr dirty="0" sz="2600" spc="-5">
                <a:latin typeface="Times New Roman"/>
                <a:cs typeface="Times New Roman"/>
              </a:rPr>
              <a:t>on each </a:t>
            </a:r>
            <a:r>
              <a:rPr dirty="0" sz="2600">
                <a:latin typeface="Times New Roman"/>
                <a:cs typeface="Times New Roman"/>
              </a:rPr>
              <a:t>LAN </a:t>
            </a:r>
            <a:r>
              <a:rPr dirty="0" sz="2600" spc="-10">
                <a:latin typeface="Times New Roman"/>
                <a:cs typeface="Times New Roman"/>
              </a:rPr>
              <a:t>is </a:t>
            </a:r>
            <a:r>
              <a:rPr dirty="0" sz="2600">
                <a:latin typeface="Times New Roman"/>
                <a:cs typeface="Times New Roman"/>
              </a:rPr>
              <a:t>the DTE. A </a:t>
            </a:r>
            <a:r>
              <a:rPr dirty="0" sz="2600" spc="-5">
                <a:latin typeface="Times New Roman"/>
                <a:cs typeface="Times New Roman"/>
              </a:rPr>
              <a:t>serial </a:t>
            </a:r>
            <a:r>
              <a:rPr dirty="0" sz="2600">
                <a:latin typeface="Times New Roman"/>
                <a:cs typeface="Times New Roman"/>
              </a:rPr>
              <a:t>connection, </a:t>
            </a:r>
            <a:r>
              <a:rPr dirty="0" sz="2600" spc="-6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such </a:t>
            </a:r>
            <a:r>
              <a:rPr dirty="0" sz="2600" spc="-5">
                <a:latin typeface="Times New Roman"/>
                <a:cs typeface="Times New Roman"/>
              </a:rPr>
              <a:t>as </a:t>
            </a:r>
            <a:r>
              <a:rPr dirty="0" sz="2600">
                <a:latin typeface="Times New Roman"/>
                <a:cs typeface="Times New Roman"/>
              </a:rPr>
              <a:t>a </a:t>
            </a:r>
            <a:r>
              <a:rPr dirty="0" sz="2600" spc="-5">
                <a:latin typeface="Times New Roman"/>
                <a:cs typeface="Times New Roman"/>
              </a:rPr>
              <a:t>T1/E1 leased </a:t>
            </a:r>
            <a:r>
              <a:rPr dirty="0" sz="2600">
                <a:latin typeface="Times New Roman"/>
                <a:cs typeface="Times New Roman"/>
              </a:rPr>
              <a:t>line, connects the </a:t>
            </a:r>
            <a:r>
              <a:rPr dirty="0" sz="2600" spc="-5">
                <a:latin typeface="Times New Roman"/>
                <a:cs typeface="Times New Roman"/>
              </a:rPr>
              <a:t>router to the </a:t>
            </a:r>
            <a:r>
              <a:rPr dirty="0" sz="2600">
                <a:latin typeface="Times New Roman"/>
                <a:cs typeface="Times New Roman"/>
              </a:rPr>
              <a:t> Frame Relay switch of the </a:t>
            </a:r>
            <a:r>
              <a:rPr dirty="0" sz="2600" spc="-5">
                <a:latin typeface="Times New Roman"/>
                <a:cs typeface="Times New Roman"/>
              </a:rPr>
              <a:t>carrier at </a:t>
            </a:r>
            <a:r>
              <a:rPr dirty="0" sz="2600">
                <a:latin typeface="Times New Roman"/>
                <a:cs typeface="Times New Roman"/>
              </a:rPr>
              <a:t>the </a:t>
            </a:r>
            <a:r>
              <a:rPr dirty="0" sz="2600" spc="-5">
                <a:latin typeface="Times New Roman"/>
                <a:cs typeface="Times New Roman"/>
              </a:rPr>
              <a:t>nearest </a:t>
            </a:r>
            <a:r>
              <a:rPr dirty="0" sz="2600">
                <a:latin typeface="Times New Roman"/>
                <a:cs typeface="Times New Roman"/>
              </a:rPr>
              <a:t>point- 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of-presence </a:t>
            </a:r>
            <a:r>
              <a:rPr dirty="0" sz="2600">
                <a:latin typeface="Times New Roman"/>
                <a:cs typeface="Times New Roman"/>
              </a:rPr>
              <a:t>(POP) for the </a:t>
            </a:r>
            <a:r>
              <a:rPr dirty="0" sz="2600" spc="-5">
                <a:latin typeface="Times New Roman"/>
                <a:cs typeface="Times New Roman"/>
              </a:rPr>
              <a:t>carrier. </a:t>
            </a:r>
            <a:r>
              <a:rPr dirty="0" sz="2600" spc="5">
                <a:latin typeface="Times New Roman"/>
                <a:cs typeface="Times New Roman"/>
              </a:rPr>
              <a:t>The </a:t>
            </a:r>
            <a:r>
              <a:rPr dirty="0" sz="2600" spc="-5">
                <a:latin typeface="Times New Roman"/>
                <a:cs typeface="Times New Roman"/>
              </a:rPr>
              <a:t>Frame </a:t>
            </a:r>
            <a:r>
              <a:rPr dirty="0" sz="2600">
                <a:latin typeface="Times New Roman"/>
                <a:cs typeface="Times New Roman"/>
              </a:rPr>
              <a:t>Relay 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switch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is</a:t>
            </a:r>
            <a:r>
              <a:rPr dirty="0" sz="2600">
                <a:latin typeface="Times New Roman"/>
                <a:cs typeface="Times New Roman"/>
              </a:rPr>
              <a:t> a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DCE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device.</a:t>
            </a:r>
            <a:r>
              <a:rPr dirty="0" sz="2600">
                <a:latin typeface="Times New Roman"/>
                <a:cs typeface="Times New Roman"/>
              </a:rPr>
              <a:t> Network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switches</a:t>
            </a:r>
            <a:r>
              <a:rPr dirty="0" sz="2600">
                <a:latin typeface="Times New Roman"/>
                <a:cs typeface="Times New Roman"/>
              </a:rPr>
              <a:t> move 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frames </a:t>
            </a:r>
            <a:r>
              <a:rPr dirty="0" sz="2600">
                <a:latin typeface="Times New Roman"/>
                <a:cs typeface="Times New Roman"/>
              </a:rPr>
              <a:t>from </a:t>
            </a:r>
            <a:r>
              <a:rPr dirty="0" sz="2600" spc="5">
                <a:latin typeface="Times New Roman"/>
                <a:cs typeface="Times New Roman"/>
              </a:rPr>
              <a:t>one </a:t>
            </a:r>
            <a:r>
              <a:rPr dirty="0" sz="2600">
                <a:latin typeface="Times New Roman"/>
                <a:cs typeface="Times New Roman"/>
              </a:rPr>
              <a:t>DTE </a:t>
            </a:r>
            <a:r>
              <a:rPr dirty="0" sz="2600" spc="-5">
                <a:latin typeface="Times New Roman"/>
                <a:cs typeface="Times New Roman"/>
              </a:rPr>
              <a:t>across the network </a:t>
            </a:r>
            <a:r>
              <a:rPr dirty="0" sz="2600">
                <a:latin typeface="Times New Roman"/>
                <a:cs typeface="Times New Roman"/>
              </a:rPr>
              <a:t>and </a:t>
            </a:r>
            <a:r>
              <a:rPr dirty="0" sz="2600" spc="-5">
                <a:latin typeface="Times New Roman"/>
                <a:cs typeface="Times New Roman"/>
              </a:rPr>
              <a:t>deliver 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frames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to</a:t>
            </a:r>
            <a:r>
              <a:rPr dirty="0" sz="2600">
                <a:latin typeface="Times New Roman"/>
                <a:cs typeface="Times New Roman"/>
              </a:rPr>
              <a:t> other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DTEs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by</a:t>
            </a:r>
            <a:r>
              <a:rPr dirty="0" sz="2600">
                <a:latin typeface="Times New Roman"/>
                <a:cs typeface="Times New Roman"/>
              </a:rPr>
              <a:t> way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of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DCEs.</a:t>
            </a:r>
            <a:r>
              <a:rPr dirty="0" sz="2600" spc="65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 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computing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equipment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uses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Frame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Relay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access </a:t>
            </a:r>
            <a:r>
              <a:rPr dirty="0" sz="2600">
                <a:latin typeface="Times New Roman"/>
                <a:cs typeface="Times New Roman"/>
              </a:rPr>
              <a:t> device (FRAD) </a:t>
            </a:r>
            <a:r>
              <a:rPr dirty="0" sz="2600" spc="-5">
                <a:latin typeface="Times New Roman"/>
                <a:cs typeface="Times New Roman"/>
              </a:rPr>
              <a:t>as </a:t>
            </a:r>
            <a:r>
              <a:rPr dirty="0" sz="2600">
                <a:latin typeface="Times New Roman"/>
                <a:cs typeface="Times New Roman"/>
              </a:rPr>
              <a:t>the DTE. The FRAD </a:t>
            </a:r>
            <a:r>
              <a:rPr dirty="0" sz="2600" spc="-5">
                <a:latin typeface="Times New Roman"/>
                <a:cs typeface="Times New Roman"/>
              </a:rPr>
              <a:t>is </a:t>
            </a:r>
            <a:r>
              <a:rPr dirty="0" sz="2600">
                <a:latin typeface="Times New Roman"/>
                <a:cs typeface="Times New Roman"/>
              </a:rPr>
              <a:t>sometimes 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referred to as </a:t>
            </a:r>
            <a:r>
              <a:rPr dirty="0" sz="2600">
                <a:latin typeface="Times New Roman"/>
                <a:cs typeface="Times New Roman"/>
              </a:rPr>
              <a:t>a Frame Relay </a:t>
            </a:r>
            <a:r>
              <a:rPr dirty="0" sz="2600" spc="-5">
                <a:latin typeface="Times New Roman"/>
                <a:cs typeface="Times New Roman"/>
              </a:rPr>
              <a:t>assembler/dissembler </a:t>
            </a:r>
            <a:r>
              <a:rPr dirty="0" sz="2600">
                <a:latin typeface="Times New Roman"/>
                <a:cs typeface="Times New Roman"/>
              </a:rPr>
              <a:t>and </a:t>
            </a:r>
            <a:r>
              <a:rPr dirty="0" sz="2600" spc="-63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is</a:t>
            </a:r>
            <a:r>
              <a:rPr dirty="0" sz="2600">
                <a:latin typeface="Times New Roman"/>
                <a:cs typeface="Times New Roman"/>
              </a:rPr>
              <a:t> a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dedicated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appliance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or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router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configured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to </a:t>
            </a:r>
            <a:r>
              <a:rPr dirty="0" sz="2600">
                <a:latin typeface="Times New Roman"/>
                <a:cs typeface="Times New Roman"/>
              </a:rPr>
              <a:t> support </a:t>
            </a:r>
            <a:r>
              <a:rPr dirty="0" sz="2600" spc="-5">
                <a:latin typeface="Times New Roman"/>
                <a:cs typeface="Times New Roman"/>
              </a:rPr>
              <a:t>Frame </a:t>
            </a:r>
            <a:r>
              <a:rPr dirty="0" sz="2600">
                <a:latin typeface="Times New Roman"/>
                <a:cs typeface="Times New Roman"/>
              </a:rPr>
              <a:t>Relay. </a:t>
            </a:r>
            <a:r>
              <a:rPr dirty="0" sz="2600" spc="-5">
                <a:latin typeface="Times New Roman"/>
                <a:cs typeface="Times New Roman"/>
              </a:rPr>
              <a:t>It is </a:t>
            </a:r>
            <a:r>
              <a:rPr dirty="0" sz="2600">
                <a:latin typeface="Times New Roman"/>
                <a:cs typeface="Times New Roman"/>
              </a:rPr>
              <a:t>located on the </a:t>
            </a:r>
            <a:r>
              <a:rPr dirty="0" sz="2600" spc="-5">
                <a:latin typeface="Times New Roman"/>
                <a:cs typeface="Times New Roman"/>
              </a:rPr>
              <a:t>customer's 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premises </a:t>
            </a:r>
            <a:r>
              <a:rPr dirty="0" sz="2600" spc="5">
                <a:latin typeface="Times New Roman"/>
                <a:cs typeface="Times New Roman"/>
              </a:rPr>
              <a:t>and </a:t>
            </a:r>
            <a:r>
              <a:rPr dirty="0" sz="2600" spc="-5">
                <a:latin typeface="Times New Roman"/>
                <a:cs typeface="Times New Roman"/>
              </a:rPr>
              <a:t>connects to </a:t>
            </a:r>
            <a:r>
              <a:rPr dirty="0" sz="2600">
                <a:latin typeface="Times New Roman"/>
                <a:cs typeface="Times New Roman"/>
              </a:rPr>
              <a:t>a switch port on </a:t>
            </a:r>
            <a:r>
              <a:rPr dirty="0" sz="2600" spc="-5">
                <a:latin typeface="Times New Roman"/>
                <a:cs typeface="Times New Roman"/>
              </a:rPr>
              <a:t>the </a:t>
            </a:r>
            <a:r>
              <a:rPr dirty="0" sz="2600">
                <a:latin typeface="Times New Roman"/>
                <a:cs typeface="Times New Roman"/>
              </a:rPr>
              <a:t>service 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provider's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network.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In</a:t>
            </a:r>
            <a:r>
              <a:rPr dirty="0" sz="2600" spc="-5">
                <a:latin typeface="Times New Roman"/>
                <a:cs typeface="Times New Roman"/>
              </a:rPr>
              <a:t> turn,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the</a:t>
            </a:r>
            <a:r>
              <a:rPr dirty="0" sz="2600">
                <a:latin typeface="Times New Roman"/>
                <a:cs typeface="Times New Roman"/>
              </a:rPr>
              <a:t> service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provider 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interconnects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the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Frame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Relay</a:t>
            </a:r>
            <a:r>
              <a:rPr dirty="0" sz="2600" spc="-5">
                <a:latin typeface="Times New Roman"/>
                <a:cs typeface="Times New Roman"/>
              </a:rPr>
              <a:t> switches.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IT</dc:creator>
  <dc:title>عرض تقديمي من PowerPoint</dc:title>
  <dcterms:created xsi:type="dcterms:W3CDTF">2023-11-21T14:34:31Z</dcterms:created>
  <dcterms:modified xsi:type="dcterms:W3CDTF">2023-11-21T14:34:31Z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2016-01-29T00:00:00Z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2023-11-21T00:00:00Z</vt:filetime>
  </property>
</Properties>
</file>