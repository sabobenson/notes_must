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6708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6708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39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07492" y="4715255"/>
            <a:ext cx="341630" cy="181610"/>
          </a:xfrm>
          <a:custGeom>
            <a:avLst/>
            <a:gdLst/>
            <a:ahLst/>
            <a:cxnLst/>
            <a:rect l="l" t="t" r="r" b="b"/>
            <a:pathLst>
              <a:path w="341630" h="181610">
                <a:moveTo>
                  <a:pt x="15240" y="51460"/>
                </a:moveTo>
                <a:lnTo>
                  <a:pt x="11658" y="48768"/>
                </a:lnTo>
                <a:lnTo>
                  <a:pt x="3581" y="48768"/>
                </a:lnTo>
                <a:lnTo>
                  <a:pt x="0" y="51460"/>
                </a:lnTo>
                <a:lnTo>
                  <a:pt x="0" y="75666"/>
                </a:lnTo>
                <a:lnTo>
                  <a:pt x="3581" y="79248"/>
                </a:lnTo>
                <a:lnTo>
                  <a:pt x="11658" y="79248"/>
                </a:lnTo>
                <a:lnTo>
                  <a:pt x="15240" y="75666"/>
                </a:lnTo>
                <a:lnTo>
                  <a:pt x="15240" y="55943"/>
                </a:lnTo>
                <a:lnTo>
                  <a:pt x="15240" y="51460"/>
                </a:lnTo>
                <a:close/>
              </a:path>
              <a:path w="341630" h="181610">
                <a:moveTo>
                  <a:pt x="56388" y="31597"/>
                </a:moveTo>
                <a:lnTo>
                  <a:pt x="52806" y="28956"/>
                </a:lnTo>
                <a:lnTo>
                  <a:pt x="44729" y="28956"/>
                </a:lnTo>
                <a:lnTo>
                  <a:pt x="41148" y="31597"/>
                </a:lnTo>
                <a:lnTo>
                  <a:pt x="41148" y="75717"/>
                </a:lnTo>
                <a:lnTo>
                  <a:pt x="44729" y="79248"/>
                </a:lnTo>
                <a:lnTo>
                  <a:pt x="52806" y="79248"/>
                </a:lnTo>
                <a:lnTo>
                  <a:pt x="56388" y="75717"/>
                </a:lnTo>
                <a:lnTo>
                  <a:pt x="56388" y="36017"/>
                </a:lnTo>
                <a:lnTo>
                  <a:pt x="56388" y="31597"/>
                </a:lnTo>
                <a:close/>
              </a:path>
              <a:path w="341630" h="181610">
                <a:moveTo>
                  <a:pt x="76200" y="120688"/>
                </a:moveTo>
                <a:lnTo>
                  <a:pt x="74409" y="120688"/>
                </a:lnTo>
                <a:lnTo>
                  <a:pt x="69024" y="118872"/>
                </a:lnTo>
                <a:lnTo>
                  <a:pt x="61861" y="118872"/>
                </a:lnTo>
                <a:lnTo>
                  <a:pt x="49390" y="121145"/>
                </a:lnTo>
                <a:lnTo>
                  <a:pt x="39433" y="127482"/>
                </a:lnTo>
                <a:lnTo>
                  <a:pt x="32854" y="137210"/>
                </a:lnTo>
                <a:lnTo>
                  <a:pt x="30480" y="149656"/>
                </a:lnTo>
                <a:lnTo>
                  <a:pt x="32981" y="163017"/>
                </a:lnTo>
                <a:lnTo>
                  <a:pt x="39776" y="172986"/>
                </a:lnTo>
                <a:lnTo>
                  <a:pt x="49758" y="179209"/>
                </a:lnTo>
                <a:lnTo>
                  <a:pt x="61861" y="181356"/>
                </a:lnTo>
                <a:lnTo>
                  <a:pt x="69024" y="181356"/>
                </a:lnTo>
                <a:lnTo>
                  <a:pt x="74409" y="179539"/>
                </a:lnTo>
                <a:lnTo>
                  <a:pt x="76200" y="179539"/>
                </a:lnTo>
                <a:lnTo>
                  <a:pt x="76200" y="165963"/>
                </a:lnTo>
                <a:lnTo>
                  <a:pt x="76200" y="163245"/>
                </a:lnTo>
                <a:lnTo>
                  <a:pt x="75298" y="163245"/>
                </a:lnTo>
                <a:lnTo>
                  <a:pt x="69926" y="165963"/>
                </a:lnTo>
                <a:lnTo>
                  <a:pt x="52895" y="165963"/>
                </a:lnTo>
                <a:lnTo>
                  <a:pt x="46621" y="158711"/>
                </a:lnTo>
                <a:lnTo>
                  <a:pt x="46621" y="140601"/>
                </a:lnTo>
                <a:lnTo>
                  <a:pt x="52895" y="133362"/>
                </a:lnTo>
                <a:lnTo>
                  <a:pt x="70815" y="133362"/>
                </a:lnTo>
                <a:lnTo>
                  <a:pt x="75298" y="136982"/>
                </a:lnTo>
                <a:lnTo>
                  <a:pt x="76200" y="136982"/>
                </a:lnTo>
                <a:lnTo>
                  <a:pt x="76200" y="133362"/>
                </a:lnTo>
                <a:lnTo>
                  <a:pt x="76200" y="120688"/>
                </a:lnTo>
                <a:close/>
              </a:path>
              <a:path w="341630" h="181610">
                <a:moveTo>
                  <a:pt x="97536" y="3568"/>
                </a:moveTo>
                <a:lnTo>
                  <a:pt x="93954" y="0"/>
                </a:lnTo>
                <a:lnTo>
                  <a:pt x="85877" y="0"/>
                </a:lnTo>
                <a:lnTo>
                  <a:pt x="82296" y="3568"/>
                </a:lnTo>
                <a:lnTo>
                  <a:pt x="82296" y="90919"/>
                </a:lnTo>
                <a:lnTo>
                  <a:pt x="85877" y="94488"/>
                </a:lnTo>
                <a:lnTo>
                  <a:pt x="93954" y="94488"/>
                </a:lnTo>
                <a:lnTo>
                  <a:pt x="97536" y="90919"/>
                </a:lnTo>
                <a:lnTo>
                  <a:pt x="97536" y="7124"/>
                </a:lnTo>
                <a:lnTo>
                  <a:pt x="97536" y="3568"/>
                </a:lnTo>
                <a:close/>
              </a:path>
              <a:path w="341630" h="181610">
                <a:moveTo>
                  <a:pt x="111252" y="120396"/>
                </a:moveTo>
                <a:lnTo>
                  <a:pt x="97536" y="120396"/>
                </a:lnTo>
                <a:lnTo>
                  <a:pt x="97536" y="179832"/>
                </a:lnTo>
                <a:lnTo>
                  <a:pt x="111252" y="179832"/>
                </a:lnTo>
                <a:lnTo>
                  <a:pt x="111252" y="120396"/>
                </a:lnTo>
                <a:close/>
              </a:path>
              <a:path w="341630" h="181610">
                <a:moveTo>
                  <a:pt x="137160" y="31597"/>
                </a:moveTo>
                <a:lnTo>
                  <a:pt x="133578" y="28956"/>
                </a:lnTo>
                <a:lnTo>
                  <a:pt x="125501" y="28956"/>
                </a:lnTo>
                <a:lnTo>
                  <a:pt x="121920" y="31597"/>
                </a:lnTo>
                <a:lnTo>
                  <a:pt x="121920" y="75717"/>
                </a:lnTo>
                <a:lnTo>
                  <a:pt x="125501" y="79248"/>
                </a:lnTo>
                <a:lnTo>
                  <a:pt x="133578" y="79248"/>
                </a:lnTo>
                <a:lnTo>
                  <a:pt x="137160" y="75717"/>
                </a:lnTo>
                <a:lnTo>
                  <a:pt x="137160" y="36017"/>
                </a:lnTo>
                <a:lnTo>
                  <a:pt x="137160" y="31597"/>
                </a:lnTo>
                <a:close/>
              </a:path>
              <a:path w="341630" h="181610">
                <a:moveTo>
                  <a:pt x="172212" y="153289"/>
                </a:moveTo>
                <a:lnTo>
                  <a:pt x="167741" y="146939"/>
                </a:lnTo>
                <a:lnTo>
                  <a:pt x="157899" y="143319"/>
                </a:lnTo>
                <a:lnTo>
                  <a:pt x="154317" y="142417"/>
                </a:lnTo>
                <a:lnTo>
                  <a:pt x="151638" y="141516"/>
                </a:lnTo>
                <a:lnTo>
                  <a:pt x="147167" y="140601"/>
                </a:lnTo>
                <a:lnTo>
                  <a:pt x="147167" y="133362"/>
                </a:lnTo>
                <a:lnTo>
                  <a:pt x="150749" y="131546"/>
                </a:lnTo>
                <a:lnTo>
                  <a:pt x="161480" y="131546"/>
                </a:lnTo>
                <a:lnTo>
                  <a:pt x="167741" y="133362"/>
                </a:lnTo>
                <a:lnTo>
                  <a:pt x="168630" y="133362"/>
                </a:lnTo>
                <a:lnTo>
                  <a:pt x="168630" y="131546"/>
                </a:lnTo>
                <a:lnTo>
                  <a:pt x="168630" y="120688"/>
                </a:lnTo>
                <a:lnTo>
                  <a:pt x="167741" y="120688"/>
                </a:lnTo>
                <a:lnTo>
                  <a:pt x="161480" y="118872"/>
                </a:lnTo>
                <a:lnTo>
                  <a:pt x="153428" y="118872"/>
                </a:lnTo>
                <a:lnTo>
                  <a:pt x="144259" y="120192"/>
                </a:lnTo>
                <a:lnTo>
                  <a:pt x="137210" y="123964"/>
                </a:lnTo>
                <a:lnTo>
                  <a:pt x="132664" y="129959"/>
                </a:lnTo>
                <a:lnTo>
                  <a:pt x="131064" y="137883"/>
                </a:lnTo>
                <a:lnTo>
                  <a:pt x="131064" y="147853"/>
                </a:lnTo>
                <a:lnTo>
                  <a:pt x="138214" y="152374"/>
                </a:lnTo>
                <a:lnTo>
                  <a:pt x="147167" y="155092"/>
                </a:lnTo>
                <a:lnTo>
                  <a:pt x="148056" y="155994"/>
                </a:lnTo>
                <a:lnTo>
                  <a:pt x="149847" y="155994"/>
                </a:lnTo>
                <a:lnTo>
                  <a:pt x="157010" y="159626"/>
                </a:lnTo>
                <a:lnTo>
                  <a:pt x="157010" y="165963"/>
                </a:lnTo>
                <a:lnTo>
                  <a:pt x="153428" y="167767"/>
                </a:lnTo>
                <a:lnTo>
                  <a:pt x="139115" y="167767"/>
                </a:lnTo>
                <a:lnTo>
                  <a:pt x="132854" y="165963"/>
                </a:lnTo>
                <a:lnTo>
                  <a:pt x="131953" y="165963"/>
                </a:lnTo>
                <a:lnTo>
                  <a:pt x="131953" y="179539"/>
                </a:lnTo>
                <a:lnTo>
                  <a:pt x="140004" y="181356"/>
                </a:lnTo>
                <a:lnTo>
                  <a:pt x="148056" y="181356"/>
                </a:lnTo>
                <a:lnTo>
                  <a:pt x="156730" y="180289"/>
                </a:lnTo>
                <a:lnTo>
                  <a:pt x="164490" y="176834"/>
                </a:lnTo>
                <a:lnTo>
                  <a:pt x="170065" y="170662"/>
                </a:lnTo>
                <a:lnTo>
                  <a:pt x="170738" y="167767"/>
                </a:lnTo>
                <a:lnTo>
                  <a:pt x="172212" y="161429"/>
                </a:lnTo>
                <a:lnTo>
                  <a:pt x="172212" y="153289"/>
                </a:lnTo>
                <a:close/>
              </a:path>
              <a:path w="341630" h="181610">
                <a:moveTo>
                  <a:pt x="178308" y="51460"/>
                </a:moveTo>
                <a:lnTo>
                  <a:pt x="174726" y="48768"/>
                </a:lnTo>
                <a:lnTo>
                  <a:pt x="166649" y="48768"/>
                </a:lnTo>
                <a:lnTo>
                  <a:pt x="163068" y="51460"/>
                </a:lnTo>
                <a:lnTo>
                  <a:pt x="163068" y="75666"/>
                </a:lnTo>
                <a:lnTo>
                  <a:pt x="166649" y="79248"/>
                </a:lnTo>
                <a:lnTo>
                  <a:pt x="174726" y="79248"/>
                </a:lnTo>
                <a:lnTo>
                  <a:pt x="178308" y="75666"/>
                </a:lnTo>
                <a:lnTo>
                  <a:pt x="178308" y="55943"/>
                </a:lnTo>
                <a:lnTo>
                  <a:pt x="178308" y="51460"/>
                </a:lnTo>
                <a:close/>
              </a:path>
              <a:path w="341630" h="181610">
                <a:moveTo>
                  <a:pt x="219456" y="31597"/>
                </a:moveTo>
                <a:lnTo>
                  <a:pt x="215874" y="28956"/>
                </a:lnTo>
                <a:lnTo>
                  <a:pt x="207797" y="28956"/>
                </a:lnTo>
                <a:lnTo>
                  <a:pt x="204216" y="31597"/>
                </a:lnTo>
                <a:lnTo>
                  <a:pt x="204216" y="75717"/>
                </a:lnTo>
                <a:lnTo>
                  <a:pt x="207797" y="79248"/>
                </a:lnTo>
                <a:lnTo>
                  <a:pt x="215874" y="79248"/>
                </a:lnTo>
                <a:lnTo>
                  <a:pt x="219456" y="75717"/>
                </a:lnTo>
                <a:lnTo>
                  <a:pt x="219456" y="36017"/>
                </a:lnTo>
                <a:lnTo>
                  <a:pt x="219456" y="31597"/>
                </a:lnTo>
                <a:close/>
              </a:path>
              <a:path w="341630" h="181610">
                <a:moveTo>
                  <a:pt x="231648" y="120688"/>
                </a:moveTo>
                <a:lnTo>
                  <a:pt x="229920" y="120688"/>
                </a:lnTo>
                <a:lnTo>
                  <a:pt x="224713" y="118872"/>
                </a:lnTo>
                <a:lnTo>
                  <a:pt x="217779" y="118872"/>
                </a:lnTo>
                <a:lnTo>
                  <a:pt x="205727" y="121145"/>
                </a:lnTo>
                <a:lnTo>
                  <a:pt x="196113" y="127482"/>
                </a:lnTo>
                <a:lnTo>
                  <a:pt x="189750" y="137210"/>
                </a:lnTo>
                <a:lnTo>
                  <a:pt x="187452" y="149656"/>
                </a:lnTo>
                <a:lnTo>
                  <a:pt x="189865" y="163017"/>
                </a:lnTo>
                <a:lnTo>
                  <a:pt x="196443" y="172986"/>
                </a:lnTo>
                <a:lnTo>
                  <a:pt x="206095" y="179209"/>
                </a:lnTo>
                <a:lnTo>
                  <a:pt x="217779" y="181356"/>
                </a:lnTo>
                <a:lnTo>
                  <a:pt x="224713" y="181356"/>
                </a:lnTo>
                <a:lnTo>
                  <a:pt x="229920" y="179539"/>
                </a:lnTo>
                <a:lnTo>
                  <a:pt x="231648" y="179539"/>
                </a:lnTo>
                <a:lnTo>
                  <a:pt x="231648" y="165963"/>
                </a:lnTo>
                <a:lnTo>
                  <a:pt x="231648" y="163245"/>
                </a:lnTo>
                <a:lnTo>
                  <a:pt x="230784" y="163245"/>
                </a:lnTo>
                <a:lnTo>
                  <a:pt x="226453" y="165963"/>
                </a:lnTo>
                <a:lnTo>
                  <a:pt x="209118" y="165963"/>
                </a:lnTo>
                <a:lnTo>
                  <a:pt x="203047" y="158711"/>
                </a:lnTo>
                <a:lnTo>
                  <a:pt x="203047" y="140601"/>
                </a:lnTo>
                <a:lnTo>
                  <a:pt x="209981" y="133362"/>
                </a:lnTo>
                <a:lnTo>
                  <a:pt x="226453" y="133362"/>
                </a:lnTo>
                <a:lnTo>
                  <a:pt x="230784" y="136982"/>
                </a:lnTo>
                <a:lnTo>
                  <a:pt x="231648" y="136982"/>
                </a:lnTo>
                <a:lnTo>
                  <a:pt x="231648" y="133362"/>
                </a:lnTo>
                <a:lnTo>
                  <a:pt x="231648" y="120688"/>
                </a:lnTo>
                <a:close/>
              </a:path>
              <a:path w="341630" h="181610">
                <a:moveTo>
                  <a:pt x="259080" y="3568"/>
                </a:moveTo>
                <a:lnTo>
                  <a:pt x="255498" y="0"/>
                </a:lnTo>
                <a:lnTo>
                  <a:pt x="247421" y="0"/>
                </a:lnTo>
                <a:lnTo>
                  <a:pt x="243840" y="3568"/>
                </a:lnTo>
                <a:lnTo>
                  <a:pt x="243840" y="90919"/>
                </a:lnTo>
                <a:lnTo>
                  <a:pt x="247421" y="94488"/>
                </a:lnTo>
                <a:lnTo>
                  <a:pt x="255498" y="94488"/>
                </a:lnTo>
                <a:lnTo>
                  <a:pt x="259080" y="90919"/>
                </a:lnTo>
                <a:lnTo>
                  <a:pt x="259080" y="7124"/>
                </a:lnTo>
                <a:lnTo>
                  <a:pt x="259080" y="3568"/>
                </a:lnTo>
                <a:close/>
              </a:path>
              <a:path w="341630" h="181610">
                <a:moveTo>
                  <a:pt x="300228" y="31597"/>
                </a:moveTo>
                <a:lnTo>
                  <a:pt x="296646" y="28956"/>
                </a:lnTo>
                <a:lnTo>
                  <a:pt x="288569" y="28956"/>
                </a:lnTo>
                <a:lnTo>
                  <a:pt x="284988" y="31597"/>
                </a:lnTo>
                <a:lnTo>
                  <a:pt x="284988" y="75717"/>
                </a:lnTo>
                <a:lnTo>
                  <a:pt x="288569" y="79248"/>
                </a:lnTo>
                <a:lnTo>
                  <a:pt x="296646" y="79248"/>
                </a:lnTo>
                <a:lnTo>
                  <a:pt x="300228" y="75717"/>
                </a:lnTo>
                <a:lnTo>
                  <a:pt x="300228" y="36017"/>
                </a:lnTo>
                <a:lnTo>
                  <a:pt x="300228" y="31597"/>
                </a:lnTo>
                <a:close/>
              </a:path>
              <a:path w="341630" h="181610">
                <a:moveTo>
                  <a:pt x="309359" y="149656"/>
                </a:moveTo>
                <a:lnTo>
                  <a:pt x="307174" y="137604"/>
                </a:lnTo>
                <a:lnTo>
                  <a:pt x="305066" y="134264"/>
                </a:lnTo>
                <a:lnTo>
                  <a:pt x="300990" y="127825"/>
                </a:lnTo>
                <a:lnTo>
                  <a:pt x="293700" y="122872"/>
                </a:lnTo>
                <a:lnTo>
                  <a:pt x="293700" y="141516"/>
                </a:lnTo>
                <a:lnTo>
                  <a:pt x="293700" y="158711"/>
                </a:lnTo>
                <a:lnTo>
                  <a:pt x="287604" y="165963"/>
                </a:lnTo>
                <a:lnTo>
                  <a:pt x="270179" y="165963"/>
                </a:lnTo>
                <a:lnTo>
                  <a:pt x="264083" y="158711"/>
                </a:lnTo>
                <a:lnTo>
                  <a:pt x="264083" y="141516"/>
                </a:lnTo>
                <a:lnTo>
                  <a:pt x="270179" y="134264"/>
                </a:lnTo>
                <a:lnTo>
                  <a:pt x="287604" y="134264"/>
                </a:lnTo>
                <a:lnTo>
                  <a:pt x="293700" y="141516"/>
                </a:lnTo>
                <a:lnTo>
                  <a:pt x="293700" y="122872"/>
                </a:lnTo>
                <a:lnTo>
                  <a:pt x="291363" y="121272"/>
                </a:lnTo>
                <a:lnTo>
                  <a:pt x="278892" y="118872"/>
                </a:lnTo>
                <a:lnTo>
                  <a:pt x="266407" y="121272"/>
                </a:lnTo>
                <a:lnTo>
                  <a:pt x="256794" y="127825"/>
                </a:lnTo>
                <a:lnTo>
                  <a:pt x="250596" y="137604"/>
                </a:lnTo>
                <a:lnTo>
                  <a:pt x="248412" y="149656"/>
                </a:lnTo>
                <a:lnTo>
                  <a:pt x="250596" y="161874"/>
                </a:lnTo>
                <a:lnTo>
                  <a:pt x="256794" y="171970"/>
                </a:lnTo>
                <a:lnTo>
                  <a:pt x="266407" y="178828"/>
                </a:lnTo>
                <a:lnTo>
                  <a:pt x="278892" y="181356"/>
                </a:lnTo>
                <a:lnTo>
                  <a:pt x="291363" y="178828"/>
                </a:lnTo>
                <a:lnTo>
                  <a:pt x="300990" y="171970"/>
                </a:lnTo>
                <a:lnTo>
                  <a:pt x="304660" y="165963"/>
                </a:lnTo>
                <a:lnTo>
                  <a:pt x="307174" y="161874"/>
                </a:lnTo>
                <a:lnTo>
                  <a:pt x="309359" y="149656"/>
                </a:lnTo>
                <a:close/>
              </a:path>
              <a:path w="341630" h="181610">
                <a:moveTo>
                  <a:pt x="341376" y="51460"/>
                </a:moveTo>
                <a:lnTo>
                  <a:pt x="337794" y="48768"/>
                </a:lnTo>
                <a:lnTo>
                  <a:pt x="329717" y="48768"/>
                </a:lnTo>
                <a:lnTo>
                  <a:pt x="326136" y="51460"/>
                </a:lnTo>
                <a:lnTo>
                  <a:pt x="326136" y="75666"/>
                </a:lnTo>
                <a:lnTo>
                  <a:pt x="329717" y="79248"/>
                </a:lnTo>
                <a:lnTo>
                  <a:pt x="337794" y="79248"/>
                </a:lnTo>
                <a:lnTo>
                  <a:pt x="341376" y="75666"/>
                </a:lnTo>
                <a:lnTo>
                  <a:pt x="341376" y="55943"/>
                </a:lnTo>
                <a:lnTo>
                  <a:pt x="341376" y="51460"/>
                </a:lnTo>
                <a:close/>
              </a:path>
            </a:pathLst>
          </a:custGeom>
          <a:solidFill>
            <a:srgbClr val="086C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6708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17804" y="676655"/>
            <a:ext cx="35560" cy="139065"/>
          </a:xfrm>
          <a:custGeom>
            <a:avLst/>
            <a:gdLst/>
            <a:ahLst/>
            <a:cxnLst/>
            <a:rect l="l" t="t" r="r" b="b"/>
            <a:pathLst>
              <a:path w="35559" h="139065">
                <a:moveTo>
                  <a:pt x="35051" y="0"/>
                </a:moveTo>
                <a:lnTo>
                  <a:pt x="0" y="0"/>
                </a:lnTo>
                <a:lnTo>
                  <a:pt x="0" y="138684"/>
                </a:lnTo>
                <a:lnTo>
                  <a:pt x="35051" y="138684"/>
                </a:lnTo>
                <a:lnTo>
                  <a:pt x="35051" y="0"/>
                </a:lnTo>
                <a:close/>
              </a:path>
            </a:pathLst>
          </a:custGeom>
          <a:solidFill>
            <a:srgbClr val="38C5F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8116" y="675131"/>
            <a:ext cx="105156" cy="14477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880" y="675131"/>
            <a:ext cx="106679" cy="14477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372" y="675131"/>
            <a:ext cx="144780" cy="14477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8576" y="675131"/>
            <a:ext cx="94487" cy="14477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492252" y="394715"/>
            <a:ext cx="797560" cy="220979"/>
          </a:xfrm>
          <a:custGeom>
            <a:avLst/>
            <a:gdLst/>
            <a:ahLst/>
            <a:cxnLst/>
            <a:rect l="l" t="t" r="r" b="b"/>
            <a:pathLst>
              <a:path w="797560" h="220979">
                <a:moveTo>
                  <a:pt x="35052" y="120650"/>
                </a:moveTo>
                <a:lnTo>
                  <a:pt x="26809" y="114300"/>
                </a:lnTo>
                <a:lnTo>
                  <a:pt x="8242" y="114300"/>
                </a:lnTo>
                <a:lnTo>
                  <a:pt x="0" y="120650"/>
                </a:lnTo>
                <a:lnTo>
                  <a:pt x="0" y="177546"/>
                </a:lnTo>
                <a:lnTo>
                  <a:pt x="8242" y="185928"/>
                </a:lnTo>
                <a:lnTo>
                  <a:pt x="26809" y="185928"/>
                </a:lnTo>
                <a:lnTo>
                  <a:pt x="35052" y="177546"/>
                </a:lnTo>
                <a:lnTo>
                  <a:pt x="35052" y="131191"/>
                </a:lnTo>
                <a:lnTo>
                  <a:pt x="35052" y="120650"/>
                </a:lnTo>
                <a:close/>
              </a:path>
              <a:path w="797560" h="220979">
                <a:moveTo>
                  <a:pt x="129540" y="73279"/>
                </a:moveTo>
                <a:lnTo>
                  <a:pt x="121297" y="67056"/>
                </a:lnTo>
                <a:lnTo>
                  <a:pt x="102730" y="67056"/>
                </a:lnTo>
                <a:lnTo>
                  <a:pt x="94488" y="73279"/>
                </a:lnTo>
                <a:lnTo>
                  <a:pt x="94488" y="177546"/>
                </a:lnTo>
                <a:lnTo>
                  <a:pt x="102730" y="185928"/>
                </a:lnTo>
                <a:lnTo>
                  <a:pt x="121297" y="185928"/>
                </a:lnTo>
                <a:lnTo>
                  <a:pt x="129540" y="177546"/>
                </a:lnTo>
                <a:lnTo>
                  <a:pt x="129540" y="83693"/>
                </a:lnTo>
                <a:lnTo>
                  <a:pt x="129540" y="73279"/>
                </a:lnTo>
                <a:close/>
              </a:path>
              <a:path w="797560" h="220979">
                <a:moveTo>
                  <a:pt x="225552" y="8382"/>
                </a:moveTo>
                <a:lnTo>
                  <a:pt x="217309" y="0"/>
                </a:lnTo>
                <a:lnTo>
                  <a:pt x="198742" y="0"/>
                </a:lnTo>
                <a:lnTo>
                  <a:pt x="190500" y="8382"/>
                </a:lnTo>
                <a:lnTo>
                  <a:pt x="190500" y="212598"/>
                </a:lnTo>
                <a:lnTo>
                  <a:pt x="198742" y="220980"/>
                </a:lnTo>
                <a:lnTo>
                  <a:pt x="206997" y="220980"/>
                </a:lnTo>
                <a:lnTo>
                  <a:pt x="214236" y="219519"/>
                </a:lnTo>
                <a:lnTo>
                  <a:pt x="220141" y="215493"/>
                </a:lnTo>
                <a:lnTo>
                  <a:pt x="224091" y="209524"/>
                </a:lnTo>
                <a:lnTo>
                  <a:pt x="225552" y="202184"/>
                </a:lnTo>
                <a:lnTo>
                  <a:pt x="225552" y="16637"/>
                </a:lnTo>
                <a:lnTo>
                  <a:pt x="225552" y="8382"/>
                </a:lnTo>
                <a:close/>
              </a:path>
              <a:path w="797560" h="220979">
                <a:moveTo>
                  <a:pt x="320040" y="73279"/>
                </a:moveTo>
                <a:lnTo>
                  <a:pt x="311797" y="67056"/>
                </a:lnTo>
                <a:lnTo>
                  <a:pt x="293230" y="67056"/>
                </a:lnTo>
                <a:lnTo>
                  <a:pt x="284988" y="73279"/>
                </a:lnTo>
                <a:lnTo>
                  <a:pt x="284988" y="177546"/>
                </a:lnTo>
                <a:lnTo>
                  <a:pt x="293230" y="185928"/>
                </a:lnTo>
                <a:lnTo>
                  <a:pt x="311797" y="185928"/>
                </a:lnTo>
                <a:lnTo>
                  <a:pt x="320040" y="177546"/>
                </a:lnTo>
                <a:lnTo>
                  <a:pt x="320040" y="83693"/>
                </a:lnTo>
                <a:lnTo>
                  <a:pt x="320040" y="73279"/>
                </a:lnTo>
                <a:close/>
              </a:path>
              <a:path w="797560" h="220979">
                <a:moveTo>
                  <a:pt x="416052" y="120650"/>
                </a:moveTo>
                <a:lnTo>
                  <a:pt x="407809" y="114300"/>
                </a:lnTo>
                <a:lnTo>
                  <a:pt x="389242" y="114300"/>
                </a:lnTo>
                <a:lnTo>
                  <a:pt x="381000" y="120650"/>
                </a:lnTo>
                <a:lnTo>
                  <a:pt x="381000" y="177546"/>
                </a:lnTo>
                <a:lnTo>
                  <a:pt x="389242" y="185928"/>
                </a:lnTo>
                <a:lnTo>
                  <a:pt x="407809" y="185928"/>
                </a:lnTo>
                <a:lnTo>
                  <a:pt x="416052" y="177546"/>
                </a:lnTo>
                <a:lnTo>
                  <a:pt x="416052" y="131191"/>
                </a:lnTo>
                <a:lnTo>
                  <a:pt x="416052" y="120650"/>
                </a:lnTo>
                <a:close/>
              </a:path>
              <a:path w="797560" h="220979">
                <a:moveTo>
                  <a:pt x="510540" y="73279"/>
                </a:moveTo>
                <a:lnTo>
                  <a:pt x="502297" y="67056"/>
                </a:lnTo>
                <a:lnTo>
                  <a:pt x="483730" y="67056"/>
                </a:lnTo>
                <a:lnTo>
                  <a:pt x="475488" y="73279"/>
                </a:lnTo>
                <a:lnTo>
                  <a:pt x="475488" y="177546"/>
                </a:lnTo>
                <a:lnTo>
                  <a:pt x="483730" y="185928"/>
                </a:lnTo>
                <a:lnTo>
                  <a:pt x="502297" y="185928"/>
                </a:lnTo>
                <a:lnTo>
                  <a:pt x="510540" y="177546"/>
                </a:lnTo>
                <a:lnTo>
                  <a:pt x="510540" y="83693"/>
                </a:lnTo>
                <a:lnTo>
                  <a:pt x="510540" y="73279"/>
                </a:lnTo>
                <a:close/>
              </a:path>
              <a:path w="797560" h="220979">
                <a:moveTo>
                  <a:pt x="606552" y="8382"/>
                </a:moveTo>
                <a:lnTo>
                  <a:pt x="598309" y="0"/>
                </a:lnTo>
                <a:lnTo>
                  <a:pt x="579742" y="0"/>
                </a:lnTo>
                <a:lnTo>
                  <a:pt x="571500" y="8382"/>
                </a:lnTo>
                <a:lnTo>
                  <a:pt x="571500" y="202184"/>
                </a:lnTo>
                <a:lnTo>
                  <a:pt x="572947" y="209524"/>
                </a:lnTo>
                <a:lnTo>
                  <a:pt x="576910" y="215493"/>
                </a:lnTo>
                <a:lnTo>
                  <a:pt x="582803" y="219519"/>
                </a:lnTo>
                <a:lnTo>
                  <a:pt x="590054" y="220980"/>
                </a:lnTo>
                <a:lnTo>
                  <a:pt x="598309" y="220980"/>
                </a:lnTo>
                <a:lnTo>
                  <a:pt x="606552" y="212598"/>
                </a:lnTo>
                <a:lnTo>
                  <a:pt x="606552" y="16637"/>
                </a:lnTo>
                <a:lnTo>
                  <a:pt x="606552" y="8382"/>
                </a:lnTo>
                <a:close/>
              </a:path>
              <a:path w="797560" h="220979">
                <a:moveTo>
                  <a:pt x="701040" y="73279"/>
                </a:moveTo>
                <a:lnTo>
                  <a:pt x="692797" y="67056"/>
                </a:lnTo>
                <a:lnTo>
                  <a:pt x="674230" y="67056"/>
                </a:lnTo>
                <a:lnTo>
                  <a:pt x="665988" y="73279"/>
                </a:lnTo>
                <a:lnTo>
                  <a:pt x="665988" y="177546"/>
                </a:lnTo>
                <a:lnTo>
                  <a:pt x="674230" y="185928"/>
                </a:lnTo>
                <a:lnTo>
                  <a:pt x="692797" y="185928"/>
                </a:lnTo>
                <a:lnTo>
                  <a:pt x="701040" y="177546"/>
                </a:lnTo>
                <a:lnTo>
                  <a:pt x="701040" y="83693"/>
                </a:lnTo>
                <a:lnTo>
                  <a:pt x="701040" y="73279"/>
                </a:lnTo>
                <a:close/>
              </a:path>
              <a:path w="797560" h="220979">
                <a:moveTo>
                  <a:pt x="797052" y="120650"/>
                </a:moveTo>
                <a:lnTo>
                  <a:pt x="788797" y="114300"/>
                </a:lnTo>
                <a:lnTo>
                  <a:pt x="770242" y="114300"/>
                </a:lnTo>
                <a:lnTo>
                  <a:pt x="762000" y="120650"/>
                </a:lnTo>
                <a:lnTo>
                  <a:pt x="762000" y="177546"/>
                </a:lnTo>
                <a:lnTo>
                  <a:pt x="770242" y="185928"/>
                </a:lnTo>
                <a:lnTo>
                  <a:pt x="788797" y="185928"/>
                </a:lnTo>
                <a:lnTo>
                  <a:pt x="797052" y="177546"/>
                </a:lnTo>
                <a:lnTo>
                  <a:pt x="797052" y="131191"/>
                </a:lnTo>
                <a:lnTo>
                  <a:pt x="797052" y="120650"/>
                </a:lnTo>
                <a:close/>
              </a:path>
            </a:pathLst>
          </a:custGeom>
          <a:solidFill>
            <a:srgbClr val="38C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7492" y="4715255"/>
            <a:ext cx="341630" cy="181610"/>
          </a:xfrm>
          <a:custGeom>
            <a:avLst/>
            <a:gdLst/>
            <a:ahLst/>
            <a:cxnLst/>
            <a:rect l="l" t="t" r="r" b="b"/>
            <a:pathLst>
              <a:path w="341630" h="181610">
                <a:moveTo>
                  <a:pt x="15240" y="51460"/>
                </a:moveTo>
                <a:lnTo>
                  <a:pt x="11658" y="48768"/>
                </a:lnTo>
                <a:lnTo>
                  <a:pt x="3581" y="48768"/>
                </a:lnTo>
                <a:lnTo>
                  <a:pt x="0" y="51460"/>
                </a:lnTo>
                <a:lnTo>
                  <a:pt x="0" y="75666"/>
                </a:lnTo>
                <a:lnTo>
                  <a:pt x="3581" y="79248"/>
                </a:lnTo>
                <a:lnTo>
                  <a:pt x="11658" y="79248"/>
                </a:lnTo>
                <a:lnTo>
                  <a:pt x="15240" y="75666"/>
                </a:lnTo>
                <a:lnTo>
                  <a:pt x="15240" y="55943"/>
                </a:lnTo>
                <a:lnTo>
                  <a:pt x="15240" y="51460"/>
                </a:lnTo>
                <a:close/>
              </a:path>
              <a:path w="341630" h="181610">
                <a:moveTo>
                  <a:pt x="56388" y="31597"/>
                </a:moveTo>
                <a:lnTo>
                  <a:pt x="52806" y="28956"/>
                </a:lnTo>
                <a:lnTo>
                  <a:pt x="44729" y="28956"/>
                </a:lnTo>
                <a:lnTo>
                  <a:pt x="41148" y="31597"/>
                </a:lnTo>
                <a:lnTo>
                  <a:pt x="41148" y="75717"/>
                </a:lnTo>
                <a:lnTo>
                  <a:pt x="44729" y="79248"/>
                </a:lnTo>
                <a:lnTo>
                  <a:pt x="52806" y="79248"/>
                </a:lnTo>
                <a:lnTo>
                  <a:pt x="56388" y="75717"/>
                </a:lnTo>
                <a:lnTo>
                  <a:pt x="56388" y="36017"/>
                </a:lnTo>
                <a:lnTo>
                  <a:pt x="56388" y="31597"/>
                </a:lnTo>
                <a:close/>
              </a:path>
              <a:path w="341630" h="181610">
                <a:moveTo>
                  <a:pt x="76200" y="120688"/>
                </a:moveTo>
                <a:lnTo>
                  <a:pt x="74409" y="120688"/>
                </a:lnTo>
                <a:lnTo>
                  <a:pt x="69024" y="118872"/>
                </a:lnTo>
                <a:lnTo>
                  <a:pt x="61861" y="118872"/>
                </a:lnTo>
                <a:lnTo>
                  <a:pt x="49390" y="121145"/>
                </a:lnTo>
                <a:lnTo>
                  <a:pt x="39433" y="127482"/>
                </a:lnTo>
                <a:lnTo>
                  <a:pt x="32854" y="137210"/>
                </a:lnTo>
                <a:lnTo>
                  <a:pt x="30480" y="149656"/>
                </a:lnTo>
                <a:lnTo>
                  <a:pt x="32981" y="163017"/>
                </a:lnTo>
                <a:lnTo>
                  <a:pt x="39776" y="172986"/>
                </a:lnTo>
                <a:lnTo>
                  <a:pt x="49758" y="179209"/>
                </a:lnTo>
                <a:lnTo>
                  <a:pt x="61861" y="181356"/>
                </a:lnTo>
                <a:lnTo>
                  <a:pt x="69024" y="181356"/>
                </a:lnTo>
                <a:lnTo>
                  <a:pt x="74409" y="179539"/>
                </a:lnTo>
                <a:lnTo>
                  <a:pt x="76200" y="179539"/>
                </a:lnTo>
                <a:lnTo>
                  <a:pt x="76200" y="165963"/>
                </a:lnTo>
                <a:lnTo>
                  <a:pt x="76200" y="163245"/>
                </a:lnTo>
                <a:lnTo>
                  <a:pt x="75298" y="163245"/>
                </a:lnTo>
                <a:lnTo>
                  <a:pt x="69926" y="165963"/>
                </a:lnTo>
                <a:lnTo>
                  <a:pt x="52895" y="165963"/>
                </a:lnTo>
                <a:lnTo>
                  <a:pt x="46621" y="158711"/>
                </a:lnTo>
                <a:lnTo>
                  <a:pt x="46621" y="140601"/>
                </a:lnTo>
                <a:lnTo>
                  <a:pt x="52895" y="133362"/>
                </a:lnTo>
                <a:lnTo>
                  <a:pt x="70815" y="133362"/>
                </a:lnTo>
                <a:lnTo>
                  <a:pt x="75298" y="136982"/>
                </a:lnTo>
                <a:lnTo>
                  <a:pt x="76200" y="136982"/>
                </a:lnTo>
                <a:lnTo>
                  <a:pt x="76200" y="133362"/>
                </a:lnTo>
                <a:lnTo>
                  <a:pt x="76200" y="120688"/>
                </a:lnTo>
                <a:close/>
              </a:path>
              <a:path w="341630" h="181610">
                <a:moveTo>
                  <a:pt x="97536" y="3568"/>
                </a:moveTo>
                <a:lnTo>
                  <a:pt x="93954" y="0"/>
                </a:lnTo>
                <a:lnTo>
                  <a:pt x="85877" y="0"/>
                </a:lnTo>
                <a:lnTo>
                  <a:pt x="82296" y="3568"/>
                </a:lnTo>
                <a:lnTo>
                  <a:pt x="82296" y="90919"/>
                </a:lnTo>
                <a:lnTo>
                  <a:pt x="85877" y="94488"/>
                </a:lnTo>
                <a:lnTo>
                  <a:pt x="93954" y="94488"/>
                </a:lnTo>
                <a:lnTo>
                  <a:pt x="97536" y="90919"/>
                </a:lnTo>
                <a:lnTo>
                  <a:pt x="97536" y="7124"/>
                </a:lnTo>
                <a:lnTo>
                  <a:pt x="97536" y="3568"/>
                </a:lnTo>
                <a:close/>
              </a:path>
              <a:path w="341630" h="181610">
                <a:moveTo>
                  <a:pt x="111252" y="120396"/>
                </a:moveTo>
                <a:lnTo>
                  <a:pt x="97536" y="120396"/>
                </a:lnTo>
                <a:lnTo>
                  <a:pt x="97536" y="179832"/>
                </a:lnTo>
                <a:lnTo>
                  <a:pt x="111252" y="179832"/>
                </a:lnTo>
                <a:lnTo>
                  <a:pt x="111252" y="120396"/>
                </a:lnTo>
                <a:close/>
              </a:path>
              <a:path w="341630" h="181610">
                <a:moveTo>
                  <a:pt x="137160" y="31597"/>
                </a:moveTo>
                <a:lnTo>
                  <a:pt x="133578" y="28956"/>
                </a:lnTo>
                <a:lnTo>
                  <a:pt x="125501" y="28956"/>
                </a:lnTo>
                <a:lnTo>
                  <a:pt x="121920" y="31597"/>
                </a:lnTo>
                <a:lnTo>
                  <a:pt x="121920" y="75717"/>
                </a:lnTo>
                <a:lnTo>
                  <a:pt x="125501" y="79248"/>
                </a:lnTo>
                <a:lnTo>
                  <a:pt x="133578" y="79248"/>
                </a:lnTo>
                <a:lnTo>
                  <a:pt x="137160" y="75717"/>
                </a:lnTo>
                <a:lnTo>
                  <a:pt x="137160" y="36017"/>
                </a:lnTo>
                <a:lnTo>
                  <a:pt x="137160" y="31597"/>
                </a:lnTo>
                <a:close/>
              </a:path>
              <a:path w="341630" h="181610">
                <a:moveTo>
                  <a:pt x="172212" y="153289"/>
                </a:moveTo>
                <a:lnTo>
                  <a:pt x="167741" y="146939"/>
                </a:lnTo>
                <a:lnTo>
                  <a:pt x="157899" y="143319"/>
                </a:lnTo>
                <a:lnTo>
                  <a:pt x="154317" y="142417"/>
                </a:lnTo>
                <a:lnTo>
                  <a:pt x="151638" y="141516"/>
                </a:lnTo>
                <a:lnTo>
                  <a:pt x="147167" y="140601"/>
                </a:lnTo>
                <a:lnTo>
                  <a:pt x="147167" y="133362"/>
                </a:lnTo>
                <a:lnTo>
                  <a:pt x="150749" y="131546"/>
                </a:lnTo>
                <a:lnTo>
                  <a:pt x="161480" y="131546"/>
                </a:lnTo>
                <a:lnTo>
                  <a:pt x="167741" y="133362"/>
                </a:lnTo>
                <a:lnTo>
                  <a:pt x="168630" y="133362"/>
                </a:lnTo>
                <a:lnTo>
                  <a:pt x="168630" y="131546"/>
                </a:lnTo>
                <a:lnTo>
                  <a:pt x="168630" y="120688"/>
                </a:lnTo>
                <a:lnTo>
                  <a:pt x="167741" y="120688"/>
                </a:lnTo>
                <a:lnTo>
                  <a:pt x="161480" y="118872"/>
                </a:lnTo>
                <a:lnTo>
                  <a:pt x="153428" y="118872"/>
                </a:lnTo>
                <a:lnTo>
                  <a:pt x="144259" y="120192"/>
                </a:lnTo>
                <a:lnTo>
                  <a:pt x="137210" y="123964"/>
                </a:lnTo>
                <a:lnTo>
                  <a:pt x="132664" y="129959"/>
                </a:lnTo>
                <a:lnTo>
                  <a:pt x="131064" y="137883"/>
                </a:lnTo>
                <a:lnTo>
                  <a:pt x="131064" y="147853"/>
                </a:lnTo>
                <a:lnTo>
                  <a:pt x="138214" y="152374"/>
                </a:lnTo>
                <a:lnTo>
                  <a:pt x="147167" y="155092"/>
                </a:lnTo>
                <a:lnTo>
                  <a:pt x="148056" y="155994"/>
                </a:lnTo>
                <a:lnTo>
                  <a:pt x="149847" y="155994"/>
                </a:lnTo>
                <a:lnTo>
                  <a:pt x="157010" y="159626"/>
                </a:lnTo>
                <a:lnTo>
                  <a:pt x="157010" y="165963"/>
                </a:lnTo>
                <a:lnTo>
                  <a:pt x="153428" y="167767"/>
                </a:lnTo>
                <a:lnTo>
                  <a:pt x="139115" y="167767"/>
                </a:lnTo>
                <a:lnTo>
                  <a:pt x="132854" y="165963"/>
                </a:lnTo>
                <a:lnTo>
                  <a:pt x="131953" y="165963"/>
                </a:lnTo>
                <a:lnTo>
                  <a:pt x="131953" y="179539"/>
                </a:lnTo>
                <a:lnTo>
                  <a:pt x="140004" y="181356"/>
                </a:lnTo>
                <a:lnTo>
                  <a:pt x="148056" y="181356"/>
                </a:lnTo>
                <a:lnTo>
                  <a:pt x="156730" y="180289"/>
                </a:lnTo>
                <a:lnTo>
                  <a:pt x="164490" y="176834"/>
                </a:lnTo>
                <a:lnTo>
                  <a:pt x="170065" y="170662"/>
                </a:lnTo>
                <a:lnTo>
                  <a:pt x="170738" y="167767"/>
                </a:lnTo>
                <a:lnTo>
                  <a:pt x="172212" y="161429"/>
                </a:lnTo>
                <a:lnTo>
                  <a:pt x="172212" y="153289"/>
                </a:lnTo>
                <a:close/>
              </a:path>
              <a:path w="341630" h="181610">
                <a:moveTo>
                  <a:pt x="178308" y="51460"/>
                </a:moveTo>
                <a:lnTo>
                  <a:pt x="174726" y="48768"/>
                </a:lnTo>
                <a:lnTo>
                  <a:pt x="166649" y="48768"/>
                </a:lnTo>
                <a:lnTo>
                  <a:pt x="163068" y="51460"/>
                </a:lnTo>
                <a:lnTo>
                  <a:pt x="163068" y="75666"/>
                </a:lnTo>
                <a:lnTo>
                  <a:pt x="166649" y="79248"/>
                </a:lnTo>
                <a:lnTo>
                  <a:pt x="174726" y="79248"/>
                </a:lnTo>
                <a:lnTo>
                  <a:pt x="178308" y="75666"/>
                </a:lnTo>
                <a:lnTo>
                  <a:pt x="178308" y="55943"/>
                </a:lnTo>
                <a:lnTo>
                  <a:pt x="178308" y="51460"/>
                </a:lnTo>
                <a:close/>
              </a:path>
              <a:path w="341630" h="181610">
                <a:moveTo>
                  <a:pt x="219456" y="31597"/>
                </a:moveTo>
                <a:lnTo>
                  <a:pt x="215874" y="28956"/>
                </a:lnTo>
                <a:lnTo>
                  <a:pt x="207797" y="28956"/>
                </a:lnTo>
                <a:lnTo>
                  <a:pt x="204216" y="31597"/>
                </a:lnTo>
                <a:lnTo>
                  <a:pt x="204216" y="75717"/>
                </a:lnTo>
                <a:lnTo>
                  <a:pt x="207797" y="79248"/>
                </a:lnTo>
                <a:lnTo>
                  <a:pt x="215874" y="79248"/>
                </a:lnTo>
                <a:lnTo>
                  <a:pt x="219456" y="75717"/>
                </a:lnTo>
                <a:lnTo>
                  <a:pt x="219456" y="36017"/>
                </a:lnTo>
                <a:lnTo>
                  <a:pt x="219456" y="31597"/>
                </a:lnTo>
                <a:close/>
              </a:path>
              <a:path w="341630" h="181610">
                <a:moveTo>
                  <a:pt x="231648" y="120688"/>
                </a:moveTo>
                <a:lnTo>
                  <a:pt x="229920" y="120688"/>
                </a:lnTo>
                <a:lnTo>
                  <a:pt x="224713" y="118872"/>
                </a:lnTo>
                <a:lnTo>
                  <a:pt x="217779" y="118872"/>
                </a:lnTo>
                <a:lnTo>
                  <a:pt x="205727" y="121145"/>
                </a:lnTo>
                <a:lnTo>
                  <a:pt x="196113" y="127482"/>
                </a:lnTo>
                <a:lnTo>
                  <a:pt x="189750" y="137210"/>
                </a:lnTo>
                <a:lnTo>
                  <a:pt x="187452" y="149656"/>
                </a:lnTo>
                <a:lnTo>
                  <a:pt x="189865" y="163017"/>
                </a:lnTo>
                <a:lnTo>
                  <a:pt x="196443" y="172986"/>
                </a:lnTo>
                <a:lnTo>
                  <a:pt x="206095" y="179209"/>
                </a:lnTo>
                <a:lnTo>
                  <a:pt x="217779" y="181356"/>
                </a:lnTo>
                <a:lnTo>
                  <a:pt x="224713" y="181356"/>
                </a:lnTo>
                <a:lnTo>
                  <a:pt x="229920" y="179539"/>
                </a:lnTo>
                <a:lnTo>
                  <a:pt x="231648" y="179539"/>
                </a:lnTo>
                <a:lnTo>
                  <a:pt x="231648" y="165963"/>
                </a:lnTo>
                <a:lnTo>
                  <a:pt x="231648" y="163245"/>
                </a:lnTo>
                <a:lnTo>
                  <a:pt x="230784" y="163245"/>
                </a:lnTo>
                <a:lnTo>
                  <a:pt x="226453" y="165963"/>
                </a:lnTo>
                <a:lnTo>
                  <a:pt x="209118" y="165963"/>
                </a:lnTo>
                <a:lnTo>
                  <a:pt x="203047" y="158711"/>
                </a:lnTo>
                <a:lnTo>
                  <a:pt x="203047" y="140601"/>
                </a:lnTo>
                <a:lnTo>
                  <a:pt x="209981" y="133362"/>
                </a:lnTo>
                <a:lnTo>
                  <a:pt x="226453" y="133362"/>
                </a:lnTo>
                <a:lnTo>
                  <a:pt x="230784" y="136982"/>
                </a:lnTo>
                <a:lnTo>
                  <a:pt x="231648" y="136982"/>
                </a:lnTo>
                <a:lnTo>
                  <a:pt x="231648" y="133362"/>
                </a:lnTo>
                <a:lnTo>
                  <a:pt x="231648" y="120688"/>
                </a:lnTo>
                <a:close/>
              </a:path>
              <a:path w="341630" h="181610">
                <a:moveTo>
                  <a:pt x="259080" y="3568"/>
                </a:moveTo>
                <a:lnTo>
                  <a:pt x="255498" y="0"/>
                </a:lnTo>
                <a:lnTo>
                  <a:pt x="247421" y="0"/>
                </a:lnTo>
                <a:lnTo>
                  <a:pt x="243840" y="3568"/>
                </a:lnTo>
                <a:lnTo>
                  <a:pt x="243840" y="90919"/>
                </a:lnTo>
                <a:lnTo>
                  <a:pt x="247421" y="94488"/>
                </a:lnTo>
                <a:lnTo>
                  <a:pt x="255498" y="94488"/>
                </a:lnTo>
                <a:lnTo>
                  <a:pt x="259080" y="90919"/>
                </a:lnTo>
                <a:lnTo>
                  <a:pt x="259080" y="7124"/>
                </a:lnTo>
                <a:lnTo>
                  <a:pt x="259080" y="3568"/>
                </a:lnTo>
                <a:close/>
              </a:path>
              <a:path w="341630" h="181610">
                <a:moveTo>
                  <a:pt x="300228" y="31597"/>
                </a:moveTo>
                <a:lnTo>
                  <a:pt x="296646" y="28956"/>
                </a:lnTo>
                <a:lnTo>
                  <a:pt x="288569" y="28956"/>
                </a:lnTo>
                <a:lnTo>
                  <a:pt x="284988" y="31597"/>
                </a:lnTo>
                <a:lnTo>
                  <a:pt x="284988" y="75717"/>
                </a:lnTo>
                <a:lnTo>
                  <a:pt x="288569" y="79248"/>
                </a:lnTo>
                <a:lnTo>
                  <a:pt x="296646" y="79248"/>
                </a:lnTo>
                <a:lnTo>
                  <a:pt x="300228" y="75717"/>
                </a:lnTo>
                <a:lnTo>
                  <a:pt x="300228" y="36017"/>
                </a:lnTo>
                <a:lnTo>
                  <a:pt x="300228" y="31597"/>
                </a:lnTo>
                <a:close/>
              </a:path>
              <a:path w="341630" h="181610">
                <a:moveTo>
                  <a:pt x="309359" y="149656"/>
                </a:moveTo>
                <a:lnTo>
                  <a:pt x="307174" y="137604"/>
                </a:lnTo>
                <a:lnTo>
                  <a:pt x="305066" y="134264"/>
                </a:lnTo>
                <a:lnTo>
                  <a:pt x="300990" y="127825"/>
                </a:lnTo>
                <a:lnTo>
                  <a:pt x="293700" y="122872"/>
                </a:lnTo>
                <a:lnTo>
                  <a:pt x="293700" y="141516"/>
                </a:lnTo>
                <a:lnTo>
                  <a:pt x="293700" y="158711"/>
                </a:lnTo>
                <a:lnTo>
                  <a:pt x="287604" y="165963"/>
                </a:lnTo>
                <a:lnTo>
                  <a:pt x="270179" y="165963"/>
                </a:lnTo>
                <a:lnTo>
                  <a:pt x="264083" y="158711"/>
                </a:lnTo>
                <a:lnTo>
                  <a:pt x="264083" y="141516"/>
                </a:lnTo>
                <a:lnTo>
                  <a:pt x="270179" y="134264"/>
                </a:lnTo>
                <a:lnTo>
                  <a:pt x="287604" y="134264"/>
                </a:lnTo>
                <a:lnTo>
                  <a:pt x="293700" y="141516"/>
                </a:lnTo>
                <a:lnTo>
                  <a:pt x="293700" y="122872"/>
                </a:lnTo>
                <a:lnTo>
                  <a:pt x="291363" y="121272"/>
                </a:lnTo>
                <a:lnTo>
                  <a:pt x="278892" y="118872"/>
                </a:lnTo>
                <a:lnTo>
                  <a:pt x="266407" y="121272"/>
                </a:lnTo>
                <a:lnTo>
                  <a:pt x="256794" y="127825"/>
                </a:lnTo>
                <a:lnTo>
                  <a:pt x="250596" y="137604"/>
                </a:lnTo>
                <a:lnTo>
                  <a:pt x="248412" y="149656"/>
                </a:lnTo>
                <a:lnTo>
                  <a:pt x="250596" y="161874"/>
                </a:lnTo>
                <a:lnTo>
                  <a:pt x="256794" y="171970"/>
                </a:lnTo>
                <a:lnTo>
                  <a:pt x="266407" y="178828"/>
                </a:lnTo>
                <a:lnTo>
                  <a:pt x="278892" y="181356"/>
                </a:lnTo>
                <a:lnTo>
                  <a:pt x="291363" y="178828"/>
                </a:lnTo>
                <a:lnTo>
                  <a:pt x="300990" y="171970"/>
                </a:lnTo>
                <a:lnTo>
                  <a:pt x="304660" y="165963"/>
                </a:lnTo>
                <a:lnTo>
                  <a:pt x="307174" y="161874"/>
                </a:lnTo>
                <a:lnTo>
                  <a:pt x="309359" y="149656"/>
                </a:lnTo>
                <a:close/>
              </a:path>
              <a:path w="341630" h="181610">
                <a:moveTo>
                  <a:pt x="341376" y="51460"/>
                </a:moveTo>
                <a:lnTo>
                  <a:pt x="337794" y="48768"/>
                </a:lnTo>
                <a:lnTo>
                  <a:pt x="329717" y="48768"/>
                </a:lnTo>
                <a:lnTo>
                  <a:pt x="326136" y="51460"/>
                </a:lnTo>
                <a:lnTo>
                  <a:pt x="326136" y="75666"/>
                </a:lnTo>
                <a:lnTo>
                  <a:pt x="329717" y="79248"/>
                </a:lnTo>
                <a:lnTo>
                  <a:pt x="337794" y="79248"/>
                </a:lnTo>
                <a:lnTo>
                  <a:pt x="341376" y="75666"/>
                </a:lnTo>
                <a:lnTo>
                  <a:pt x="341376" y="55943"/>
                </a:lnTo>
                <a:lnTo>
                  <a:pt x="341376" y="51460"/>
                </a:lnTo>
                <a:close/>
              </a:path>
            </a:pathLst>
          </a:custGeom>
          <a:solidFill>
            <a:srgbClr val="38C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339090"/>
            <a:ext cx="15303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6708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6681" y="847725"/>
            <a:ext cx="8390636" cy="3531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17184" y="4768295"/>
            <a:ext cx="2496184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48116" y="4769515"/>
            <a:ext cx="161925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D9D9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545" y="2326589"/>
            <a:ext cx="313499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5">
                <a:solidFill>
                  <a:srgbClr val="38C5F4"/>
                </a:solidFill>
                <a:latin typeface="Arial MT"/>
                <a:cs typeface="Arial MT"/>
              </a:rPr>
              <a:t>WAN</a:t>
            </a:r>
            <a:r>
              <a:rPr dirty="0" sz="3600" spc="-85">
                <a:solidFill>
                  <a:srgbClr val="38C5F4"/>
                </a:solidFill>
                <a:latin typeface="Arial MT"/>
                <a:cs typeface="Arial MT"/>
              </a:rPr>
              <a:t> </a:t>
            </a:r>
            <a:r>
              <a:rPr dirty="0" sz="3600" spc="-5">
                <a:solidFill>
                  <a:srgbClr val="38C5F4"/>
                </a:solidFill>
                <a:latin typeface="Arial MT"/>
                <a:cs typeface="Arial MT"/>
              </a:rPr>
              <a:t>Concepts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8436" y="3839667"/>
            <a:ext cx="2001520" cy="523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38C5F4"/>
                </a:solidFill>
                <a:latin typeface="Arial MT"/>
                <a:cs typeface="Arial MT"/>
              </a:rPr>
              <a:t>CCN</a:t>
            </a:r>
            <a:r>
              <a:rPr dirty="0" sz="1200">
                <a:solidFill>
                  <a:srgbClr val="38C5F4"/>
                </a:solidFill>
                <a:latin typeface="Arial MT"/>
                <a:cs typeface="Arial MT"/>
              </a:rPr>
              <a:t>A</a:t>
            </a:r>
            <a:r>
              <a:rPr dirty="0" sz="1200" spc="-70">
                <a:solidFill>
                  <a:srgbClr val="38C5F4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8C5F4"/>
                </a:solidFill>
                <a:latin typeface="Arial MT"/>
                <a:cs typeface="Arial MT"/>
              </a:rPr>
              <a:t>Ro</a:t>
            </a:r>
            <a:r>
              <a:rPr dirty="0" sz="1200" spc="5">
                <a:solidFill>
                  <a:srgbClr val="38C5F4"/>
                </a:solidFill>
                <a:latin typeface="Arial MT"/>
                <a:cs typeface="Arial MT"/>
              </a:rPr>
              <a:t>u</a:t>
            </a:r>
            <a:r>
              <a:rPr dirty="0" sz="1200">
                <a:solidFill>
                  <a:srgbClr val="38C5F4"/>
                </a:solidFill>
                <a:latin typeface="Arial MT"/>
                <a:cs typeface="Arial MT"/>
              </a:rPr>
              <a:t>ting</a:t>
            </a:r>
            <a:r>
              <a:rPr dirty="0" sz="1200" spc="-30">
                <a:solidFill>
                  <a:srgbClr val="38C5F4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8C5F4"/>
                </a:solidFill>
                <a:latin typeface="Arial MT"/>
                <a:cs typeface="Arial MT"/>
              </a:rPr>
              <a:t>a</a:t>
            </a:r>
            <a:r>
              <a:rPr dirty="0" sz="1200" spc="5">
                <a:solidFill>
                  <a:srgbClr val="38C5F4"/>
                </a:solidFill>
                <a:latin typeface="Arial MT"/>
                <a:cs typeface="Arial MT"/>
              </a:rPr>
              <a:t>n</a:t>
            </a:r>
            <a:r>
              <a:rPr dirty="0" sz="1200">
                <a:solidFill>
                  <a:srgbClr val="38C5F4"/>
                </a:solidFill>
                <a:latin typeface="Arial MT"/>
                <a:cs typeface="Arial MT"/>
              </a:rPr>
              <a:t>d</a:t>
            </a:r>
            <a:r>
              <a:rPr dirty="0" sz="1200" spc="-35">
                <a:solidFill>
                  <a:srgbClr val="38C5F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8C5F4"/>
                </a:solidFill>
                <a:latin typeface="Arial MT"/>
                <a:cs typeface="Arial MT"/>
              </a:rPr>
              <a:t>S</a:t>
            </a:r>
            <a:r>
              <a:rPr dirty="0" sz="1200" spc="-15">
                <a:solidFill>
                  <a:srgbClr val="38C5F4"/>
                </a:solidFill>
                <a:latin typeface="Arial MT"/>
                <a:cs typeface="Arial MT"/>
              </a:rPr>
              <a:t>w</a:t>
            </a:r>
            <a:r>
              <a:rPr dirty="0" sz="1200" spc="-5">
                <a:solidFill>
                  <a:srgbClr val="38C5F4"/>
                </a:solidFill>
                <a:latin typeface="Arial MT"/>
                <a:cs typeface="Arial MT"/>
              </a:rPr>
              <a:t>itching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200" spc="-5">
                <a:solidFill>
                  <a:srgbClr val="38C5F4"/>
                </a:solidFill>
                <a:latin typeface="Arial MT"/>
                <a:cs typeface="Arial MT"/>
              </a:rPr>
              <a:t>Connecting</a:t>
            </a:r>
            <a:r>
              <a:rPr dirty="0" sz="1200" spc="-60">
                <a:solidFill>
                  <a:srgbClr val="38C5F4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8C5F4"/>
                </a:solidFill>
                <a:latin typeface="Arial MT"/>
                <a:cs typeface="Arial MT"/>
              </a:rPr>
              <a:t>Networks</a:t>
            </a:r>
            <a:r>
              <a:rPr dirty="0" sz="1200" spc="-15">
                <a:solidFill>
                  <a:srgbClr val="38C5F4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8C5F4"/>
                </a:solidFill>
                <a:latin typeface="Arial MT"/>
                <a:cs typeface="Arial MT"/>
              </a:rPr>
              <a:t>v6.0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184277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Purpose</a:t>
            </a:r>
            <a:r>
              <a:rPr dirty="0" sz="1600" spc="-25"/>
              <a:t> </a:t>
            </a:r>
            <a:r>
              <a:rPr dirty="0" sz="1600" spc="-5"/>
              <a:t>of</a:t>
            </a:r>
            <a:r>
              <a:rPr dirty="0" sz="1600" spc="-10"/>
              <a:t> </a:t>
            </a:r>
            <a:r>
              <a:rPr dirty="0" sz="1600" spc="-20"/>
              <a:t>WANs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Why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 spc="-25"/>
              <a:t>WAN?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7538" y="443610"/>
            <a:ext cx="3415665" cy="406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82867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9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W</a:t>
            </a:r>
            <a:r>
              <a:rPr dirty="0" sz="1500" spc="-5">
                <a:latin typeface="Arial MT"/>
                <a:cs typeface="Arial MT"/>
              </a:rPr>
              <a:t>A</a:t>
            </a:r>
            <a:r>
              <a:rPr dirty="0" sz="1500">
                <a:latin typeface="Arial MT"/>
                <a:cs typeface="Arial MT"/>
              </a:rPr>
              <a:t>N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oper</a:t>
            </a:r>
            <a:r>
              <a:rPr dirty="0" sz="1500" spc="5">
                <a:latin typeface="Arial MT"/>
                <a:cs typeface="Arial MT"/>
              </a:rPr>
              <a:t>a</a:t>
            </a:r>
            <a:r>
              <a:rPr dirty="0" sz="1500">
                <a:latin typeface="Arial MT"/>
                <a:cs typeface="Arial MT"/>
              </a:rPr>
              <a:t>t</a:t>
            </a:r>
            <a:r>
              <a:rPr dirty="0" sz="1500" spc="5">
                <a:latin typeface="Arial MT"/>
                <a:cs typeface="Arial MT"/>
              </a:rPr>
              <a:t>e</a:t>
            </a:r>
            <a:r>
              <a:rPr dirty="0" sz="1500">
                <a:latin typeface="Arial MT"/>
                <a:cs typeface="Arial MT"/>
              </a:rPr>
              <a:t>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</a:t>
            </a:r>
            <a:r>
              <a:rPr dirty="0" sz="1500" spc="-20">
                <a:latin typeface="Arial MT"/>
                <a:cs typeface="Arial MT"/>
              </a:rPr>
              <a:t>y</a:t>
            </a:r>
            <a:r>
              <a:rPr dirty="0" sz="1500">
                <a:latin typeface="Arial MT"/>
                <a:cs typeface="Arial MT"/>
              </a:rPr>
              <a:t>ond the  </a:t>
            </a:r>
            <a:r>
              <a:rPr dirty="0" sz="1500">
                <a:latin typeface="Arial MT"/>
                <a:cs typeface="Arial MT"/>
              </a:rPr>
              <a:t>geographic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scope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LAN.</a:t>
            </a:r>
            <a:endParaRPr sz="1500">
              <a:latin typeface="Arial MT"/>
              <a:cs typeface="Arial MT"/>
            </a:endParaRPr>
          </a:p>
          <a:p>
            <a:pPr marL="181610" marR="12128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10">
                <a:latin typeface="Arial MT"/>
                <a:cs typeface="Arial MT"/>
              </a:rPr>
              <a:t>WANs </a:t>
            </a:r>
            <a:r>
              <a:rPr dirty="0" sz="1500">
                <a:latin typeface="Arial MT"/>
                <a:cs typeface="Arial MT"/>
              </a:rPr>
              <a:t>are used to interconnect the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enterprise </a:t>
            </a:r>
            <a:r>
              <a:rPr dirty="0" sz="1500" spc="-5">
                <a:latin typeface="Arial MT"/>
                <a:cs typeface="Arial MT"/>
              </a:rPr>
              <a:t>LAN </a:t>
            </a:r>
            <a:r>
              <a:rPr dirty="0" sz="1500">
                <a:latin typeface="Arial MT"/>
                <a:cs typeface="Arial MT"/>
              </a:rPr>
              <a:t>to remote </a:t>
            </a:r>
            <a:r>
              <a:rPr dirty="0" sz="1500" spc="-5">
                <a:latin typeface="Arial MT"/>
                <a:cs typeface="Arial MT"/>
              </a:rPr>
              <a:t>LANs in </a:t>
            </a:r>
            <a:r>
              <a:rPr dirty="0" sz="1500">
                <a:latin typeface="Arial MT"/>
                <a:cs typeface="Arial MT"/>
              </a:rPr>
              <a:t> branch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sites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telecommuter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sites.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9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owned </a:t>
            </a:r>
            <a:r>
              <a:rPr dirty="0" sz="1500">
                <a:latin typeface="Arial MT"/>
                <a:cs typeface="Arial MT"/>
              </a:rPr>
              <a:t>by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provider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whereas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5">
                <a:latin typeface="Arial MT"/>
                <a:cs typeface="Arial MT"/>
              </a:rPr>
              <a:t>LAN is typically owned </a:t>
            </a:r>
            <a:r>
              <a:rPr dirty="0" sz="1500">
                <a:latin typeface="Arial MT"/>
                <a:cs typeface="Arial MT"/>
              </a:rPr>
              <a:t>by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organization.</a:t>
            </a:r>
            <a:endParaRPr sz="1500">
              <a:latin typeface="Arial MT"/>
              <a:cs typeface="Arial MT"/>
            </a:endParaRPr>
          </a:p>
          <a:p>
            <a:pPr marL="181610" marR="28575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An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organization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must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pay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fee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 spc="-5">
                <a:latin typeface="Arial MT"/>
                <a:cs typeface="Arial MT"/>
              </a:rPr>
              <a:t>service </a:t>
            </a:r>
            <a:r>
              <a:rPr dirty="0" sz="1500">
                <a:latin typeface="Arial MT"/>
                <a:cs typeface="Arial MT"/>
              </a:rPr>
              <a:t>provider’s </a:t>
            </a:r>
            <a:r>
              <a:rPr dirty="0" sz="1500" spc="-5">
                <a:latin typeface="Arial MT"/>
                <a:cs typeface="Arial MT"/>
              </a:rPr>
              <a:t>network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remote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sites.</a:t>
            </a:r>
            <a:endParaRPr sz="1500">
              <a:latin typeface="Arial MT"/>
              <a:cs typeface="Arial MT"/>
            </a:endParaRPr>
          </a:p>
          <a:p>
            <a:pPr marL="181610" marR="24193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Service providers provide </a:t>
            </a:r>
            <a:r>
              <a:rPr dirty="0" sz="1500">
                <a:latin typeface="Arial MT"/>
                <a:cs typeface="Arial MT"/>
              </a:rPr>
              <a:t>links to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interconnect remote </a:t>
            </a:r>
            <a:r>
              <a:rPr dirty="0" sz="1500" spc="-5">
                <a:latin typeface="Arial MT"/>
                <a:cs typeface="Arial MT"/>
              </a:rPr>
              <a:t>sites </a:t>
            </a:r>
            <a:r>
              <a:rPr dirty="0" sz="1500">
                <a:latin typeface="Arial MT"/>
                <a:cs typeface="Arial MT"/>
              </a:rPr>
              <a:t>for the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purpose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transporting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data,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voice,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video.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27175"/>
            <a:ext cx="4782312" cy="34945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90788" y="4769515"/>
            <a:ext cx="118745" cy="11112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2</a:t>
            </a:fld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312928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Purpose</a:t>
            </a:r>
            <a:r>
              <a:rPr dirty="0" sz="1600" spc="-25"/>
              <a:t> </a:t>
            </a:r>
            <a:r>
              <a:rPr dirty="0" sz="1600" spc="-5"/>
              <a:t>of</a:t>
            </a:r>
            <a:r>
              <a:rPr dirty="0" sz="1600" spc="-10"/>
              <a:t> </a:t>
            </a:r>
            <a:r>
              <a:rPr dirty="0" sz="1600" spc="-20"/>
              <a:t>WANs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Are</a:t>
            </a:r>
            <a:r>
              <a:rPr dirty="0" spc="-30"/>
              <a:t> </a:t>
            </a:r>
            <a:r>
              <a:rPr dirty="0" spc="-25"/>
              <a:t>WANs</a:t>
            </a:r>
            <a:r>
              <a:rPr dirty="0" spc="-35"/>
              <a:t> </a:t>
            </a:r>
            <a:r>
              <a:rPr dirty="0" spc="-5"/>
              <a:t>Necessary?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4702" y="324992"/>
            <a:ext cx="4039235" cy="432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29972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Without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WANs,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LANs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would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series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isolated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networks.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As </a:t>
            </a:r>
            <a:r>
              <a:rPr dirty="0" sz="1500">
                <a:latin typeface="Arial MT"/>
                <a:cs typeface="Arial MT"/>
              </a:rPr>
              <a:t>organizations </a:t>
            </a:r>
            <a:r>
              <a:rPr dirty="0" sz="1500" spc="-5">
                <a:latin typeface="Arial MT"/>
                <a:cs typeface="Arial MT"/>
              </a:rPr>
              <a:t>expand, </a:t>
            </a:r>
            <a:r>
              <a:rPr dirty="0" sz="1500">
                <a:latin typeface="Arial MT"/>
                <a:cs typeface="Arial MT"/>
              </a:rPr>
              <a:t>businesses require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5">
                <a:latin typeface="Arial MT"/>
                <a:cs typeface="Arial MT"/>
              </a:rPr>
              <a:t>ability </a:t>
            </a:r>
            <a:r>
              <a:rPr dirty="0" sz="1500">
                <a:latin typeface="Arial MT"/>
                <a:cs typeface="Arial MT"/>
              </a:rPr>
              <a:t>to communicate </a:t>
            </a:r>
            <a:r>
              <a:rPr dirty="0" sz="1500" spc="-5">
                <a:latin typeface="Arial MT"/>
                <a:cs typeface="Arial MT"/>
              </a:rPr>
              <a:t>between </a:t>
            </a:r>
            <a:r>
              <a:rPr dirty="0" sz="1500">
                <a:latin typeface="Arial MT"/>
                <a:cs typeface="Arial MT"/>
              </a:rPr>
              <a:t> geographically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separated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sites.</a:t>
            </a:r>
            <a:r>
              <a:rPr dirty="0" sz="1500" spc="3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example:</a:t>
            </a:r>
            <a:endParaRPr sz="1500">
              <a:latin typeface="Arial MT"/>
              <a:cs typeface="Arial MT"/>
            </a:endParaRPr>
          </a:p>
          <a:p>
            <a:pPr lvl="1" marL="370205" marR="142875" indent="-169545">
              <a:lnSpc>
                <a:spcPct val="100000"/>
              </a:lnSpc>
              <a:spcBef>
                <a:spcPts val="89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Regional or branch offices of an organization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need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be able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communicate and share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data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with</a:t>
            </a:r>
            <a:r>
              <a:rPr dirty="0" sz="1400">
                <a:latin typeface="Arial MT"/>
                <a:cs typeface="Arial MT"/>
              </a:rPr>
              <a:t> 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central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site.</a:t>
            </a:r>
            <a:endParaRPr sz="1400">
              <a:latin typeface="Arial MT"/>
              <a:cs typeface="Arial MT"/>
            </a:endParaRPr>
          </a:p>
          <a:p>
            <a:pPr lvl="1" marL="370205" marR="14605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Organizations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need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share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information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with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other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customer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organizations.</a:t>
            </a:r>
            <a:endParaRPr sz="1400">
              <a:latin typeface="Arial MT"/>
              <a:cs typeface="Arial MT"/>
            </a:endParaRPr>
          </a:p>
          <a:p>
            <a:pPr lvl="1" marL="370205" marR="15875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Employees </a:t>
            </a:r>
            <a:r>
              <a:rPr dirty="0" sz="1400" spc="-10">
                <a:latin typeface="Arial MT"/>
                <a:cs typeface="Arial MT"/>
              </a:rPr>
              <a:t>who </a:t>
            </a:r>
            <a:r>
              <a:rPr dirty="0" sz="1400" spc="-5">
                <a:latin typeface="Arial MT"/>
                <a:cs typeface="Arial MT"/>
              </a:rPr>
              <a:t>travel on company business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frequently need </a:t>
            </a:r>
            <a:r>
              <a:rPr dirty="0" sz="1400">
                <a:latin typeface="Arial MT"/>
                <a:cs typeface="Arial MT"/>
              </a:rPr>
              <a:t>to access the </a:t>
            </a:r>
            <a:r>
              <a:rPr dirty="0" sz="1400" spc="-5">
                <a:latin typeface="Arial MT"/>
                <a:cs typeface="Arial MT"/>
              </a:rPr>
              <a:t>corporate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network.</a:t>
            </a:r>
            <a:endParaRPr sz="1400">
              <a:latin typeface="Arial MT"/>
              <a:cs typeface="Arial MT"/>
            </a:endParaRPr>
          </a:p>
          <a:p>
            <a:pPr marL="181610" marR="269240" indent="-169545">
              <a:lnSpc>
                <a:spcPct val="100000"/>
              </a:lnSpc>
              <a:spcBef>
                <a:spcPts val="91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In </a:t>
            </a:r>
            <a:r>
              <a:rPr dirty="0" sz="1500" spc="-5">
                <a:latin typeface="Arial MT"/>
                <a:cs typeface="Arial MT"/>
              </a:rPr>
              <a:t>addition, </a:t>
            </a:r>
            <a:r>
              <a:rPr dirty="0" sz="1500">
                <a:latin typeface="Arial MT"/>
                <a:cs typeface="Arial MT"/>
              </a:rPr>
              <a:t>consumers now commonly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communicate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over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Internet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with </a:t>
            </a:r>
            <a:r>
              <a:rPr dirty="0" sz="1500">
                <a:latin typeface="Arial MT"/>
                <a:cs typeface="Arial MT"/>
              </a:rPr>
              <a:t>banks,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stores, and other </a:t>
            </a:r>
            <a:r>
              <a:rPr dirty="0" sz="1500" spc="-5">
                <a:latin typeface="Arial MT"/>
                <a:cs typeface="Arial MT"/>
              </a:rPr>
              <a:t>providers </a:t>
            </a:r>
            <a:r>
              <a:rPr dirty="0" sz="1500">
                <a:latin typeface="Arial MT"/>
                <a:cs typeface="Arial MT"/>
              </a:rPr>
              <a:t>of goods and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15" y="1060703"/>
            <a:ext cx="4494276" cy="31988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90788" y="4769515"/>
            <a:ext cx="118745" cy="11112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2</a:t>
            </a:fld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7184" y="4762296"/>
            <a:ext cx="276733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1450" algn="l"/>
              </a:tabLst>
            </a:pP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©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2016 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C</a:t>
            </a:r>
            <a:r>
              <a:rPr dirty="0" sz="600" spc="5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sco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and/or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ts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aff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ili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ates.</a:t>
            </a:r>
            <a:r>
              <a:rPr dirty="0" sz="600" spc="-5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A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l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l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r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ghts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reserved.  </a:t>
            </a:r>
            <a:r>
              <a:rPr dirty="0" sz="600" spc="-2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C</a:t>
            </a:r>
            <a:r>
              <a:rPr dirty="0" sz="600" spc="5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sco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Co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nf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dent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al	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7492" y="4715255"/>
            <a:ext cx="341630" cy="181610"/>
          </a:xfrm>
          <a:custGeom>
            <a:avLst/>
            <a:gdLst/>
            <a:ahLst/>
            <a:cxnLst/>
            <a:rect l="l" t="t" r="r" b="b"/>
            <a:pathLst>
              <a:path w="341630" h="181610">
                <a:moveTo>
                  <a:pt x="15240" y="51460"/>
                </a:moveTo>
                <a:lnTo>
                  <a:pt x="11658" y="48768"/>
                </a:lnTo>
                <a:lnTo>
                  <a:pt x="3581" y="48768"/>
                </a:lnTo>
                <a:lnTo>
                  <a:pt x="0" y="51460"/>
                </a:lnTo>
                <a:lnTo>
                  <a:pt x="0" y="75666"/>
                </a:lnTo>
                <a:lnTo>
                  <a:pt x="3581" y="79248"/>
                </a:lnTo>
                <a:lnTo>
                  <a:pt x="11658" y="79248"/>
                </a:lnTo>
                <a:lnTo>
                  <a:pt x="15240" y="75666"/>
                </a:lnTo>
                <a:lnTo>
                  <a:pt x="15240" y="55943"/>
                </a:lnTo>
                <a:lnTo>
                  <a:pt x="15240" y="51460"/>
                </a:lnTo>
                <a:close/>
              </a:path>
              <a:path w="341630" h="181610">
                <a:moveTo>
                  <a:pt x="56388" y="31597"/>
                </a:moveTo>
                <a:lnTo>
                  <a:pt x="52806" y="28956"/>
                </a:lnTo>
                <a:lnTo>
                  <a:pt x="44729" y="28956"/>
                </a:lnTo>
                <a:lnTo>
                  <a:pt x="41148" y="31597"/>
                </a:lnTo>
                <a:lnTo>
                  <a:pt x="41148" y="75717"/>
                </a:lnTo>
                <a:lnTo>
                  <a:pt x="44729" y="79248"/>
                </a:lnTo>
                <a:lnTo>
                  <a:pt x="52806" y="79248"/>
                </a:lnTo>
                <a:lnTo>
                  <a:pt x="56388" y="75717"/>
                </a:lnTo>
                <a:lnTo>
                  <a:pt x="56388" y="36017"/>
                </a:lnTo>
                <a:lnTo>
                  <a:pt x="56388" y="31597"/>
                </a:lnTo>
                <a:close/>
              </a:path>
              <a:path w="341630" h="181610">
                <a:moveTo>
                  <a:pt x="76200" y="120688"/>
                </a:moveTo>
                <a:lnTo>
                  <a:pt x="74409" y="120688"/>
                </a:lnTo>
                <a:lnTo>
                  <a:pt x="69024" y="118872"/>
                </a:lnTo>
                <a:lnTo>
                  <a:pt x="61861" y="118872"/>
                </a:lnTo>
                <a:lnTo>
                  <a:pt x="49390" y="121145"/>
                </a:lnTo>
                <a:lnTo>
                  <a:pt x="39433" y="127482"/>
                </a:lnTo>
                <a:lnTo>
                  <a:pt x="32854" y="137210"/>
                </a:lnTo>
                <a:lnTo>
                  <a:pt x="30480" y="149656"/>
                </a:lnTo>
                <a:lnTo>
                  <a:pt x="32981" y="163017"/>
                </a:lnTo>
                <a:lnTo>
                  <a:pt x="39776" y="172986"/>
                </a:lnTo>
                <a:lnTo>
                  <a:pt x="49758" y="179209"/>
                </a:lnTo>
                <a:lnTo>
                  <a:pt x="61861" y="181356"/>
                </a:lnTo>
                <a:lnTo>
                  <a:pt x="69024" y="181356"/>
                </a:lnTo>
                <a:lnTo>
                  <a:pt x="74409" y="179539"/>
                </a:lnTo>
                <a:lnTo>
                  <a:pt x="76200" y="179539"/>
                </a:lnTo>
                <a:lnTo>
                  <a:pt x="76200" y="165963"/>
                </a:lnTo>
                <a:lnTo>
                  <a:pt x="76200" y="163245"/>
                </a:lnTo>
                <a:lnTo>
                  <a:pt x="75298" y="163245"/>
                </a:lnTo>
                <a:lnTo>
                  <a:pt x="69926" y="165963"/>
                </a:lnTo>
                <a:lnTo>
                  <a:pt x="52895" y="165963"/>
                </a:lnTo>
                <a:lnTo>
                  <a:pt x="46621" y="158711"/>
                </a:lnTo>
                <a:lnTo>
                  <a:pt x="46621" y="140601"/>
                </a:lnTo>
                <a:lnTo>
                  <a:pt x="52895" y="133362"/>
                </a:lnTo>
                <a:lnTo>
                  <a:pt x="70815" y="133362"/>
                </a:lnTo>
                <a:lnTo>
                  <a:pt x="75298" y="136982"/>
                </a:lnTo>
                <a:lnTo>
                  <a:pt x="76200" y="136982"/>
                </a:lnTo>
                <a:lnTo>
                  <a:pt x="76200" y="133362"/>
                </a:lnTo>
                <a:lnTo>
                  <a:pt x="76200" y="120688"/>
                </a:lnTo>
                <a:close/>
              </a:path>
              <a:path w="341630" h="181610">
                <a:moveTo>
                  <a:pt x="97536" y="3568"/>
                </a:moveTo>
                <a:lnTo>
                  <a:pt x="93954" y="0"/>
                </a:lnTo>
                <a:lnTo>
                  <a:pt x="85877" y="0"/>
                </a:lnTo>
                <a:lnTo>
                  <a:pt x="82296" y="3568"/>
                </a:lnTo>
                <a:lnTo>
                  <a:pt x="82296" y="90919"/>
                </a:lnTo>
                <a:lnTo>
                  <a:pt x="85877" y="94488"/>
                </a:lnTo>
                <a:lnTo>
                  <a:pt x="93954" y="94488"/>
                </a:lnTo>
                <a:lnTo>
                  <a:pt x="97536" y="90919"/>
                </a:lnTo>
                <a:lnTo>
                  <a:pt x="97536" y="7124"/>
                </a:lnTo>
                <a:lnTo>
                  <a:pt x="97536" y="3568"/>
                </a:lnTo>
                <a:close/>
              </a:path>
              <a:path w="341630" h="181610">
                <a:moveTo>
                  <a:pt x="111252" y="120396"/>
                </a:moveTo>
                <a:lnTo>
                  <a:pt x="97536" y="120396"/>
                </a:lnTo>
                <a:lnTo>
                  <a:pt x="97536" y="179832"/>
                </a:lnTo>
                <a:lnTo>
                  <a:pt x="111252" y="179832"/>
                </a:lnTo>
                <a:lnTo>
                  <a:pt x="111252" y="120396"/>
                </a:lnTo>
                <a:close/>
              </a:path>
              <a:path w="341630" h="181610">
                <a:moveTo>
                  <a:pt x="137160" y="31597"/>
                </a:moveTo>
                <a:lnTo>
                  <a:pt x="133578" y="28956"/>
                </a:lnTo>
                <a:lnTo>
                  <a:pt x="125501" y="28956"/>
                </a:lnTo>
                <a:lnTo>
                  <a:pt x="121920" y="31597"/>
                </a:lnTo>
                <a:lnTo>
                  <a:pt x="121920" y="75717"/>
                </a:lnTo>
                <a:lnTo>
                  <a:pt x="125501" y="79248"/>
                </a:lnTo>
                <a:lnTo>
                  <a:pt x="133578" y="79248"/>
                </a:lnTo>
                <a:lnTo>
                  <a:pt x="137160" y="75717"/>
                </a:lnTo>
                <a:lnTo>
                  <a:pt x="137160" y="36017"/>
                </a:lnTo>
                <a:lnTo>
                  <a:pt x="137160" y="31597"/>
                </a:lnTo>
                <a:close/>
              </a:path>
              <a:path w="341630" h="181610">
                <a:moveTo>
                  <a:pt x="172212" y="153289"/>
                </a:moveTo>
                <a:lnTo>
                  <a:pt x="167741" y="146939"/>
                </a:lnTo>
                <a:lnTo>
                  <a:pt x="157899" y="143319"/>
                </a:lnTo>
                <a:lnTo>
                  <a:pt x="154317" y="142417"/>
                </a:lnTo>
                <a:lnTo>
                  <a:pt x="151638" y="141516"/>
                </a:lnTo>
                <a:lnTo>
                  <a:pt x="147167" y="140601"/>
                </a:lnTo>
                <a:lnTo>
                  <a:pt x="147167" y="133362"/>
                </a:lnTo>
                <a:lnTo>
                  <a:pt x="150749" y="131546"/>
                </a:lnTo>
                <a:lnTo>
                  <a:pt x="161480" y="131546"/>
                </a:lnTo>
                <a:lnTo>
                  <a:pt x="167741" y="133362"/>
                </a:lnTo>
                <a:lnTo>
                  <a:pt x="168630" y="133362"/>
                </a:lnTo>
                <a:lnTo>
                  <a:pt x="168630" y="131546"/>
                </a:lnTo>
                <a:lnTo>
                  <a:pt x="168630" y="120688"/>
                </a:lnTo>
                <a:lnTo>
                  <a:pt x="167741" y="120688"/>
                </a:lnTo>
                <a:lnTo>
                  <a:pt x="161480" y="118872"/>
                </a:lnTo>
                <a:lnTo>
                  <a:pt x="153428" y="118872"/>
                </a:lnTo>
                <a:lnTo>
                  <a:pt x="144259" y="120192"/>
                </a:lnTo>
                <a:lnTo>
                  <a:pt x="137210" y="123964"/>
                </a:lnTo>
                <a:lnTo>
                  <a:pt x="132664" y="129959"/>
                </a:lnTo>
                <a:lnTo>
                  <a:pt x="131064" y="137883"/>
                </a:lnTo>
                <a:lnTo>
                  <a:pt x="131064" y="147853"/>
                </a:lnTo>
                <a:lnTo>
                  <a:pt x="138214" y="152374"/>
                </a:lnTo>
                <a:lnTo>
                  <a:pt x="147167" y="155092"/>
                </a:lnTo>
                <a:lnTo>
                  <a:pt x="148056" y="155994"/>
                </a:lnTo>
                <a:lnTo>
                  <a:pt x="149847" y="155994"/>
                </a:lnTo>
                <a:lnTo>
                  <a:pt x="157010" y="159626"/>
                </a:lnTo>
                <a:lnTo>
                  <a:pt x="157010" y="165963"/>
                </a:lnTo>
                <a:lnTo>
                  <a:pt x="153428" y="167767"/>
                </a:lnTo>
                <a:lnTo>
                  <a:pt x="139115" y="167767"/>
                </a:lnTo>
                <a:lnTo>
                  <a:pt x="132854" y="165963"/>
                </a:lnTo>
                <a:lnTo>
                  <a:pt x="131953" y="165963"/>
                </a:lnTo>
                <a:lnTo>
                  <a:pt x="131953" y="179539"/>
                </a:lnTo>
                <a:lnTo>
                  <a:pt x="140004" y="181356"/>
                </a:lnTo>
                <a:lnTo>
                  <a:pt x="148056" y="181356"/>
                </a:lnTo>
                <a:lnTo>
                  <a:pt x="156730" y="180289"/>
                </a:lnTo>
                <a:lnTo>
                  <a:pt x="164490" y="176834"/>
                </a:lnTo>
                <a:lnTo>
                  <a:pt x="170065" y="170662"/>
                </a:lnTo>
                <a:lnTo>
                  <a:pt x="170738" y="167767"/>
                </a:lnTo>
                <a:lnTo>
                  <a:pt x="172212" y="161429"/>
                </a:lnTo>
                <a:lnTo>
                  <a:pt x="172212" y="153289"/>
                </a:lnTo>
                <a:close/>
              </a:path>
              <a:path w="341630" h="181610">
                <a:moveTo>
                  <a:pt x="178308" y="51460"/>
                </a:moveTo>
                <a:lnTo>
                  <a:pt x="174726" y="48768"/>
                </a:lnTo>
                <a:lnTo>
                  <a:pt x="166649" y="48768"/>
                </a:lnTo>
                <a:lnTo>
                  <a:pt x="163068" y="51460"/>
                </a:lnTo>
                <a:lnTo>
                  <a:pt x="163068" y="75666"/>
                </a:lnTo>
                <a:lnTo>
                  <a:pt x="166649" y="79248"/>
                </a:lnTo>
                <a:lnTo>
                  <a:pt x="174726" y="79248"/>
                </a:lnTo>
                <a:lnTo>
                  <a:pt x="178308" y="75666"/>
                </a:lnTo>
                <a:lnTo>
                  <a:pt x="178308" y="55943"/>
                </a:lnTo>
                <a:lnTo>
                  <a:pt x="178308" y="51460"/>
                </a:lnTo>
                <a:close/>
              </a:path>
              <a:path w="341630" h="181610">
                <a:moveTo>
                  <a:pt x="219456" y="31597"/>
                </a:moveTo>
                <a:lnTo>
                  <a:pt x="215874" y="28956"/>
                </a:lnTo>
                <a:lnTo>
                  <a:pt x="207797" y="28956"/>
                </a:lnTo>
                <a:lnTo>
                  <a:pt x="204216" y="31597"/>
                </a:lnTo>
                <a:lnTo>
                  <a:pt x="204216" y="75717"/>
                </a:lnTo>
                <a:lnTo>
                  <a:pt x="207797" y="79248"/>
                </a:lnTo>
                <a:lnTo>
                  <a:pt x="215874" y="79248"/>
                </a:lnTo>
                <a:lnTo>
                  <a:pt x="219456" y="75717"/>
                </a:lnTo>
                <a:lnTo>
                  <a:pt x="219456" y="36017"/>
                </a:lnTo>
                <a:lnTo>
                  <a:pt x="219456" y="31597"/>
                </a:lnTo>
                <a:close/>
              </a:path>
              <a:path w="341630" h="181610">
                <a:moveTo>
                  <a:pt x="231648" y="120688"/>
                </a:moveTo>
                <a:lnTo>
                  <a:pt x="229920" y="120688"/>
                </a:lnTo>
                <a:lnTo>
                  <a:pt x="224713" y="118872"/>
                </a:lnTo>
                <a:lnTo>
                  <a:pt x="217779" y="118872"/>
                </a:lnTo>
                <a:lnTo>
                  <a:pt x="205727" y="121145"/>
                </a:lnTo>
                <a:lnTo>
                  <a:pt x="196113" y="127482"/>
                </a:lnTo>
                <a:lnTo>
                  <a:pt x="189750" y="137210"/>
                </a:lnTo>
                <a:lnTo>
                  <a:pt x="187452" y="149656"/>
                </a:lnTo>
                <a:lnTo>
                  <a:pt x="189865" y="163017"/>
                </a:lnTo>
                <a:lnTo>
                  <a:pt x="196443" y="172986"/>
                </a:lnTo>
                <a:lnTo>
                  <a:pt x="206095" y="179209"/>
                </a:lnTo>
                <a:lnTo>
                  <a:pt x="217779" y="181356"/>
                </a:lnTo>
                <a:lnTo>
                  <a:pt x="224713" y="181356"/>
                </a:lnTo>
                <a:lnTo>
                  <a:pt x="229920" y="179539"/>
                </a:lnTo>
                <a:lnTo>
                  <a:pt x="231648" y="179539"/>
                </a:lnTo>
                <a:lnTo>
                  <a:pt x="231648" y="165963"/>
                </a:lnTo>
                <a:lnTo>
                  <a:pt x="231648" y="163245"/>
                </a:lnTo>
                <a:lnTo>
                  <a:pt x="230784" y="163245"/>
                </a:lnTo>
                <a:lnTo>
                  <a:pt x="226453" y="165963"/>
                </a:lnTo>
                <a:lnTo>
                  <a:pt x="209118" y="165963"/>
                </a:lnTo>
                <a:lnTo>
                  <a:pt x="203047" y="158711"/>
                </a:lnTo>
                <a:lnTo>
                  <a:pt x="203047" y="140601"/>
                </a:lnTo>
                <a:lnTo>
                  <a:pt x="209981" y="133362"/>
                </a:lnTo>
                <a:lnTo>
                  <a:pt x="226453" y="133362"/>
                </a:lnTo>
                <a:lnTo>
                  <a:pt x="230784" y="136982"/>
                </a:lnTo>
                <a:lnTo>
                  <a:pt x="231648" y="136982"/>
                </a:lnTo>
                <a:lnTo>
                  <a:pt x="231648" y="133362"/>
                </a:lnTo>
                <a:lnTo>
                  <a:pt x="231648" y="120688"/>
                </a:lnTo>
                <a:close/>
              </a:path>
              <a:path w="341630" h="181610">
                <a:moveTo>
                  <a:pt x="259080" y="3568"/>
                </a:moveTo>
                <a:lnTo>
                  <a:pt x="255498" y="0"/>
                </a:lnTo>
                <a:lnTo>
                  <a:pt x="247421" y="0"/>
                </a:lnTo>
                <a:lnTo>
                  <a:pt x="243840" y="3568"/>
                </a:lnTo>
                <a:lnTo>
                  <a:pt x="243840" y="90919"/>
                </a:lnTo>
                <a:lnTo>
                  <a:pt x="247421" y="94488"/>
                </a:lnTo>
                <a:lnTo>
                  <a:pt x="255498" y="94488"/>
                </a:lnTo>
                <a:lnTo>
                  <a:pt x="259080" y="90919"/>
                </a:lnTo>
                <a:lnTo>
                  <a:pt x="259080" y="7124"/>
                </a:lnTo>
                <a:lnTo>
                  <a:pt x="259080" y="3568"/>
                </a:lnTo>
                <a:close/>
              </a:path>
              <a:path w="341630" h="181610">
                <a:moveTo>
                  <a:pt x="300228" y="31597"/>
                </a:moveTo>
                <a:lnTo>
                  <a:pt x="296646" y="28956"/>
                </a:lnTo>
                <a:lnTo>
                  <a:pt x="288569" y="28956"/>
                </a:lnTo>
                <a:lnTo>
                  <a:pt x="284988" y="31597"/>
                </a:lnTo>
                <a:lnTo>
                  <a:pt x="284988" y="75717"/>
                </a:lnTo>
                <a:lnTo>
                  <a:pt x="288569" y="79248"/>
                </a:lnTo>
                <a:lnTo>
                  <a:pt x="296646" y="79248"/>
                </a:lnTo>
                <a:lnTo>
                  <a:pt x="300228" y="75717"/>
                </a:lnTo>
                <a:lnTo>
                  <a:pt x="300228" y="36017"/>
                </a:lnTo>
                <a:lnTo>
                  <a:pt x="300228" y="31597"/>
                </a:lnTo>
                <a:close/>
              </a:path>
              <a:path w="341630" h="181610">
                <a:moveTo>
                  <a:pt x="309359" y="149656"/>
                </a:moveTo>
                <a:lnTo>
                  <a:pt x="307174" y="137604"/>
                </a:lnTo>
                <a:lnTo>
                  <a:pt x="305066" y="134264"/>
                </a:lnTo>
                <a:lnTo>
                  <a:pt x="300990" y="127825"/>
                </a:lnTo>
                <a:lnTo>
                  <a:pt x="293700" y="122872"/>
                </a:lnTo>
                <a:lnTo>
                  <a:pt x="293700" y="141516"/>
                </a:lnTo>
                <a:lnTo>
                  <a:pt x="293700" y="158711"/>
                </a:lnTo>
                <a:lnTo>
                  <a:pt x="287604" y="165963"/>
                </a:lnTo>
                <a:lnTo>
                  <a:pt x="270179" y="165963"/>
                </a:lnTo>
                <a:lnTo>
                  <a:pt x="264083" y="158711"/>
                </a:lnTo>
                <a:lnTo>
                  <a:pt x="264083" y="141516"/>
                </a:lnTo>
                <a:lnTo>
                  <a:pt x="270179" y="134264"/>
                </a:lnTo>
                <a:lnTo>
                  <a:pt x="287604" y="134264"/>
                </a:lnTo>
                <a:lnTo>
                  <a:pt x="293700" y="141516"/>
                </a:lnTo>
                <a:lnTo>
                  <a:pt x="293700" y="122872"/>
                </a:lnTo>
                <a:lnTo>
                  <a:pt x="291363" y="121272"/>
                </a:lnTo>
                <a:lnTo>
                  <a:pt x="278892" y="118872"/>
                </a:lnTo>
                <a:lnTo>
                  <a:pt x="266407" y="121272"/>
                </a:lnTo>
                <a:lnTo>
                  <a:pt x="256794" y="127825"/>
                </a:lnTo>
                <a:lnTo>
                  <a:pt x="250596" y="137604"/>
                </a:lnTo>
                <a:lnTo>
                  <a:pt x="248412" y="149656"/>
                </a:lnTo>
                <a:lnTo>
                  <a:pt x="250596" y="161874"/>
                </a:lnTo>
                <a:lnTo>
                  <a:pt x="256794" y="171970"/>
                </a:lnTo>
                <a:lnTo>
                  <a:pt x="266407" y="178828"/>
                </a:lnTo>
                <a:lnTo>
                  <a:pt x="278892" y="181356"/>
                </a:lnTo>
                <a:lnTo>
                  <a:pt x="291363" y="178828"/>
                </a:lnTo>
                <a:lnTo>
                  <a:pt x="300990" y="171970"/>
                </a:lnTo>
                <a:lnTo>
                  <a:pt x="304660" y="165963"/>
                </a:lnTo>
                <a:lnTo>
                  <a:pt x="307174" y="161874"/>
                </a:lnTo>
                <a:lnTo>
                  <a:pt x="309359" y="149656"/>
                </a:lnTo>
                <a:close/>
              </a:path>
              <a:path w="341630" h="181610">
                <a:moveTo>
                  <a:pt x="341376" y="51460"/>
                </a:moveTo>
                <a:lnTo>
                  <a:pt x="337794" y="48768"/>
                </a:lnTo>
                <a:lnTo>
                  <a:pt x="329717" y="48768"/>
                </a:lnTo>
                <a:lnTo>
                  <a:pt x="326136" y="51460"/>
                </a:lnTo>
                <a:lnTo>
                  <a:pt x="326136" y="75666"/>
                </a:lnTo>
                <a:lnTo>
                  <a:pt x="329717" y="79248"/>
                </a:lnTo>
                <a:lnTo>
                  <a:pt x="337794" y="79248"/>
                </a:lnTo>
                <a:lnTo>
                  <a:pt x="341376" y="75666"/>
                </a:lnTo>
                <a:lnTo>
                  <a:pt x="341376" y="55943"/>
                </a:lnTo>
                <a:lnTo>
                  <a:pt x="341376" y="51460"/>
                </a:lnTo>
                <a:close/>
              </a:path>
            </a:pathLst>
          </a:custGeom>
          <a:solidFill>
            <a:srgbClr val="38C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25869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Purpose</a:t>
            </a:r>
            <a:r>
              <a:rPr dirty="0" sz="1600" spc="-25"/>
              <a:t> </a:t>
            </a:r>
            <a:r>
              <a:rPr dirty="0" sz="1600" spc="-5"/>
              <a:t>of</a:t>
            </a:r>
            <a:r>
              <a:rPr dirty="0" sz="1600" spc="-10"/>
              <a:t> </a:t>
            </a:r>
            <a:r>
              <a:rPr dirty="0" sz="1600" spc="-20"/>
              <a:t>WANs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30"/>
              <a:t>WAN</a:t>
            </a:r>
            <a:r>
              <a:rPr dirty="0" spc="-120"/>
              <a:t> </a:t>
            </a:r>
            <a:r>
              <a:rPr dirty="0" spc="-35"/>
              <a:t>Topologies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11192" y="130302"/>
            <a:ext cx="4708525" cy="4544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4699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Interconnecting multiple sites </a:t>
            </a:r>
            <a:r>
              <a:rPr dirty="0" sz="1500">
                <a:latin typeface="Arial MT"/>
                <a:cs typeface="Arial MT"/>
              </a:rPr>
              <a:t>across </a:t>
            </a:r>
            <a:r>
              <a:rPr dirty="0" sz="1500" spc="-10">
                <a:latin typeface="Arial MT"/>
                <a:cs typeface="Arial MT"/>
              </a:rPr>
              <a:t>WANs </a:t>
            </a:r>
            <a:r>
              <a:rPr dirty="0" sz="1500">
                <a:latin typeface="Arial MT"/>
                <a:cs typeface="Arial MT"/>
              </a:rPr>
              <a:t>can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involve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5">
                <a:latin typeface="Arial MT"/>
                <a:cs typeface="Arial MT"/>
              </a:rPr>
              <a:t>variety </a:t>
            </a:r>
            <a:r>
              <a:rPr dirty="0" sz="1500">
                <a:latin typeface="Arial MT"/>
                <a:cs typeface="Arial MT"/>
              </a:rPr>
              <a:t>of </a:t>
            </a:r>
            <a:r>
              <a:rPr dirty="0" sz="1500" spc="-5">
                <a:latin typeface="Arial MT"/>
                <a:cs typeface="Arial MT"/>
              </a:rPr>
              <a:t>service provider </a:t>
            </a:r>
            <a:r>
              <a:rPr dirty="0" sz="1500">
                <a:latin typeface="Arial MT"/>
                <a:cs typeface="Arial MT"/>
              </a:rPr>
              <a:t>technologies and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>
                <a:latin typeface="Arial MT"/>
                <a:cs typeface="Arial MT"/>
              </a:rPr>
              <a:t>topologies. </a:t>
            </a:r>
            <a:r>
              <a:rPr dirty="0" sz="1500" spc="-5">
                <a:latin typeface="Arial MT"/>
                <a:cs typeface="Arial MT"/>
              </a:rPr>
              <a:t>There </a:t>
            </a:r>
            <a:r>
              <a:rPr dirty="0" sz="1500">
                <a:latin typeface="Arial MT"/>
                <a:cs typeface="Arial MT"/>
              </a:rPr>
              <a:t>are four </a:t>
            </a:r>
            <a:r>
              <a:rPr dirty="0" sz="1500" spc="-5">
                <a:latin typeface="Arial MT"/>
                <a:cs typeface="Arial MT"/>
              </a:rPr>
              <a:t>Common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topologies.</a:t>
            </a:r>
            <a:endParaRPr sz="1500">
              <a:latin typeface="Arial MT"/>
              <a:cs typeface="Arial MT"/>
            </a:endParaRPr>
          </a:p>
          <a:p>
            <a:pPr marL="18161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Point-to-Point</a:t>
            </a:r>
            <a:r>
              <a:rPr dirty="0" sz="1500" spc="-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topology</a:t>
            </a:r>
            <a:endParaRPr sz="15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89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Employs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point-to-point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circuit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between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two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endpoints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59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15">
                <a:latin typeface="Arial MT"/>
                <a:cs typeface="Arial MT"/>
              </a:rPr>
              <a:t>Typically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involves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dedicated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leased-line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connection</a:t>
            </a:r>
            <a:endParaRPr sz="1400">
              <a:latin typeface="Arial MT"/>
              <a:cs typeface="Arial MT"/>
            </a:endParaRPr>
          </a:p>
          <a:p>
            <a:pPr marL="37084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such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T1/E1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line.</a:t>
            </a:r>
            <a:endParaRPr sz="1400">
              <a:latin typeface="Arial MT"/>
              <a:cs typeface="Arial MT"/>
            </a:endParaRPr>
          </a:p>
          <a:p>
            <a:pPr lvl="1" marL="370840" marR="212090" indent="-16954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10">
                <a:latin typeface="Arial MT"/>
                <a:cs typeface="Arial MT"/>
              </a:rPr>
              <a:t>Transparent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customer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appears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37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direct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physical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link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between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two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endpoints</a:t>
            </a:r>
            <a:endParaRPr sz="1400">
              <a:latin typeface="Arial MT"/>
              <a:cs typeface="Arial MT"/>
            </a:endParaRPr>
          </a:p>
          <a:p>
            <a:pPr marL="181610" indent="-169545">
              <a:lnSpc>
                <a:spcPct val="100000"/>
              </a:lnSpc>
              <a:spcBef>
                <a:spcPts val="9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Hub-and-Spoke</a:t>
            </a:r>
            <a:endParaRPr sz="1500">
              <a:latin typeface="Arial MT"/>
              <a:cs typeface="Arial MT"/>
            </a:endParaRPr>
          </a:p>
          <a:p>
            <a:pPr lvl="1" marL="370840" marR="12065" indent="-169545">
              <a:lnSpc>
                <a:spcPct val="100000"/>
              </a:lnSpc>
              <a:spcBef>
                <a:spcPts val="894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Applicable </a:t>
            </a:r>
            <a:r>
              <a:rPr dirty="0" sz="1400" spc="-10">
                <a:latin typeface="Arial MT"/>
                <a:cs typeface="Arial MT"/>
              </a:rPr>
              <a:t>when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private network connection between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multiple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sites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is </a:t>
            </a:r>
            <a:r>
              <a:rPr dirty="0" sz="1400">
                <a:latin typeface="Arial MT"/>
                <a:cs typeface="Arial MT"/>
              </a:rPr>
              <a:t>required</a:t>
            </a:r>
            <a:endParaRPr sz="1400">
              <a:latin typeface="Arial MT"/>
              <a:cs typeface="Arial MT"/>
            </a:endParaRPr>
          </a:p>
          <a:p>
            <a:pPr lvl="1" marL="370840" marR="50800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single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interface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hub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 shared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all </a:t>
            </a:r>
            <a:r>
              <a:rPr dirty="0" sz="1400" spc="-3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spoke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circuits.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Spoke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sites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interconnected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through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hub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site</a:t>
            </a:r>
            <a:endParaRPr sz="1400">
              <a:latin typeface="Arial MT"/>
              <a:cs typeface="Arial MT"/>
            </a:endParaRPr>
          </a:p>
          <a:p>
            <a:pPr marL="370840">
              <a:lnSpc>
                <a:spcPct val="100000"/>
              </a:lnSpc>
              <a:spcBef>
                <a:spcPts val="5"/>
              </a:spcBef>
            </a:pPr>
            <a:r>
              <a:rPr dirty="0" sz="1400" spc="-5">
                <a:latin typeface="Arial MT"/>
                <a:cs typeface="Arial MT"/>
              </a:rPr>
              <a:t>using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virtual circuits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routed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subinterfaces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9333" y="4648606"/>
            <a:ext cx="3721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 MT"/>
                <a:cs typeface="Arial MT"/>
              </a:rPr>
              <a:t>hub.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623" y="798576"/>
            <a:ext cx="3499104" cy="3834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72390"/>
            <a:ext cx="327914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Purpose</a:t>
            </a:r>
            <a:r>
              <a:rPr dirty="0" sz="1600" spc="-25"/>
              <a:t> </a:t>
            </a:r>
            <a:r>
              <a:rPr dirty="0" sz="1600" spc="-5"/>
              <a:t>of</a:t>
            </a:r>
            <a:r>
              <a:rPr dirty="0" sz="1600" spc="-10"/>
              <a:t> </a:t>
            </a:r>
            <a:r>
              <a:rPr dirty="0" sz="1600" spc="-20"/>
              <a:t>WANs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30"/>
              <a:t>WAN</a:t>
            </a:r>
            <a:r>
              <a:rPr dirty="0" spc="-85"/>
              <a:t> </a:t>
            </a:r>
            <a:r>
              <a:rPr dirty="0" spc="-35"/>
              <a:t>Topologies</a:t>
            </a:r>
            <a:r>
              <a:rPr dirty="0"/>
              <a:t>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565" y="633130"/>
            <a:ext cx="4606925" cy="4024629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4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Full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Mesh</a:t>
            </a:r>
            <a:endParaRPr sz="15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894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disadvantage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hub-and-spoke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topology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is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that</a:t>
            </a:r>
            <a:endParaRPr sz="1400">
              <a:latin typeface="Arial MT"/>
              <a:cs typeface="Arial MT"/>
            </a:endParaRPr>
          </a:p>
          <a:p>
            <a:pPr marL="370840">
              <a:lnSpc>
                <a:spcPct val="100000"/>
              </a:lnSpc>
            </a:pPr>
            <a:r>
              <a:rPr dirty="0" sz="1400" spc="-5">
                <a:latin typeface="Arial MT"/>
                <a:cs typeface="Arial MT"/>
              </a:rPr>
              <a:t>all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communication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through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hub.</a:t>
            </a:r>
            <a:endParaRPr sz="1400">
              <a:latin typeface="Arial MT"/>
              <a:cs typeface="Arial MT"/>
            </a:endParaRPr>
          </a:p>
          <a:p>
            <a:pPr lvl="1" marL="370840" marR="266065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With a </a:t>
            </a:r>
            <a:r>
              <a:rPr dirty="0" sz="1400" spc="-5">
                <a:latin typeface="Arial MT"/>
                <a:cs typeface="Arial MT"/>
              </a:rPr>
              <a:t>full mesh topology using virtual circuits, any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site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communicate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directly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with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other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site.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disadvantage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is</a:t>
            </a:r>
            <a:r>
              <a:rPr dirty="0" sz="1400">
                <a:latin typeface="Arial MT"/>
                <a:cs typeface="Arial MT"/>
              </a:rPr>
              <a:t> the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large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number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virtual circuits</a:t>
            </a:r>
            <a:endParaRPr sz="1400">
              <a:latin typeface="Arial MT"/>
              <a:cs typeface="Arial MT"/>
            </a:endParaRPr>
          </a:p>
          <a:p>
            <a:pPr marL="37084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that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need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configured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maintained.</a:t>
            </a:r>
            <a:endParaRPr sz="1400">
              <a:latin typeface="Arial MT"/>
              <a:cs typeface="Arial MT"/>
            </a:endParaRPr>
          </a:p>
          <a:p>
            <a:pPr algn="just" marL="181610" indent="-169545">
              <a:lnSpc>
                <a:spcPct val="100000"/>
              </a:lnSpc>
              <a:spcBef>
                <a:spcPts val="91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Dual-homed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Topology</a:t>
            </a:r>
            <a:endParaRPr sz="1500">
              <a:latin typeface="Arial MT"/>
              <a:cs typeface="Arial MT"/>
            </a:endParaRPr>
          </a:p>
          <a:p>
            <a:pPr algn="just" lvl="1" marL="370840" marR="255904" indent="-169545">
              <a:lnSpc>
                <a:spcPct val="100000"/>
              </a:lnSpc>
              <a:spcBef>
                <a:spcPts val="89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Provides </a:t>
            </a:r>
            <a:r>
              <a:rPr dirty="0" sz="1400">
                <a:latin typeface="Arial MT"/>
                <a:cs typeface="Arial MT"/>
              </a:rPr>
              <a:t>redundancy </a:t>
            </a:r>
            <a:r>
              <a:rPr dirty="0" sz="1400" spc="-5">
                <a:latin typeface="Arial MT"/>
                <a:cs typeface="Arial MT"/>
              </a:rPr>
              <a:t>and load balancing </a:t>
            </a:r>
            <a:r>
              <a:rPr dirty="0" sz="1400" spc="-10">
                <a:latin typeface="Arial MT"/>
                <a:cs typeface="Arial MT"/>
              </a:rPr>
              <a:t>however </a:t>
            </a:r>
            <a:r>
              <a:rPr dirty="0" sz="1400" spc="-5">
                <a:latin typeface="Arial MT"/>
                <a:cs typeface="Arial MT"/>
              </a:rPr>
              <a:t> they are more </a:t>
            </a:r>
            <a:r>
              <a:rPr dirty="0" sz="1400" spc="-10">
                <a:latin typeface="Arial MT"/>
                <a:cs typeface="Arial MT"/>
              </a:rPr>
              <a:t>expensive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implement than </a:t>
            </a:r>
            <a:r>
              <a:rPr dirty="0" sz="1400">
                <a:latin typeface="Arial MT"/>
                <a:cs typeface="Arial MT"/>
              </a:rPr>
              <a:t>single-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homed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topologies.</a:t>
            </a:r>
            <a:endParaRPr sz="1400">
              <a:latin typeface="Arial MT"/>
              <a:cs typeface="Arial MT"/>
            </a:endParaRPr>
          </a:p>
          <a:p>
            <a:pPr algn="just" lvl="1" marL="370840" marR="26416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Requires additional networking hardware including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routers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switches.</a:t>
            </a:r>
            <a:endParaRPr sz="1400">
              <a:latin typeface="Arial MT"/>
              <a:cs typeface="Arial MT"/>
            </a:endParaRPr>
          </a:p>
          <a:p>
            <a:pPr algn="just" lvl="1" marL="370840" marR="508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More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difficult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implement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since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they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require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complex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configurations.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2852" y="201168"/>
            <a:ext cx="3663696" cy="45064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90788" y="4769515"/>
            <a:ext cx="118745" cy="11112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6</a:t>
            </a:fld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53238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Purpose</a:t>
            </a:r>
            <a:r>
              <a:rPr dirty="0" sz="1600" spc="-25"/>
              <a:t> </a:t>
            </a:r>
            <a:r>
              <a:rPr dirty="0" sz="1600" spc="-5"/>
              <a:t>of</a:t>
            </a:r>
            <a:r>
              <a:rPr dirty="0" sz="1600" spc="-10"/>
              <a:t> </a:t>
            </a:r>
            <a:r>
              <a:rPr dirty="0" sz="1600" spc="-20"/>
              <a:t>WANs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Evolving</a:t>
            </a:r>
            <a:r>
              <a:rPr dirty="0" spc="-40"/>
              <a:t> </a:t>
            </a:r>
            <a:r>
              <a:rPr dirty="0" spc="-5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7538" y="164084"/>
            <a:ext cx="3404235" cy="4598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In slow economic times, many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businesses focus on increasing </a:t>
            </a:r>
            <a:r>
              <a:rPr dirty="0" sz="1500" spc="-5">
                <a:latin typeface="Arial MT"/>
                <a:cs typeface="Arial MT"/>
              </a:rPr>
              <a:t>their </a:t>
            </a:r>
            <a:r>
              <a:rPr dirty="0" sz="1500">
                <a:latin typeface="Arial MT"/>
                <a:cs typeface="Arial MT"/>
              </a:rPr>
              <a:t> profitability by </a:t>
            </a:r>
            <a:r>
              <a:rPr dirty="0" sz="1500" spc="-5">
                <a:latin typeface="Arial MT"/>
                <a:cs typeface="Arial MT"/>
              </a:rPr>
              <a:t>improving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5">
                <a:latin typeface="Arial MT"/>
                <a:cs typeface="Arial MT"/>
              </a:rPr>
              <a:t>efficiency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 their </a:t>
            </a:r>
            <a:r>
              <a:rPr dirty="0" sz="1500" spc="-5">
                <a:latin typeface="Arial MT"/>
                <a:cs typeface="Arial MT"/>
              </a:rPr>
              <a:t>existing </a:t>
            </a:r>
            <a:r>
              <a:rPr dirty="0" sz="1500">
                <a:latin typeface="Arial MT"/>
                <a:cs typeface="Arial MT"/>
              </a:rPr>
              <a:t>operations – including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establishing and managing </a:t>
            </a:r>
            <a:r>
              <a:rPr dirty="0" sz="1500" spc="-5">
                <a:latin typeface="Arial MT"/>
                <a:cs typeface="Arial MT"/>
              </a:rPr>
              <a:t>their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network.</a:t>
            </a:r>
            <a:endParaRPr sz="1500">
              <a:latin typeface="Arial MT"/>
              <a:cs typeface="Arial MT"/>
            </a:endParaRPr>
          </a:p>
          <a:p>
            <a:pPr marL="181610" marR="1397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175">
                <a:latin typeface="Arial MT"/>
                <a:cs typeface="Arial MT"/>
              </a:rPr>
              <a:t>T</a:t>
            </a:r>
            <a:r>
              <a:rPr dirty="0" sz="1500">
                <a:latin typeface="Arial MT"/>
                <a:cs typeface="Arial MT"/>
              </a:rPr>
              <a:t>o</a:t>
            </a:r>
            <a:r>
              <a:rPr dirty="0" sz="1500" spc="-5">
                <a:latin typeface="Arial MT"/>
                <a:cs typeface="Arial MT"/>
              </a:rPr>
              <a:t> j</a:t>
            </a:r>
            <a:r>
              <a:rPr dirty="0" sz="1500" spc="5">
                <a:latin typeface="Arial MT"/>
                <a:cs typeface="Arial MT"/>
              </a:rPr>
              <a:t>u</a:t>
            </a:r>
            <a:r>
              <a:rPr dirty="0" sz="1500">
                <a:latin typeface="Arial MT"/>
                <a:cs typeface="Arial MT"/>
              </a:rPr>
              <a:t>stify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such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 lar</a:t>
            </a:r>
            <a:r>
              <a:rPr dirty="0" sz="1500" spc="5">
                <a:latin typeface="Arial MT"/>
                <a:cs typeface="Arial MT"/>
              </a:rPr>
              <a:t>g</a:t>
            </a:r>
            <a:r>
              <a:rPr dirty="0" sz="1500">
                <a:latin typeface="Arial MT"/>
                <a:cs typeface="Arial MT"/>
              </a:rPr>
              <a:t>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</a:t>
            </a:r>
            <a:r>
              <a:rPr dirty="0" sz="1500" spc="-20">
                <a:latin typeface="Arial MT"/>
                <a:cs typeface="Arial MT"/>
              </a:rPr>
              <a:t>x</a:t>
            </a:r>
            <a:r>
              <a:rPr dirty="0" sz="1500">
                <a:latin typeface="Arial MT"/>
                <a:cs typeface="Arial MT"/>
              </a:rPr>
              <a:t>pense,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many  </a:t>
            </a:r>
            <a:r>
              <a:rPr dirty="0" sz="1500">
                <a:latin typeface="Arial MT"/>
                <a:cs typeface="Arial MT"/>
              </a:rPr>
              <a:t>companies </a:t>
            </a:r>
            <a:r>
              <a:rPr dirty="0" sz="1500" spc="-5">
                <a:latin typeface="Arial MT"/>
                <a:cs typeface="Arial MT"/>
              </a:rPr>
              <a:t>expect </a:t>
            </a:r>
            <a:r>
              <a:rPr dirty="0" sz="1500">
                <a:latin typeface="Arial MT"/>
                <a:cs typeface="Arial MT"/>
              </a:rPr>
              <a:t>their networks to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perform </a:t>
            </a:r>
            <a:r>
              <a:rPr dirty="0" sz="1500" spc="-5">
                <a:latin typeface="Arial MT"/>
                <a:cs typeface="Arial MT"/>
              </a:rPr>
              <a:t>optimally </a:t>
            </a:r>
            <a:r>
              <a:rPr dirty="0" sz="1500">
                <a:latin typeface="Arial MT"/>
                <a:cs typeface="Arial MT"/>
              </a:rPr>
              <a:t>and to be </a:t>
            </a:r>
            <a:r>
              <a:rPr dirty="0" sz="1500" spc="-5">
                <a:latin typeface="Arial MT"/>
                <a:cs typeface="Arial MT"/>
              </a:rPr>
              <a:t>able </a:t>
            </a:r>
            <a:r>
              <a:rPr dirty="0" sz="1500">
                <a:latin typeface="Arial MT"/>
                <a:cs typeface="Arial MT"/>
              </a:rPr>
              <a:t>to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deliver </a:t>
            </a:r>
            <a:r>
              <a:rPr dirty="0" sz="1500">
                <a:latin typeface="Arial MT"/>
                <a:cs typeface="Arial MT"/>
              </a:rPr>
              <a:t>an increasing array of </a:t>
            </a:r>
            <a:r>
              <a:rPr dirty="0" sz="1500" spc="-5">
                <a:latin typeface="Arial MT"/>
                <a:cs typeface="Arial MT"/>
              </a:rPr>
              <a:t>services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 </a:t>
            </a:r>
            <a:r>
              <a:rPr dirty="0" sz="1500" spc="-5">
                <a:latin typeface="Arial MT"/>
                <a:cs typeface="Arial MT"/>
              </a:rPr>
              <a:t>applications </a:t>
            </a:r>
            <a:r>
              <a:rPr dirty="0" sz="1500">
                <a:latin typeface="Arial MT"/>
                <a:cs typeface="Arial MT"/>
              </a:rPr>
              <a:t>to support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productivity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profitability.</a:t>
            </a:r>
            <a:endParaRPr sz="1500">
              <a:latin typeface="Arial MT"/>
              <a:cs typeface="Arial MT"/>
            </a:endParaRPr>
          </a:p>
          <a:p>
            <a:pPr marL="181610" marR="172085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This </a:t>
            </a:r>
            <a:r>
              <a:rPr dirty="0" sz="1500">
                <a:latin typeface="Arial MT"/>
                <a:cs typeface="Arial MT"/>
              </a:rPr>
              <a:t>chapter </a:t>
            </a:r>
            <a:r>
              <a:rPr dirty="0" sz="1500" spc="-10">
                <a:latin typeface="Arial MT"/>
                <a:cs typeface="Arial MT"/>
              </a:rPr>
              <a:t>will </a:t>
            </a:r>
            <a:r>
              <a:rPr dirty="0" sz="1500">
                <a:latin typeface="Arial MT"/>
                <a:cs typeface="Arial MT"/>
              </a:rPr>
              <a:t>focus on a fictitious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company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called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35">
                <a:latin typeface="Arial MT"/>
                <a:cs typeface="Arial MT"/>
              </a:rPr>
              <a:t>SPAN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Engineering.</a:t>
            </a:r>
            <a:endParaRPr sz="1500">
              <a:latin typeface="Arial MT"/>
              <a:cs typeface="Arial MT"/>
            </a:endParaRPr>
          </a:p>
          <a:p>
            <a:pPr marL="181610" marR="13017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This </a:t>
            </a:r>
            <a:r>
              <a:rPr dirty="0" sz="1500">
                <a:latin typeface="Arial MT"/>
                <a:cs typeface="Arial MT"/>
              </a:rPr>
              <a:t>topic </a:t>
            </a:r>
            <a:r>
              <a:rPr dirty="0" sz="1500" spc="-10">
                <a:latin typeface="Arial MT"/>
                <a:cs typeface="Arial MT"/>
              </a:rPr>
              <a:t>will </a:t>
            </a:r>
            <a:r>
              <a:rPr dirty="0" sz="1500">
                <a:latin typeface="Arial MT"/>
                <a:cs typeface="Arial MT"/>
              </a:rPr>
              <a:t>illustrate how </a:t>
            </a:r>
            <a:r>
              <a:rPr dirty="0" sz="1500" spc="-30">
                <a:latin typeface="Arial MT"/>
                <a:cs typeface="Arial MT"/>
              </a:rPr>
              <a:t>SPAN’s 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requirements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change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company </a:t>
            </a:r>
            <a:r>
              <a:rPr dirty="0" sz="1500" spc="-5">
                <a:latin typeface="Arial MT"/>
                <a:cs typeface="Arial MT"/>
              </a:rPr>
              <a:t>grows </a:t>
            </a:r>
            <a:r>
              <a:rPr dirty="0" sz="1500">
                <a:latin typeface="Arial MT"/>
                <a:cs typeface="Arial MT"/>
              </a:rPr>
              <a:t>from a </a:t>
            </a:r>
            <a:r>
              <a:rPr dirty="0" sz="1500" spc="-5">
                <a:latin typeface="Arial MT"/>
                <a:cs typeface="Arial MT"/>
              </a:rPr>
              <a:t>small, </a:t>
            </a:r>
            <a:r>
              <a:rPr dirty="0" sz="1500">
                <a:latin typeface="Arial MT"/>
                <a:cs typeface="Arial MT"/>
              </a:rPr>
              <a:t>local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business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global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enterprise.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415" y="914400"/>
            <a:ext cx="4821936" cy="30998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90788" y="4769515"/>
            <a:ext cx="118745" cy="11112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6</a:t>
            </a:fld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166433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Purpose</a:t>
            </a:r>
            <a:r>
              <a:rPr dirty="0" sz="1600" spc="-30"/>
              <a:t> </a:t>
            </a:r>
            <a:r>
              <a:rPr dirty="0" sz="1600" spc="-5"/>
              <a:t>of</a:t>
            </a:r>
            <a:r>
              <a:rPr dirty="0" sz="1600" spc="-10"/>
              <a:t> </a:t>
            </a:r>
            <a:r>
              <a:rPr dirty="0" sz="1600" spc="-20"/>
              <a:t>WANs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Small</a:t>
            </a:r>
            <a:r>
              <a:rPr dirty="0" spc="-70"/>
              <a:t> </a:t>
            </a:r>
            <a:r>
              <a:rPr dirty="0" spc="-10"/>
              <a:t>Office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7538" y="43597"/>
            <a:ext cx="3468370" cy="471106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4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35">
                <a:latin typeface="Arial MT"/>
                <a:cs typeface="Arial MT"/>
              </a:rPr>
              <a:t>SPAN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Engineering:</a:t>
            </a:r>
            <a:endParaRPr sz="15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894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Environmental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consulting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firm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(4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years)</a:t>
            </a:r>
            <a:endParaRPr sz="1400">
              <a:latin typeface="Arial MT"/>
              <a:cs typeface="Arial MT"/>
            </a:endParaRPr>
          </a:p>
          <a:p>
            <a:pPr lvl="1" marL="370205" marR="229235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Has developed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special process for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converting household waste into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electricity and is developing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small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pilot project for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municipal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government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its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area.</a:t>
            </a:r>
            <a:endParaRPr sz="1400">
              <a:latin typeface="Arial MT"/>
              <a:cs typeface="Arial MT"/>
            </a:endParaRPr>
          </a:p>
          <a:p>
            <a:pPr lvl="1" marL="370205" marR="259079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15 </a:t>
            </a:r>
            <a:r>
              <a:rPr dirty="0" sz="1400" spc="-5">
                <a:latin typeface="Arial MT"/>
                <a:cs typeface="Arial MT"/>
              </a:rPr>
              <a:t>employees:</a:t>
            </a:r>
            <a:r>
              <a:rPr dirty="0" sz="1400">
                <a:latin typeface="Arial MT"/>
                <a:cs typeface="Arial MT"/>
              </a:rPr>
              <a:t> six </a:t>
            </a:r>
            <a:r>
              <a:rPr dirty="0" sz="1400" spc="-5">
                <a:latin typeface="Arial MT"/>
                <a:cs typeface="Arial MT"/>
              </a:rPr>
              <a:t>engineers, four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computer-aided drawing (CAD)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designers,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receptionist, two senior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partners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two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office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assistants</a:t>
            </a:r>
            <a:endParaRPr sz="1400">
              <a:latin typeface="Arial MT"/>
              <a:cs typeface="Arial MT"/>
            </a:endParaRPr>
          </a:p>
          <a:p>
            <a:pPr lvl="1" marL="370205" marR="5080" indent="-16954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Small office uses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single LAN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share </a:t>
            </a:r>
            <a:r>
              <a:rPr dirty="0" sz="1400" spc="-38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information between computers,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support their </a:t>
            </a:r>
            <a:r>
              <a:rPr dirty="0" sz="1400" spc="-20">
                <a:latin typeface="Arial MT"/>
                <a:cs typeface="Arial MT"/>
              </a:rPr>
              <a:t>VoIP </a:t>
            </a:r>
            <a:r>
              <a:rPr dirty="0" sz="1400" spc="-5">
                <a:latin typeface="Arial MT"/>
                <a:cs typeface="Arial MT"/>
              </a:rPr>
              <a:t>phones, share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peripherals, </a:t>
            </a:r>
            <a:r>
              <a:rPr dirty="0" sz="1400" spc="-15">
                <a:latin typeface="Arial MT"/>
                <a:cs typeface="Arial MT"/>
              </a:rPr>
              <a:t>printer, </a:t>
            </a:r>
            <a:r>
              <a:rPr dirty="0" sz="1400" spc="-5">
                <a:latin typeface="Arial MT"/>
                <a:cs typeface="Arial MT"/>
              </a:rPr>
              <a:t>and large-scale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plotter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Connects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Internet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using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DSL</a:t>
            </a:r>
            <a:endParaRPr sz="1400">
              <a:latin typeface="Arial MT"/>
              <a:cs typeface="Arial MT"/>
            </a:endParaRPr>
          </a:p>
          <a:p>
            <a:pPr lvl="1" marL="370205" marR="64135" indent="-21526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Uses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support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services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purchased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from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DSL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provider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for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IT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support.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255" y="798576"/>
            <a:ext cx="4928616" cy="37779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16188" y="4769515"/>
            <a:ext cx="67945" cy="11112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7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36347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Purpose</a:t>
            </a:r>
            <a:r>
              <a:rPr dirty="0" sz="1600" spc="-25"/>
              <a:t> </a:t>
            </a:r>
            <a:r>
              <a:rPr dirty="0" sz="1600" spc="-5"/>
              <a:t>of</a:t>
            </a:r>
            <a:r>
              <a:rPr dirty="0" sz="1600" spc="-10"/>
              <a:t> </a:t>
            </a:r>
            <a:r>
              <a:rPr dirty="0" sz="1600" spc="-20"/>
              <a:t>WANs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Campus</a:t>
            </a:r>
            <a:r>
              <a:rPr dirty="0" spc="-45"/>
              <a:t> </a:t>
            </a:r>
            <a:r>
              <a:rPr dirty="0" spc="-5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5048" y="164084"/>
            <a:ext cx="3554095" cy="4522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304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10">
                <a:latin typeface="Arial MT"/>
                <a:cs typeface="Arial MT"/>
              </a:rPr>
              <a:t>Five </a:t>
            </a:r>
            <a:r>
              <a:rPr dirty="0" sz="1500" spc="-5">
                <a:latin typeface="Arial MT"/>
                <a:cs typeface="Arial MT"/>
              </a:rPr>
              <a:t>years </a:t>
            </a:r>
            <a:r>
              <a:rPr dirty="0" sz="1500" spc="-15">
                <a:latin typeface="Arial MT"/>
                <a:cs typeface="Arial MT"/>
              </a:rPr>
              <a:t>later, </a:t>
            </a:r>
            <a:r>
              <a:rPr dirty="0" sz="1500" spc="-35">
                <a:latin typeface="Arial MT"/>
                <a:cs typeface="Arial MT"/>
              </a:rPr>
              <a:t>SPAN </a:t>
            </a:r>
            <a:r>
              <a:rPr dirty="0" sz="1500">
                <a:latin typeface="Arial MT"/>
                <a:cs typeface="Arial MT"/>
              </a:rPr>
              <a:t>Engineering has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grown </a:t>
            </a:r>
            <a:r>
              <a:rPr dirty="0" sz="1500" spc="-20">
                <a:latin typeface="Arial MT"/>
                <a:cs typeface="Arial MT"/>
              </a:rPr>
              <a:t>rapidly.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The </a:t>
            </a:r>
            <a:r>
              <a:rPr dirty="0" sz="1500">
                <a:latin typeface="Arial MT"/>
                <a:cs typeface="Arial MT"/>
              </a:rPr>
              <a:t>company </a:t>
            </a:r>
            <a:r>
              <a:rPr dirty="0" sz="1500" spc="-5">
                <a:latin typeface="Arial MT"/>
                <a:cs typeface="Arial MT"/>
              </a:rPr>
              <a:t>was </a:t>
            </a:r>
            <a:r>
              <a:rPr dirty="0" sz="1500">
                <a:latin typeface="Arial MT"/>
                <a:cs typeface="Arial MT"/>
              </a:rPr>
              <a:t> contracted to design and </a:t>
            </a:r>
            <a:r>
              <a:rPr dirty="0" sz="1500" spc="-5">
                <a:latin typeface="Arial MT"/>
                <a:cs typeface="Arial MT"/>
              </a:rPr>
              <a:t>implement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full-sized </a:t>
            </a:r>
            <a:r>
              <a:rPr dirty="0" sz="1500" spc="-5">
                <a:latin typeface="Arial MT"/>
                <a:cs typeface="Arial MT"/>
              </a:rPr>
              <a:t>waste </a:t>
            </a:r>
            <a:r>
              <a:rPr dirty="0" sz="1500">
                <a:latin typeface="Arial MT"/>
                <a:cs typeface="Arial MT"/>
              </a:rPr>
              <a:t>conversion facility as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well </a:t>
            </a:r>
            <a:r>
              <a:rPr dirty="0" sz="1500">
                <a:latin typeface="Arial MT"/>
                <a:cs typeface="Arial MT"/>
              </a:rPr>
              <a:t>as other projects </a:t>
            </a:r>
            <a:r>
              <a:rPr dirty="0" sz="1500" spc="-5">
                <a:latin typeface="Arial MT"/>
                <a:cs typeface="Arial MT"/>
              </a:rPr>
              <a:t>in </a:t>
            </a:r>
            <a:r>
              <a:rPr dirty="0" sz="1500">
                <a:latin typeface="Arial MT"/>
                <a:cs typeface="Arial MT"/>
              </a:rPr>
              <a:t>neighboring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municipalities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around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20">
                <a:latin typeface="Arial MT"/>
                <a:cs typeface="Arial MT"/>
              </a:rPr>
              <a:t>country.</a:t>
            </a:r>
            <a:endParaRPr sz="1500">
              <a:latin typeface="Arial MT"/>
              <a:cs typeface="Arial MT"/>
            </a:endParaRPr>
          </a:p>
          <a:p>
            <a:pPr marL="181610" marR="27114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 </a:t>
            </a:r>
            <a:r>
              <a:rPr dirty="0" sz="1500">
                <a:latin typeface="Arial MT"/>
                <a:cs typeface="Arial MT"/>
              </a:rPr>
              <a:t>company is now classified as a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small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medium-sized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business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with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several </a:t>
            </a:r>
            <a:r>
              <a:rPr dirty="0" sz="1500">
                <a:latin typeface="Arial MT"/>
                <a:cs typeface="Arial MT"/>
              </a:rPr>
              <a:t>hundred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employees.</a:t>
            </a:r>
            <a:endParaRPr sz="1500">
              <a:latin typeface="Arial MT"/>
              <a:cs typeface="Arial MT"/>
            </a:endParaRPr>
          </a:p>
          <a:p>
            <a:pPr marL="181610" marR="291465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company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now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occupies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multiple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floors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</a:t>
            </a:r>
            <a:r>
              <a:rPr dirty="0" sz="1500" spc="-5">
                <a:latin typeface="Arial MT"/>
                <a:cs typeface="Arial MT"/>
              </a:rPr>
              <a:t> office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building.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 network </a:t>
            </a:r>
            <a:r>
              <a:rPr dirty="0" sz="1500">
                <a:latin typeface="Arial MT"/>
                <a:cs typeface="Arial MT"/>
              </a:rPr>
              <a:t>has </a:t>
            </a:r>
            <a:r>
              <a:rPr dirty="0" sz="1500" spc="-5">
                <a:latin typeface="Arial MT"/>
                <a:cs typeface="Arial MT"/>
              </a:rPr>
              <a:t>grown </a:t>
            </a:r>
            <a:r>
              <a:rPr dirty="0" sz="1500">
                <a:latin typeface="Arial MT"/>
                <a:cs typeface="Arial MT"/>
              </a:rPr>
              <a:t>to </a:t>
            </a:r>
            <a:r>
              <a:rPr dirty="0" sz="1500" spc="-5">
                <a:latin typeface="Arial MT"/>
                <a:cs typeface="Arial MT"/>
              </a:rPr>
              <a:t>several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subnetworks which </a:t>
            </a:r>
            <a:r>
              <a:rPr dirty="0" sz="1500">
                <a:latin typeface="Arial MT"/>
                <a:cs typeface="Arial MT"/>
              </a:rPr>
              <a:t>spans </a:t>
            </a:r>
            <a:r>
              <a:rPr dirty="0" sz="1500" spc="-5">
                <a:latin typeface="Arial MT"/>
                <a:cs typeface="Arial MT"/>
              </a:rPr>
              <a:t>several </a:t>
            </a:r>
            <a:r>
              <a:rPr dirty="0" sz="1500">
                <a:latin typeface="Arial MT"/>
                <a:cs typeface="Arial MT"/>
              </a:rPr>
              <a:t>floors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building.</a:t>
            </a:r>
            <a:endParaRPr sz="1500">
              <a:latin typeface="Arial MT"/>
              <a:cs typeface="Arial MT"/>
            </a:endParaRPr>
          </a:p>
          <a:p>
            <a:pPr marL="181610" marR="19240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business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now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has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in-house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IT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staff </a:t>
            </a:r>
            <a:r>
              <a:rPr dirty="0" sz="1500">
                <a:latin typeface="Arial MT"/>
                <a:cs typeface="Arial MT"/>
              </a:rPr>
              <a:t>to support and maintain the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127" y="900683"/>
            <a:ext cx="5003292" cy="36454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34696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Purpose</a:t>
            </a:r>
            <a:r>
              <a:rPr dirty="0" sz="1600" spc="-25"/>
              <a:t> </a:t>
            </a:r>
            <a:r>
              <a:rPr dirty="0" sz="1600" spc="-5"/>
              <a:t>of</a:t>
            </a:r>
            <a:r>
              <a:rPr dirty="0" sz="1600" spc="-10"/>
              <a:t> </a:t>
            </a:r>
            <a:r>
              <a:rPr dirty="0" sz="1600" spc="-20"/>
              <a:t>WANs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Branch</a:t>
            </a:r>
            <a:r>
              <a:rPr dirty="0" spc="-60"/>
              <a:t> </a:t>
            </a:r>
            <a:r>
              <a:rPr dirty="0" spc="-5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96992" y="206502"/>
            <a:ext cx="3554729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Another </a:t>
            </a:r>
            <a:r>
              <a:rPr dirty="0" sz="1500" spc="-5">
                <a:latin typeface="Arial MT"/>
                <a:cs typeface="Arial MT"/>
              </a:rPr>
              <a:t>six years </a:t>
            </a:r>
            <a:r>
              <a:rPr dirty="0" sz="1500" spc="-15">
                <a:latin typeface="Arial MT"/>
                <a:cs typeface="Arial MT"/>
              </a:rPr>
              <a:t>later, </a:t>
            </a:r>
            <a:r>
              <a:rPr dirty="0" sz="1500" spc="-35">
                <a:latin typeface="Arial MT"/>
                <a:cs typeface="Arial MT"/>
              </a:rPr>
              <a:t>SPAN 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Engineering has been so </a:t>
            </a:r>
            <a:r>
              <a:rPr dirty="0" sz="1500" spc="-5">
                <a:latin typeface="Arial MT"/>
                <a:cs typeface="Arial MT"/>
              </a:rPr>
              <a:t>successful, </a:t>
            </a:r>
            <a:r>
              <a:rPr dirty="0" sz="1500">
                <a:latin typeface="Arial MT"/>
                <a:cs typeface="Arial MT"/>
              </a:rPr>
              <a:t> they </a:t>
            </a:r>
            <a:r>
              <a:rPr dirty="0" sz="1500" spc="-5">
                <a:latin typeface="Arial MT"/>
                <a:cs typeface="Arial MT"/>
              </a:rPr>
              <a:t>have expanded their </a:t>
            </a:r>
            <a:r>
              <a:rPr dirty="0" sz="1500">
                <a:latin typeface="Arial MT"/>
                <a:cs typeface="Arial MT"/>
              </a:rPr>
              <a:t>operation and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have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opened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small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branch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offices </a:t>
            </a:r>
            <a:r>
              <a:rPr dirty="0" sz="1500">
                <a:latin typeface="Arial MT"/>
                <a:cs typeface="Arial MT"/>
              </a:rPr>
              <a:t> closer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project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sites.</a:t>
            </a:r>
            <a:endParaRPr sz="1500">
              <a:latin typeface="Arial MT"/>
              <a:cs typeface="Arial MT"/>
            </a:endParaRPr>
          </a:p>
          <a:p>
            <a:pPr marL="181610" marR="26225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 </a:t>
            </a:r>
            <a:r>
              <a:rPr dirty="0" sz="1500">
                <a:latin typeface="Arial MT"/>
                <a:cs typeface="Arial MT"/>
              </a:rPr>
              <a:t>company </a:t>
            </a:r>
            <a:r>
              <a:rPr dirty="0" sz="1500" spc="-5">
                <a:latin typeface="Arial MT"/>
                <a:cs typeface="Arial MT"/>
              </a:rPr>
              <a:t>was </a:t>
            </a:r>
            <a:r>
              <a:rPr dirty="0" sz="1500">
                <a:latin typeface="Arial MT"/>
                <a:cs typeface="Arial MT"/>
              </a:rPr>
              <a:t>required to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implement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 spc="-5">
                <a:latin typeface="Arial MT"/>
                <a:cs typeface="Arial MT"/>
              </a:rPr>
              <a:t>in </a:t>
            </a:r>
            <a:r>
              <a:rPr dirty="0" sz="1500">
                <a:latin typeface="Arial MT"/>
                <a:cs typeface="Arial MT"/>
              </a:rPr>
              <a:t>order for the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remote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sites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able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access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 center </a:t>
            </a:r>
            <a:r>
              <a:rPr dirty="0" sz="1500" spc="-5">
                <a:latin typeface="Arial MT"/>
                <a:cs typeface="Arial MT"/>
              </a:rPr>
              <a:t>which </a:t>
            </a:r>
            <a:r>
              <a:rPr dirty="0" sz="1500">
                <a:latin typeface="Arial MT"/>
                <a:cs typeface="Arial MT"/>
              </a:rPr>
              <a:t>houses </a:t>
            </a:r>
            <a:r>
              <a:rPr dirty="0" sz="1500" spc="-5">
                <a:latin typeface="Arial MT"/>
                <a:cs typeface="Arial MT"/>
              </a:rPr>
              <a:t>various </a:t>
            </a:r>
            <a:r>
              <a:rPr dirty="0" sz="1500">
                <a:latin typeface="Arial MT"/>
                <a:cs typeface="Arial MT"/>
              </a:rPr>
              <a:t> databases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servers.</a:t>
            </a:r>
            <a:endParaRPr sz="1500">
              <a:latin typeface="Arial MT"/>
              <a:cs typeface="Arial MT"/>
            </a:endParaRPr>
          </a:p>
          <a:p>
            <a:pPr marL="181610" marR="26479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branch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offices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that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nearby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cities </a:t>
            </a:r>
            <a:r>
              <a:rPr dirty="0" sz="1500">
                <a:latin typeface="Arial MT"/>
                <a:cs typeface="Arial MT"/>
              </a:rPr>
              <a:t>use </a:t>
            </a:r>
            <a:r>
              <a:rPr dirty="0" sz="1500" spc="-5">
                <a:latin typeface="Arial MT"/>
                <a:cs typeface="Arial MT"/>
              </a:rPr>
              <a:t>private </a:t>
            </a:r>
            <a:r>
              <a:rPr dirty="0" sz="1500">
                <a:latin typeface="Arial MT"/>
                <a:cs typeface="Arial MT"/>
              </a:rPr>
              <a:t>dedicated </a:t>
            </a:r>
            <a:r>
              <a:rPr dirty="0" sz="1500" spc="-5">
                <a:latin typeface="Arial MT"/>
                <a:cs typeface="Arial MT"/>
              </a:rPr>
              <a:t>lines </a:t>
            </a:r>
            <a:r>
              <a:rPr dirty="0" sz="1500">
                <a:latin typeface="Arial MT"/>
                <a:cs typeface="Arial MT"/>
              </a:rPr>
              <a:t> through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their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local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15">
                <a:latin typeface="Arial MT"/>
                <a:cs typeface="Arial MT"/>
              </a:rPr>
              <a:t>provider.</a:t>
            </a:r>
            <a:endParaRPr sz="1500">
              <a:latin typeface="Arial MT"/>
              <a:cs typeface="Arial MT"/>
            </a:endParaRPr>
          </a:p>
          <a:p>
            <a:pPr marL="181610" marR="52705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Offices </a:t>
            </a:r>
            <a:r>
              <a:rPr dirty="0" sz="1500">
                <a:latin typeface="Arial MT"/>
                <a:cs typeface="Arial MT"/>
              </a:rPr>
              <a:t>that are located </a:t>
            </a:r>
            <a:r>
              <a:rPr dirty="0" sz="1500" spc="-5">
                <a:latin typeface="Arial MT"/>
                <a:cs typeface="Arial MT"/>
              </a:rPr>
              <a:t>in </a:t>
            </a:r>
            <a:r>
              <a:rPr dirty="0" sz="1500">
                <a:latin typeface="Arial MT"/>
                <a:cs typeface="Arial MT"/>
              </a:rPr>
              <a:t>other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countries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must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Internet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their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68" y="925067"/>
            <a:ext cx="4137660" cy="35707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68414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Purpose</a:t>
            </a:r>
            <a:r>
              <a:rPr dirty="0" sz="1600" spc="-25"/>
              <a:t> </a:t>
            </a:r>
            <a:r>
              <a:rPr dirty="0" sz="1600" spc="-5"/>
              <a:t>of</a:t>
            </a:r>
            <a:r>
              <a:rPr dirty="0" sz="1600" spc="-10"/>
              <a:t> </a:t>
            </a:r>
            <a:r>
              <a:rPr dirty="0" sz="1600" spc="-20"/>
              <a:t>WANs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Distributed</a:t>
            </a:r>
            <a:r>
              <a:rPr dirty="0" spc="-45"/>
              <a:t> </a:t>
            </a:r>
            <a:r>
              <a:rPr dirty="0" spc="-5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96992" y="206502"/>
            <a:ext cx="3902710" cy="456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38798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35">
                <a:latin typeface="Arial MT"/>
                <a:cs typeface="Arial MT"/>
              </a:rPr>
              <a:t>SPAN </a:t>
            </a:r>
            <a:r>
              <a:rPr dirty="0" sz="1500">
                <a:latin typeface="Arial MT"/>
                <a:cs typeface="Arial MT"/>
              </a:rPr>
              <a:t>Engineering has now been </a:t>
            </a:r>
            <a:r>
              <a:rPr dirty="0" sz="1500" spc="-5">
                <a:latin typeface="Arial MT"/>
                <a:cs typeface="Arial MT"/>
              </a:rPr>
              <a:t>in </a:t>
            </a:r>
            <a:r>
              <a:rPr dirty="0" sz="1500">
                <a:latin typeface="Arial MT"/>
                <a:cs typeface="Arial MT"/>
              </a:rPr>
              <a:t> business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20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years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has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grown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thousands of </a:t>
            </a:r>
            <a:r>
              <a:rPr dirty="0" sz="1500" spc="-5">
                <a:latin typeface="Arial MT"/>
                <a:cs typeface="Arial MT"/>
              </a:rPr>
              <a:t>employees </a:t>
            </a:r>
            <a:r>
              <a:rPr dirty="0" sz="1500">
                <a:latin typeface="Arial MT"/>
                <a:cs typeface="Arial MT"/>
              </a:rPr>
              <a:t>distributed </a:t>
            </a:r>
            <a:r>
              <a:rPr dirty="0" sz="1500" spc="-5">
                <a:latin typeface="Arial MT"/>
                <a:cs typeface="Arial MT"/>
              </a:rPr>
              <a:t>in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offices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worldwide.</a:t>
            </a:r>
            <a:endParaRPr sz="1500">
              <a:latin typeface="Arial MT"/>
              <a:cs typeface="Arial MT"/>
            </a:endParaRPr>
          </a:p>
          <a:p>
            <a:pPr marL="181610" marR="48450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cost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its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related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services is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5">
                <a:latin typeface="Arial MT"/>
                <a:cs typeface="Arial MT"/>
              </a:rPr>
              <a:t> significant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expense.</a:t>
            </a:r>
            <a:endParaRPr sz="1500">
              <a:latin typeface="Arial MT"/>
              <a:cs typeface="Arial MT"/>
            </a:endParaRPr>
          </a:p>
          <a:p>
            <a:pPr marL="181610" marR="12700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175">
                <a:latin typeface="Arial MT"/>
                <a:cs typeface="Arial MT"/>
              </a:rPr>
              <a:t>T</a:t>
            </a:r>
            <a:r>
              <a:rPr dirty="0" sz="1500">
                <a:latin typeface="Arial MT"/>
                <a:cs typeface="Arial MT"/>
              </a:rPr>
              <a:t>o</a:t>
            </a:r>
            <a:r>
              <a:rPr dirty="0" sz="1500" spc="-5">
                <a:latin typeface="Arial MT"/>
                <a:cs typeface="Arial MT"/>
              </a:rPr>
              <a:t> i</a:t>
            </a:r>
            <a:r>
              <a:rPr dirty="0" sz="1500" spc="5">
                <a:latin typeface="Arial MT"/>
                <a:cs typeface="Arial MT"/>
              </a:rPr>
              <a:t>n</a:t>
            </a:r>
            <a:r>
              <a:rPr dirty="0" sz="1500">
                <a:latin typeface="Arial MT"/>
                <a:cs typeface="Arial MT"/>
              </a:rPr>
              <a:t>cr</a:t>
            </a:r>
            <a:r>
              <a:rPr dirty="0" sz="1500" spc="5">
                <a:latin typeface="Arial MT"/>
                <a:cs typeface="Arial MT"/>
              </a:rPr>
              <a:t>e</a:t>
            </a:r>
            <a:r>
              <a:rPr dirty="0" sz="1500">
                <a:latin typeface="Arial MT"/>
                <a:cs typeface="Arial MT"/>
              </a:rPr>
              <a:t>ase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</a:t>
            </a:r>
            <a:r>
              <a:rPr dirty="0" sz="1500" spc="5">
                <a:latin typeface="Arial MT"/>
                <a:cs typeface="Arial MT"/>
              </a:rPr>
              <a:t>o</a:t>
            </a:r>
            <a:r>
              <a:rPr dirty="0" sz="1500">
                <a:latin typeface="Arial MT"/>
                <a:cs typeface="Arial MT"/>
              </a:rPr>
              <a:t>fit</a:t>
            </a:r>
            <a:r>
              <a:rPr dirty="0" sz="1500" spc="5">
                <a:latin typeface="Arial MT"/>
                <a:cs typeface="Arial MT"/>
              </a:rPr>
              <a:t>a</a:t>
            </a:r>
            <a:r>
              <a:rPr dirty="0" sz="1500">
                <a:latin typeface="Arial MT"/>
                <a:cs typeface="Arial MT"/>
              </a:rPr>
              <a:t>b</a:t>
            </a:r>
            <a:r>
              <a:rPr dirty="0" sz="1500" spc="-5">
                <a:latin typeface="Arial MT"/>
                <a:cs typeface="Arial MT"/>
              </a:rPr>
              <a:t>i</a:t>
            </a:r>
            <a:r>
              <a:rPr dirty="0" sz="1500">
                <a:latin typeface="Arial MT"/>
                <a:cs typeface="Arial MT"/>
              </a:rPr>
              <a:t>l</a:t>
            </a:r>
            <a:r>
              <a:rPr dirty="0" sz="1500" spc="-5">
                <a:latin typeface="Arial MT"/>
                <a:cs typeface="Arial MT"/>
              </a:rPr>
              <a:t>i</a:t>
            </a:r>
            <a:r>
              <a:rPr dirty="0" sz="1500">
                <a:latin typeface="Arial MT"/>
                <a:cs typeface="Arial MT"/>
              </a:rPr>
              <a:t>t</a:t>
            </a:r>
            <a:r>
              <a:rPr dirty="0" sz="1500" spc="-130">
                <a:latin typeface="Arial MT"/>
                <a:cs typeface="Arial MT"/>
              </a:rPr>
              <a:t>y</a:t>
            </a:r>
            <a:r>
              <a:rPr dirty="0" sz="1500">
                <a:latin typeface="Arial MT"/>
                <a:cs typeface="Arial MT"/>
              </a:rPr>
              <a:t>,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</a:t>
            </a:r>
            <a:r>
              <a:rPr dirty="0" sz="1500" spc="5">
                <a:latin typeface="Arial MT"/>
                <a:cs typeface="Arial MT"/>
              </a:rPr>
              <a:t>h</a:t>
            </a:r>
            <a:r>
              <a:rPr dirty="0" sz="1500">
                <a:latin typeface="Arial MT"/>
                <a:cs typeface="Arial MT"/>
              </a:rPr>
              <a:t>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company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</a:t>
            </a:r>
            <a:r>
              <a:rPr dirty="0" sz="1500" spc="5">
                <a:latin typeface="Arial MT"/>
                <a:cs typeface="Arial MT"/>
              </a:rPr>
              <a:t>u</a:t>
            </a:r>
            <a:r>
              <a:rPr dirty="0" sz="1500">
                <a:latin typeface="Arial MT"/>
                <a:cs typeface="Arial MT"/>
              </a:rPr>
              <a:t>st  </a:t>
            </a:r>
            <a:r>
              <a:rPr dirty="0" sz="1500">
                <a:latin typeface="Arial MT"/>
                <a:cs typeface="Arial MT"/>
              </a:rPr>
              <a:t>reduce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its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operating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expense.</a:t>
            </a:r>
            <a:endParaRPr sz="1500">
              <a:latin typeface="Arial MT"/>
              <a:cs typeface="Arial MT"/>
            </a:endParaRPr>
          </a:p>
          <a:p>
            <a:pPr lvl="1" marL="370840" marR="352425" indent="-169545">
              <a:lnSpc>
                <a:spcPct val="100000"/>
              </a:lnSpc>
              <a:spcBef>
                <a:spcPts val="894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What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methods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has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company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used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reduce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its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operating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costs?</a:t>
            </a:r>
            <a:endParaRPr sz="1400">
              <a:latin typeface="Arial MT"/>
              <a:cs typeface="Arial MT"/>
            </a:endParaRPr>
          </a:p>
          <a:p>
            <a:pPr marL="181610" marR="61594" indent="-169545">
              <a:lnSpc>
                <a:spcPct val="100000"/>
              </a:lnSpc>
              <a:spcBef>
                <a:spcPts val="9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90">
                <a:latin typeface="Arial MT"/>
                <a:cs typeface="Arial MT"/>
              </a:rPr>
              <a:t>To </a:t>
            </a:r>
            <a:r>
              <a:rPr dirty="0" sz="1500">
                <a:latin typeface="Arial MT"/>
                <a:cs typeface="Arial MT"/>
              </a:rPr>
              <a:t>meet the new requirements, the </a:t>
            </a:r>
            <a:r>
              <a:rPr dirty="0" sz="1500" spc="-5">
                <a:latin typeface="Arial MT"/>
                <a:cs typeface="Arial MT"/>
              </a:rPr>
              <a:t>network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must </a:t>
            </a:r>
            <a:r>
              <a:rPr dirty="0" sz="1500" spc="-5">
                <a:latin typeface="Arial MT"/>
                <a:cs typeface="Arial MT"/>
              </a:rPr>
              <a:t>provide </a:t>
            </a:r>
            <a:r>
              <a:rPr dirty="0" sz="1500">
                <a:latin typeface="Arial MT"/>
                <a:cs typeface="Arial MT"/>
              </a:rPr>
              <a:t>the necessary </a:t>
            </a:r>
            <a:r>
              <a:rPr dirty="0" sz="1500" spc="-5">
                <a:latin typeface="Arial MT"/>
                <a:cs typeface="Arial MT"/>
              </a:rPr>
              <a:t>converged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 </a:t>
            </a:r>
            <a:r>
              <a:rPr dirty="0" sz="1500">
                <a:latin typeface="Arial MT"/>
                <a:cs typeface="Arial MT"/>
              </a:rPr>
              <a:t>and secure Internet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 spc="-5">
                <a:latin typeface="Arial MT"/>
                <a:cs typeface="Arial MT"/>
              </a:rPr>
              <a:t> connectivity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remote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sites.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As </a:t>
            </a:r>
            <a:r>
              <a:rPr dirty="0" sz="1500">
                <a:latin typeface="Arial MT"/>
                <a:cs typeface="Arial MT"/>
              </a:rPr>
              <a:t>seen </a:t>
            </a:r>
            <a:r>
              <a:rPr dirty="0" sz="1500" spc="-5">
                <a:latin typeface="Arial MT"/>
                <a:cs typeface="Arial MT"/>
              </a:rPr>
              <a:t>in this example, network </a:t>
            </a:r>
            <a:r>
              <a:rPr dirty="0" sz="1500">
                <a:latin typeface="Arial MT"/>
                <a:cs typeface="Arial MT"/>
              </a:rPr>
              <a:t> requirements of a company can change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dramatically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company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grows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over</a:t>
            </a:r>
            <a:r>
              <a:rPr dirty="0" sz="1500">
                <a:latin typeface="Arial MT"/>
                <a:cs typeface="Arial MT"/>
              </a:rPr>
              <a:t> time.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36" y="1104900"/>
            <a:ext cx="4567428" cy="30845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7184" y="4762296"/>
            <a:ext cx="276733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8905" algn="l"/>
              </a:tabLst>
            </a:pP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©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2016 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C</a:t>
            </a:r>
            <a:r>
              <a:rPr dirty="0" sz="600" spc="5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sco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and/or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ts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aff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ili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ates.</a:t>
            </a:r>
            <a:r>
              <a:rPr dirty="0" sz="600" spc="-5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A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l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l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r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ghts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reserved.  </a:t>
            </a:r>
            <a:r>
              <a:rPr dirty="0" sz="600" spc="-2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C</a:t>
            </a:r>
            <a:r>
              <a:rPr dirty="0" sz="600" spc="5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sco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Co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nf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dent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al	11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7492" y="4715255"/>
            <a:ext cx="341630" cy="181610"/>
          </a:xfrm>
          <a:custGeom>
            <a:avLst/>
            <a:gdLst/>
            <a:ahLst/>
            <a:cxnLst/>
            <a:rect l="l" t="t" r="r" b="b"/>
            <a:pathLst>
              <a:path w="341630" h="181610">
                <a:moveTo>
                  <a:pt x="15240" y="51460"/>
                </a:moveTo>
                <a:lnTo>
                  <a:pt x="11658" y="48768"/>
                </a:lnTo>
                <a:lnTo>
                  <a:pt x="3581" y="48768"/>
                </a:lnTo>
                <a:lnTo>
                  <a:pt x="0" y="51460"/>
                </a:lnTo>
                <a:lnTo>
                  <a:pt x="0" y="75666"/>
                </a:lnTo>
                <a:lnTo>
                  <a:pt x="3581" y="79248"/>
                </a:lnTo>
                <a:lnTo>
                  <a:pt x="11658" y="79248"/>
                </a:lnTo>
                <a:lnTo>
                  <a:pt x="15240" y="75666"/>
                </a:lnTo>
                <a:lnTo>
                  <a:pt x="15240" y="55943"/>
                </a:lnTo>
                <a:lnTo>
                  <a:pt x="15240" y="51460"/>
                </a:lnTo>
                <a:close/>
              </a:path>
              <a:path w="341630" h="181610">
                <a:moveTo>
                  <a:pt x="56388" y="31597"/>
                </a:moveTo>
                <a:lnTo>
                  <a:pt x="52806" y="28956"/>
                </a:lnTo>
                <a:lnTo>
                  <a:pt x="44729" y="28956"/>
                </a:lnTo>
                <a:lnTo>
                  <a:pt x="41148" y="31597"/>
                </a:lnTo>
                <a:lnTo>
                  <a:pt x="41148" y="75717"/>
                </a:lnTo>
                <a:lnTo>
                  <a:pt x="44729" y="79248"/>
                </a:lnTo>
                <a:lnTo>
                  <a:pt x="52806" y="79248"/>
                </a:lnTo>
                <a:lnTo>
                  <a:pt x="56388" y="75717"/>
                </a:lnTo>
                <a:lnTo>
                  <a:pt x="56388" y="36017"/>
                </a:lnTo>
                <a:lnTo>
                  <a:pt x="56388" y="31597"/>
                </a:lnTo>
                <a:close/>
              </a:path>
              <a:path w="341630" h="181610">
                <a:moveTo>
                  <a:pt x="76200" y="120688"/>
                </a:moveTo>
                <a:lnTo>
                  <a:pt x="74409" y="120688"/>
                </a:lnTo>
                <a:lnTo>
                  <a:pt x="69024" y="118872"/>
                </a:lnTo>
                <a:lnTo>
                  <a:pt x="61861" y="118872"/>
                </a:lnTo>
                <a:lnTo>
                  <a:pt x="49390" y="121145"/>
                </a:lnTo>
                <a:lnTo>
                  <a:pt x="39433" y="127482"/>
                </a:lnTo>
                <a:lnTo>
                  <a:pt x="32854" y="137210"/>
                </a:lnTo>
                <a:lnTo>
                  <a:pt x="30480" y="149656"/>
                </a:lnTo>
                <a:lnTo>
                  <a:pt x="32981" y="163017"/>
                </a:lnTo>
                <a:lnTo>
                  <a:pt x="39776" y="172986"/>
                </a:lnTo>
                <a:lnTo>
                  <a:pt x="49758" y="179209"/>
                </a:lnTo>
                <a:lnTo>
                  <a:pt x="61861" y="181356"/>
                </a:lnTo>
                <a:lnTo>
                  <a:pt x="69024" y="181356"/>
                </a:lnTo>
                <a:lnTo>
                  <a:pt x="74409" y="179539"/>
                </a:lnTo>
                <a:lnTo>
                  <a:pt x="76200" y="179539"/>
                </a:lnTo>
                <a:lnTo>
                  <a:pt x="76200" y="165963"/>
                </a:lnTo>
                <a:lnTo>
                  <a:pt x="76200" y="163245"/>
                </a:lnTo>
                <a:lnTo>
                  <a:pt x="75298" y="163245"/>
                </a:lnTo>
                <a:lnTo>
                  <a:pt x="69926" y="165963"/>
                </a:lnTo>
                <a:lnTo>
                  <a:pt x="52895" y="165963"/>
                </a:lnTo>
                <a:lnTo>
                  <a:pt x="46621" y="158711"/>
                </a:lnTo>
                <a:lnTo>
                  <a:pt x="46621" y="140601"/>
                </a:lnTo>
                <a:lnTo>
                  <a:pt x="52895" y="133362"/>
                </a:lnTo>
                <a:lnTo>
                  <a:pt x="70815" y="133362"/>
                </a:lnTo>
                <a:lnTo>
                  <a:pt x="75298" y="136982"/>
                </a:lnTo>
                <a:lnTo>
                  <a:pt x="76200" y="136982"/>
                </a:lnTo>
                <a:lnTo>
                  <a:pt x="76200" y="133362"/>
                </a:lnTo>
                <a:lnTo>
                  <a:pt x="76200" y="120688"/>
                </a:lnTo>
                <a:close/>
              </a:path>
              <a:path w="341630" h="181610">
                <a:moveTo>
                  <a:pt x="97536" y="3568"/>
                </a:moveTo>
                <a:lnTo>
                  <a:pt x="93954" y="0"/>
                </a:lnTo>
                <a:lnTo>
                  <a:pt x="85877" y="0"/>
                </a:lnTo>
                <a:lnTo>
                  <a:pt x="82296" y="3568"/>
                </a:lnTo>
                <a:lnTo>
                  <a:pt x="82296" y="90919"/>
                </a:lnTo>
                <a:lnTo>
                  <a:pt x="85877" y="94488"/>
                </a:lnTo>
                <a:lnTo>
                  <a:pt x="93954" y="94488"/>
                </a:lnTo>
                <a:lnTo>
                  <a:pt x="97536" y="90919"/>
                </a:lnTo>
                <a:lnTo>
                  <a:pt x="97536" y="7124"/>
                </a:lnTo>
                <a:lnTo>
                  <a:pt x="97536" y="3568"/>
                </a:lnTo>
                <a:close/>
              </a:path>
              <a:path w="341630" h="181610">
                <a:moveTo>
                  <a:pt x="111252" y="120396"/>
                </a:moveTo>
                <a:lnTo>
                  <a:pt x="97536" y="120396"/>
                </a:lnTo>
                <a:lnTo>
                  <a:pt x="97536" y="179832"/>
                </a:lnTo>
                <a:lnTo>
                  <a:pt x="111252" y="179832"/>
                </a:lnTo>
                <a:lnTo>
                  <a:pt x="111252" y="120396"/>
                </a:lnTo>
                <a:close/>
              </a:path>
              <a:path w="341630" h="181610">
                <a:moveTo>
                  <a:pt x="137160" y="31597"/>
                </a:moveTo>
                <a:lnTo>
                  <a:pt x="133578" y="28956"/>
                </a:lnTo>
                <a:lnTo>
                  <a:pt x="125501" y="28956"/>
                </a:lnTo>
                <a:lnTo>
                  <a:pt x="121920" y="31597"/>
                </a:lnTo>
                <a:lnTo>
                  <a:pt x="121920" y="75717"/>
                </a:lnTo>
                <a:lnTo>
                  <a:pt x="125501" y="79248"/>
                </a:lnTo>
                <a:lnTo>
                  <a:pt x="133578" y="79248"/>
                </a:lnTo>
                <a:lnTo>
                  <a:pt x="137160" y="75717"/>
                </a:lnTo>
                <a:lnTo>
                  <a:pt x="137160" y="36017"/>
                </a:lnTo>
                <a:lnTo>
                  <a:pt x="137160" y="31597"/>
                </a:lnTo>
                <a:close/>
              </a:path>
              <a:path w="341630" h="181610">
                <a:moveTo>
                  <a:pt x="172212" y="153289"/>
                </a:moveTo>
                <a:lnTo>
                  <a:pt x="167741" y="146939"/>
                </a:lnTo>
                <a:lnTo>
                  <a:pt x="157899" y="143319"/>
                </a:lnTo>
                <a:lnTo>
                  <a:pt x="154317" y="142417"/>
                </a:lnTo>
                <a:lnTo>
                  <a:pt x="151638" y="141516"/>
                </a:lnTo>
                <a:lnTo>
                  <a:pt x="147167" y="140601"/>
                </a:lnTo>
                <a:lnTo>
                  <a:pt x="147167" y="133362"/>
                </a:lnTo>
                <a:lnTo>
                  <a:pt x="150749" y="131546"/>
                </a:lnTo>
                <a:lnTo>
                  <a:pt x="161480" y="131546"/>
                </a:lnTo>
                <a:lnTo>
                  <a:pt x="167741" y="133362"/>
                </a:lnTo>
                <a:lnTo>
                  <a:pt x="168630" y="133362"/>
                </a:lnTo>
                <a:lnTo>
                  <a:pt x="168630" y="131546"/>
                </a:lnTo>
                <a:lnTo>
                  <a:pt x="168630" y="120688"/>
                </a:lnTo>
                <a:lnTo>
                  <a:pt x="167741" y="120688"/>
                </a:lnTo>
                <a:lnTo>
                  <a:pt x="161480" y="118872"/>
                </a:lnTo>
                <a:lnTo>
                  <a:pt x="153428" y="118872"/>
                </a:lnTo>
                <a:lnTo>
                  <a:pt x="144259" y="120192"/>
                </a:lnTo>
                <a:lnTo>
                  <a:pt x="137210" y="123964"/>
                </a:lnTo>
                <a:lnTo>
                  <a:pt x="132664" y="129959"/>
                </a:lnTo>
                <a:lnTo>
                  <a:pt x="131064" y="137883"/>
                </a:lnTo>
                <a:lnTo>
                  <a:pt x="131064" y="147853"/>
                </a:lnTo>
                <a:lnTo>
                  <a:pt x="138214" y="152374"/>
                </a:lnTo>
                <a:lnTo>
                  <a:pt x="147167" y="155092"/>
                </a:lnTo>
                <a:lnTo>
                  <a:pt x="148056" y="155994"/>
                </a:lnTo>
                <a:lnTo>
                  <a:pt x="149847" y="155994"/>
                </a:lnTo>
                <a:lnTo>
                  <a:pt x="157010" y="159626"/>
                </a:lnTo>
                <a:lnTo>
                  <a:pt x="157010" y="165963"/>
                </a:lnTo>
                <a:lnTo>
                  <a:pt x="153428" y="167767"/>
                </a:lnTo>
                <a:lnTo>
                  <a:pt x="139115" y="167767"/>
                </a:lnTo>
                <a:lnTo>
                  <a:pt x="132854" y="165963"/>
                </a:lnTo>
                <a:lnTo>
                  <a:pt x="131953" y="165963"/>
                </a:lnTo>
                <a:lnTo>
                  <a:pt x="131953" y="179539"/>
                </a:lnTo>
                <a:lnTo>
                  <a:pt x="140004" y="181356"/>
                </a:lnTo>
                <a:lnTo>
                  <a:pt x="148056" y="181356"/>
                </a:lnTo>
                <a:lnTo>
                  <a:pt x="156730" y="180289"/>
                </a:lnTo>
                <a:lnTo>
                  <a:pt x="164490" y="176834"/>
                </a:lnTo>
                <a:lnTo>
                  <a:pt x="170065" y="170662"/>
                </a:lnTo>
                <a:lnTo>
                  <a:pt x="170738" y="167767"/>
                </a:lnTo>
                <a:lnTo>
                  <a:pt x="172212" y="161429"/>
                </a:lnTo>
                <a:lnTo>
                  <a:pt x="172212" y="153289"/>
                </a:lnTo>
                <a:close/>
              </a:path>
              <a:path w="341630" h="181610">
                <a:moveTo>
                  <a:pt x="178308" y="51460"/>
                </a:moveTo>
                <a:lnTo>
                  <a:pt x="174726" y="48768"/>
                </a:lnTo>
                <a:lnTo>
                  <a:pt x="166649" y="48768"/>
                </a:lnTo>
                <a:lnTo>
                  <a:pt x="163068" y="51460"/>
                </a:lnTo>
                <a:lnTo>
                  <a:pt x="163068" y="75666"/>
                </a:lnTo>
                <a:lnTo>
                  <a:pt x="166649" y="79248"/>
                </a:lnTo>
                <a:lnTo>
                  <a:pt x="174726" y="79248"/>
                </a:lnTo>
                <a:lnTo>
                  <a:pt x="178308" y="75666"/>
                </a:lnTo>
                <a:lnTo>
                  <a:pt x="178308" y="55943"/>
                </a:lnTo>
                <a:lnTo>
                  <a:pt x="178308" y="51460"/>
                </a:lnTo>
                <a:close/>
              </a:path>
              <a:path w="341630" h="181610">
                <a:moveTo>
                  <a:pt x="219456" y="31597"/>
                </a:moveTo>
                <a:lnTo>
                  <a:pt x="215874" y="28956"/>
                </a:lnTo>
                <a:lnTo>
                  <a:pt x="207797" y="28956"/>
                </a:lnTo>
                <a:lnTo>
                  <a:pt x="204216" y="31597"/>
                </a:lnTo>
                <a:lnTo>
                  <a:pt x="204216" y="75717"/>
                </a:lnTo>
                <a:lnTo>
                  <a:pt x="207797" y="79248"/>
                </a:lnTo>
                <a:lnTo>
                  <a:pt x="215874" y="79248"/>
                </a:lnTo>
                <a:lnTo>
                  <a:pt x="219456" y="75717"/>
                </a:lnTo>
                <a:lnTo>
                  <a:pt x="219456" y="36017"/>
                </a:lnTo>
                <a:lnTo>
                  <a:pt x="219456" y="31597"/>
                </a:lnTo>
                <a:close/>
              </a:path>
              <a:path w="341630" h="181610">
                <a:moveTo>
                  <a:pt x="231648" y="120688"/>
                </a:moveTo>
                <a:lnTo>
                  <a:pt x="229920" y="120688"/>
                </a:lnTo>
                <a:lnTo>
                  <a:pt x="224713" y="118872"/>
                </a:lnTo>
                <a:lnTo>
                  <a:pt x="217779" y="118872"/>
                </a:lnTo>
                <a:lnTo>
                  <a:pt x="205727" y="121145"/>
                </a:lnTo>
                <a:lnTo>
                  <a:pt x="196113" y="127482"/>
                </a:lnTo>
                <a:lnTo>
                  <a:pt x="189750" y="137210"/>
                </a:lnTo>
                <a:lnTo>
                  <a:pt x="187452" y="149656"/>
                </a:lnTo>
                <a:lnTo>
                  <a:pt x="189865" y="163017"/>
                </a:lnTo>
                <a:lnTo>
                  <a:pt x="196443" y="172986"/>
                </a:lnTo>
                <a:lnTo>
                  <a:pt x="206095" y="179209"/>
                </a:lnTo>
                <a:lnTo>
                  <a:pt x="217779" y="181356"/>
                </a:lnTo>
                <a:lnTo>
                  <a:pt x="224713" y="181356"/>
                </a:lnTo>
                <a:lnTo>
                  <a:pt x="229920" y="179539"/>
                </a:lnTo>
                <a:lnTo>
                  <a:pt x="231648" y="179539"/>
                </a:lnTo>
                <a:lnTo>
                  <a:pt x="231648" y="165963"/>
                </a:lnTo>
                <a:lnTo>
                  <a:pt x="231648" y="163245"/>
                </a:lnTo>
                <a:lnTo>
                  <a:pt x="230784" y="163245"/>
                </a:lnTo>
                <a:lnTo>
                  <a:pt x="226453" y="165963"/>
                </a:lnTo>
                <a:lnTo>
                  <a:pt x="209118" y="165963"/>
                </a:lnTo>
                <a:lnTo>
                  <a:pt x="203047" y="158711"/>
                </a:lnTo>
                <a:lnTo>
                  <a:pt x="203047" y="140601"/>
                </a:lnTo>
                <a:lnTo>
                  <a:pt x="209981" y="133362"/>
                </a:lnTo>
                <a:lnTo>
                  <a:pt x="226453" y="133362"/>
                </a:lnTo>
                <a:lnTo>
                  <a:pt x="230784" y="136982"/>
                </a:lnTo>
                <a:lnTo>
                  <a:pt x="231648" y="136982"/>
                </a:lnTo>
                <a:lnTo>
                  <a:pt x="231648" y="133362"/>
                </a:lnTo>
                <a:lnTo>
                  <a:pt x="231648" y="120688"/>
                </a:lnTo>
                <a:close/>
              </a:path>
              <a:path w="341630" h="181610">
                <a:moveTo>
                  <a:pt x="259080" y="3568"/>
                </a:moveTo>
                <a:lnTo>
                  <a:pt x="255498" y="0"/>
                </a:lnTo>
                <a:lnTo>
                  <a:pt x="247421" y="0"/>
                </a:lnTo>
                <a:lnTo>
                  <a:pt x="243840" y="3568"/>
                </a:lnTo>
                <a:lnTo>
                  <a:pt x="243840" y="90919"/>
                </a:lnTo>
                <a:lnTo>
                  <a:pt x="247421" y="94488"/>
                </a:lnTo>
                <a:lnTo>
                  <a:pt x="255498" y="94488"/>
                </a:lnTo>
                <a:lnTo>
                  <a:pt x="259080" y="90919"/>
                </a:lnTo>
                <a:lnTo>
                  <a:pt x="259080" y="7124"/>
                </a:lnTo>
                <a:lnTo>
                  <a:pt x="259080" y="3568"/>
                </a:lnTo>
                <a:close/>
              </a:path>
              <a:path w="341630" h="181610">
                <a:moveTo>
                  <a:pt x="300228" y="31597"/>
                </a:moveTo>
                <a:lnTo>
                  <a:pt x="296646" y="28956"/>
                </a:lnTo>
                <a:lnTo>
                  <a:pt x="288569" y="28956"/>
                </a:lnTo>
                <a:lnTo>
                  <a:pt x="284988" y="31597"/>
                </a:lnTo>
                <a:lnTo>
                  <a:pt x="284988" y="75717"/>
                </a:lnTo>
                <a:lnTo>
                  <a:pt x="288569" y="79248"/>
                </a:lnTo>
                <a:lnTo>
                  <a:pt x="296646" y="79248"/>
                </a:lnTo>
                <a:lnTo>
                  <a:pt x="300228" y="75717"/>
                </a:lnTo>
                <a:lnTo>
                  <a:pt x="300228" y="36017"/>
                </a:lnTo>
                <a:lnTo>
                  <a:pt x="300228" y="31597"/>
                </a:lnTo>
                <a:close/>
              </a:path>
              <a:path w="341630" h="181610">
                <a:moveTo>
                  <a:pt x="309359" y="149656"/>
                </a:moveTo>
                <a:lnTo>
                  <a:pt x="307174" y="137604"/>
                </a:lnTo>
                <a:lnTo>
                  <a:pt x="305066" y="134264"/>
                </a:lnTo>
                <a:lnTo>
                  <a:pt x="300990" y="127825"/>
                </a:lnTo>
                <a:lnTo>
                  <a:pt x="293700" y="122872"/>
                </a:lnTo>
                <a:lnTo>
                  <a:pt x="293700" y="141516"/>
                </a:lnTo>
                <a:lnTo>
                  <a:pt x="293700" y="158711"/>
                </a:lnTo>
                <a:lnTo>
                  <a:pt x="287604" y="165963"/>
                </a:lnTo>
                <a:lnTo>
                  <a:pt x="270179" y="165963"/>
                </a:lnTo>
                <a:lnTo>
                  <a:pt x="264083" y="158711"/>
                </a:lnTo>
                <a:lnTo>
                  <a:pt x="264083" y="141516"/>
                </a:lnTo>
                <a:lnTo>
                  <a:pt x="270179" y="134264"/>
                </a:lnTo>
                <a:lnTo>
                  <a:pt x="287604" y="134264"/>
                </a:lnTo>
                <a:lnTo>
                  <a:pt x="293700" y="141516"/>
                </a:lnTo>
                <a:lnTo>
                  <a:pt x="293700" y="122872"/>
                </a:lnTo>
                <a:lnTo>
                  <a:pt x="291363" y="121272"/>
                </a:lnTo>
                <a:lnTo>
                  <a:pt x="278892" y="118872"/>
                </a:lnTo>
                <a:lnTo>
                  <a:pt x="266407" y="121272"/>
                </a:lnTo>
                <a:lnTo>
                  <a:pt x="256794" y="127825"/>
                </a:lnTo>
                <a:lnTo>
                  <a:pt x="250596" y="137604"/>
                </a:lnTo>
                <a:lnTo>
                  <a:pt x="248412" y="149656"/>
                </a:lnTo>
                <a:lnTo>
                  <a:pt x="250596" y="161874"/>
                </a:lnTo>
                <a:lnTo>
                  <a:pt x="256794" y="171970"/>
                </a:lnTo>
                <a:lnTo>
                  <a:pt x="266407" y="178828"/>
                </a:lnTo>
                <a:lnTo>
                  <a:pt x="278892" y="181356"/>
                </a:lnTo>
                <a:lnTo>
                  <a:pt x="291363" y="178828"/>
                </a:lnTo>
                <a:lnTo>
                  <a:pt x="300990" y="171970"/>
                </a:lnTo>
                <a:lnTo>
                  <a:pt x="304660" y="165963"/>
                </a:lnTo>
                <a:lnTo>
                  <a:pt x="307174" y="161874"/>
                </a:lnTo>
                <a:lnTo>
                  <a:pt x="309359" y="149656"/>
                </a:lnTo>
                <a:close/>
              </a:path>
              <a:path w="341630" h="181610">
                <a:moveTo>
                  <a:pt x="341376" y="51460"/>
                </a:moveTo>
                <a:lnTo>
                  <a:pt x="337794" y="48768"/>
                </a:lnTo>
                <a:lnTo>
                  <a:pt x="329717" y="48768"/>
                </a:lnTo>
                <a:lnTo>
                  <a:pt x="326136" y="51460"/>
                </a:lnTo>
                <a:lnTo>
                  <a:pt x="326136" y="75666"/>
                </a:lnTo>
                <a:lnTo>
                  <a:pt x="329717" y="79248"/>
                </a:lnTo>
                <a:lnTo>
                  <a:pt x="337794" y="79248"/>
                </a:lnTo>
                <a:lnTo>
                  <a:pt x="341376" y="75666"/>
                </a:lnTo>
                <a:lnTo>
                  <a:pt x="341376" y="55943"/>
                </a:lnTo>
                <a:lnTo>
                  <a:pt x="341376" y="51460"/>
                </a:lnTo>
                <a:close/>
              </a:path>
            </a:pathLst>
          </a:custGeom>
          <a:solidFill>
            <a:srgbClr val="38C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323024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25"/>
              <a:t>WAN</a:t>
            </a:r>
            <a:r>
              <a:rPr dirty="0" sz="1600" spc="-35"/>
              <a:t> </a:t>
            </a:r>
            <a:r>
              <a:rPr dirty="0" sz="1600" spc="-5"/>
              <a:t>Operations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25"/>
              <a:t>WANs</a:t>
            </a:r>
            <a:r>
              <a:rPr dirty="0" spc="-35"/>
              <a:t> </a:t>
            </a:r>
            <a:r>
              <a:rPr dirty="0" spc="-5"/>
              <a:t>in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5"/>
              <a:t>OSI</a:t>
            </a:r>
            <a:r>
              <a:rPr dirty="0" spc="-35"/>
              <a:t> </a:t>
            </a:r>
            <a:r>
              <a:rPr dirty="0"/>
              <a:t>Model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14265" y="316484"/>
            <a:ext cx="4438015" cy="4339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26162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operations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focus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primarily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on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physical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link layer</a:t>
            </a:r>
            <a:r>
              <a:rPr dirty="0" sz="1500">
                <a:latin typeface="Arial MT"/>
                <a:cs typeface="Arial MT"/>
              </a:rPr>
              <a:t> of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OSI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Model.</a:t>
            </a:r>
            <a:endParaRPr sz="1500">
              <a:latin typeface="Arial MT"/>
              <a:cs typeface="Arial MT"/>
            </a:endParaRPr>
          </a:p>
          <a:p>
            <a:pPr marL="181610" marR="47434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Data link layer </a:t>
            </a:r>
            <a:r>
              <a:rPr dirty="0" sz="1500">
                <a:latin typeface="Arial MT"/>
                <a:cs typeface="Arial MT"/>
              </a:rPr>
              <a:t>requirements include </a:t>
            </a:r>
            <a:r>
              <a:rPr dirty="0" sz="1500" spc="-5">
                <a:latin typeface="Arial MT"/>
                <a:cs typeface="Arial MT"/>
              </a:rPr>
              <a:t>physical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addressing,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flow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control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encapsulation.</a:t>
            </a:r>
            <a:endParaRPr sz="1500">
              <a:latin typeface="Arial MT"/>
              <a:cs typeface="Arial MT"/>
            </a:endParaRPr>
          </a:p>
          <a:p>
            <a:pPr marL="181610" marR="4762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access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standards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defined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managed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by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number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recognized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authorities:</a:t>
            </a:r>
            <a:endParaRPr sz="1500">
              <a:latin typeface="Arial MT"/>
              <a:cs typeface="Arial MT"/>
            </a:endParaRPr>
          </a:p>
          <a:p>
            <a:pPr lvl="1" marL="370840" marR="128270" indent="-169545">
              <a:lnSpc>
                <a:spcPct val="100000"/>
              </a:lnSpc>
              <a:spcBef>
                <a:spcPts val="905"/>
              </a:spcBef>
              <a:buClr>
                <a:srgbClr val="57575B"/>
              </a:buClr>
              <a:buChar char="•"/>
              <a:tabLst>
                <a:tab pos="371475" algn="l"/>
              </a:tabLst>
            </a:pPr>
            <a:r>
              <a:rPr dirty="0" sz="1200" spc="5">
                <a:latin typeface="Arial MT"/>
                <a:cs typeface="Arial MT"/>
              </a:rPr>
              <a:t>T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/</a:t>
            </a:r>
            <a:r>
              <a:rPr dirty="0" sz="1200" spc="5">
                <a:latin typeface="Arial MT"/>
                <a:cs typeface="Arial MT"/>
              </a:rPr>
              <a:t>E</a:t>
            </a:r>
            <a:r>
              <a:rPr dirty="0" sz="1200">
                <a:latin typeface="Arial MT"/>
                <a:cs typeface="Arial MT"/>
              </a:rPr>
              <a:t>IA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</a:t>
            </a:r>
            <a:r>
              <a:rPr dirty="0" sz="1200" spc="-125">
                <a:latin typeface="Arial MT"/>
                <a:cs typeface="Arial MT"/>
              </a:rPr>
              <a:t>T</a:t>
            </a:r>
            <a:r>
              <a:rPr dirty="0" sz="1200">
                <a:latin typeface="Arial MT"/>
                <a:cs typeface="Arial MT"/>
              </a:rPr>
              <a:t>e</a:t>
            </a:r>
            <a:r>
              <a:rPr dirty="0" sz="1200" spc="-5">
                <a:latin typeface="Arial MT"/>
                <a:cs typeface="Arial MT"/>
              </a:rPr>
              <a:t>lec</a:t>
            </a:r>
            <a:r>
              <a:rPr dirty="0" sz="1200" spc="5">
                <a:latin typeface="Arial MT"/>
                <a:cs typeface="Arial MT"/>
              </a:rPr>
              <a:t>om</a:t>
            </a:r>
            <a:r>
              <a:rPr dirty="0" sz="1200" spc="-5">
                <a:latin typeface="Arial MT"/>
                <a:cs typeface="Arial MT"/>
              </a:rPr>
              <a:t>m</a:t>
            </a:r>
            <a:r>
              <a:rPr dirty="0" sz="1200">
                <a:latin typeface="Arial MT"/>
                <a:cs typeface="Arial MT"/>
              </a:rPr>
              <a:t>u</a:t>
            </a:r>
            <a:r>
              <a:rPr dirty="0" sz="1200" spc="-10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ic</a:t>
            </a:r>
            <a:r>
              <a:rPr dirty="0" sz="1200" spc="-10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ti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5">
                <a:latin typeface="Arial MT"/>
                <a:cs typeface="Arial MT"/>
              </a:rPr>
              <a:t>n</a:t>
            </a:r>
            <a:r>
              <a:rPr dirty="0" sz="1200">
                <a:latin typeface="Arial MT"/>
                <a:cs typeface="Arial MT"/>
              </a:rPr>
              <a:t>dustry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Associat</a:t>
            </a:r>
            <a:r>
              <a:rPr dirty="0" sz="1200" spc="-5">
                <a:latin typeface="Arial MT"/>
                <a:cs typeface="Arial MT"/>
              </a:rPr>
              <a:t>io</a:t>
            </a:r>
            <a:r>
              <a:rPr dirty="0" sz="1200">
                <a:latin typeface="Arial MT"/>
                <a:cs typeface="Arial MT"/>
              </a:rPr>
              <a:t>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 spc="5">
                <a:latin typeface="Arial MT"/>
                <a:cs typeface="Arial MT"/>
              </a:rPr>
              <a:t>h</a:t>
            </a:r>
            <a:r>
              <a:rPr dirty="0" sz="1200">
                <a:latin typeface="Arial MT"/>
                <a:cs typeface="Arial MT"/>
              </a:rPr>
              <a:t>e  E</a:t>
            </a:r>
            <a:r>
              <a:rPr dirty="0" sz="1200" spc="-5">
                <a:latin typeface="Arial MT"/>
                <a:cs typeface="Arial MT"/>
              </a:rPr>
              <a:t>lec</a:t>
            </a:r>
            <a:r>
              <a:rPr dirty="0" sz="1200">
                <a:latin typeface="Arial MT"/>
                <a:cs typeface="Arial MT"/>
              </a:rPr>
              <a:t>tron</a:t>
            </a:r>
            <a:r>
              <a:rPr dirty="0" sz="1200" spc="-5">
                <a:latin typeface="Arial MT"/>
                <a:cs typeface="Arial MT"/>
              </a:rPr>
              <a:t>i</a:t>
            </a:r>
            <a:r>
              <a:rPr dirty="0" sz="1200">
                <a:latin typeface="Arial MT"/>
                <a:cs typeface="Arial MT"/>
              </a:rPr>
              <a:t>c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5">
                <a:latin typeface="Arial MT"/>
                <a:cs typeface="Arial MT"/>
              </a:rPr>
              <a:t>n</a:t>
            </a:r>
            <a:r>
              <a:rPr dirty="0" sz="1200">
                <a:latin typeface="Arial MT"/>
                <a:cs typeface="Arial MT"/>
              </a:rPr>
              <a:t>dustr</a:t>
            </a:r>
            <a:r>
              <a:rPr dirty="0" sz="1200" spc="-5">
                <a:latin typeface="Arial MT"/>
                <a:cs typeface="Arial MT"/>
              </a:rPr>
              <a:t>i</a:t>
            </a:r>
            <a:r>
              <a:rPr dirty="0" sz="1200">
                <a:latin typeface="Arial MT"/>
                <a:cs typeface="Arial MT"/>
              </a:rPr>
              <a:t>es</a:t>
            </a:r>
            <a:r>
              <a:rPr dirty="0" sz="1200" spc="-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5">
                <a:latin typeface="Arial MT"/>
                <a:cs typeface="Arial MT"/>
              </a:rPr>
              <a:t>llia</a:t>
            </a:r>
            <a:r>
              <a:rPr dirty="0" sz="1200" spc="5">
                <a:latin typeface="Arial MT"/>
                <a:cs typeface="Arial MT"/>
              </a:rPr>
              <a:t>n</a:t>
            </a:r>
            <a:r>
              <a:rPr dirty="0" sz="1200">
                <a:latin typeface="Arial MT"/>
                <a:cs typeface="Arial MT"/>
              </a:rPr>
              <a:t>c</a:t>
            </a:r>
            <a:r>
              <a:rPr dirty="0" sz="1200" spc="-10">
                <a:latin typeface="Arial MT"/>
                <a:cs typeface="Arial MT"/>
              </a:rPr>
              <a:t>e</a:t>
            </a:r>
            <a:r>
              <a:rPr dirty="0" sz="1200">
                <a:latin typeface="Arial MT"/>
                <a:cs typeface="Arial MT"/>
              </a:rPr>
              <a:t>)</a:t>
            </a:r>
            <a:endParaRPr sz="1200">
              <a:latin typeface="Arial MT"/>
              <a:cs typeface="Arial MT"/>
            </a:endParaRPr>
          </a:p>
          <a:p>
            <a:pPr lvl="1" marL="370840" indent="-170180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1475" algn="l"/>
              </a:tabLst>
            </a:pPr>
            <a:r>
              <a:rPr dirty="0" sz="1200">
                <a:latin typeface="Arial MT"/>
                <a:cs typeface="Arial MT"/>
              </a:rPr>
              <a:t>ISO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(International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5">
                <a:latin typeface="Arial MT"/>
                <a:cs typeface="Arial MT"/>
              </a:rPr>
              <a:t> Standardization)</a:t>
            </a:r>
            <a:endParaRPr sz="1200">
              <a:latin typeface="Arial MT"/>
              <a:cs typeface="Arial MT"/>
            </a:endParaRPr>
          </a:p>
          <a:p>
            <a:pPr lvl="1" marL="370840" indent="-170180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1475" algn="l"/>
              </a:tabLst>
            </a:pPr>
            <a:r>
              <a:rPr dirty="0" sz="1200">
                <a:latin typeface="Arial MT"/>
                <a:cs typeface="Arial MT"/>
              </a:rPr>
              <a:t>IEEE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(Institute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Electrical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Electronics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Engineers)</a:t>
            </a:r>
            <a:endParaRPr sz="1200">
              <a:latin typeface="Arial MT"/>
              <a:cs typeface="Arial MT"/>
            </a:endParaRPr>
          </a:p>
          <a:p>
            <a:pPr marL="181610" marR="80010" indent="-169545">
              <a:lnSpc>
                <a:spcPct val="100000"/>
              </a:lnSpc>
              <a:spcBef>
                <a:spcPts val="9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Layer </a:t>
            </a:r>
            <a:r>
              <a:rPr dirty="0" sz="1500">
                <a:latin typeface="Arial MT"/>
                <a:cs typeface="Arial MT"/>
              </a:rPr>
              <a:t>1 protocols describe how to </a:t>
            </a:r>
            <a:r>
              <a:rPr dirty="0" sz="1500" spc="-5">
                <a:latin typeface="Arial MT"/>
                <a:cs typeface="Arial MT"/>
              </a:rPr>
              <a:t>provide </a:t>
            </a:r>
            <a:r>
              <a:rPr dirty="0" sz="1500">
                <a:latin typeface="Arial MT"/>
                <a:cs typeface="Arial MT"/>
              </a:rPr>
              <a:t> electrical,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mechanical,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operational,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functional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connects to the </a:t>
            </a:r>
            <a:r>
              <a:rPr dirty="0" sz="1500" spc="-5">
                <a:latin typeface="Arial MT"/>
                <a:cs typeface="Arial MT"/>
              </a:rPr>
              <a:t>services </a:t>
            </a:r>
            <a:r>
              <a:rPr dirty="0" sz="1500">
                <a:latin typeface="Arial MT"/>
                <a:cs typeface="Arial MT"/>
              </a:rPr>
              <a:t>of a communications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15">
                <a:latin typeface="Arial MT"/>
                <a:cs typeface="Arial MT"/>
              </a:rPr>
              <a:t>provider.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Layer </a:t>
            </a:r>
            <a:r>
              <a:rPr dirty="0" sz="1500">
                <a:latin typeface="Arial MT"/>
                <a:cs typeface="Arial MT"/>
              </a:rPr>
              <a:t>2 protocols define how data </a:t>
            </a:r>
            <a:r>
              <a:rPr dirty="0" sz="1500" spc="-5">
                <a:latin typeface="Arial MT"/>
                <a:cs typeface="Arial MT"/>
              </a:rPr>
              <a:t>is </a:t>
            </a:r>
            <a:r>
              <a:rPr dirty="0" sz="1500">
                <a:latin typeface="Arial MT"/>
                <a:cs typeface="Arial MT"/>
              </a:rPr>
              <a:t>encapsulated </a:t>
            </a:r>
            <a:r>
              <a:rPr dirty="0" sz="1500" spc="-409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mechanisms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transferring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resulting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3429" y="4630623"/>
            <a:ext cx="6635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f</a:t>
            </a:r>
            <a:r>
              <a:rPr dirty="0" sz="1500" spc="5">
                <a:latin typeface="Arial MT"/>
                <a:cs typeface="Arial MT"/>
              </a:rPr>
              <a:t>r</a:t>
            </a:r>
            <a:r>
              <a:rPr dirty="0" sz="1500">
                <a:latin typeface="Arial MT"/>
                <a:cs typeface="Arial MT"/>
              </a:rPr>
              <a:t>am</a:t>
            </a:r>
            <a:r>
              <a:rPr dirty="0" sz="1500" spc="5">
                <a:latin typeface="Arial MT"/>
                <a:cs typeface="Arial MT"/>
              </a:rPr>
              <a:t>e</a:t>
            </a:r>
            <a:r>
              <a:rPr dirty="0" sz="1500">
                <a:latin typeface="Arial MT"/>
                <a:cs typeface="Arial MT"/>
              </a:rPr>
              <a:t>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28" y="1060703"/>
            <a:ext cx="4186428" cy="3215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376809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25"/>
              <a:t>WAN</a:t>
            </a:r>
            <a:r>
              <a:rPr dirty="0" sz="1600" spc="-35"/>
              <a:t> </a:t>
            </a:r>
            <a:r>
              <a:rPr dirty="0" sz="1600" spc="-5"/>
              <a:t>Operations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Common</a:t>
            </a:r>
            <a:r>
              <a:rPr dirty="0" spc="-30"/>
              <a:t> WAN</a:t>
            </a:r>
            <a:r>
              <a:rPr dirty="0" spc="-90"/>
              <a:t> </a:t>
            </a:r>
            <a:r>
              <a:rPr dirty="0" spc="-3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0338" y="316484"/>
            <a:ext cx="3913504" cy="410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36258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One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primary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difference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between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 a </a:t>
            </a:r>
            <a:r>
              <a:rPr dirty="0" sz="1500" spc="-5">
                <a:latin typeface="Arial MT"/>
                <a:cs typeface="Arial MT"/>
              </a:rPr>
              <a:t>LAN is </a:t>
            </a:r>
            <a:r>
              <a:rPr dirty="0" sz="1500">
                <a:latin typeface="Arial MT"/>
                <a:cs typeface="Arial MT"/>
              </a:rPr>
              <a:t>that a company must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subscribe to an outside </a:t>
            </a:r>
            <a:r>
              <a:rPr dirty="0" sz="1500" spc="-15">
                <a:latin typeface="Arial MT"/>
                <a:cs typeface="Arial MT"/>
              </a:rPr>
              <a:t>WAN </a:t>
            </a:r>
            <a:r>
              <a:rPr dirty="0" sz="1500" spc="-5">
                <a:latin typeface="Arial MT"/>
                <a:cs typeface="Arial MT"/>
              </a:rPr>
              <a:t>service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provider </a:t>
            </a:r>
            <a:r>
              <a:rPr dirty="0" sz="1500">
                <a:latin typeface="Arial MT"/>
                <a:cs typeface="Arial MT"/>
              </a:rPr>
              <a:t>to use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>
                <a:latin typeface="Arial MT"/>
                <a:cs typeface="Arial MT"/>
              </a:rPr>
              <a:t>carrier </a:t>
            </a:r>
            <a:r>
              <a:rPr dirty="0" sz="1500" spc="-5">
                <a:latin typeface="Arial MT"/>
                <a:cs typeface="Arial MT"/>
              </a:rPr>
              <a:t>network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services.</a:t>
            </a:r>
            <a:endParaRPr sz="1500">
              <a:latin typeface="Arial MT"/>
              <a:cs typeface="Arial MT"/>
            </a:endParaRPr>
          </a:p>
          <a:p>
            <a:pPr marL="18161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20">
                <a:latin typeface="Arial MT"/>
                <a:cs typeface="Arial MT"/>
              </a:rPr>
              <a:t>Terminology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commonly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describe</a:t>
            </a:r>
            <a:endParaRPr sz="1500">
              <a:latin typeface="Arial MT"/>
              <a:cs typeface="Arial MT"/>
            </a:endParaRPr>
          </a:p>
          <a:p>
            <a:pPr marL="181610">
              <a:lnSpc>
                <a:spcPct val="100000"/>
              </a:lnSpc>
            </a:pPr>
            <a:r>
              <a:rPr dirty="0" sz="1500" spc="-15">
                <a:latin typeface="Arial MT"/>
                <a:cs typeface="Arial MT"/>
              </a:rPr>
              <a:t>WAN</a:t>
            </a:r>
            <a:r>
              <a:rPr dirty="0" sz="1500" spc="-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connections:</a:t>
            </a:r>
            <a:endParaRPr sz="1500">
              <a:latin typeface="Arial MT"/>
              <a:cs typeface="Arial MT"/>
            </a:endParaRPr>
          </a:p>
          <a:p>
            <a:pPr lvl="1" marL="370205" marR="13970" indent="-169545">
              <a:lnSpc>
                <a:spcPct val="100000"/>
              </a:lnSpc>
              <a:spcBef>
                <a:spcPts val="894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Customer Premises Equipment </a:t>
            </a:r>
            <a:r>
              <a:rPr dirty="0" sz="1400">
                <a:latin typeface="Arial MT"/>
                <a:cs typeface="Arial MT"/>
              </a:rPr>
              <a:t>(CPE) –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Consists of devices and inside wiring located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on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enterprise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edge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connecting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carrier</a:t>
            </a:r>
            <a:endParaRPr sz="1400">
              <a:latin typeface="Arial MT"/>
              <a:cs typeface="Arial MT"/>
            </a:endParaRPr>
          </a:p>
          <a:p>
            <a:pPr lvl="1" marL="370205" marR="508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Data Communications Equipment (DCE)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Also </a:t>
            </a:r>
            <a:r>
              <a:rPr dirty="0" sz="1400" spc="-5">
                <a:latin typeface="Arial MT"/>
                <a:cs typeface="Arial MT"/>
              </a:rPr>
              <a:t>called circuit-terminating equipment, the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DCE consists of devices that put data on the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local loop.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 DCE primarily provides an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interface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connect subscribers </a:t>
            </a:r>
            <a:r>
              <a:rPr dirty="0" sz="1400">
                <a:latin typeface="Arial MT"/>
                <a:cs typeface="Arial MT"/>
              </a:rPr>
              <a:t>to a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communication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link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cloud.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890016"/>
            <a:ext cx="4654296" cy="36713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13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478726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25"/>
              <a:t>WAN</a:t>
            </a:r>
            <a:r>
              <a:rPr dirty="0" sz="1600" spc="-35"/>
              <a:t> </a:t>
            </a:r>
            <a:r>
              <a:rPr dirty="0" sz="1600" spc="-5"/>
              <a:t>Operations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Common</a:t>
            </a:r>
            <a:r>
              <a:rPr dirty="0" spc="-20"/>
              <a:t> </a:t>
            </a:r>
            <a:r>
              <a:rPr dirty="0" spc="-30"/>
              <a:t>WAN</a:t>
            </a:r>
            <a:r>
              <a:rPr dirty="0" spc="-75"/>
              <a:t> </a:t>
            </a:r>
            <a:r>
              <a:rPr dirty="0" spc="-30"/>
              <a:t>Terminology</a:t>
            </a:r>
            <a:r>
              <a:rPr dirty="0"/>
              <a:t>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79314" y="382651"/>
            <a:ext cx="3673475" cy="4385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1610" marR="66675" indent="-169545">
              <a:lnSpc>
                <a:spcPct val="100000"/>
              </a:lnSpc>
              <a:spcBef>
                <a:spcPts val="105"/>
              </a:spcBef>
              <a:buClr>
                <a:srgbClr val="57575B"/>
              </a:buClr>
              <a:buChar char="•"/>
              <a:tabLst>
                <a:tab pos="182245" algn="l"/>
              </a:tabLst>
            </a:pPr>
            <a:r>
              <a:rPr dirty="0" sz="1400" spc="-5">
                <a:latin typeface="Arial MT"/>
                <a:cs typeface="Arial MT"/>
              </a:rPr>
              <a:t>Data </a:t>
            </a:r>
            <a:r>
              <a:rPr dirty="0" sz="1400" spc="-25">
                <a:latin typeface="Arial MT"/>
                <a:cs typeface="Arial MT"/>
              </a:rPr>
              <a:t>Terminal </a:t>
            </a:r>
            <a:r>
              <a:rPr dirty="0" sz="1400" spc="-5">
                <a:latin typeface="Arial MT"/>
                <a:cs typeface="Arial MT"/>
              </a:rPr>
              <a:t>Equipment (DTE)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-5">
                <a:latin typeface="Arial MT"/>
                <a:cs typeface="Arial MT"/>
              </a:rPr>
              <a:t>The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customer devices </a:t>
            </a:r>
            <a:r>
              <a:rPr dirty="0" sz="1400">
                <a:latin typeface="Arial MT"/>
                <a:cs typeface="Arial MT"/>
              </a:rPr>
              <a:t>that </a:t>
            </a:r>
            <a:r>
              <a:rPr dirty="0" sz="1400" spc="-5">
                <a:latin typeface="Arial MT"/>
                <a:cs typeface="Arial MT"/>
              </a:rPr>
              <a:t>pass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data </a:t>
            </a:r>
            <a:r>
              <a:rPr dirty="0" sz="1400">
                <a:latin typeface="Arial MT"/>
                <a:cs typeface="Arial MT"/>
              </a:rPr>
              <a:t>from a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customer network or host computer for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transmission </a:t>
            </a:r>
            <a:r>
              <a:rPr dirty="0" sz="1400" spc="-10">
                <a:latin typeface="Arial MT"/>
                <a:cs typeface="Arial MT"/>
              </a:rPr>
              <a:t>over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10">
                <a:latin typeface="Arial MT"/>
                <a:cs typeface="Arial MT"/>
              </a:rPr>
              <a:t>WAN.</a:t>
            </a:r>
            <a:r>
              <a:rPr dirty="0" sz="1400" spc="-5">
                <a:latin typeface="Arial MT"/>
                <a:cs typeface="Arial MT"/>
              </a:rPr>
              <a:t> The DTE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connects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loop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through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DCE.</a:t>
            </a:r>
            <a:endParaRPr sz="1400">
              <a:latin typeface="Arial MT"/>
              <a:cs typeface="Arial MT"/>
            </a:endParaRPr>
          </a:p>
          <a:p>
            <a:pPr marL="181610" marR="17526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182245" algn="l"/>
              </a:tabLst>
            </a:pPr>
            <a:r>
              <a:rPr dirty="0" sz="1400" spc="-5">
                <a:latin typeface="Arial MT"/>
                <a:cs typeface="Arial MT"/>
              </a:rPr>
              <a:t>Demarcation </a:t>
            </a:r>
            <a:r>
              <a:rPr dirty="0" sz="1400">
                <a:latin typeface="Arial MT"/>
                <a:cs typeface="Arial MT"/>
              </a:rPr>
              <a:t>Point – </a:t>
            </a:r>
            <a:r>
              <a:rPr dirty="0" sz="1400" spc="-5">
                <a:latin typeface="Arial MT"/>
                <a:cs typeface="Arial MT"/>
              </a:rPr>
              <a:t>This is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point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established </a:t>
            </a:r>
            <a:r>
              <a:rPr dirty="0" sz="1400">
                <a:latin typeface="Arial MT"/>
                <a:cs typeface="Arial MT"/>
              </a:rPr>
              <a:t>in a </a:t>
            </a:r>
            <a:r>
              <a:rPr dirty="0" sz="1400" spc="-5">
                <a:latin typeface="Arial MT"/>
                <a:cs typeface="Arial MT"/>
              </a:rPr>
              <a:t>building </a:t>
            </a:r>
            <a:r>
              <a:rPr dirty="0" sz="1400">
                <a:latin typeface="Arial MT"/>
                <a:cs typeface="Arial MT"/>
              </a:rPr>
              <a:t>to separate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customer equipment </a:t>
            </a:r>
            <a:r>
              <a:rPr dirty="0" sz="1400">
                <a:latin typeface="Arial MT"/>
                <a:cs typeface="Arial MT"/>
              </a:rPr>
              <a:t>from </a:t>
            </a:r>
            <a:r>
              <a:rPr dirty="0" sz="1400" spc="-5">
                <a:latin typeface="Arial MT"/>
                <a:cs typeface="Arial MT"/>
              </a:rPr>
              <a:t>service </a:t>
            </a:r>
            <a:r>
              <a:rPr dirty="0" sz="1400" spc="-10">
                <a:latin typeface="Arial MT"/>
                <a:cs typeface="Arial MT"/>
              </a:rPr>
              <a:t>provider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equipment.</a:t>
            </a:r>
            <a:endParaRPr sz="1400">
              <a:latin typeface="Arial MT"/>
              <a:cs typeface="Arial MT"/>
            </a:endParaRPr>
          </a:p>
          <a:p>
            <a:pPr marL="181610" marR="6731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182245" algn="l"/>
              </a:tabLst>
            </a:pPr>
            <a:r>
              <a:rPr dirty="0" sz="1400" spc="-5">
                <a:latin typeface="Arial MT"/>
                <a:cs typeface="Arial MT"/>
              </a:rPr>
              <a:t>Local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Loop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(“last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mile”)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actual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copper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or fiber cable that connects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CPE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the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service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5">
                <a:latin typeface="Arial MT"/>
                <a:cs typeface="Arial MT"/>
              </a:rPr>
              <a:t>provider.</a:t>
            </a:r>
            <a:endParaRPr sz="1400">
              <a:latin typeface="Arial MT"/>
              <a:cs typeface="Arial MT"/>
            </a:endParaRPr>
          </a:p>
          <a:p>
            <a:pPr marL="181610" marR="161290" indent="-16954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182245" algn="l"/>
              </a:tabLst>
            </a:pPr>
            <a:r>
              <a:rPr dirty="0" sz="1400" spc="-5">
                <a:latin typeface="Arial MT"/>
                <a:cs typeface="Arial MT"/>
              </a:rPr>
              <a:t>Central Office (CO)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-5">
                <a:latin typeface="Arial MT"/>
                <a:cs typeface="Arial MT"/>
              </a:rPr>
              <a:t>The CO is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local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service provider facility or building that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connects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CPE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provider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network.</a:t>
            </a:r>
            <a:endParaRPr sz="14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182245" algn="l"/>
              </a:tabLst>
            </a:pPr>
            <a:r>
              <a:rPr dirty="0" sz="1400" spc="-45">
                <a:latin typeface="Arial MT"/>
                <a:cs typeface="Arial MT"/>
              </a:rPr>
              <a:t>Toll </a:t>
            </a:r>
            <a:r>
              <a:rPr dirty="0" sz="1400" spc="-5">
                <a:latin typeface="Arial MT"/>
                <a:cs typeface="Arial MT"/>
              </a:rPr>
              <a:t>network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-5">
                <a:latin typeface="Arial MT"/>
                <a:cs typeface="Arial MT"/>
              </a:rPr>
              <a:t>This </a:t>
            </a:r>
            <a:r>
              <a:rPr dirty="0" sz="1400">
                <a:latin typeface="Arial MT"/>
                <a:cs typeface="Arial MT"/>
              </a:rPr>
              <a:t>consists of the </a:t>
            </a:r>
            <a:r>
              <a:rPr dirty="0" sz="1400" spc="-5">
                <a:latin typeface="Arial MT"/>
                <a:cs typeface="Arial MT"/>
              </a:rPr>
              <a:t>long-haul,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all-digital, fiber-optic communications lines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 other equipment inside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10">
                <a:latin typeface="Arial MT"/>
                <a:cs typeface="Arial MT"/>
              </a:rPr>
              <a:t>WAN </a:t>
            </a:r>
            <a:r>
              <a:rPr dirty="0" sz="1400" spc="-5">
                <a:latin typeface="Arial MT"/>
                <a:cs typeface="Arial MT"/>
              </a:rPr>
              <a:t> provider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890016"/>
            <a:ext cx="4654296" cy="36713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189103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25"/>
              <a:t>WAN</a:t>
            </a:r>
            <a:r>
              <a:rPr dirty="0" sz="1600" spc="-35"/>
              <a:t> </a:t>
            </a:r>
            <a:r>
              <a:rPr dirty="0" sz="1600" spc="-5"/>
              <a:t>Operations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30"/>
              <a:t>WAN</a:t>
            </a:r>
            <a:r>
              <a:rPr dirty="0" spc="-70"/>
              <a:t> </a:t>
            </a:r>
            <a:r>
              <a:rPr dirty="0" spc="-10"/>
              <a:t>Devices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5097" y="315848"/>
            <a:ext cx="3792854" cy="4377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There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many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types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devices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that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endParaRPr sz="1500">
              <a:latin typeface="Arial MT"/>
              <a:cs typeface="Arial MT"/>
            </a:endParaRPr>
          </a:p>
          <a:p>
            <a:pPr marL="181610">
              <a:lnSpc>
                <a:spcPct val="100000"/>
              </a:lnSpc>
            </a:pPr>
            <a:r>
              <a:rPr dirty="0" sz="1500" spc="-5">
                <a:latin typeface="Arial MT"/>
                <a:cs typeface="Arial MT"/>
              </a:rPr>
              <a:t>specific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 </a:t>
            </a:r>
            <a:r>
              <a:rPr dirty="0" sz="1500" spc="-15">
                <a:latin typeface="Arial MT"/>
                <a:cs typeface="Arial MT"/>
              </a:rPr>
              <a:t>WAN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environments:</a:t>
            </a:r>
            <a:endParaRPr sz="1500">
              <a:latin typeface="Arial MT"/>
              <a:cs typeface="Arial MT"/>
            </a:endParaRPr>
          </a:p>
          <a:p>
            <a:pPr lvl="1" marL="370205" marR="5080" indent="-169545">
              <a:lnSpc>
                <a:spcPct val="100000"/>
              </a:lnSpc>
              <a:spcBef>
                <a:spcPts val="894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Dialup modem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-5">
                <a:latin typeface="Arial MT"/>
                <a:cs typeface="Arial MT"/>
              </a:rPr>
              <a:t>Legacy </a:t>
            </a:r>
            <a:r>
              <a:rPr dirty="0" sz="1400" spc="-10">
                <a:latin typeface="Arial MT"/>
                <a:cs typeface="Arial MT"/>
              </a:rPr>
              <a:t>WAN </a:t>
            </a:r>
            <a:r>
              <a:rPr dirty="0" sz="1400" spc="-5">
                <a:latin typeface="Arial MT"/>
                <a:cs typeface="Arial MT"/>
              </a:rPr>
              <a:t>technology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that converts (modulates)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digital signals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produced by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computer into voice </a:t>
            </a:r>
            <a:r>
              <a:rPr dirty="0" sz="1400">
                <a:latin typeface="Arial MT"/>
                <a:cs typeface="Arial MT"/>
              </a:rPr>
              <a:t> frequencies </a:t>
            </a:r>
            <a:r>
              <a:rPr dirty="0" sz="1400" spc="-5">
                <a:latin typeface="Arial MT"/>
                <a:cs typeface="Arial MT"/>
              </a:rPr>
              <a:t>which are transmitted </a:t>
            </a:r>
            <a:r>
              <a:rPr dirty="0" sz="1400" spc="-10">
                <a:latin typeface="Arial MT"/>
                <a:cs typeface="Arial MT"/>
              </a:rPr>
              <a:t>over </a:t>
            </a:r>
            <a:r>
              <a:rPr dirty="0" sz="1400" spc="-5">
                <a:latin typeface="Arial MT"/>
                <a:cs typeface="Arial MT"/>
              </a:rPr>
              <a:t>the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analog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lines</a:t>
            </a:r>
            <a:r>
              <a:rPr dirty="0" sz="1400" spc="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public</a:t>
            </a:r>
            <a:r>
              <a:rPr dirty="0" sz="1400" spc="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telephone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another modem for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demodulation.</a:t>
            </a:r>
            <a:endParaRPr sz="1400">
              <a:latin typeface="Arial MT"/>
              <a:cs typeface="Arial MT"/>
            </a:endParaRPr>
          </a:p>
          <a:p>
            <a:pPr lvl="1" marL="370205" marR="9271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Access </a:t>
            </a:r>
            <a:r>
              <a:rPr dirty="0" sz="1400" spc="-5">
                <a:latin typeface="Arial MT"/>
                <a:cs typeface="Arial MT"/>
              </a:rPr>
              <a:t>server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-5">
                <a:latin typeface="Arial MT"/>
                <a:cs typeface="Arial MT"/>
              </a:rPr>
              <a:t>Legacy technology </a:t>
            </a:r>
            <a:r>
              <a:rPr dirty="0" sz="1400" spc="-10">
                <a:latin typeface="Arial MT"/>
                <a:cs typeface="Arial MT"/>
              </a:rPr>
              <a:t>where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server controls </a:t>
            </a:r>
            <a:r>
              <a:rPr dirty="0" sz="1400">
                <a:latin typeface="Arial MT"/>
                <a:cs typeface="Arial MT"/>
              </a:rPr>
              <a:t>and </a:t>
            </a:r>
            <a:r>
              <a:rPr dirty="0" sz="1400" spc="-5">
                <a:latin typeface="Arial MT"/>
                <a:cs typeface="Arial MT"/>
              </a:rPr>
              <a:t>coordinates dialup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modem, dial-in and dial-out user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communications.</a:t>
            </a:r>
            <a:endParaRPr sz="1400">
              <a:latin typeface="Arial MT"/>
              <a:cs typeface="Arial MT"/>
            </a:endParaRPr>
          </a:p>
          <a:p>
            <a:pPr lvl="1" marL="370205" marR="27940" indent="-16954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Broadband modem </a:t>
            </a:r>
            <a:r>
              <a:rPr dirty="0" sz="1400">
                <a:latin typeface="Arial MT"/>
                <a:cs typeface="Arial MT"/>
              </a:rPr>
              <a:t>– A </a:t>
            </a:r>
            <a:r>
              <a:rPr dirty="0" sz="1400" spc="-5">
                <a:latin typeface="Arial MT"/>
                <a:cs typeface="Arial MT"/>
              </a:rPr>
              <a:t>type of digital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modem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used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with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high-speed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DSL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or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cable </a:t>
            </a:r>
            <a:r>
              <a:rPr dirty="0" sz="1400" spc="-37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Internet service.</a:t>
            </a:r>
            <a:r>
              <a:rPr dirty="0" sz="1400">
                <a:latin typeface="Arial MT"/>
                <a:cs typeface="Arial MT"/>
              </a:rPr>
              <a:t> Both operate in a </a:t>
            </a:r>
            <a:r>
              <a:rPr dirty="0" sz="1400" spc="-5">
                <a:latin typeface="Arial MT"/>
                <a:cs typeface="Arial MT"/>
              </a:rPr>
              <a:t>similar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manner </a:t>
            </a:r>
            <a:r>
              <a:rPr dirty="0" sz="1400">
                <a:latin typeface="Arial MT"/>
                <a:cs typeface="Arial MT"/>
              </a:rPr>
              <a:t>to the </a:t>
            </a:r>
            <a:r>
              <a:rPr dirty="0" sz="1400" spc="-5">
                <a:latin typeface="Arial MT"/>
                <a:cs typeface="Arial MT"/>
              </a:rPr>
              <a:t>voiceband modem, but </a:t>
            </a:r>
            <a:r>
              <a:rPr dirty="0" sz="1400">
                <a:latin typeface="Arial MT"/>
                <a:cs typeface="Arial MT"/>
              </a:rPr>
              <a:t>use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higher broadband frequencies and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transmission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speeds.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63" y="798576"/>
            <a:ext cx="4495800" cy="361187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9441"/>
            <a:ext cx="2911475" cy="63055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05"/>
              </a:lnSpc>
              <a:spcBef>
                <a:spcPts val="95"/>
              </a:spcBef>
            </a:pPr>
            <a:r>
              <a:rPr dirty="0" sz="1600" spc="-25"/>
              <a:t>WAN</a:t>
            </a:r>
            <a:r>
              <a:rPr dirty="0" sz="1600" spc="-35"/>
              <a:t> </a:t>
            </a:r>
            <a:r>
              <a:rPr dirty="0" sz="1600" spc="-5"/>
              <a:t>Operations</a:t>
            </a:r>
            <a:endParaRPr sz="1600"/>
          </a:p>
          <a:p>
            <a:pPr marL="12700">
              <a:lnSpc>
                <a:spcPts val="2865"/>
              </a:lnSpc>
            </a:pPr>
            <a:r>
              <a:rPr dirty="0" spc="-30"/>
              <a:t>WAN</a:t>
            </a:r>
            <a:r>
              <a:rPr dirty="0" spc="-45"/>
              <a:t> </a:t>
            </a:r>
            <a:r>
              <a:rPr dirty="0" spc="-10"/>
              <a:t>Devices</a:t>
            </a:r>
            <a:r>
              <a:rPr dirty="0"/>
              <a:t>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64073" y="314325"/>
            <a:ext cx="3474085" cy="2953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5"/>
              </a:spcBef>
              <a:buClr>
                <a:srgbClr val="57575B"/>
              </a:buClr>
              <a:buChar char="•"/>
              <a:tabLst>
                <a:tab pos="182245" algn="l"/>
              </a:tabLst>
            </a:pPr>
            <a:r>
              <a:rPr dirty="0" sz="1400" spc="-5">
                <a:latin typeface="Arial MT"/>
                <a:cs typeface="Arial MT"/>
              </a:rPr>
              <a:t>CSU/DSU </a:t>
            </a:r>
            <a:r>
              <a:rPr dirty="0" sz="1400">
                <a:latin typeface="Arial MT"/>
                <a:cs typeface="Arial MT"/>
              </a:rPr>
              <a:t>- </a:t>
            </a:r>
            <a:r>
              <a:rPr dirty="0" sz="1400" spc="-5">
                <a:latin typeface="Arial MT"/>
                <a:cs typeface="Arial MT"/>
              </a:rPr>
              <a:t>Digital-leased lines </a:t>
            </a:r>
            <a:r>
              <a:rPr dirty="0" sz="1400">
                <a:latin typeface="Arial MT"/>
                <a:cs typeface="Arial MT"/>
              </a:rPr>
              <a:t>require a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CSU and a </a:t>
            </a:r>
            <a:r>
              <a:rPr dirty="0" sz="1400" spc="-5">
                <a:latin typeface="Arial MT"/>
                <a:cs typeface="Arial MT"/>
              </a:rPr>
              <a:t>DSU.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 </a:t>
            </a:r>
            <a:r>
              <a:rPr dirty="0" sz="1400">
                <a:latin typeface="Arial MT"/>
                <a:cs typeface="Arial MT"/>
              </a:rPr>
              <a:t>CSU </a:t>
            </a:r>
            <a:r>
              <a:rPr dirty="0" sz="1400" spc="-5">
                <a:latin typeface="Arial MT"/>
                <a:cs typeface="Arial MT"/>
              </a:rPr>
              <a:t>provides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termination for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digital signal and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ensures connection integrity through error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correction and line monitoring.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 DSU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converts line frames into frames that the </a:t>
            </a:r>
            <a:r>
              <a:rPr dirty="0" sz="1400">
                <a:latin typeface="Arial MT"/>
                <a:cs typeface="Arial MT"/>
              </a:rPr>
              <a:t> LAN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interpret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vice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versa.</a:t>
            </a:r>
            <a:endParaRPr sz="1400">
              <a:latin typeface="Arial MT"/>
              <a:cs typeface="Arial MT"/>
            </a:endParaRPr>
          </a:p>
          <a:p>
            <a:pPr marL="181610" marR="1905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182245" algn="l"/>
              </a:tabLst>
            </a:pPr>
            <a:r>
              <a:rPr dirty="0" sz="1400" spc="-5">
                <a:latin typeface="Arial MT"/>
                <a:cs typeface="Arial MT"/>
              </a:rPr>
              <a:t>Router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-5">
                <a:latin typeface="Arial MT"/>
                <a:cs typeface="Arial MT"/>
              </a:rPr>
              <a:t>Provides internetworking and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access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interface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ports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that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are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used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connect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service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5">
                <a:latin typeface="Arial MT"/>
                <a:cs typeface="Arial MT"/>
              </a:rPr>
              <a:t>provider.</a:t>
            </a:r>
            <a:endParaRPr sz="1400">
              <a:latin typeface="Arial MT"/>
              <a:cs typeface="Arial MT"/>
            </a:endParaRPr>
          </a:p>
          <a:p>
            <a:pPr marL="181610" marR="2286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182245" algn="l"/>
              </a:tabLst>
            </a:pPr>
            <a:r>
              <a:rPr dirty="0" sz="1400" spc="-5">
                <a:latin typeface="Arial MT"/>
                <a:cs typeface="Arial MT"/>
              </a:rPr>
              <a:t>Core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router/Multilayer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switch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router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or </a:t>
            </a:r>
            <a:r>
              <a:rPr dirty="0" sz="1400" spc="-37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multilayer switch that resides within the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middle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backbone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63" y="798576"/>
            <a:ext cx="4495800" cy="361187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27711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25"/>
              <a:t>WAN</a:t>
            </a:r>
            <a:r>
              <a:rPr dirty="0" sz="1600" spc="-35"/>
              <a:t> </a:t>
            </a:r>
            <a:r>
              <a:rPr dirty="0" sz="1600" spc="-5"/>
              <a:t>Operations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Circuit</a:t>
            </a:r>
            <a:r>
              <a:rPr dirty="0" spc="-50"/>
              <a:t> </a:t>
            </a:r>
            <a:r>
              <a:rPr dirty="0" spc="-5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69484" y="314325"/>
            <a:ext cx="3509645" cy="4172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marR="157480" indent="-285115">
              <a:lnSpc>
                <a:spcPct val="100000"/>
              </a:lnSpc>
              <a:spcBef>
                <a:spcPts val="105"/>
              </a:spcBef>
              <a:buClr>
                <a:srgbClr val="57575B"/>
              </a:buClr>
              <a:buChar char="•"/>
              <a:tabLst>
                <a:tab pos="297180" algn="l"/>
                <a:tab pos="297815" algn="l"/>
              </a:tabLst>
            </a:pP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circuit-switched network is one that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establishes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dedicated circuit </a:t>
            </a:r>
            <a:r>
              <a:rPr dirty="0" sz="1400">
                <a:latin typeface="Arial MT"/>
                <a:cs typeface="Arial MT"/>
              </a:rPr>
              <a:t>(or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channel) between nodes and terminals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before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users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communicate.</a:t>
            </a:r>
            <a:endParaRPr sz="1400">
              <a:latin typeface="Arial MT"/>
              <a:cs typeface="Arial MT"/>
            </a:endParaRPr>
          </a:p>
          <a:p>
            <a:pPr marL="297180" marR="5080" indent="-28511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297180" algn="l"/>
                <a:tab pos="297815" algn="l"/>
              </a:tabLst>
            </a:pPr>
            <a:r>
              <a:rPr dirty="0" sz="1400" spc="-5">
                <a:latin typeface="Arial MT"/>
                <a:cs typeface="Arial MT"/>
              </a:rPr>
              <a:t>Circuit switching dynamically establishes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dedicated virtual connection for voice </a:t>
            </a:r>
            <a:r>
              <a:rPr dirty="0" sz="1400">
                <a:latin typeface="Arial MT"/>
                <a:cs typeface="Arial MT"/>
              </a:rPr>
              <a:t> or</a:t>
            </a:r>
            <a:r>
              <a:rPr dirty="0" sz="1400" spc="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data</a:t>
            </a:r>
            <a:r>
              <a:rPr dirty="0" sz="1400" spc="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between</a:t>
            </a:r>
            <a:r>
              <a:rPr dirty="0" sz="1400" spc="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sender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15">
                <a:latin typeface="Arial MT"/>
                <a:cs typeface="Arial MT"/>
              </a:rPr>
              <a:t>receiver.</a:t>
            </a:r>
            <a:endParaRPr sz="1400">
              <a:latin typeface="Arial MT"/>
              <a:cs typeface="Arial MT"/>
            </a:endParaRPr>
          </a:p>
          <a:p>
            <a:pPr marL="297180" marR="277495" indent="-28511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297180" algn="l"/>
                <a:tab pos="297815" algn="l"/>
              </a:tabLst>
            </a:pPr>
            <a:r>
              <a:rPr dirty="0" sz="1400" spc="-5">
                <a:latin typeface="Arial MT"/>
                <a:cs typeface="Arial MT"/>
              </a:rPr>
              <a:t>Communication can't start until the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connection is established through the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service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provider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network.</a:t>
            </a:r>
            <a:endParaRPr sz="1400">
              <a:latin typeface="Arial MT"/>
              <a:cs typeface="Arial MT"/>
            </a:endParaRPr>
          </a:p>
          <a:p>
            <a:pPr lvl="1" marL="299085" marR="100965" indent="-16954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299720" algn="l"/>
              </a:tabLst>
            </a:pPr>
            <a:r>
              <a:rPr dirty="0" sz="1400" spc="-5">
                <a:latin typeface="Arial MT"/>
                <a:cs typeface="Arial MT"/>
              </a:rPr>
              <a:t>Dialing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number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make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call is an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example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circuit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switching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5">
                <a:latin typeface="Arial MT"/>
                <a:cs typeface="Arial MT"/>
              </a:rPr>
              <a:t>technology.</a:t>
            </a:r>
            <a:endParaRPr sz="1400">
              <a:latin typeface="Arial MT"/>
              <a:cs typeface="Arial MT"/>
            </a:endParaRPr>
          </a:p>
          <a:p>
            <a:pPr lvl="1" marL="299085" marR="163195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299720" algn="l"/>
              </a:tabLst>
            </a:pPr>
            <a:r>
              <a:rPr dirty="0" sz="1400" spc="-5">
                <a:latin typeface="Arial MT"/>
                <a:cs typeface="Arial MT"/>
              </a:rPr>
              <a:t>The two most common types of </a:t>
            </a:r>
            <a:r>
              <a:rPr dirty="0" sz="1400">
                <a:latin typeface="Arial MT"/>
                <a:cs typeface="Arial MT"/>
              </a:rPr>
              <a:t>circuit-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switched </a:t>
            </a:r>
            <a:r>
              <a:rPr dirty="0" sz="1400" spc="-10">
                <a:latin typeface="Arial MT"/>
                <a:cs typeface="Arial MT"/>
              </a:rPr>
              <a:t>WAN </a:t>
            </a:r>
            <a:r>
              <a:rPr dirty="0" sz="1400" spc="-5">
                <a:latin typeface="Arial MT"/>
                <a:cs typeface="Arial MT"/>
              </a:rPr>
              <a:t>technologies are the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public switched telephone network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(PSTN) and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Integrated Services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Digital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 (ISDN).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1086611"/>
            <a:ext cx="5077968" cy="32247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34442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25"/>
              <a:t>WAN</a:t>
            </a:r>
            <a:r>
              <a:rPr dirty="0" sz="1600" spc="-35"/>
              <a:t> </a:t>
            </a:r>
            <a:r>
              <a:rPr dirty="0" sz="1600" spc="-5"/>
              <a:t>Operations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Packet</a:t>
            </a:r>
            <a:r>
              <a:rPr dirty="0" spc="-65"/>
              <a:t> </a:t>
            </a:r>
            <a:r>
              <a:rPr dirty="0" spc="-5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69484" y="314325"/>
            <a:ext cx="3528060" cy="4401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marR="166370" indent="-285115">
              <a:lnSpc>
                <a:spcPct val="100000"/>
              </a:lnSpc>
              <a:spcBef>
                <a:spcPts val="105"/>
              </a:spcBef>
              <a:buClr>
                <a:srgbClr val="57575B"/>
              </a:buClr>
              <a:buChar char="•"/>
              <a:tabLst>
                <a:tab pos="297180" algn="l"/>
                <a:tab pos="297815" algn="l"/>
              </a:tabLst>
            </a:pPr>
            <a:r>
              <a:rPr dirty="0" sz="1400">
                <a:latin typeface="Arial MT"/>
                <a:cs typeface="Arial MT"/>
              </a:rPr>
              <a:t>In </a:t>
            </a:r>
            <a:r>
              <a:rPr dirty="0" sz="1400" spc="-5">
                <a:latin typeface="Arial MT"/>
                <a:cs typeface="Arial MT"/>
              </a:rPr>
              <a:t>contrast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circuit switching, packet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switching splits traffic data into packets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that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are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routed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over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shared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network.</a:t>
            </a:r>
            <a:endParaRPr sz="1400">
              <a:latin typeface="Arial MT"/>
              <a:cs typeface="Arial MT"/>
            </a:endParaRPr>
          </a:p>
          <a:p>
            <a:pPr marL="297180" marR="35560" indent="-28511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297180" algn="l"/>
                <a:tab pos="297815" algn="l"/>
              </a:tabLst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circuit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does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not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need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established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 many pairs of nodes can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communicate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over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same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channel.</a:t>
            </a:r>
            <a:endParaRPr sz="1400">
              <a:latin typeface="Arial MT"/>
              <a:cs typeface="Arial MT"/>
            </a:endParaRPr>
          </a:p>
          <a:p>
            <a:pPr marL="297180" marR="323215" indent="-28511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297180" algn="l"/>
                <a:tab pos="297815" algn="l"/>
              </a:tabLst>
            </a:pPr>
            <a:r>
              <a:rPr dirty="0" sz="1400" spc="-5">
                <a:latin typeface="Arial MT"/>
                <a:cs typeface="Arial MT"/>
              </a:rPr>
              <a:t>There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are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two approaches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packet-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switched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link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determination:</a:t>
            </a:r>
            <a:endParaRPr sz="1400">
              <a:latin typeface="Arial MT"/>
              <a:cs typeface="Arial MT"/>
            </a:endParaRPr>
          </a:p>
          <a:p>
            <a:pPr lvl="1" marL="370205" marR="5080" indent="-285115">
              <a:lnSpc>
                <a:spcPct val="100000"/>
              </a:lnSpc>
              <a:spcBef>
                <a:spcPts val="610"/>
              </a:spcBef>
              <a:buChar char="•"/>
              <a:tabLst>
                <a:tab pos="370205" algn="l"/>
                <a:tab pos="370840" algn="l"/>
              </a:tabLst>
            </a:pPr>
            <a:r>
              <a:rPr dirty="0" sz="1200" spc="-5">
                <a:latin typeface="Arial MT"/>
                <a:cs typeface="Arial MT"/>
              </a:rPr>
              <a:t>Connectionless systems </a:t>
            </a:r>
            <a:r>
              <a:rPr dirty="0" sz="1200">
                <a:latin typeface="Arial MT"/>
                <a:cs typeface="Arial MT"/>
              </a:rPr>
              <a:t>– </a:t>
            </a:r>
            <a:r>
              <a:rPr dirty="0" sz="1200" spc="-5">
                <a:latin typeface="Arial MT"/>
                <a:cs typeface="Arial MT"/>
              </a:rPr>
              <a:t>Full addressing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 </a:t>
            </a:r>
            <a:r>
              <a:rPr dirty="0" sz="1200">
                <a:latin typeface="Arial MT"/>
                <a:cs typeface="Arial MT"/>
              </a:rPr>
              <a:t>must be </a:t>
            </a:r>
            <a:r>
              <a:rPr dirty="0" sz="1200" spc="-5">
                <a:latin typeface="Arial MT"/>
                <a:cs typeface="Arial MT"/>
              </a:rPr>
              <a:t>carried in </a:t>
            </a:r>
            <a:r>
              <a:rPr dirty="0" sz="1200">
                <a:latin typeface="Arial MT"/>
                <a:cs typeface="Arial MT"/>
              </a:rPr>
              <a:t>each packet.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Internet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connectionless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system.</a:t>
            </a:r>
            <a:endParaRPr sz="1200">
              <a:latin typeface="Arial MT"/>
              <a:cs typeface="Arial MT"/>
            </a:endParaRPr>
          </a:p>
          <a:p>
            <a:pPr lvl="1" marL="370205" marR="47625" indent="-285115">
              <a:lnSpc>
                <a:spcPct val="100000"/>
              </a:lnSpc>
              <a:spcBef>
                <a:spcPts val="600"/>
              </a:spcBef>
              <a:buChar char="•"/>
              <a:tabLst>
                <a:tab pos="370205" algn="l"/>
                <a:tab pos="370840" algn="l"/>
              </a:tabLst>
            </a:pPr>
            <a:r>
              <a:rPr dirty="0" sz="1200" spc="-5">
                <a:latin typeface="Arial MT"/>
                <a:cs typeface="Arial MT"/>
              </a:rPr>
              <a:t>Connection-oriented systems </a:t>
            </a:r>
            <a:r>
              <a:rPr dirty="0" sz="1200">
                <a:latin typeface="Arial MT"/>
                <a:cs typeface="Arial MT"/>
              </a:rPr>
              <a:t>– The </a:t>
            </a:r>
            <a:r>
              <a:rPr dirty="0" sz="1200" spc="-5">
                <a:latin typeface="Arial MT"/>
                <a:cs typeface="Arial MT"/>
              </a:rPr>
              <a:t>network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predetermines </a:t>
            </a:r>
            <a:r>
              <a:rPr dirty="0" sz="1200">
                <a:latin typeface="Arial MT"/>
                <a:cs typeface="Arial MT"/>
              </a:rPr>
              <a:t>the route for a packet, and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each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packet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carry </a:t>
            </a:r>
            <a:r>
              <a:rPr dirty="0" sz="1200">
                <a:latin typeface="Arial MT"/>
                <a:cs typeface="Arial MT"/>
              </a:rPr>
              <a:t>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identifier.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 </a:t>
            </a:r>
            <a:r>
              <a:rPr dirty="0" sz="1200">
                <a:latin typeface="Arial MT"/>
                <a:cs typeface="Arial MT"/>
              </a:rPr>
              <a:t>of a </a:t>
            </a:r>
            <a:r>
              <a:rPr dirty="0" sz="1200" spc="-5">
                <a:latin typeface="Arial MT"/>
                <a:cs typeface="Arial MT"/>
              </a:rPr>
              <a:t>connection-oriented system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Frame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(DLCIs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identifiers).</a:t>
            </a:r>
            <a:endParaRPr sz="1200">
              <a:latin typeface="Arial MT"/>
              <a:cs typeface="Arial MT"/>
            </a:endParaRPr>
          </a:p>
          <a:p>
            <a:pPr marL="297180" marR="39370" indent="-285115">
              <a:lnSpc>
                <a:spcPct val="100000"/>
              </a:lnSpc>
              <a:spcBef>
                <a:spcPts val="595"/>
              </a:spcBef>
              <a:buClr>
                <a:srgbClr val="57575B"/>
              </a:buClr>
              <a:buChar char="•"/>
              <a:tabLst>
                <a:tab pos="297180" algn="l"/>
                <a:tab pos="297815" algn="l"/>
              </a:tabLst>
            </a:pPr>
            <a:r>
              <a:rPr dirty="0" sz="1400">
                <a:latin typeface="Arial MT"/>
                <a:cs typeface="Arial MT"/>
              </a:rPr>
              <a:t>Packet </a:t>
            </a:r>
            <a:r>
              <a:rPr dirty="0" sz="1400" spc="-5">
                <a:latin typeface="Arial MT"/>
                <a:cs typeface="Arial MT"/>
              </a:rPr>
              <a:t>switching </a:t>
            </a:r>
            <a:r>
              <a:rPr dirty="0" sz="1400">
                <a:latin typeface="Arial MT"/>
                <a:cs typeface="Arial MT"/>
              </a:rPr>
              <a:t>costs </a:t>
            </a:r>
            <a:r>
              <a:rPr dirty="0" sz="1400" spc="-5">
                <a:latin typeface="Arial MT"/>
                <a:cs typeface="Arial MT"/>
              </a:rPr>
              <a:t>less than circuit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switching, </a:t>
            </a:r>
            <a:r>
              <a:rPr dirty="0" sz="1400" spc="-15">
                <a:latin typeface="Arial MT"/>
                <a:cs typeface="Arial MT"/>
              </a:rPr>
              <a:t>however, </a:t>
            </a:r>
            <a:r>
              <a:rPr dirty="0" sz="1400" spc="-5">
                <a:latin typeface="Arial MT"/>
                <a:cs typeface="Arial MT"/>
              </a:rPr>
              <a:t>latency and jitter are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greater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packet-switching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" y="1086611"/>
            <a:ext cx="4930139" cy="30632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096" y="1943557"/>
            <a:ext cx="7526655" cy="7264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600" spc="-5">
                <a:solidFill>
                  <a:srgbClr val="38C5F4"/>
                </a:solidFill>
              </a:rPr>
              <a:t>Selecting</a:t>
            </a:r>
            <a:r>
              <a:rPr dirty="0" sz="4600" spc="10">
                <a:solidFill>
                  <a:srgbClr val="38C5F4"/>
                </a:solidFill>
              </a:rPr>
              <a:t> </a:t>
            </a:r>
            <a:r>
              <a:rPr dirty="0" sz="4600" spc="-5">
                <a:solidFill>
                  <a:srgbClr val="38C5F4"/>
                </a:solidFill>
              </a:rPr>
              <a:t>a</a:t>
            </a:r>
            <a:r>
              <a:rPr dirty="0" sz="4600" spc="-10">
                <a:solidFill>
                  <a:srgbClr val="38C5F4"/>
                </a:solidFill>
              </a:rPr>
              <a:t> </a:t>
            </a:r>
            <a:r>
              <a:rPr dirty="0" sz="4600" spc="-60">
                <a:solidFill>
                  <a:srgbClr val="38C5F4"/>
                </a:solidFill>
              </a:rPr>
              <a:t>WAN</a:t>
            </a:r>
            <a:r>
              <a:rPr dirty="0" sz="4600" spc="-90">
                <a:solidFill>
                  <a:srgbClr val="38C5F4"/>
                </a:solidFill>
              </a:rPr>
              <a:t> </a:t>
            </a:r>
            <a:r>
              <a:rPr dirty="0" sz="4600" spc="-60">
                <a:solidFill>
                  <a:srgbClr val="38C5F4"/>
                </a:solidFill>
              </a:rPr>
              <a:t>Technology</a:t>
            </a:r>
            <a:endParaRPr sz="46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4132579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25"/>
              <a:t>WAN</a:t>
            </a:r>
            <a:r>
              <a:rPr dirty="0" sz="1600" spc="-45"/>
              <a:t> </a:t>
            </a:r>
            <a:r>
              <a:rPr dirty="0" sz="1600" spc="-5"/>
              <a:t>Services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30"/>
              <a:t>WAN</a:t>
            </a:r>
            <a:r>
              <a:rPr dirty="0" spc="-25"/>
              <a:t> </a:t>
            </a:r>
            <a:r>
              <a:rPr dirty="0" spc="-10"/>
              <a:t>Link </a:t>
            </a:r>
            <a:r>
              <a:rPr dirty="0" spc="-5"/>
              <a:t>Connection</a:t>
            </a:r>
            <a:r>
              <a:rPr dirty="0" spc="15"/>
              <a:t> </a:t>
            </a:r>
            <a:r>
              <a:rPr dirty="0" spc="-5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222" y="164084"/>
            <a:ext cx="3956050" cy="4483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15875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There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several</a:t>
            </a:r>
            <a:r>
              <a:rPr dirty="0" sz="1500" spc="-10">
                <a:latin typeface="Arial MT"/>
                <a:cs typeface="Arial MT"/>
              </a:rPr>
              <a:t> WAN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access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options that </a:t>
            </a:r>
            <a:r>
              <a:rPr dirty="0" sz="1500" spc="-5">
                <a:latin typeface="Arial MT"/>
                <a:cs typeface="Arial MT"/>
              </a:rPr>
              <a:t>ISPs </a:t>
            </a:r>
            <a:r>
              <a:rPr dirty="0" sz="1500">
                <a:latin typeface="Arial MT"/>
                <a:cs typeface="Arial MT"/>
              </a:rPr>
              <a:t>can use to connect the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local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loop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enterprise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edge.</a:t>
            </a:r>
            <a:endParaRPr sz="1500">
              <a:latin typeface="Arial MT"/>
              <a:cs typeface="Arial MT"/>
            </a:endParaRPr>
          </a:p>
          <a:p>
            <a:pPr marL="181610" marR="27495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Each </a:t>
            </a:r>
            <a:r>
              <a:rPr dirty="0" sz="1500">
                <a:latin typeface="Arial MT"/>
                <a:cs typeface="Arial MT"/>
              </a:rPr>
              <a:t>option has distinct </a:t>
            </a:r>
            <a:r>
              <a:rPr dirty="0" sz="1500" spc="-5">
                <a:latin typeface="Arial MT"/>
                <a:cs typeface="Arial MT"/>
              </a:rPr>
              <a:t>advantages </a:t>
            </a:r>
            <a:r>
              <a:rPr dirty="0" sz="1500">
                <a:latin typeface="Arial MT"/>
                <a:cs typeface="Arial MT"/>
              </a:rPr>
              <a:t>and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disadvantages </a:t>
            </a:r>
            <a:r>
              <a:rPr dirty="0" sz="1500">
                <a:latin typeface="Arial MT"/>
                <a:cs typeface="Arial MT"/>
              </a:rPr>
              <a:t>as </a:t>
            </a:r>
            <a:r>
              <a:rPr dirty="0" sz="1500" spc="-10">
                <a:latin typeface="Arial MT"/>
                <a:cs typeface="Arial MT"/>
              </a:rPr>
              <a:t>well </a:t>
            </a:r>
            <a:r>
              <a:rPr dirty="0" sz="1500">
                <a:latin typeface="Arial MT"/>
                <a:cs typeface="Arial MT"/>
              </a:rPr>
              <a:t>as </a:t>
            </a:r>
            <a:r>
              <a:rPr dirty="0" sz="1500" spc="-5">
                <a:latin typeface="Arial MT"/>
                <a:cs typeface="Arial MT"/>
              </a:rPr>
              <a:t>differences </a:t>
            </a:r>
            <a:r>
              <a:rPr dirty="0" sz="1500" spc="-10">
                <a:latin typeface="Arial MT"/>
                <a:cs typeface="Arial MT"/>
              </a:rPr>
              <a:t>with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15">
                <a:latin typeface="Arial MT"/>
                <a:cs typeface="Arial MT"/>
              </a:rPr>
              <a:t>technology,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speed,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cost.</a:t>
            </a:r>
            <a:endParaRPr sz="1500">
              <a:latin typeface="Arial MT"/>
              <a:cs typeface="Arial MT"/>
            </a:endParaRPr>
          </a:p>
          <a:p>
            <a:pPr marL="18161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There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two </a:t>
            </a:r>
            <a:r>
              <a:rPr dirty="0" sz="1500" spc="-10">
                <a:latin typeface="Arial MT"/>
                <a:cs typeface="Arial MT"/>
              </a:rPr>
              <a:t>ways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enterprise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can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obtain</a:t>
            </a:r>
            <a:endParaRPr sz="1500">
              <a:latin typeface="Arial MT"/>
              <a:cs typeface="Arial MT"/>
            </a:endParaRPr>
          </a:p>
          <a:p>
            <a:pPr marL="181610">
              <a:lnSpc>
                <a:spcPct val="100000"/>
              </a:lnSpc>
              <a:spcBef>
                <a:spcPts val="5"/>
              </a:spcBef>
            </a:pP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access:</a:t>
            </a:r>
            <a:endParaRPr sz="1500">
              <a:latin typeface="Arial MT"/>
              <a:cs typeface="Arial MT"/>
            </a:endParaRPr>
          </a:p>
          <a:p>
            <a:pPr lvl="1" marL="370205" marR="46990" indent="-169545">
              <a:lnSpc>
                <a:spcPct val="100000"/>
              </a:lnSpc>
              <a:spcBef>
                <a:spcPts val="89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Private </a:t>
            </a:r>
            <a:r>
              <a:rPr dirty="0" sz="1400" spc="-10">
                <a:latin typeface="Arial MT"/>
                <a:cs typeface="Arial MT"/>
              </a:rPr>
              <a:t>WAN </a:t>
            </a:r>
            <a:r>
              <a:rPr dirty="0" sz="1400" spc="-5">
                <a:latin typeface="Arial MT"/>
                <a:cs typeface="Arial MT"/>
              </a:rPr>
              <a:t>infrastructure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-5">
                <a:latin typeface="Arial MT"/>
                <a:cs typeface="Arial MT"/>
              </a:rPr>
              <a:t>Choices may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include dedicated point-to-point leased lines,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circuit-switched links </a:t>
            </a:r>
            <a:r>
              <a:rPr dirty="0" sz="1400">
                <a:latin typeface="Arial MT"/>
                <a:cs typeface="Arial MT"/>
              </a:rPr>
              <a:t>such </a:t>
            </a:r>
            <a:r>
              <a:rPr dirty="0" sz="1400" spc="-5">
                <a:latin typeface="Arial MT"/>
                <a:cs typeface="Arial MT"/>
              </a:rPr>
              <a:t>as </a:t>
            </a:r>
            <a:r>
              <a:rPr dirty="0" sz="1400">
                <a:latin typeface="Arial MT"/>
                <a:cs typeface="Arial MT"/>
              </a:rPr>
              <a:t>PSTN </a:t>
            </a:r>
            <a:r>
              <a:rPr dirty="0" sz="1400" spc="-5">
                <a:latin typeface="Arial MT"/>
                <a:cs typeface="Arial MT"/>
              </a:rPr>
              <a:t>or ISDN,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 </a:t>
            </a:r>
            <a:r>
              <a:rPr dirty="0" sz="1400" spc="-5">
                <a:latin typeface="Arial MT"/>
                <a:cs typeface="Arial MT"/>
              </a:rPr>
              <a:t>packet switched links </a:t>
            </a:r>
            <a:r>
              <a:rPr dirty="0" sz="1400">
                <a:latin typeface="Arial MT"/>
                <a:cs typeface="Arial MT"/>
              </a:rPr>
              <a:t>such as Ethernet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30">
                <a:latin typeface="Arial MT"/>
                <a:cs typeface="Arial MT"/>
              </a:rPr>
              <a:t>W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0">
                <a:latin typeface="Arial MT"/>
                <a:cs typeface="Arial MT"/>
              </a:rPr>
              <a:t>N</a:t>
            </a:r>
            <a:r>
              <a:rPr dirty="0" sz="1400">
                <a:latin typeface="Arial MT"/>
                <a:cs typeface="Arial MT"/>
              </a:rPr>
              <a:t>,</a:t>
            </a:r>
            <a:r>
              <a:rPr dirty="0" sz="1400" spc="-100">
                <a:latin typeface="Arial MT"/>
                <a:cs typeface="Arial MT"/>
              </a:rPr>
              <a:t> </a:t>
            </a:r>
            <a:r>
              <a:rPr dirty="0" sz="1400" spc="-110">
                <a:latin typeface="Arial MT"/>
                <a:cs typeface="Arial MT"/>
              </a:rPr>
              <a:t>A</a:t>
            </a:r>
            <a:r>
              <a:rPr dirty="0" sz="1400" spc="-10">
                <a:latin typeface="Arial MT"/>
                <a:cs typeface="Arial MT"/>
              </a:rPr>
              <a:t>TM</a:t>
            </a:r>
            <a:r>
              <a:rPr dirty="0" sz="1400">
                <a:latin typeface="Arial MT"/>
                <a:cs typeface="Arial MT"/>
              </a:rPr>
              <a:t>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</a:t>
            </a:r>
            <a:r>
              <a:rPr dirty="0" sz="1400">
                <a:latin typeface="Arial MT"/>
                <a:cs typeface="Arial MT"/>
              </a:rPr>
              <a:t>r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</a:t>
            </a:r>
            <a:r>
              <a:rPr dirty="0" sz="1400">
                <a:latin typeface="Arial MT"/>
                <a:cs typeface="Arial MT"/>
              </a:rPr>
              <a:t>ra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</a:t>
            </a:r>
            <a:r>
              <a:rPr dirty="0" sz="1400" spc="-5">
                <a:latin typeface="Arial MT"/>
                <a:cs typeface="Arial MT"/>
              </a:rPr>
              <a:t>ela</a:t>
            </a:r>
            <a:r>
              <a:rPr dirty="0" sz="1400" spc="-130">
                <a:latin typeface="Arial MT"/>
                <a:cs typeface="Arial MT"/>
              </a:rPr>
              <a:t>y</a:t>
            </a:r>
            <a:r>
              <a:rPr dirty="0" sz="140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lvl="1" marL="370205" marR="23495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Public</a:t>
            </a:r>
            <a:r>
              <a:rPr dirty="0" sz="1400" spc="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</a:t>
            </a:r>
            <a:r>
              <a:rPr dirty="0" sz="1400" spc="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infrastructure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6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Service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providers may offer broadband Internet using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DSL,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cable,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or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satellite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access.</a:t>
            </a:r>
            <a:r>
              <a:rPr dirty="0" sz="1400" spc="39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Data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traveling between corporate sites </a:t>
            </a:r>
            <a:r>
              <a:rPr dirty="0" sz="1400" spc="-10">
                <a:latin typeface="Arial MT"/>
                <a:cs typeface="Arial MT"/>
              </a:rPr>
              <a:t>over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public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should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protected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using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VPNs.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068" y="976883"/>
            <a:ext cx="4716780" cy="33756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534924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25"/>
              <a:t>WAN</a:t>
            </a:r>
            <a:r>
              <a:rPr dirty="0" sz="1600" spc="-45"/>
              <a:t> </a:t>
            </a:r>
            <a:r>
              <a:rPr dirty="0" sz="1600" spc="-5"/>
              <a:t>Services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Service</a:t>
            </a:r>
            <a:r>
              <a:rPr dirty="0" spc="15"/>
              <a:t> </a:t>
            </a:r>
            <a:r>
              <a:rPr dirty="0" spc="-5"/>
              <a:t>Provider</a:t>
            </a:r>
            <a:r>
              <a:rPr dirty="0" spc="25"/>
              <a:t> </a:t>
            </a:r>
            <a:r>
              <a:rPr dirty="0" spc="-5"/>
              <a:t>Network</a:t>
            </a:r>
            <a:r>
              <a:rPr dirty="0" spc="25"/>
              <a:t> </a:t>
            </a:r>
            <a:r>
              <a:rPr dirty="0" spc="-5"/>
              <a:t>Infrastructure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4250" y="764794"/>
            <a:ext cx="4118610" cy="405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16827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Service provider networks </a:t>
            </a:r>
            <a:r>
              <a:rPr dirty="0" sz="1500">
                <a:latin typeface="Arial MT"/>
                <a:cs typeface="Arial MT"/>
              </a:rPr>
              <a:t>are complex and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consist mostly of high-bandwidth fiber-optic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media, using </a:t>
            </a:r>
            <a:r>
              <a:rPr dirty="0" sz="1500" spc="-5">
                <a:latin typeface="Arial MT"/>
                <a:cs typeface="Arial MT"/>
              </a:rPr>
              <a:t>either Synchronous </a:t>
            </a:r>
            <a:r>
              <a:rPr dirty="0" sz="1500">
                <a:latin typeface="Arial MT"/>
                <a:cs typeface="Arial MT"/>
              </a:rPr>
              <a:t>Optical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Networking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(SONET)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or</a:t>
            </a:r>
            <a:r>
              <a:rPr dirty="0" sz="1500" spc="-5">
                <a:latin typeface="Arial MT"/>
                <a:cs typeface="Arial MT"/>
              </a:rPr>
              <a:t> Synchronous Digital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Hierarchy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(SDH)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standard.</a:t>
            </a:r>
            <a:endParaRPr sz="1500">
              <a:latin typeface="Arial MT"/>
              <a:cs typeface="Arial MT"/>
            </a:endParaRPr>
          </a:p>
          <a:p>
            <a:pPr marL="181610" marR="26987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5">
                <a:latin typeface="Arial MT"/>
                <a:cs typeface="Arial MT"/>
              </a:rPr>
              <a:t>newer </a:t>
            </a:r>
            <a:r>
              <a:rPr dirty="0" sz="1500">
                <a:latin typeface="Arial MT"/>
                <a:cs typeface="Arial MT"/>
              </a:rPr>
              <a:t>fiber-optic </a:t>
            </a:r>
            <a:r>
              <a:rPr dirty="0" sz="1500" spc="-5">
                <a:latin typeface="Arial MT"/>
                <a:cs typeface="Arial MT"/>
              </a:rPr>
              <a:t>media development </a:t>
            </a:r>
            <a:r>
              <a:rPr dirty="0" sz="1500">
                <a:latin typeface="Arial MT"/>
                <a:cs typeface="Arial MT"/>
              </a:rPr>
              <a:t>for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long-range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communications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called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dense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wavelength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division multiplexing</a:t>
            </a:r>
            <a:r>
              <a:rPr dirty="0" sz="1500">
                <a:latin typeface="Arial MT"/>
                <a:cs typeface="Arial MT"/>
              </a:rPr>
              <a:t> (DWDM).</a:t>
            </a:r>
            <a:endParaRPr sz="1500">
              <a:latin typeface="Arial MT"/>
              <a:cs typeface="Arial MT"/>
            </a:endParaRPr>
          </a:p>
          <a:p>
            <a:pPr lvl="1" marL="370205" marR="5080" indent="-169545">
              <a:lnSpc>
                <a:spcPct val="100000"/>
              </a:lnSpc>
              <a:spcBef>
                <a:spcPts val="894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Multiplies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amount of bandwidth that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single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strand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fiber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support</a:t>
            </a:r>
            <a:endParaRPr sz="1400">
              <a:latin typeface="Arial MT"/>
              <a:cs typeface="Arial MT"/>
            </a:endParaRPr>
          </a:p>
          <a:p>
            <a:pPr lvl="1" marL="370205" marR="32384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Enables </a:t>
            </a:r>
            <a:r>
              <a:rPr dirty="0" sz="1400" spc="-5">
                <a:latin typeface="Arial MT"/>
                <a:cs typeface="Arial MT"/>
              </a:rPr>
              <a:t>bidirectional communications </a:t>
            </a:r>
            <a:r>
              <a:rPr dirty="0" sz="1400" spc="-10">
                <a:latin typeface="Arial MT"/>
                <a:cs typeface="Arial MT"/>
              </a:rPr>
              <a:t>over </a:t>
            </a:r>
            <a:r>
              <a:rPr dirty="0" sz="1400" spc="-5">
                <a:latin typeface="Arial MT"/>
                <a:cs typeface="Arial MT"/>
              </a:rPr>
              <a:t>one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strand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fiber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Can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multiplex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more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than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80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different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channels</a:t>
            </a:r>
            <a:endParaRPr sz="1400">
              <a:latin typeface="Arial MT"/>
              <a:cs typeface="Arial MT"/>
            </a:endParaRPr>
          </a:p>
          <a:p>
            <a:pPr marL="370205">
              <a:lnSpc>
                <a:spcPct val="100000"/>
              </a:lnSpc>
              <a:spcBef>
                <a:spcPts val="5"/>
              </a:spcBef>
            </a:pP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data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onto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single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fiber</a:t>
            </a:r>
            <a:endParaRPr sz="1400">
              <a:latin typeface="Arial MT"/>
              <a:cs typeface="Arial MT"/>
            </a:endParaRPr>
          </a:p>
          <a:p>
            <a:pPr lvl="1" marL="370205" marR="123825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Each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channel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carry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10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Gb/s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multiplexed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signal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" y="1152144"/>
            <a:ext cx="4550664" cy="322935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53301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Private</a:t>
            </a:r>
            <a:r>
              <a:rPr dirty="0" sz="1600" spc="-15"/>
              <a:t> </a:t>
            </a:r>
            <a:r>
              <a:rPr dirty="0" sz="1600" spc="-25"/>
              <a:t>WAN</a:t>
            </a:r>
            <a:r>
              <a:rPr dirty="0" sz="1600" spc="-15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Leased</a:t>
            </a:r>
            <a:r>
              <a:rPr dirty="0" spc="-25"/>
              <a:t> </a:t>
            </a:r>
            <a:r>
              <a:rPr dirty="0" spc="-10"/>
              <a:t>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4250" y="246634"/>
            <a:ext cx="4058285" cy="4522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1610" marR="26034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Point-to-point </a:t>
            </a:r>
            <a:r>
              <a:rPr dirty="0" sz="1500" spc="-5">
                <a:latin typeface="Arial MT"/>
                <a:cs typeface="Arial MT"/>
              </a:rPr>
              <a:t>lines </a:t>
            </a:r>
            <a:r>
              <a:rPr dirty="0" sz="1500">
                <a:latin typeface="Arial MT"/>
                <a:cs typeface="Arial MT"/>
              </a:rPr>
              <a:t>are </a:t>
            </a:r>
            <a:r>
              <a:rPr dirty="0" sz="1500" spc="-5">
                <a:latin typeface="Arial MT"/>
                <a:cs typeface="Arial MT"/>
              </a:rPr>
              <a:t>usually </a:t>
            </a:r>
            <a:r>
              <a:rPr dirty="0" sz="1500">
                <a:latin typeface="Arial MT"/>
                <a:cs typeface="Arial MT"/>
              </a:rPr>
              <a:t>leased from a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 provider </a:t>
            </a:r>
            <a:r>
              <a:rPr dirty="0" sz="1500">
                <a:latin typeface="Arial MT"/>
                <a:cs typeface="Arial MT"/>
              </a:rPr>
              <a:t>and are </a:t>
            </a:r>
            <a:r>
              <a:rPr dirty="0" sz="1500" spc="-5">
                <a:latin typeface="Arial MT"/>
                <a:cs typeface="Arial MT"/>
              </a:rPr>
              <a:t>called </a:t>
            </a:r>
            <a:r>
              <a:rPr dirty="0" sz="1500">
                <a:latin typeface="Arial MT"/>
                <a:cs typeface="Arial MT"/>
              </a:rPr>
              <a:t>leased </a:t>
            </a:r>
            <a:r>
              <a:rPr dirty="0" sz="1500" spc="-5">
                <a:latin typeface="Arial MT"/>
                <a:cs typeface="Arial MT"/>
              </a:rPr>
              <a:t>lines.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15">
                <a:latin typeface="Arial MT"/>
                <a:cs typeface="Arial MT"/>
              </a:rPr>
              <a:t>However, </a:t>
            </a:r>
            <a:r>
              <a:rPr dirty="0" sz="1500">
                <a:latin typeface="Arial MT"/>
                <a:cs typeface="Arial MT"/>
              </a:rPr>
              <a:t>since they </a:t>
            </a:r>
            <a:r>
              <a:rPr dirty="0" sz="1500" spc="-5">
                <a:latin typeface="Arial MT"/>
                <a:cs typeface="Arial MT"/>
              </a:rPr>
              <a:t>have </a:t>
            </a:r>
            <a:r>
              <a:rPr dirty="0" sz="1500">
                <a:latin typeface="Arial MT"/>
                <a:cs typeface="Arial MT"/>
              </a:rPr>
              <a:t>been around since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1950s,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they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sometimes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referred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as:</a:t>
            </a:r>
            <a:endParaRPr sz="1500">
              <a:latin typeface="Arial MT"/>
              <a:cs typeface="Arial MT"/>
            </a:endParaRPr>
          </a:p>
          <a:p>
            <a:pPr algn="just" lvl="1" marL="370840" indent="-169545">
              <a:lnSpc>
                <a:spcPct val="100000"/>
              </a:lnSpc>
              <a:spcBef>
                <a:spcPts val="89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Leased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circuits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Serial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link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Serial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line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Point-to-point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link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T1/E1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or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T3/E3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lines</a:t>
            </a:r>
            <a:endParaRPr sz="1400">
              <a:latin typeface="Arial MT"/>
              <a:cs typeface="Arial MT"/>
            </a:endParaRPr>
          </a:p>
          <a:p>
            <a:pPr marL="181610" marR="20955" indent="-169545">
              <a:lnSpc>
                <a:spcPct val="100000"/>
              </a:lnSpc>
              <a:spcBef>
                <a:spcPts val="91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Leased lines </a:t>
            </a:r>
            <a:r>
              <a:rPr dirty="0" sz="1500" spc="-5">
                <a:latin typeface="Arial MT"/>
                <a:cs typeface="Arial MT"/>
              </a:rPr>
              <a:t>vary in </a:t>
            </a:r>
            <a:r>
              <a:rPr dirty="0" sz="1500">
                <a:latin typeface="Arial MT"/>
                <a:cs typeface="Arial MT"/>
              </a:rPr>
              <a:t>price depending on the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bandwidth </a:t>
            </a:r>
            <a:r>
              <a:rPr dirty="0" sz="1500">
                <a:latin typeface="Arial MT"/>
                <a:cs typeface="Arial MT"/>
              </a:rPr>
              <a:t>required and the distance </a:t>
            </a:r>
            <a:r>
              <a:rPr dirty="0" sz="1500" spc="-5">
                <a:latin typeface="Arial MT"/>
                <a:cs typeface="Arial MT"/>
              </a:rPr>
              <a:t>between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two</a:t>
            </a:r>
            <a:r>
              <a:rPr dirty="0" sz="1500">
                <a:latin typeface="Arial MT"/>
                <a:cs typeface="Arial MT"/>
              </a:rPr>
              <a:t> connected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paths.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In</a:t>
            </a:r>
            <a:r>
              <a:rPr dirty="0" sz="1500" spc="-5">
                <a:latin typeface="Arial MT"/>
                <a:cs typeface="Arial MT"/>
              </a:rPr>
              <a:t> No</a:t>
            </a:r>
            <a:r>
              <a:rPr dirty="0" sz="1500" spc="5">
                <a:latin typeface="Arial MT"/>
                <a:cs typeface="Arial MT"/>
              </a:rPr>
              <a:t>r</a:t>
            </a:r>
            <a:r>
              <a:rPr dirty="0" sz="1500">
                <a:latin typeface="Arial MT"/>
                <a:cs typeface="Arial MT"/>
              </a:rPr>
              <a:t>th</a:t>
            </a:r>
            <a:r>
              <a:rPr dirty="0" sz="1500" spc="-1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</a:t>
            </a:r>
            <a:r>
              <a:rPr dirty="0" sz="1500">
                <a:latin typeface="Arial MT"/>
                <a:cs typeface="Arial MT"/>
              </a:rPr>
              <a:t>mer</a:t>
            </a:r>
            <a:r>
              <a:rPr dirty="0" sz="1500" spc="5">
                <a:latin typeface="Arial MT"/>
                <a:cs typeface="Arial MT"/>
              </a:rPr>
              <a:t>i</a:t>
            </a:r>
            <a:r>
              <a:rPr dirty="0" sz="1500">
                <a:latin typeface="Arial MT"/>
                <a:cs typeface="Arial MT"/>
              </a:rPr>
              <a:t>ca,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ser</a:t>
            </a:r>
            <a:r>
              <a:rPr dirty="0" sz="1500" spc="-15">
                <a:latin typeface="Arial MT"/>
                <a:cs typeface="Arial MT"/>
              </a:rPr>
              <a:t>v</a:t>
            </a:r>
            <a:r>
              <a:rPr dirty="0" sz="1500" spc="-5">
                <a:latin typeface="Arial MT"/>
                <a:cs typeface="Arial MT"/>
              </a:rPr>
              <a:t>i</a:t>
            </a:r>
            <a:r>
              <a:rPr dirty="0" sz="1500" spc="5">
                <a:latin typeface="Arial MT"/>
                <a:cs typeface="Arial MT"/>
              </a:rPr>
              <a:t>c</a:t>
            </a:r>
            <a:r>
              <a:rPr dirty="0" sz="1500">
                <a:latin typeface="Arial MT"/>
                <a:cs typeface="Arial MT"/>
              </a:rPr>
              <a:t>e </a:t>
            </a:r>
            <a:r>
              <a:rPr dirty="0" sz="1500" spc="5">
                <a:latin typeface="Arial MT"/>
                <a:cs typeface="Arial MT"/>
              </a:rPr>
              <a:t>p</a:t>
            </a:r>
            <a:r>
              <a:rPr dirty="0" sz="1500">
                <a:latin typeface="Arial MT"/>
                <a:cs typeface="Arial MT"/>
              </a:rPr>
              <a:t>r</a:t>
            </a:r>
            <a:r>
              <a:rPr dirty="0" sz="1500" spc="5">
                <a:latin typeface="Arial MT"/>
                <a:cs typeface="Arial MT"/>
              </a:rPr>
              <a:t>o</a:t>
            </a:r>
            <a:r>
              <a:rPr dirty="0" sz="1500" spc="-20">
                <a:latin typeface="Arial MT"/>
                <a:cs typeface="Arial MT"/>
              </a:rPr>
              <a:t>v</a:t>
            </a:r>
            <a:r>
              <a:rPr dirty="0" sz="1500" spc="-5">
                <a:latin typeface="Arial MT"/>
                <a:cs typeface="Arial MT"/>
              </a:rPr>
              <a:t>i</a:t>
            </a:r>
            <a:r>
              <a:rPr dirty="0" sz="1500" spc="5">
                <a:latin typeface="Arial MT"/>
                <a:cs typeface="Arial MT"/>
              </a:rPr>
              <a:t>d</a:t>
            </a:r>
            <a:r>
              <a:rPr dirty="0" sz="1500">
                <a:latin typeface="Arial MT"/>
                <a:cs typeface="Arial MT"/>
              </a:rPr>
              <a:t>ers use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</a:t>
            </a:r>
            <a:r>
              <a:rPr dirty="0" sz="1500" spc="5">
                <a:latin typeface="Arial MT"/>
                <a:cs typeface="Arial MT"/>
              </a:rPr>
              <a:t>h</a:t>
            </a:r>
            <a:r>
              <a:rPr dirty="0" sz="1500">
                <a:latin typeface="Arial MT"/>
                <a:cs typeface="Arial MT"/>
              </a:rPr>
              <a:t>e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55">
                <a:latin typeface="Arial MT"/>
                <a:cs typeface="Arial MT"/>
              </a:rPr>
              <a:t>T</a:t>
            </a:r>
            <a:r>
              <a:rPr dirty="0" sz="1500">
                <a:latin typeface="Arial MT"/>
                <a:cs typeface="Arial MT"/>
              </a:rPr>
              <a:t>-  </a:t>
            </a:r>
            <a:r>
              <a:rPr dirty="0" sz="1500">
                <a:latin typeface="Arial MT"/>
                <a:cs typeface="Arial MT"/>
              </a:rPr>
              <a:t>carrier </a:t>
            </a:r>
            <a:r>
              <a:rPr dirty="0" sz="1500" spc="-5">
                <a:latin typeface="Arial MT"/>
                <a:cs typeface="Arial MT"/>
              </a:rPr>
              <a:t>system </a:t>
            </a:r>
            <a:r>
              <a:rPr dirty="0" sz="1500">
                <a:latin typeface="Arial MT"/>
                <a:cs typeface="Arial MT"/>
              </a:rPr>
              <a:t>to define the digital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transmission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capacity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serial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copper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media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link.</a:t>
            </a:r>
            <a:r>
              <a:rPr dirty="0" sz="1500" spc="3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5">
                <a:latin typeface="Arial MT"/>
                <a:cs typeface="Arial MT"/>
              </a:rPr>
              <a:t> example,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T1 link </a:t>
            </a:r>
            <a:r>
              <a:rPr dirty="0" sz="1500">
                <a:latin typeface="Arial MT"/>
                <a:cs typeface="Arial MT"/>
              </a:rPr>
              <a:t>supports</a:t>
            </a:r>
            <a:endParaRPr sz="1500">
              <a:latin typeface="Arial MT"/>
              <a:cs typeface="Arial MT"/>
            </a:endParaRPr>
          </a:p>
          <a:p>
            <a:pPr marL="181610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latin typeface="Arial MT"/>
                <a:cs typeface="Arial MT"/>
              </a:rPr>
              <a:t>1.544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Mb/s.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836" y="1085088"/>
            <a:ext cx="4459224" cy="22402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7599" y="3641216"/>
            <a:ext cx="418846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87500"/>
              <a:buFont typeface="Wingdings"/>
              <a:buChar char=""/>
              <a:tabLst>
                <a:tab pos="182245" algn="l"/>
              </a:tabLst>
            </a:pPr>
            <a:r>
              <a:rPr dirty="0" sz="1200" spc="5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permanent dedicated connections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required,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point-to-point link is </a:t>
            </a:r>
            <a:r>
              <a:rPr dirty="0" sz="1200">
                <a:latin typeface="Arial MT"/>
                <a:cs typeface="Arial MT"/>
              </a:rPr>
              <a:t>used to </a:t>
            </a:r>
            <a:r>
              <a:rPr dirty="0" sz="1200" spc="-5">
                <a:latin typeface="Arial MT"/>
                <a:cs typeface="Arial MT"/>
              </a:rPr>
              <a:t>provide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pre-established </a:t>
            </a:r>
            <a:r>
              <a:rPr dirty="0" sz="1200" spc="-10">
                <a:latin typeface="Arial MT"/>
                <a:cs typeface="Arial MT"/>
              </a:rPr>
              <a:t>WAN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communications </a:t>
            </a:r>
            <a:r>
              <a:rPr dirty="0" sz="1200">
                <a:latin typeface="Arial MT"/>
                <a:cs typeface="Arial MT"/>
              </a:rPr>
              <a:t>path from the customer </a:t>
            </a:r>
            <a:r>
              <a:rPr dirty="0" sz="1200" spc="-5">
                <a:latin typeface="Arial MT"/>
                <a:cs typeface="Arial MT"/>
              </a:rPr>
              <a:t>premises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network.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73516" y="4769515"/>
            <a:ext cx="111125" cy="11112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21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53301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Private</a:t>
            </a:r>
            <a:r>
              <a:rPr dirty="0" sz="1600" spc="-15"/>
              <a:t> </a:t>
            </a:r>
            <a:r>
              <a:rPr dirty="0" sz="1600" spc="-25"/>
              <a:t>WAN</a:t>
            </a:r>
            <a:r>
              <a:rPr dirty="0" sz="1600" spc="-15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10"/>
              <a:t>Dialup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3089" y="196341"/>
            <a:ext cx="3935095" cy="4522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13144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Dialup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access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may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required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when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no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other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technology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available.</a:t>
            </a:r>
            <a:endParaRPr sz="1500">
              <a:latin typeface="Arial MT"/>
              <a:cs typeface="Arial MT"/>
            </a:endParaRPr>
          </a:p>
          <a:p>
            <a:pPr marL="181610" marR="24892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For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example,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remote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location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could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modems and analog telephone </a:t>
            </a:r>
            <a:r>
              <a:rPr dirty="0" sz="1500" spc="-5">
                <a:latin typeface="Arial MT"/>
                <a:cs typeface="Arial MT"/>
              </a:rPr>
              <a:t>lines </a:t>
            </a:r>
            <a:r>
              <a:rPr dirty="0" sz="1500">
                <a:latin typeface="Arial MT"/>
                <a:cs typeface="Arial MT"/>
              </a:rPr>
              <a:t>to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provide </a:t>
            </a:r>
            <a:r>
              <a:rPr dirty="0" sz="1500">
                <a:latin typeface="Arial MT"/>
                <a:cs typeface="Arial MT"/>
              </a:rPr>
              <a:t>low </a:t>
            </a:r>
            <a:r>
              <a:rPr dirty="0" sz="1500" spc="-5">
                <a:latin typeface="Arial MT"/>
                <a:cs typeface="Arial MT"/>
              </a:rPr>
              <a:t>capacity </a:t>
            </a:r>
            <a:r>
              <a:rPr dirty="0" sz="1500">
                <a:latin typeface="Arial MT"/>
                <a:cs typeface="Arial MT"/>
              </a:rPr>
              <a:t>and dedicated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switched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connections.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10">
                <a:latin typeface="Arial MT"/>
                <a:cs typeface="Arial MT"/>
              </a:rPr>
              <a:t>Traditional </a:t>
            </a:r>
            <a:r>
              <a:rPr dirty="0" sz="1500">
                <a:latin typeface="Arial MT"/>
                <a:cs typeface="Arial MT"/>
              </a:rPr>
              <a:t>local loops, </a:t>
            </a:r>
            <a:r>
              <a:rPr dirty="0" sz="1500" spc="-5">
                <a:latin typeface="Arial MT"/>
                <a:cs typeface="Arial MT"/>
              </a:rPr>
              <a:t>which </a:t>
            </a:r>
            <a:r>
              <a:rPr dirty="0" sz="1500">
                <a:latin typeface="Arial MT"/>
                <a:cs typeface="Arial MT"/>
              </a:rPr>
              <a:t>use copper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cabling, </a:t>
            </a:r>
            <a:r>
              <a:rPr dirty="0" sz="1500">
                <a:latin typeface="Arial MT"/>
                <a:cs typeface="Arial MT"/>
              </a:rPr>
              <a:t>transport binary computer data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through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voice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telephone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using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modem.</a:t>
            </a:r>
            <a:endParaRPr sz="1500">
              <a:latin typeface="Arial MT"/>
              <a:cs typeface="Arial MT"/>
            </a:endParaRPr>
          </a:p>
          <a:p>
            <a:pPr marL="181610" marR="69215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modem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modulates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binary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into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analog signal at the source and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demodulates the analog signal to binary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at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destination.</a:t>
            </a:r>
            <a:endParaRPr sz="1500">
              <a:latin typeface="Arial MT"/>
              <a:cs typeface="Arial MT"/>
            </a:endParaRPr>
          </a:p>
          <a:p>
            <a:pPr algn="just" marL="181610" marR="1841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physical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characteristics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local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loop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 </a:t>
            </a:r>
            <a:r>
              <a:rPr dirty="0" sz="1500" spc="-5">
                <a:latin typeface="Arial MT"/>
                <a:cs typeface="Arial MT"/>
              </a:rPr>
              <a:t>its </a:t>
            </a:r>
            <a:r>
              <a:rPr dirty="0" sz="1500">
                <a:latin typeface="Arial MT"/>
                <a:cs typeface="Arial MT"/>
              </a:rPr>
              <a:t>connected to the </a:t>
            </a:r>
            <a:r>
              <a:rPr dirty="0" sz="1500" spc="-5">
                <a:latin typeface="Arial MT"/>
                <a:cs typeface="Arial MT"/>
              </a:rPr>
              <a:t>PSTN limit </a:t>
            </a:r>
            <a:r>
              <a:rPr dirty="0" sz="1500">
                <a:latin typeface="Arial MT"/>
                <a:cs typeface="Arial MT"/>
              </a:rPr>
              <a:t>the rate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signal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less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than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56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kb/s.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4" y="897636"/>
            <a:ext cx="4511040" cy="29276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5848" y="3954271"/>
            <a:ext cx="404939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87500"/>
              <a:buFont typeface="Wingdings"/>
              <a:buChar char=""/>
              <a:tabLst>
                <a:tab pos="182245" algn="l"/>
              </a:tabLst>
            </a:pPr>
            <a:r>
              <a:rPr dirty="0" sz="1200" spc="-5">
                <a:latin typeface="Arial MT"/>
                <a:cs typeface="Arial MT"/>
              </a:rPr>
              <a:t>WAN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built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demand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modem</a:t>
            </a:r>
            <a:endParaRPr sz="1200">
              <a:latin typeface="Arial MT"/>
              <a:cs typeface="Arial MT"/>
            </a:endParaRPr>
          </a:p>
          <a:p>
            <a:pPr marL="18161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voice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telephone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network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53301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Private</a:t>
            </a:r>
            <a:r>
              <a:rPr dirty="0" sz="1600" spc="-15"/>
              <a:t> </a:t>
            </a:r>
            <a:r>
              <a:rPr dirty="0" sz="1600" spc="-25"/>
              <a:t>WAN</a:t>
            </a:r>
            <a:r>
              <a:rPr dirty="0" sz="1600" spc="-15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ISDN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3089" y="397890"/>
            <a:ext cx="3942079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14033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Integrated </a:t>
            </a:r>
            <a:r>
              <a:rPr dirty="0" sz="1500" spc="-5">
                <a:latin typeface="Arial MT"/>
                <a:cs typeface="Arial MT"/>
              </a:rPr>
              <a:t>Services Digital Network (ISDN)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5">
                <a:latin typeface="Arial MT"/>
                <a:cs typeface="Arial MT"/>
              </a:rPr>
              <a:t>circuit-switching </a:t>
            </a:r>
            <a:r>
              <a:rPr dirty="0" sz="1500">
                <a:latin typeface="Arial MT"/>
                <a:cs typeface="Arial MT"/>
              </a:rPr>
              <a:t>technology that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enables the local loop of a </a:t>
            </a:r>
            <a:r>
              <a:rPr dirty="0" sz="1500" spc="-5">
                <a:latin typeface="Arial MT"/>
                <a:cs typeface="Arial MT"/>
              </a:rPr>
              <a:t>PSTN </a:t>
            </a:r>
            <a:r>
              <a:rPr dirty="0" sz="1500">
                <a:latin typeface="Arial MT"/>
                <a:cs typeface="Arial MT"/>
              </a:rPr>
              <a:t>to carry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digital </a:t>
            </a:r>
            <a:r>
              <a:rPr dirty="0" sz="1500">
                <a:latin typeface="Arial MT"/>
                <a:cs typeface="Arial MT"/>
              </a:rPr>
              <a:t>signals, resulting </a:t>
            </a:r>
            <a:r>
              <a:rPr dirty="0" sz="1500" spc="-5">
                <a:latin typeface="Arial MT"/>
                <a:cs typeface="Arial MT"/>
              </a:rPr>
              <a:t>in </a:t>
            </a:r>
            <a:r>
              <a:rPr dirty="0" sz="1500">
                <a:latin typeface="Arial MT"/>
                <a:cs typeface="Arial MT"/>
              </a:rPr>
              <a:t>higher </a:t>
            </a:r>
            <a:r>
              <a:rPr dirty="0" sz="1500" spc="-5">
                <a:latin typeface="Arial MT"/>
                <a:cs typeface="Arial MT"/>
              </a:rPr>
              <a:t>capacity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switched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connections.</a:t>
            </a:r>
            <a:endParaRPr sz="1500">
              <a:latin typeface="Arial MT"/>
              <a:cs typeface="Arial MT"/>
            </a:endParaRPr>
          </a:p>
          <a:p>
            <a:pPr marL="181610" marR="24511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ISDN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changes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internal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connections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5">
                <a:latin typeface="Arial MT"/>
                <a:cs typeface="Arial MT"/>
              </a:rPr>
              <a:t>PSTN </a:t>
            </a:r>
            <a:r>
              <a:rPr dirty="0" sz="1500">
                <a:latin typeface="Arial MT"/>
                <a:cs typeface="Arial MT"/>
              </a:rPr>
              <a:t>from </a:t>
            </a:r>
            <a:r>
              <a:rPr dirty="0" sz="1500" spc="-5">
                <a:latin typeface="Arial MT"/>
                <a:cs typeface="Arial MT"/>
              </a:rPr>
              <a:t>carrying </a:t>
            </a:r>
            <a:r>
              <a:rPr dirty="0" sz="1500">
                <a:latin typeface="Arial MT"/>
                <a:cs typeface="Arial MT"/>
              </a:rPr>
              <a:t>analog </a:t>
            </a:r>
            <a:r>
              <a:rPr dirty="0" sz="1500" spc="-5">
                <a:latin typeface="Arial MT"/>
                <a:cs typeface="Arial MT"/>
              </a:rPr>
              <a:t>signals </a:t>
            </a:r>
            <a:r>
              <a:rPr dirty="0" sz="1500">
                <a:latin typeface="Arial MT"/>
                <a:cs typeface="Arial MT"/>
              </a:rPr>
              <a:t>to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time-division multiplexed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(TDM)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digital </a:t>
            </a:r>
            <a:r>
              <a:rPr dirty="0" sz="1500">
                <a:latin typeface="Arial MT"/>
                <a:cs typeface="Arial MT"/>
              </a:rPr>
              <a:t> signals.</a:t>
            </a:r>
            <a:endParaRPr sz="1500">
              <a:latin typeface="Arial MT"/>
              <a:cs typeface="Arial MT"/>
            </a:endParaRPr>
          </a:p>
          <a:p>
            <a:pPr marL="181610" marR="186055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TDM allows two </a:t>
            </a:r>
            <a:r>
              <a:rPr dirty="0" sz="1500">
                <a:latin typeface="Arial MT"/>
                <a:cs typeface="Arial MT"/>
              </a:rPr>
              <a:t>or more signals, or </a:t>
            </a:r>
            <a:r>
              <a:rPr dirty="0" sz="1500" spc="-5">
                <a:latin typeface="Arial MT"/>
                <a:cs typeface="Arial MT"/>
              </a:rPr>
              <a:t>bit </a:t>
            </a:r>
            <a:r>
              <a:rPr dirty="0" sz="1500">
                <a:latin typeface="Arial MT"/>
                <a:cs typeface="Arial MT"/>
              </a:rPr>
              <a:t> streams,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transferred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5">
                <a:latin typeface="Arial MT"/>
                <a:cs typeface="Arial MT"/>
              </a:rPr>
              <a:t>subchannels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in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one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communication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channel.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</a:t>
            </a:r>
            <a:r>
              <a:rPr dirty="0" sz="1500" spc="8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ISDN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may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require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terminal adapter </a:t>
            </a:r>
            <a:r>
              <a:rPr dirty="0" sz="1500" spc="-30">
                <a:latin typeface="Arial MT"/>
                <a:cs typeface="Arial MT"/>
              </a:rPr>
              <a:t>(TA) </a:t>
            </a:r>
            <a:r>
              <a:rPr dirty="0" sz="1500" spc="-5">
                <a:latin typeface="Arial MT"/>
                <a:cs typeface="Arial MT"/>
              </a:rPr>
              <a:t>which is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5">
                <a:latin typeface="Arial MT"/>
                <a:cs typeface="Arial MT"/>
              </a:rPr>
              <a:t>device </a:t>
            </a:r>
            <a:r>
              <a:rPr dirty="0" sz="1500">
                <a:latin typeface="Arial MT"/>
                <a:cs typeface="Arial MT"/>
              </a:rPr>
              <a:t>used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 connect </a:t>
            </a:r>
            <a:r>
              <a:rPr dirty="0" sz="1500" spc="-5">
                <a:latin typeface="Arial MT"/>
                <a:cs typeface="Arial MT"/>
              </a:rPr>
              <a:t>ISDN Basic Rate </a:t>
            </a:r>
            <a:r>
              <a:rPr dirty="0" sz="1500">
                <a:latin typeface="Arial MT"/>
                <a:cs typeface="Arial MT"/>
              </a:rPr>
              <a:t>Interface (BRI)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connections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router.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" y="1071372"/>
            <a:ext cx="4648200" cy="31348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53301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Private</a:t>
            </a:r>
            <a:r>
              <a:rPr dirty="0" sz="1600" spc="-15"/>
              <a:t> </a:t>
            </a:r>
            <a:r>
              <a:rPr dirty="0" sz="1600" spc="-25"/>
              <a:t>WAN</a:t>
            </a:r>
            <a:r>
              <a:rPr dirty="0" sz="1600" spc="-15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ISDN</a:t>
            </a:r>
            <a:r>
              <a:rPr dirty="0" spc="-50"/>
              <a:t> </a:t>
            </a:r>
            <a:r>
              <a:rPr dirty="0" spc="-5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3089" y="360121"/>
            <a:ext cx="354076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There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two types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ISDN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Interfaces: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3089" y="703579"/>
            <a:ext cx="3943985" cy="3981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0205" marR="79375" indent="-169545">
              <a:lnSpc>
                <a:spcPct val="100000"/>
              </a:lnSpc>
              <a:spcBef>
                <a:spcPts val="9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300" spc="-5">
                <a:latin typeface="Arial MT"/>
                <a:cs typeface="Arial MT"/>
              </a:rPr>
              <a:t>Basic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Rate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Interface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(BRI)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– ISDN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BRI </a:t>
            </a:r>
            <a:r>
              <a:rPr dirty="0" sz="1300" spc="-10">
                <a:latin typeface="Arial MT"/>
                <a:cs typeface="Arial MT"/>
              </a:rPr>
              <a:t>provides </a:t>
            </a:r>
            <a:r>
              <a:rPr dirty="0" sz="1300" spc="-3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two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64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kb/s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bearer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channels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(B)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for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carrying </a:t>
            </a:r>
            <a:r>
              <a:rPr dirty="0" sz="1300" spc="-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voice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and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data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and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a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16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kb/s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delta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channel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(D) </a:t>
            </a:r>
            <a:r>
              <a:rPr dirty="0" sz="130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for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signaling,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call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setup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and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other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purposes.</a:t>
            </a:r>
            <a:endParaRPr sz="1300">
              <a:latin typeface="Arial MT"/>
              <a:cs typeface="Arial MT"/>
            </a:endParaRPr>
          </a:p>
          <a:p>
            <a:pPr algn="just" marL="370205" marR="152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300" spc="-5">
                <a:latin typeface="Arial MT"/>
                <a:cs typeface="Arial MT"/>
              </a:rPr>
              <a:t>Primary </a:t>
            </a:r>
            <a:r>
              <a:rPr dirty="0" sz="1300" spc="-10">
                <a:latin typeface="Arial MT"/>
                <a:cs typeface="Arial MT"/>
              </a:rPr>
              <a:t>Rate </a:t>
            </a:r>
            <a:r>
              <a:rPr dirty="0" sz="1300" spc="-5">
                <a:latin typeface="Arial MT"/>
                <a:cs typeface="Arial MT"/>
              </a:rPr>
              <a:t>Interface (PRI) – In </a:t>
            </a:r>
            <a:r>
              <a:rPr dirty="0" sz="1300" spc="-10">
                <a:latin typeface="Arial MT"/>
                <a:cs typeface="Arial MT"/>
              </a:rPr>
              <a:t>North America, </a:t>
            </a:r>
            <a:r>
              <a:rPr dirty="0" sz="1300" spc="-35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PRI delivers </a:t>
            </a:r>
            <a:r>
              <a:rPr dirty="0" sz="1300" spc="-5">
                <a:latin typeface="Arial MT"/>
                <a:cs typeface="Arial MT"/>
              </a:rPr>
              <a:t>23 B </a:t>
            </a:r>
            <a:r>
              <a:rPr dirty="0" sz="1300" spc="-10">
                <a:latin typeface="Arial MT"/>
                <a:cs typeface="Arial MT"/>
              </a:rPr>
              <a:t>channels with </a:t>
            </a:r>
            <a:r>
              <a:rPr dirty="0" sz="1300" spc="-5">
                <a:latin typeface="Arial MT"/>
                <a:cs typeface="Arial MT"/>
              </a:rPr>
              <a:t>64 </a:t>
            </a:r>
            <a:r>
              <a:rPr dirty="0" sz="1300" spc="-10">
                <a:latin typeface="Arial MT"/>
                <a:cs typeface="Arial MT"/>
              </a:rPr>
              <a:t>kb/s and one </a:t>
            </a:r>
            <a:r>
              <a:rPr dirty="0" sz="1300" spc="-5">
                <a:latin typeface="Arial MT"/>
                <a:cs typeface="Arial MT"/>
              </a:rPr>
              <a:t> D</a:t>
            </a:r>
            <a:r>
              <a:rPr dirty="0" sz="1300" spc="-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channel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with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64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kb/s</a:t>
            </a:r>
            <a:r>
              <a:rPr dirty="0" sz="130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for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a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total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bit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rate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of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up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to</a:t>
            </a:r>
            <a:endParaRPr sz="1300">
              <a:latin typeface="Arial MT"/>
              <a:cs typeface="Arial MT"/>
            </a:endParaRPr>
          </a:p>
          <a:p>
            <a:pPr algn="just" marL="370205" marR="445770">
              <a:lnSpc>
                <a:spcPct val="100000"/>
              </a:lnSpc>
            </a:pPr>
            <a:r>
              <a:rPr dirty="0" sz="1300" spc="-10">
                <a:latin typeface="Arial MT"/>
                <a:cs typeface="Arial MT"/>
              </a:rPr>
              <a:t>1.544 Mb/s.</a:t>
            </a:r>
            <a:r>
              <a:rPr dirty="0" sz="1300" spc="-5">
                <a:latin typeface="Arial MT"/>
                <a:cs typeface="Arial MT"/>
              </a:rPr>
              <a:t> This </a:t>
            </a:r>
            <a:r>
              <a:rPr dirty="0" sz="1300" spc="-10">
                <a:latin typeface="Arial MT"/>
                <a:cs typeface="Arial MT"/>
              </a:rPr>
              <a:t>includes </a:t>
            </a:r>
            <a:r>
              <a:rPr dirty="0" sz="1300" spc="-5">
                <a:latin typeface="Arial MT"/>
                <a:cs typeface="Arial MT"/>
              </a:rPr>
              <a:t>some </a:t>
            </a:r>
            <a:r>
              <a:rPr dirty="0" sz="1300" spc="-10">
                <a:latin typeface="Arial MT"/>
                <a:cs typeface="Arial MT"/>
              </a:rPr>
              <a:t>additional </a:t>
            </a:r>
            <a:r>
              <a:rPr dirty="0" sz="1300" spc="-35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overhead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for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synchronization.</a:t>
            </a:r>
            <a:endParaRPr sz="1300">
              <a:latin typeface="Arial MT"/>
              <a:cs typeface="Arial MT"/>
            </a:endParaRPr>
          </a:p>
          <a:p>
            <a:pPr marL="181610" marR="91440" indent="-169545">
              <a:lnSpc>
                <a:spcPct val="100000"/>
              </a:lnSpc>
              <a:spcBef>
                <a:spcPts val="91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common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application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ISDN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provide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additional capacity </a:t>
            </a:r>
            <a:r>
              <a:rPr dirty="0" sz="1500">
                <a:latin typeface="Arial MT"/>
                <a:cs typeface="Arial MT"/>
              </a:rPr>
              <a:t>as needed on a leased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line </a:t>
            </a:r>
            <a:r>
              <a:rPr dirty="0" sz="1500">
                <a:latin typeface="Arial MT"/>
                <a:cs typeface="Arial MT"/>
              </a:rPr>
              <a:t>connection.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ISDN </a:t>
            </a:r>
            <a:r>
              <a:rPr dirty="0" sz="1500">
                <a:latin typeface="Arial MT"/>
                <a:cs typeface="Arial MT"/>
              </a:rPr>
              <a:t>can also be used as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backup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if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leased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line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fails.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Although ISDN is still </a:t>
            </a:r>
            <a:r>
              <a:rPr dirty="0" sz="1500">
                <a:latin typeface="Arial MT"/>
                <a:cs typeface="Arial MT"/>
              </a:rPr>
              <a:t>an important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technology for telephone </a:t>
            </a:r>
            <a:r>
              <a:rPr dirty="0" sz="1500" spc="-5">
                <a:latin typeface="Arial MT"/>
                <a:cs typeface="Arial MT"/>
              </a:rPr>
              <a:t>service provider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networks, it </a:t>
            </a:r>
            <a:r>
              <a:rPr dirty="0" sz="1500">
                <a:latin typeface="Arial MT"/>
                <a:cs typeface="Arial MT"/>
              </a:rPr>
              <a:t>has </a:t>
            </a:r>
            <a:r>
              <a:rPr dirty="0" sz="1500" spc="-5">
                <a:latin typeface="Arial MT"/>
                <a:cs typeface="Arial MT"/>
              </a:rPr>
              <a:t>declined in </a:t>
            </a:r>
            <a:r>
              <a:rPr dirty="0" sz="1500">
                <a:latin typeface="Arial MT"/>
                <a:cs typeface="Arial MT"/>
              </a:rPr>
              <a:t>popularity due to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DSL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other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broadband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" y="1071372"/>
            <a:ext cx="4648200" cy="31348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53301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Private</a:t>
            </a:r>
            <a:r>
              <a:rPr dirty="0" sz="1600" spc="-15"/>
              <a:t> </a:t>
            </a:r>
            <a:r>
              <a:rPr dirty="0" sz="1600" spc="-25"/>
              <a:t>WAN</a:t>
            </a:r>
            <a:r>
              <a:rPr dirty="0" sz="1600" spc="-15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Frame</a:t>
            </a:r>
            <a:r>
              <a:rPr dirty="0" spc="-40"/>
              <a:t> </a:t>
            </a:r>
            <a:r>
              <a:rPr dirty="0" spc="-10"/>
              <a:t>Relay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0094" y="381127"/>
            <a:ext cx="372364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12573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Frame </a:t>
            </a:r>
            <a:r>
              <a:rPr dirty="0" sz="1500" spc="-5">
                <a:latin typeface="Arial MT"/>
                <a:cs typeface="Arial MT"/>
              </a:rPr>
              <a:t>Relay is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5">
                <a:latin typeface="Arial MT"/>
                <a:cs typeface="Arial MT"/>
              </a:rPr>
              <a:t>Layer </a:t>
            </a:r>
            <a:r>
              <a:rPr dirty="0" sz="1500">
                <a:latin typeface="Arial MT"/>
                <a:cs typeface="Arial MT"/>
              </a:rPr>
              <a:t>2 non-broadcast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multi-access </a:t>
            </a:r>
            <a:r>
              <a:rPr dirty="0" sz="1500" spc="-5">
                <a:latin typeface="Arial MT"/>
                <a:cs typeface="Arial MT"/>
              </a:rPr>
              <a:t>(NBMA)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>
                <a:latin typeface="Arial MT"/>
                <a:cs typeface="Arial MT"/>
              </a:rPr>
              <a:t>technology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used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interconnect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enterprise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LANs.</a:t>
            </a:r>
            <a:endParaRPr sz="15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89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Data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rates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up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4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Mb/s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with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some</a:t>
            </a:r>
            <a:endParaRPr sz="1400">
              <a:latin typeface="Arial MT"/>
              <a:cs typeface="Arial MT"/>
            </a:endParaRPr>
          </a:p>
          <a:p>
            <a:pPr marL="370205">
              <a:lnSpc>
                <a:spcPct val="100000"/>
              </a:lnSpc>
            </a:pPr>
            <a:r>
              <a:rPr dirty="0" sz="1400" spc="-5">
                <a:latin typeface="Arial MT"/>
                <a:cs typeface="Arial MT"/>
              </a:rPr>
              <a:t>providers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offering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higher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rates</a:t>
            </a:r>
            <a:endParaRPr sz="14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91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 single router can be used to connect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multiple sites </a:t>
            </a:r>
            <a:r>
              <a:rPr dirty="0" sz="1500">
                <a:latin typeface="Arial MT"/>
                <a:cs typeface="Arial MT"/>
              </a:rPr>
              <a:t>using </a:t>
            </a:r>
            <a:r>
              <a:rPr dirty="0" sz="1500" spc="-5">
                <a:latin typeface="Arial MT"/>
                <a:cs typeface="Arial MT"/>
              </a:rPr>
              <a:t>PVCs which </a:t>
            </a:r>
            <a:r>
              <a:rPr dirty="0" sz="1500">
                <a:latin typeface="Arial MT"/>
                <a:cs typeface="Arial MT"/>
              </a:rPr>
              <a:t>can carry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both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voice</a:t>
            </a:r>
            <a:r>
              <a:rPr dirty="0" sz="1500">
                <a:latin typeface="Arial MT"/>
                <a:cs typeface="Arial MT"/>
              </a:rPr>
              <a:t> and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traffic.</a:t>
            </a:r>
            <a:endParaRPr sz="1500">
              <a:latin typeface="Arial MT"/>
              <a:cs typeface="Arial MT"/>
            </a:endParaRPr>
          </a:p>
          <a:p>
            <a:pPr marL="181610" marR="417830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An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edge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router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only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requires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single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interface, </a:t>
            </a:r>
            <a:r>
              <a:rPr dirty="0" sz="1500" spc="-5">
                <a:latin typeface="Arial MT"/>
                <a:cs typeface="Arial MT"/>
              </a:rPr>
              <a:t>even when multiple virtual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circuits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 used.</a:t>
            </a:r>
            <a:endParaRPr sz="1500">
              <a:latin typeface="Arial MT"/>
              <a:cs typeface="Arial MT"/>
            </a:endParaRPr>
          </a:p>
          <a:p>
            <a:pPr marL="181610" marR="6985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Frame </a:t>
            </a:r>
            <a:r>
              <a:rPr dirty="0" sz="1500" spc="-5">
                <a:latin typeface="Arial MT"/>
                <a:cs typeface="Arial MT"/>
              </a:rPr>
              <a:t>Relay </a:t>
            </a:r>
            <a:r>
              <a:rPr dirty="0" sz="1500">
                <a:latin typeface="Arial MT"/>
                <a:cs typeface="Arial MT"/>
              </a:rPr>
              <a:t>creates </a:t>
            </a:r>
            <a:r>
              <a:rPr dirty="0" sz="1500" spc="-5">
                <a:latin typeface="Arial MT"/>
                <a:cs typeface="Arial MT"/>
              </a:rPr>
              <a:t>PVCs which </a:t>
            </a:r>
            <a:r>
              <a:rPr dirty="0" sz="1500">
                <a:latin typeface="Arial MT"/>
                <a:cs typeface="Arial MT"/>
              </a:rPr>
              <a:t>are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uniquely </a:t>
            </a:r>
            <a:r>
              <a:rPr dirty="0" sz="1500">
                <a:latin typeface="Arial MT"/>
                <a:cs typeface="Arial MT"/>
              </a:rPr>
              <a:t>identified by a data-link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 identifier </a:t>
            </a:r>
            <a:r>
              <a:rPr dirty="0" sz="1500" spc="-5">
                <a:latin typeface="Arial MT"/>
                <a:cs typeface="Arial MT"/>
              </a:rPr>
              <a:t>(DLCI).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The PVCs </a:t>
            </a:r>
            <a:r>
              <a:rPr dirty="0" sz="1500">
                <a:latin typeface="Arial MT"/>
                <a:cs typeface="Arial MT"/>
              </a:rPr>
              <a:t> and </a:t>
            </a:r>
            <a:r>
              <a:rPr dirty="0" sz="1500" spc="-5">
                <a:latin typeface="Arial MT"/>
                <a:cs typeface="Arial MT"/>
              </a:rPr>
              <a:t>DLCIs </a:t>
            </a:r>
            <a:r>
              <a:rPr dirty="0" sz="1500">
                <a:latin typeface="Arial MT"/>
                <a:cs typeface="Arial MT"/>
              </a:rPr>
              <a:t>ensure bidirectional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communication </a:t>
            </a:r>
            <a:r>
              <a:rPr dirty="0" sz="1500" spc="-5">
                <a:latin typeface="Arial MT"/>
                <a:cs typeface="Arial MT"/>
              </a:rPr>
              <a:t>between </a:t>
            </a:r>
            <a:r>
              <a:rPr dirty="0" sz="1500">
                <a:latin typeface="Arial MT"/>
                <a:cs typeface="Arial MT"/>
              </a:rPr>
              <a:t>one </a:t>
            </a:r>
            <a:r>
              <a:rPr dirty="0" sz="1500" spc="-5">
                <a:latin typeface="Arial MT"/>
                <a:cs typeface="Arial MT"/>
              </a:rPr>
              <a:t>DTE device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0">
                <a:latin typeface="Arial MT"/>
                <a:cs typeface="Arial MT"/>
              </a:rPr>
              <a:t> another.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92" y="954024"/>
            <a:ext cx="4780788" cy="34442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53301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Private</a:t>
            </a:r>
            <a:r>
              <a:rPr dirty="0" sz="1600" spc="-15"/>
              <a:t> </a:t>
            </a:r>
            <a:r>
              <a:rPr dirty="0" sz="1600" spc="-25"/>
              <a:t>WAN</a:t>
            </a:r>
            <a:r>
              <a:rPr dirty="0" sz="1600" spc="-15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65"/>
              <a:t>ATM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0145" y="69850"/>
            <a:ext cx="380619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Asynchronous </a:t>
            </a:r>
            <a:r>
              <a:rPr dirty="0" sz="1500" spc="-10">
                <a:latin typeface="Arial MT"/>
                <a:cs typeface="Arial MT"/>
              </a:rPr>
              <a:t>Transfer </a:t>
            </a:r>
            <a:r>
              <a:rPr dirty="0" sz="1500">
                <a:latin typeface="Arial MT"/>
                <a:cs typeface="Arial MT"/>
              </a:rPr>
              <a:t>Mode </a:t>
            </a:r>
            <a:r>
              <a:rPr dirty="0" sz="1500" spc="-25">
                <a:latin typeface="Arial MT"/>
                <a:cs typeface="Arial MT"/>
              </a:rPr>
              <a:t>(ATM) 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technology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capable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transferring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voice,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video, </a:t>
            </a:r>
            <a:r>
              <a:rPr dirty="0" sz="1500">
                <a:latin typeface="Arial MT"/>
                <a:cs typeface="Arial MT"/>
              </a:rPr>
              <a:t>and data through </a:t>
            </a:r>
            <a:r>
              <a:rPr dirty="0" sz="1500" spc="-5">
                <a:latin typeface="Arial MT"/>
                <a:cs typeface="Arial MT"/>
              </a:rPr>
              <a:t>private </a:t>
            </a:r>
            <a:r>
              <a:rPr dirty="0" sz="1500">
                <a:latin typeface="Arial MT"/>
                <a:cs typeface="Arial MT"/>
              </a:rPr>
              <a:t>and </a:t>
            </a:r>
            <a:r>
              <a:rPr dirty="0" sz="1500" spc="-5">
                <a:latin typeface="Arial MT"/>
                <a:cs typeface="Arial MT"/>
              </a:rPr>
              <a:t>public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0145" y="1098930"/>
            <a:ext cx="3985260" cy="3417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0840" marR="200660" indent="-169545">
              <a:lnSpc>
                <a:spcPct val="100000"/>
              </a:lnSpc>
              <a:spcBef>
                <a:spcPts val="95"/>
              </a:spcBef>
              <a:buClr>
                <a:srgbClr val="57575B"/>
              </a:buClr>
              <a:buChar char="•"/>
              <a:tabLst>
                <a:tab pos="371475" algn="l"/>
              </a:tabLst>
            </a:pPr>
            <a:r>
              <a:rPr dirty="0" sz="1300" spc="-35">
                <a:latin typeface="Arial MT"/>
                <a:cs typeface="Arial MT"/>
              </a:rPr>
              <a:t>ATM</a:t>
            </a:r>
            <a:r>
              <a:rPr dirty="0" sz="1300" spc="-5">
                <a:latin typeface="Arial MT"/>
                <a:cs typeface="Arial MT"/>
              </a:rPr>
              <a:t> is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built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on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a cell-based</a:t>
            </a:r>
            <a:r>
              <a:rPr dirty="0" sz="1300" spc="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architecture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rather </a:t>
            </a:r>
            <a:r>
              <a:rPr dirty="0" sz="1300" spc="-34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than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on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a frame-based</a:t>
            </a:r>
            <a:r>
              <a:rPr dirty="0" sz="1300" spc="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architecture.</a:t>
            </a:r>
            <a:endParaRPr sz="1300">
              <a:latin typeface="Arial MT"/>
              <a:cs typeface="Arial MT"/>
            </a:endParaRPr>
          </a:p>
          <a:p>
            <a:pPr marL="370840" indent="-170180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1475" algn="l"/>
              </a:tabLst>
            </a:pPr>
            <a:r>
              <a:rPr dirty="0" sz="1300" spc="-10">
                <a:latin typeface="Arial MT"/>
                <a:cs typeface="Arial MT"/>
              </a:rPr>
              <a:t>Cells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are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always</a:t>
            </a:r>
            <a:r>
              <a:rPr dirty="0" sz="1300" spc="5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a </a:t>
            </a:r>
            <a:r>
              <a:rPr dirty="0" sz="1300" spc="-10">
                <a:latin typeface="Arial MT"/>
                <a:cs typeface="Arial MT"/>
              </a:rPr>
              <a:t>fixed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length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of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53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bytes.</a:t>
            </a:r>
            <a:endParaRPr sz="1300">
              <a:latin typeface="Arial MT"/>
              <a:cs typeface="Arial MT"/>
            </a:endParaRPr>
          </a:p>
          <a:p>
            <a:pPr marL="370840" marR="85725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1475" algn="l"/>
              </a:tabLst>
            </a:pPr>
            <a:r>
              <a:rPr dirty="0" sz="1300" spc="-35">
                <a:latin typeface="Arial MT"/>
                <a:cs typeface="Arial MT"/>
              </a:rPr>
              <a:t>ATM</a:t>
            </a:r>
            <a:r>
              <a:rPr dirty="0" sz="1300" spc="-5">
                <a:latin typeface="Arial MT"/>
                <a:cs typeface="Arial MT"/>
              </a:rPr>
              <a:t> cells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contain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a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5-byte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35">
                <a:latin typeface="Arial MT"/>
                <a:cs typeface="Arial MT"/>
              </a:rPr>
              <a:t>ATM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header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followed </a:t>
            </a:r>
            <a:r>
              <a:rPr dirty="0" sz="1300" spc="-34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by</a:t>
            </a:r>
            <a:r>
              <a:rPr dirty="0" sz="130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48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bytes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of</a:t>
            </a:r>
            <a:r>
              <a:rPr dirty="0" sz="1300" spc="-70">
                <a:latin typeface="Arial MT"/>
                <a:cs typeface="Arial MT"/>
              </a:rPr>
              <a:t> </a:t>
            </a:r>
            <a:r>
              <a:rPr dirty="0" sz="1300" spc="-35">
                <a:latin typeface="Arial MT"/>
                <a:cs typeface="Arial MT"/>
              </a:rPr>
              <a:t>ATM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payload.</a:t>
            </a:r>
            <a:endParaRPr sz="1300">
              <a:latin typeface="Arial MT"/>
              <a:cs typeface="Arial MT"/>
            </a:endParaRPr>
          </a:p>
          <a:p>
            <a:pPr marL="181610" marR="283845" indent="-169545">
              <a:lnSpc>
                <a:spcPct val="100000"/>
              </a:lnSpc>
              <a:spcBef>
                <a:spcPts val="9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Small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fixed-length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cells</a:t>
            </a:r>
            <a:r>
              <a:rPr dirty="0" sz="1500">
                <a:latin typeface="Arial MT"/>
                <a:cs typeface="Arial MT"/>
              </a:rPr>
              <a:t> are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well-suited</a:t>
            </a:r>
            <a:r>
              <a:rPr dirty="0" sz="1500">
                <a:latin typeface="Arial MT"/>
                <a:cs typeface="Arial MT"/>
              </a:rPr>
              <a:t> for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voice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5">
                <a:latin typeface="Arial MT"/>
                <a:cs typeface="Arial MT"/>
              </a:rPr>
              <a:t> video traffic.</a:t>
            </a:r>
            <a:endParaRPr sz="1500">
              <a:latin typeface="Arial MT"/>
              <a:cs typeface="Arial MT"/>
            </a:endParaRPr>
          </a:p>
          <a:p>
            <a:pPr marL="181610" marR="26034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9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typical</a:t>
            </a:r>
            <a:r>
              <a:rPr dirty="0" sz="1500" spc="-95">
                <a:latin typeface="Arial MT"/>
                <a:cs typeface="Arial MT"/>
              </a:rPr>
              <a:t> </a:t>
            </a:r>
            <a:r>
              <a:rPr dirty="0" sz="1500" spc="-40">
                <a:latin typeface="Arial MT"/>
                <a:cs typeface="Arial MT"/>
              </a:rPr>
              <a:t>ATM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line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needs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almost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20% greater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bandwidth </a:t>
            </a:r>
            <a:r>
              <a:rPr dirty="0" sz="1500">
                <a:latin typeface="Arial MT"/>
                <a:cs typeface="Arial MT"/>
              </a:rPr>
              <a:t>than Frame </a:t>
            </a:r>
            <a:r>
              <a:rPr dirty="0" sz="1500" spc="-5">
                <a:latin typeface="Arial MT"/>
                <a:cs typeface="Arial MT"/>
              </a:rPr>
              <a:t>Relay </a:t>
            </a:r>
            <a:r>
              <a:rPr dirty="0" sz="1500">
                <a:latin typeface="Arial MT"/>
                <a:cs typeface="Arial MT"/>
              </a:rPr>
              <a:t>to carry the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same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volume</a:t>
            </a:r>
            <a:r>
              <a:rPr dirty="0" sz="1500">
                <a:latin typeface="Arial MT"/>
                <a:cs typeface="Arial MT"/>
              </a:rPr>
              <a:t> of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traffic.</a:t>
            </a:r>
            <a:endParaRPr sz="1500">
              <a:latin typeface="Arial MT"/>
              <a:cs typeface="Arial MT"/>
            </a:endParaRPr>
          </a:p>
          <a:p>
            <a:pPr algn="just" marL="181610" marR="5080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5">
                <a:latin typeface="Arial MT"/>
                <a:cs typeface="Arial MT"/>
              </a:rPr>
              <a:t>When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5">
                <a:latin typeface="Arial MT"/>
                <a:cs typeface="Arial MT"/>
              </a:rPr>
              <a:t>cell is carrying </a:t>
            </a:r>
            <a:r>
              <a:rPr dirty="0" sz="1500">
                <a:latin typeface="Arial MT"/>
                <a:cs typeface="Arial MT"/>
              </a:rPr>
              <a:t>segmented </a:t>
            </a:r>
            <a:r>
              <a:rPr dirty="0" sz="1500" spc="-5">
                <a:latin typeface="Arial MT"/>
                <a:cs typeface="Arial MT"/>
              </a:rPr>
              <a:t>network </a:t>
            </a:r>
            <a:r>
              <a:rPr dirty="0" sz="1500" spc="-409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layer traffic,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5">
                <a:latin typeface="Arial MT"/>
                <a:cs typeface="Arial MT"/>
              </a:rPr>
              <a:t>overhead </a:t>
            </a:r>
            <a:r>
              <a:rPr dirty="0" sz="1500">
                <a:latin typeface="Arial MT"/>
                <a:cs typeface="Arial MT"/>
              </a:rPr>
              <a:t>is higher since the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40">
                <a:latin typeface="Arial MT"/>
                <a:cs typeface="Arial MT"/>
              </a:rPr>
              <a:t>ATM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switch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must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able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reassemble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" y="861060"/>
            <a:ext cx="4799076" cy="34960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39309" y="4508765"/>
            <a:ext cx="3274060" cy="370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 sz="1500">
                <a:latin typeface="Arial MT"/>
                <a:cs typeface="Arial MT"/>
              </a:rPr>
              <a:t>packets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destination.</a:t>
            </a:r>
            <a:endParaRPr sz="1500">
              <a:latin typeface="Arial MT"/>
              <a:cs typeface="Arial MT"/>
            </a:endParaRPr>
          </a:p>
          <a:p>
            <a:pPr marL="790575">
              <a:lnSpc>
                <a:spcPct val="100000"/>
              </a:lnSpc>
              <a:spcBef>
                <a:spcPts val="325"/>
              </a:spcBef>
            </a:pP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©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2016 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C</a:t>
            </a:r>
            <a:r>
              <a:rPr dirty="0" sz="600" spc="5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sco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and/or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ts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aff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ili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ates.</a:t>
            </a:r>
            <a:r>
              <a:rPr dirty="0" sz="600" spc="-5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A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l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l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r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ghts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reserved.  </a:t>
            </a:r>
            <a:r>
              <a:rPr dirty="0" sz="600" spc="-2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C</a:t>
            </a:r>
            <a:r>
              <a:rPr dirty="0" sz="600" spc="5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sco</a:t>
            </a:r>
            <a:r>
              <a:rPr dirty="0" sz="600" spc="-10">
                <a:solidFill>
                  <a:srgbClr val="D9D9D9"/>
                </a:solidFill>
                <a:latin typeface="Arial MT"/>
                <a:cs typeface="Arial MT"/>
              </a:rPr>
              <a:t> </a:t>
            </a:r>
            <a:r>
              <a:rPr dirty="0" sz="600" spc="-5">
                <a:solidFill>
                  <a:srgbClr val="D9D9D9"/>
                </a:solidFill>
                <a:latin typeface="Arial MT"/>
                <a:cs typeface="Arial MT"/>
              </a:rPr>
              <a:t>Co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nf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dent</a:t>
            </a:r>
            <a:r>
              <a:rPr dirty="0" sz="600" spc="10">
                <a:solidFill>
                  <a:srgbClr val="D9D9D9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al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53301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Private</a:t>
            </a:r>
            <a:r>
              <a:rPr dirty="0" sz="1600" spc="-15"/>
              <a:t> </a:t>
            </a:r>
            <a:r>
              <a:rPr dirty="0" sz="1600" spc="-25"/>
              <a:t>WAN</a:t>
            </a:r>
            <a:r>
              <a:rPr dirty="0" sz="1600" spc="-15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Ethernet</a:t>
            </a:r>
            <a:r>
              <a:rPr dirty="0" spc="-50"/>
              <a:t> </a:t>
            </a:r>
            <a:r>
              <a:rPr dirty="0" spc="-30"/>
              <a:t>WAN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6033" y="221056"/>
            <a:ext cx="3774440" cy="4248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Thanks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newer</a:t>
            </a:r>
            <a:r>
              <a:rPr dirty="0" sz="1500">
                <a:latin typeface="Arial MT"/>
                <a:cs typeface="Arial MT"/>
              </a:rPr>
              <a:t> Ethernet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standards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using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fiber-optic cables, Ethernet </a:t>
            </a:r>
            <a:r>
              <a:rPr dirty="0" sz="1500" spc="-5">
                <a:latin typeface="Arial MT"/>
                <a:cs typeface="Arial MT"/>
              </a:rPr>
              <a:t>is </a:t>
            </a:r>
            <a:r>
              <a:rPr dirty="0" sz="1500">
                <a:latin typeface="Arial MT"/>
                <a:cs typeface="Arial MT"/>
              </a:rPr>
              <a:t>now a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reasonable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access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option.</a:t>
            </a:r>
            <a:endParaRPr sz="15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894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original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maximum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cable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length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for</a:t>
            </a:r>
            <a:endParaRPr sz="1400">
              <a:latin typeface="Arial MT"/>
              <a:cs typeface="Arial MT"/>
            </a:endParaRPr>
          </a:p>
          <a:p>
            <a:pPr marL="370205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Ethernet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was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one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kilometer.</a:t>
            </a:r>
            <a:endParaRPr sz="1400">
              <a:latin typeface="Arial MT"/>
              <a:cs typeface="Arial MT"/>
            </a:endParaRPr>
          </a:p>
          <a:p>
            <a:pPr algn="just" lvl="1" marL="370205" marR="40640" indent="-16954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With </a:t>
            </a:r>
            <a:r>
              <a:rPr dirty="0" sz="1400" spc="-5">
                <a:latin typeface="Arial MT"/>
                <a:cs typeface="Arial MT"/>
              </a:rPr>
              <a:t>fiber-optic cable,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maximum length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is </a:t>
            </a:r>
            <a:r>
              <a:rPr dirty="0" sz="1400">
                <a:latin typeface="Arial MT"/>
                <a:cs typeface="Arial MT"/>
              </a:rPr>
              <a:t>5 km </a:t>
            </a:r>
            <a:r>
              <a:rPr dirty="0" sz="1400" spc="-5">
                <a:latin typeface="Arial MT"/>
                <a:cs typeface="Arial MT"/>
              </a:rPr>
              <a:t>using </a:t>
            </a:r>
            <a:r>
              <a:rPr dirty="0" sz="1400">
                <a:latin typeface="Arial MT"/>
                <a:cs typeface="Arial MT"/>
              </a:rPr>
              <a:t>IEEE </a:t>
            </a:r>
            <a:r>
              <a:rPr dirty="0" sz="1400" spc="-5">
                <a:latin typeface="Arial MT"/>
                <a:cs typeface="Arial MT"/>
              </a:rPr>
              <a:t>10000Base-LX, and 70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km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using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IEEE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1000BASE-ZX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standards.</a:t>
            </a:r>
            <a:endParaRPr sz="1400">
              <a:latin typeface="Arial MT"/>
              <a:cs typeface="Arial MT"/>
            </a:endParaRPr>
          </a:p>
          <a:p>
            <a:pPr marL="181610" marR="13335" indent="-169545">
              <a:lnSpc>
                <a:spcPct val="100000"/>
              </a:lnSpc>
              <a:spcBef>
                <a:spcPts val="9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Service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providers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now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offer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Ethernet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 </a:t>
            </a:r>
            <a:r>
              <a:rPr dirty="0" sz="1500">
                <a:latin typeface="Arial MT"/>
                <a:cs typeface="Arial MT"/>
              </a:rPr>
              <a:t>using fiber-optic </a:t>
            </a:r>
            <a:r>
              <a:rPr dirty="0" sz="1500" spc="-5">
                <a:latin typeface="Arial MT"/>
                <a:cs typeface="Arial MT"/>
              </a:rPr>
              <a:t>cabling which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provide several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benefits:</a:t>
            </a:r>
            <a:endParaRPr sz="15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894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Reduced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expenses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administration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Easy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integration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with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existing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networks</a:t>
            </a:r>
            <a:endParaRPr sz="1400">
              <a:latin typeface="Arial MT"/>
              <a:cs typeface="Arial MT"/>
            </a:endParaRPr>
          </a:p>
          <a:p>
            <a:pPr lvl="1" marL="370840" indent="-16954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Enhanced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business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productivity</a:t>
            </a:r>
            <a:endParaRPr sz="1400">
              <a:latin typeface="Arial MT"/>
              <a:cs typeface="Arial MT"/>
            </a:endParaRPr>
          </a:p>
          <a:p>
            <a:pPr marL="181610" marR="41910" indent="-169545">
              <a:lnSpc>
                <a:spcPct val="100000"/>
              </a:lnSpc>
              <a:spcBef>
                <a:spcPts val="9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Ethernet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WANs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commonly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being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used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replace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Frame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Relay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95">
                <a:latin typeface="Arial MT"/>
                <a:cs typeface="Arial MT"/>
              </a:rPr>
              <a:t> </a:t>
            </a:r>
            <a:r>
              <a:rPr dirty="0" sz="1500" spc="-40">
                <a:latin typeface="Arial MT"/>
                <a:cs typeface="Arial MT"/>
              </a:rPr>
              <a:t>ATM</a:t>
            </a:r>
            <a:r>
              <a:rPr dirty="0" sz="1500" spc="-10">
                <a:latin typeface="Arial MT"/>
                <a:cs typeface="Arial MT"/>
              </a:rPr>
              <a:t> WAN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027" y="765048"/>
            <a:ext cx="4448556" cy="38663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05196" y="4461855"/>
            <a:ext cx="461645" cy="238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 sz="1500" spc="-5">
                <a:latin typeface="Arial MT"/>
                <a:cs typeface="Arial MT"/>
              </a:rPr>
              <a:t>l</a:t>
            </a:r>
            <a:r>
              <a:rPr dirty="0" sz="1500">
                <a:latin typeface="Arial MT"/>
                <a:cs typeface="Arial MT"/>
              </a:rPr>
              <a:t>inks.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53301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Private</a:t>
            </a:r>
            <a:r>
              <a:rPr dirty="0" sz="1600" spc="-15"/>
              <a:t> </a:t>
            </a:r>
            <a:r>
              <a:rPr dirty="0" sz="1600" spc="-25"/>
              <a:t>WAN</a:t>
            </a:r>
            <a:r>
              <a:rPr dirty="0" sz="1600" spc="-15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MPLS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6616" y="221056"/>
            <a:ext cx="3712845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Multiprotocol Label </a:t>
            </a:r>
            <a:r>
              <a:rPr dirty="0" sz="1500" spc="-5">
                <a:latin typeface="Arial MT"/>
                <a:cs typeface="Arial MT"/>
              </a:rPr>
              <a:t>Switching (MPLS) is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multiprotocol high-performance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technology that directs data from one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router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next.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6616" y="1250137"/>
            <a:ext cx="3783329" cy="2366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0840" indent="-169545">
              <a:lnSpc>
                <a:spcPct val="100000"/>
              </a:lnSpc>
              <a:spcBef>
                <a:spcPts val="9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300" spc="-10">
                <a:latin typeface="Arial MT"/>
                <a:cs typeface="Arial MT"/>
              </a:rPr>
              <a:t>MPLS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is</a:t>
            </a:r>
            <a:r>
              <a:rPr dirty="0" sz="1300" spc="-10">
                <a:latin typeface="Arial MT"/>
                <a:cs typeface="Arial MT"/>
              </a:rPr>
              <a:t> based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on</a:t>
            </a:r>
            <a:r>
              <a:rPr dirty="0" sz="130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short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path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labels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rather</a:t>
            </a:r>
            <a:endParaRPr sz="1300">
              <a:latin typeface="Arial MT"/>
              <a:cs typeface="Arial MT"/>
            </a:endParaRPr>
          </a:p>
          <a:p>
            <a:pPr marL="370840">
              <a:lnSpc>
                <a:spcPct val="100000"/>
              </a:lnSpc>
              <a:spcBef>
                <a:spcPts val="5"/>
              </a:spcBef>
            </a:pPr>
            <a:r>
              <a:rPr dirty="0" sz="1300" spc="-5">
                <a:latin typeface="Arial MT"/>
                <a:cs typeface="Arial MT"/>
              </a:rPr>
              <a:t>than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IP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network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addresses.</a:t>
            </a:r>
            <a:endParaRPr sz="1300">
              <a:latin typeface="Arial MT"/>
              <a:cs typeface="Arial MT"/>
            </a:endParaRPr>
          </a:p>
          <a:p>
            <a:pPr marL="370840" marR="69215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300" spc="-5">
                <a:latin typeface="Arial MT"/>
                <a:cs typeface="Arial MT"/>
              </a:rPr>
              <a:t>It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is</a:t>
            </a:r>
            <a:r>
              <a:rPr dirty="0" sz="130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called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Multiprotocol</a:t>
            </a:r>
            <a:r>
              <a:rPr dirty="0" sz="1300" spc="5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since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it</a:t>
            </a:r>
            <a:r>
              <a:rPr dirty="0" sz="130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has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the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ability </a:t>
            </a:r>
            <a:r>
              <a:rPr dirty="0" sz="1300" spc="-34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to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carry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any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payload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including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IPv4,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IPv6, </a:t>
            </a:r>
            <a:r>
              <a:rPr dirty="0" sz="1300" spc="-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Ethernet,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30">
                <a:latin typeface="Arial MT"/>
                <a:cs typeface="Arial MT"/>
              </a:rPr>
              <a:t>ATM,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DSL,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and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Frame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Relay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traffic.</a:t>
            </a:r>
            <a:endParaRPr sz="1300">
              <a:latin typeface="Arial MT"/>
              <a:cs typeface="Arial MT"/>
            </a:endParaRPr>
          </a:p>
          <a:p>
            <a:pPr marL="37084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300" spc="-5">
                <a:latin typeface="Arial MT"/>
                <a:cs typeface="Arial MT"/>
              </a:rPr>
              <a:t>It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uses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labels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which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tell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the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router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what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to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do</a:t>
            </a:r>
            <a:endParaRPr sz="1300">
              <a:latin typeface="Arial MT"/>
              <a:cs typeface="Arial MT"/>
            </a:endParaRPr>
          </a:p>
          <a:p>
            <a:pPr marL="370840">
              <a:lnSpc>
                <a:spcPct val="100000"/>
              </a:lnSpc>
            </a:pPr>
            <a:r>
              <a:rPr dirty="0" sz="1300" spc="-10">
                <a:latin typeface="Arial MT"/>
                <a:cs typeface="Arial MT"/>
              </a:rPr>
              <a:t>with</a:t>
            </a:r>
            <a:r>
              <a:rPr dirty="0" sz="1300" spc="-5">
                <a:latin typeface="Arial MT"/>
                <a:cs typeface="Arial MT"/>
              </a:rPr>
              <a:t> a</a:t>
            </a:r>
            <a:r>
              <a:rPr dirty="0" sz="1300" spc="-1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packet.</a:t>
            </a:r>
            <a:endParaRPr sz="1300">
              <a:latin typeface="Arial MT"/>
              <a:cs typeface="Arial MT"/>
            </a:endParaRPr>
          </a:p>
          <a:p>
            <a:pPr algn="just" marL="181610" marR="5080" indent="-169545">
              <a:lnSpc>
                <a:spcPct val="100000"/>
              </a:lnSpc>
              <a:spcBef>
                <a:spcPts val="9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Notice in </a:t>
            </a:r>
            <a:r>
              <a:rPr dirty="0" sz="1500">
                <a:latin typeface="Arial MT"/>
                <a:cs typeface="Arial MT"/>
              </a:rPr>
              <a:t>the figure to the left that </a:t>
            </a:r>
            <a:r>
              <a:rPr dirty="0" sz="1500" spc="-5">
                <a:latin typeface="Arial MT"/>
                <a:cs typeface="Arial MT"/>
              </a:rPr>
              <a:t>different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sites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can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MPLS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cloud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using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different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access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technologies.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6616" y="3743045"/>
            <a:ext cx="3751579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MPLS </a:t>
            </a:r>
            <a:r>
              <a:rPr dirty="0" sz="1500">
                <a:latin typeface="Arial MT"/>
                <a:cs typeface="Arial MT"/>
              </a:rPr>
              <a:t>can support a </a:t>
            </a:r>
            <a:r>
              <a:rPr dirty="0" sz="1500" spc="-5">
                <a:latin typeface="Arial MT"/>
                <a:cs typeface="Arial MT"/>
              </a:rPr>
              <a:t>wide </a:t>
            </a:r>
            <a:r>
              <a:rPr dirty="0" sz="1500">
                <a:latin typeface="Arial MT"/>
                <a:cs typeface="Arial MT"/>
              </a:rPr>
              <a:t>range of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technologies including </a:t>
            </a:r>
            <a:r>
              <a:rPr dirty="0" sz="1500" spc="-10">
                <a:latin typeface="Arial MT"/>
                <a:cs typeface="Arial MT"/>
              </a:rPr>
              <a:t>T-carrier </a:t>
            </a:r>
            <a:r>
              <a:rPr dirty="0" sz="1500">
                <a:latin typeface="Arial MT"/>
                <a:cs typeface="Arial MT"/>
              </a:rPr>
              <a:t>/ E-carrier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</a:t>
            </a:r>
            <a:r>
              <a:rPr dirty="0" sz="1500">
                <a:latin typeface="Arial MT"/>
                <a:cs typeface="Arial MT"/>
              </a:rPr>
              <a:t>inks,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Ca</a:t>
            </a:r>
            <a:r>
              <a:rPr dirty="0" sz="1500" spc="5">
                <a:latin typeface="Arial MT"/>
                <a:cs typeface="Arial MT"/>
              </a:rPr>
              <a:t>r</a:t>
            </a:r>
            <a:r>
              <a:rPr dirty="0" sz="1500">
                <a:latin typeface="Arial MT"/>
                <a:cs typeface="Arial MT"/>
              </a:rPr>
              <a:t>r</a:t>
            </a:r>
            <a:r>
              <a:rPr dirty="0" sz="1500" spc="5">
                <a:latin typeface="Arial MT"/>
                <a:cs typeface="Arial MT"/>
              </a:rPr>
              <a:t>i</a:t>
            </a:r>
            <a:r>
              <a:rPr dirty="0" sz="1500">
                <a:latin typeface="Arial MT"/>
                <a:cs typeface="Arial MT"/>
              </a:rPr>
              <a:t>er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E</a:t>
            </a:r>
            <a:r>
              <a:rPr dirty="0" sz="1500">
                <a:latin typeface="Arial MT"/>
                <a:cs typeface="Arial MT"/>
              </a:rPr>
              <a:t>t</a:t>
            </a:r>
            <a:r>
              <a:rPr dirty="0" sz="1500" spc="5">
                <a:latin typeface="Arial MT"/>
                <a:cs typeface="Arial MT"/>
              </a:rPr>
              <a:t>h</a:t>
            </a:r>
            <a:r>
              <a:rPr dirty="0" sz="1500">
                <a:latin typeface="Arial MT"/>
                <a:cs typeface="Arial MT"/>
              </a:rPr>
              <a:t>er</a:t>
            </a:r>
            <a:r>
              <a:rPr dirty="0" sz="1500" spc="5">
                <a:latin typeface="Arial MT"/>
                <a:cs typeface="Arial MT"/>
              </a:rPr>
              <a:t>n</a:t>
            </a:r>
            <a:r>
              <a:rPr dirty="0" sz="1500">
                <a:latin typeface="Arial MT"/>
                <a:cs typeface="Arial MT"/>
              </a:rPr>
              <a:t>et,</a:t>
            </a:r>
            <a:r>
              <a:rPr dirty="0" sz="1500" spc="-114">
                <a:latin typeface="Arial MT"/>
                <a:cs typeface="Arial MT"/>
              </a:rPr>
              <a:t> A</a:t>
            </a:r>
            <a:r>
              <a:rPr dirty="0" sz="1500" spc="-5">
                <a:latin typeface="Arial MT"/>
                <a:cs typeface="Arial MT"/>
              </a:rPr>
              <a:t>T</a:t>
            </a:r>
            <a:r>
              <a:rPr dirty="0" sz="1500">
                <a:latin typeface="Arial MT"/>
                <a:cs typeface="Arial MT"/>
              </a:rPr>
              <a:t>M,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F</a:t>
            </a:r>
            <a:r>
              <a:rPr dirty="0" sz="1500">
                <a:latin typeface="Arial MT"/>
                <a:cs typeface="Arial MT"/>
              </a:rPr>
              <a:t>r</a:t>
            </a:r>
            <a:r>
              <a:rPr dirty="0" sz="1500" spc="5">
                <a:latin typeface="Arial MT"/>
                <a:cs typeface="Arial MT"/>
              </a:rPr>
              <a:t>a</a:t>
            </a:r>
            <a:r>
              <a:rPr dirty="0" sz="1500">
                <a:latin typeface="Arial MT"/>
                <a:cs typeface="Arial MT"/>
              </a:rPr>
              <a:t>me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Re</a:t>
            </a:r>
            <a:r>
              <a:rPr dirty="0" sz="1500">
                <a:latin typeface="Arial MT"/>
                <a:cs typeface="Arial MT"/>
              </a:rPr>
              <a:t>la</a:t>
            </a:r>
            <a:r>
              <a:rPr dirty="0" sz="1500" spc="-130">
                <a:latin typeface="Arial MT"/>
                <a:cs typeface="Arial MT"/>
              </a:rPr>
              <a:t>y</a:t>
            </a:r>
            <a:r>
              <a:rPr dirty="0" sz="1500">
                <a:latin typeface="Arial MT"/>
                <a:cs typeface="Arial MT"/>
              </a:rPr>
              <a:t>,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44" y="982980"/>
            <a:ext cx="4669536" cy="26822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8818" y="3880205"/>
            <a:ext cx="41306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95"/>
              </a:spcBef>
              <a:buClr>
                <a:srgbClr val="57575B"/>
              </a:buClr>
              <a:buSzPct val="88461"/>
              <a:buFont typeface="Wingdings"/>
              <a:buChar char=""/>
              <a:tabLst>
                <a:tab pos="182245" algn="l"/>
              </a:tabLst>
            </a:pPr>
            <a:r>
              <a:rPr dirty="0" sz="1300" spc="-10">
                <a:latin typeface="Arial MT"/>
                <a:cs typeface="Arial MT"/>
              </a:rPr>
              <a:t>MPLS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is</a:t>
            </a:r>
            <a:r>
              <a:rPr dirty="0" sz="130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primarily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 spc="-5">
                <a:latin typeface="Arial MT"/>
                <a:cs typeface="Arial MT"/>
              </a:rPr>
              <a:t>a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service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provider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WAN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 spc="-15">
                <a:latin typeface="Arial MT"/>
                <a:cs typeface="Arial MT"/>
              </a:rPr>
              <a:t>technology.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5780" y="4446890"/>
            <a:ext cx="819785" cy="238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DSL.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28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533015" cy="269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/>
              <a:t>Private</a:t>
            </a:r>
            <a:r>
              <a:rPr dirty="0" sz="1600" spc="-15"/>
              <a:t> </a:t>
            </a:r>
            <a:r>
              <a:rPr dirty="0" sz="1600" spc="-25"/>
              <a:t>WAN</a:t>
            </a:r>
            <a:r>
              <a:rPr dirty="0" sz="1600" spc="-15"/>
              <a:t> </a:t>
            </a:r>
            <a:r>
              <a:rPr dirty="0" sz="1600" spc="-5"/>
              <a:t>Infrastructures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78739" y="338709"/>
            <a:ext cx="7969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367086"/>
                </a:solidFill>
                <a:latin typeface="Arial MT"/>
                <a:cs typeface="Arial MT"/>
              </a:rPr>
              <a:t>V</a:t>
            </a:r>
            <a:r>
              <a:rPr dirty="0" sz="2400" spc="-10">
                <a:solidFill>
                  <a:srgbClr val="367086"/>
                </a:solidFill>
                <a:latin typeface="Arial MT"/>
                <a:cs typeface="Arial MT"/>
              </a:rPr>
              <a:t>S</a:t>
            </a:r>
            <a:r>
              <a:rPr dirty="0" sz="2400" spc="-185">
                <a:solidFill>
                  <a:srgbClr val="367086"/>
                </a:solidFill>
                <a:latin typeface="Arial MT"/>
                <a:cs typeface="Arial MT"/>
              </a:rPr>
              <a:t>A</a:t>
            </a:r>
            <a:r>
              <a:rPr dirty="0" sz="2400">
                <a:solidFill>
                  <a:srgbClr val="367086"/>
                </a:solidFill>
                <a:latin typeface="Arial MT"/>
                <a:cs typeface="Arial MT"/>
              </a:rPr>
              <a:t>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6033" y="599059"/>
            <a:ext cx="3807460" cy="406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1206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All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private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technologies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discussed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so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far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used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either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copper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or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fiber-optic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media.</a:t>
            </a:r>
            <a:endParaRPr sz="1500">
              <a:latin typeface="Arial MT"/>
              <a:cs typeface="Arial MT"/>
            </a:endParaRPr>
          </a:p>
          <a:p>
            <a:pPr marL="181610" marR="29464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5">
                <a:latin typeface="Arial MT"/>
                <a:cs typeface="Arial MT"/>
              </a:rPr>
              <a:t>What </a:t>
            </a:r>
            <a:r>
              <a:rPr dirty="0" sz="1500" spc="-5">
                <a:latin typeface="Arial MT"/>
                <a:cs typeface="Arial MT"/>
              </a:rPr>
              <a:t>if </a:t>
            </a:r>
            <a:r>
              <a:rPr dirty="0" sz="1500">
                <a:latin typeface="Arial MT"/>
                <a:cs typeface="Arial MT"/>
              </a:rPr>
              <a:t>an organization needed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connectivity </a:t>
            </a:r>
            <a:r>
              <a:rPr dirty="0" sz="1500">
                <a:latin typeface="Arial MT"/>
                <a:cs typeface="Arial MT"/>
              </a:rPr>
              <a:t>in a remote location </a:t>
            </a:r>
            <a:r>
              <a:rPr dirty="0" sz="1500" spc="-5">
                <a:latin typeface="Arial MT"/>
                <a:cs typeface="Arial MT"/>
              </a:rPr>
              <a:t>where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there are no </a:t>
            </a:r>
            <a:r>
              <a:rPr dirty="0" sz="1500" spc="-5">
                <a:latin typeface="Arial MT"/>
                <a:cs typeface="Arial MT"/>
              </a:rPr>
              <a:t>service providers </a:t>
            </a:r>
            <a:r>
              <a:rPr dirty="0" sz="1500">
                <a:latin typeface="Arial MT"/>
                <a:cs typeface="Arial MT"/>
              </a:rPr>
              <a:t>that </a:t>
            </a:r>
            <a:r>
              <a:rPr dirty="0" sz="1500" spc="-5">
                <a:latin typeface="Arial MT"/>
                <a:cs typeface="Arial MT"/>
              </a:rPr>
              <a:t>offer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service?</a:t>
            </a:r>
            <a:endParaRPr sz="1500">
              <a:latin typeface="Arial MT"/>
              <a:cs typeface="Arial MT"/>
            </a:endParaRPr>
          </a:p>
          <a:p>
            <a:pPr marL="181610" marR="130175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25">
                <a:latin typeface="Arial MT"/>
                <a:cs typeface="Arial MT"/>
              </a:rPr>
              <a:t>Very </a:t>
            </a:r>
            <a:r>
              <a:rPr dirty="0" sz="1500" spc="-5">
                <a:latin typeface="Arial MT"/>
                <a:cs typeface="Arial MT"/>
              </a:rPr>
              <a:t>small </a:t>
            </a:r>
            <a:r>
              <a:rPr dirty="0" sz="1500">
                <a:latin typeface="Arial MT"/>
                <a:cs typeface="Arial MT"/>
              </a:rPr>
              <a:t>aperture terminal </a:t>
            </a:r>
            <a:r>
              <a:rPr dirty="0" sz="1500" spc="-25">
                <a:latin typeface="Arial MT"/>
                <a:cs typeface="Arial MT"/>
              </a:rPr>
              <a:t>(VSAT) </a:t>
            </a:r>
            <a:r>
              <a:rPr dirty="0" sz="1500" spc="-5">
                <a:latin typeface="Arial MT"/>
                <a:cs typeface="Arial MT"/>
              </a:rPr>
              <a:t>is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solution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that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creates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private </a:t>
            </a:r>
            <a:r>
              <a:rPr dirty="0" sz="1500" spc="-10">
                <a:latin typeface="Arial MT"/>
                <a:cs typeface="Arial MT"/>
              </a:rPr>
              <a:t>WAN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using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satellite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communications.</a:t>
            </a:r>
            <a:endParaRPr sz="1500">
              <a:latin typeface="Arial MT"/>
              <a:cs typeface="Arial MT"/>
            </a:endParaRPr>
          </a:p>
          <a:p>
            <a:pPr marL="181610" marR="34417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95">
                <a:latin typeface="Arial MT"/>
                <a:cs typeface="Arial MT"/>
              </a:rPr>
              <a:t> </a:t>
            </a:r>
            <a:r>
              <a:rPr dirty="0" sz="1500" spc="-35">
                <a:latin typeface="Arial MT"/>
                <a:cs typeface="Arial MT"/>
              </a:rPr>
              <a:t>VSAT </a:t>
            </a:r>
            <a:r>
              <a:rPr dirty="0" sz="1500">
                <a:latin typeface="Arial MT"/>
                <a:cs typeface="Arial MT"/>
              </a:rPr>
              <a:t>is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small satellite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dish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used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create a </a:t>
            </a:r>
            <a:r>
              <a:rPr dirty="0" sz="1500" spc="-5">
                <a:latin typeface="Arial MT"/>
                <a:cs typeface="Arial MT"/>
              </a:rPr>
              <a:t>private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>
                <a:latin typeface="Arial MT"/>
                <a:cs typeface="Arial MT"/>
              </a:rPr>
              <a:t>that </a:t>
            </a:r>
            <a:r>
              <a:rPr dirty="0" sz="1500" spc="-5">
                <a:latin typeface="Arial MT"/>
                <a:cs typeface="Arial MT"/>
              </a:rPr>
              <a:t>provides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connectivity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remote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locations.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 </a:t>
            </a:r>
            <a:r>
              <a:rPr dirty="0" sz="1500">
                <a:latin typeface="Arial MT"/>
                <a:cs typeface="Arial MT"/>
              </a:rPr>
              <a:t>satellite </a:t>
            </a:r>
            <a:r>
              <a:rPr dirty="0" sz="1500" spc="-5">
                <a:latin typeface="Arial MT"/>
                <a:cs typeface="Arial MT"/>
              </a:rPr>
              <a:t>is in </a:t>
            </a:r>
            <a:r>
              <a:rPr dirty="0" sz="1500">
                <a:latin typeface="Arial MT"/>
                <a:cs typeface="Arial MT"/>
              </a:rPr>
              <a:t>geosynchronous orbit </a:t>
            </a:r>
            <a:r>
              <a:rPr dirty="0" sz="1500" spc="-5">
                <a:latin typeface="Arial MT"/>
                <a:cs typeface="Arial MT"/>
              </a:rPr>
              <a:t>in </a:t>
            </a:r>
            <a:r>
              <a:rPr dirty="0" sz="1500">
                <a:latin typeface="Arial MT"/>
                <a:cs typeface="Arial MT"/>
              </a:rPr>
              <a:t> space.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The signals travel approximately </a:t>
            </a:r>
            <a:r>
              <a:rPr dirty="0" sz="1500">
                <a:latin typeface="Arial MT"/>
                <a:cs typeface="Arial MT"/>
              </a:rPr>
              <a:t> 35,786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kilometers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satellite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back.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608" y="798576"/>
            <a:ext cx="3918204" cy="372465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73516" y="4769515"/>
            <a:ext cx="111125" cy="11112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600">
                <a:solidFill>
                  <a:srgbClr val="D9D9D9"/>
                </a:solidFill>
                <a:latin typeface="Arial MT"/>
                <a:cs typeface="Arial MT"/>
              </a:rPr>
              <a:t>29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45237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Public</a:t>
            </a:r>
            <a:r>
              <a:rPr dirty="0" sz="1600" spc="-25"/>
              <a:t> WAN</a:t>
            </a:r>
            <a:r>
              <a:rPr dirty="0" sz="1600" spc="-10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10"/>
              <a:t>DSL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9853" y="272034"/>
            <a:ext cx="3880485" cy="429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DSL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always-on</a:t>
            </a:r>
            <a:r>
              <a:rPr dirty="0" sz="1500">
                <a:latin typeface="Arial MT"/>
                <a:cs typeface="Arial MT"/>
              </a:rPr>
              <a:t> connection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technology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that uses </a:t>
            </a:r>
            <a:r>
              <a:rPr dirty="0" sz="1500" spc="-5">
                <a:latin typeface="Arial MT"/>
                <a:cs typeface="Arial MT"/>
              </a:rPr>
              <a:t>existing </a:t>
            </a:r>
            <a:r>
              <a:rPr dirty="0" sz="1500">
                <a:latin typeface="Arial MT"/>
                <a:cs typeface="Arial MT"/>
              </a:rPr>
              <a:t>twisted-pair telephone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lines </a:t>
            </a:r>
            <a:r>
              <a:rPr dirty="0" sz="1500">
                <a:latin typeface="Arial MT"/>
                <a:cs typeface="Arial MT"/>
              </a:rPr>
              <a:t>to transport high-bandwidth data, and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provides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IP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subscribers.</a:t>
            </a:r>
            <a:endParaRPr sz="1500">
              <a:latin typeface="Arial MT"/>
              <a:cs typeface="Arial MT"/>
            </a:endParaRPr>
          </a:p>
          <a:p>
            <a:pPr marL="181610" marR="698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5">
                <a:latin typeface="Arial MT"/>
                <a:cs typeface="Arial MT"/>
              </a:rPr>
              <a:t>DSL </a:t>
            </a:r>
            <a:r>
              <a:rPr dirty="0" sz="1500">
                <a:latin typeface="Arial MT"/>
                <a:cs typeface="Arial MT"/>
              </a:rPr>
              <a:t>modem </a:t>
            </a:r>
            <a:r>
              <a:rPr dirty="0" sz="1500" spc="-5">
                <a:latin typeface="Arial MT"/>
                <a:cs typeface="Arial MT"/>
              </a:rPr>
              <a:t>is </a:t>
            </a:r>
            <a:r>
              <a:rPr dirty="0" sz="1500">
                <a:latin typeface="Arial MT"/>
                <a:cs typeface="Arial MT"/>
              </a:rPr>
              <a:t>required </a:t>
            </a:r>
            <a:r>
              <a:rPr dirty="0" sz="1500" spc="-5">
                <a:latin typeface="Arial MT"/>
                <a:cs typeface="Arial MT"/>
              </a:rPr>
              <a:t>which converts </a:t>
            </a:r>
            <a:r>
              <a:rPr dirty="0" sz="1500">
                <a:latin typeface="Arial MT"/>
                <a:cs typeface="Arial MT"/>
              </a:rPr>
              <a:t> an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Ethernet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signal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from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user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device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DSL </a:t>
            </a:r>
            <a:r>
              <a:rPr dirty="0" sz="1500">
                <a:latin typeface="Arial MT"/>
                <a:cs typeface="Arial MT"/>
              </a:rPr>
              <a:t>signal, </a:t>
            </a:r>
            <a:r>
              <a:rPr dirty="0" sz="1500" spc="-5">
                <a:latin typeface="Arial MT"/>
                <a:cs typeface="Arial MT"/>
              </a:rPr>
              <a:t>which is </a:t>
            </a:r>
            <a:r>
              <a:rPr dirty="0" sz="1500">
                <a:latin typeface="Arial MT"/>
                <a:cs typeface="Arial MT"/>
              </a:rPr>
              <a:t>transmitted to the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central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office.</a:t>
            </a:r>
            <a:endParaRPr sz="1500">
              <a:latin typeface="Arial MT"/>
              <a:cs typeface="Arial MT"/>
            </a:endParaRPr>
          </a:p>
          <a:p>
            <a:pPr marL="181610" marR="13525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Multiple DSL </a:t>
            </a:r>
            <a:r>
              <a:rPr dirty="0" sz="1500">
                <a:latin typeface="Arial MT"/>
                <a:cs typeface="Arial MT"/>
              </a:rPr>
              <a:t>subscriber </a:t>
            </a:r>
            <a:r>
              <a:rPr dirty="0" sz="1500" spc="-5">
                <a:latin typeface="Arial MT"/>
                <a:cs typeface="Arial MT"/>
              </a:rPr>
              <a:t>lines </a:t>
            </a:r>
            <a:r>
              <a:rPr dirty="0" sz="1500">
                <a:latin typeface="Arial MT"/>
                <a:cs typeface="Arial MT"/>
              </a:rPr>
              <a:t>are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multiplexed </a:t>
            </a:r>
            <a:r>
              <a:rPr dirty="0" sz="1500">
                <a:latin typeface="Arial MT"/>
                <a:cs typeface="Arial MT"/>
              </a:rPr>
              <a:t>into a </a:t>
            </a:r>
            <a:r>
              <a:rPr dirty="0" sz="1500" spc="-5">
                <a:latin typeface="Arial MT"/>
                <a:cs typeface="Arial MT"/>
              </a:rPr>
              <a:t>single </a:t>
            </a:r>
            <a:r>
              <a:rPr dirty="0" sz="1500">
                <a:latin typeface="Arial MT"/>
                <a:cs typeface="Arial MT"/>
              </a:rPr>
              <a:t>high-capacity </a:t>
            </a:r>
            <a:r>
              <a:rPr dirty="0" sz="1500" spc="-5">
                <a:latin typeface="Arial MT"/>
                <a:cs typeface="Arial MT"/>
              </a:rPr>
              <a:t>link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using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5">
                <a:latin typeface="Arial MT"/>
                <a:cs typeface="Arial MT"/>
              </a:rPr>
              <a:t> DSLAM </a:t>
            </a:r>
            <a:r>
              <a:rPr dirty="0" sz="1500">
                <a:latin typeface="Arial MT"/>
                <a:cs typeface="Arial MT"/>
              </a:rPr>
              <a:t>at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provider</a:t>
            </a:r>
            <a:r>
              <a:rPr dirty="0" sz="1500">
                <a:latin typeface="Arial MT"/>
                <a:cs typeface="Arial MT"/>
              </a:rPr>
              <a:t> location.</a:t>
            </a:r>
            <a:endParaRPr sz="1500">
              <a:latin typeface="Arial MT"/>
              <a:cs typeface="Arial MT"/>
            </a:endParaRPr>
          </a:p>
          <a:p>
            <a:pPr marL="18161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DSL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is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popular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choice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IT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departments</a:t>
            </a:r>
            <a:endParaRPr sz="1500">
              <a:latin typeface="Arial MT"/>
              <a:cs typeface="Arial MT"/>
            </a:endParaRPr>
          </a:p>
          <a:p>
            <a:pPr marL="181610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support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home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workers.</a:t>
            </a:r>
            <a:endParaRPr sz="1500">
              <a:latin typeface="Arial MT"/>
              <a:cs typeface="Arial MT"/>
            </a:endParaRPr>
          </a:p>
          <a:p>
            <a:pPr marL="181610" marR="5969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 subscriber must first connect to an ISP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then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IP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made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through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Internet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enterprise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28" y="1008888"/>
            <a:ext cx="4570476" cy="33284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45237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Public</a:t>
            </a:r>
            <a:r>
              <a:rPr dirty="0" sz="1600" spc="-25"/>
              <a:t> WAN</a:t>
            </a:r>
            <a:r>
              <a:rPr dirty="0" sz="1600" spc="-10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10"/>
              <a:t>Cable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7938" y="272034"/>
            <a:ext cx="3937000" cy="4370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13081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Network </a:t>
            </a:r>
            <a:r>
              <a:rPr dirty="0" sz="1500">
                <a:latin typeface="Arial MT"/>
                <a:cs typeface="Arial MT"/>
              </a:rPr>
              <a:t>access </a:t>
            </a:r>
            <a:r>
              <a:rPr dirty="0" sz="1500" spc="-5">
                <a:latin typeface="Arial MT"/>
                <a:cs typeface="Arial MT"/>
              </a:rPr>
              <a:t>is available </a:t>
            </a:r>
            <a:r>
              <a:rPr dirty="0" sz="1500">
                <a:latin typeface="Arial MT"/>
                <a:cs typeface="Arial MT"/>
              </a:rPr>
              <a:t>from many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cable television providers </a:t>
            </a:r>
            <a:r>
              <a:rPr dirty="0" sz="1500">
                <a:latin typeface="Arial MT"/>
                <a:cs typeface="Arial MT"/>
              </a:rPr>
              <a:t>(using </a:t>
            </a:r>
            <a:r>
              <a:rPr dirty="0" sz="1500" spc="-5">
                <a:latin typeface="Arial MT"/>
                <a:cs typeface="Arial MT"/>
              </a:rPr>
              <a:t>coaxial </a:t>
            </a:r>
            <a:r>
              <a:rPr dirty="0" sz="1500">
                <a:latin typeface="Arial MT"/>
                <a:cs typeface="Arial MT"/>
              </a:rPr>
              <a:t> cable) </a:t>
            </a:r>
            <a:r>
              <a:rPr dirty="0" sz="1500" spc="-5">
                <a:latin typeface="Arial MT"/>
                <a:cs typeface="Arial MT"/>
              </a:rPr>
              <a:t>which allows </a:t>
            </a:r>
            <a:r>
              <a:rPr dirty="0" sz="1500">
                <a:latin typeface="Arial MT"/>
                <a:cs typeface="Arial MT"/>
              </a:rPr>
              <a:t>for greater </a:t>
            </a:r>
            <a:r>
              <a:rPr dirty="0" sz="1500" spc="-5">
                <a:latin typeface="Arial MT"/>
                <a:cs typeface="Arial MT"/>
              </a:rPr>
              <a:t>bandwidth </a:t>
            </a:r>
            <a:r>
              <a:rPr dirty="0" sz="1500">
                <a:latin typeface="Arial MT"/>
                <a:cs typeface="Arial MT"/>
              </a:rPr>
              <a:t> than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conventional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telephone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local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loop.</a:t>
            </a:r>
            <a:endParaRPr sz="1500">
              <a:latin typeface="Arial MT"/>
              <a:cs typeface="Arial MT"/>
            </a:endParaRPr>
          </a:p>
          <a:p>
            <a:pPr marL="181610" marR="60706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Cable </a:t>
            </a:r>
            <a:r>
              <a:rPr dirty="0" sz="1500">
                <a:latin typeface="Arial MT"/>
                <a:cs typeface="Arial MT"/>
              </a:rPr>
              <a:t>modems </a:t>
            </a:r>
            <a:r>
              <a:rPr dirty="0" sz="1500" spc="-5">
                <a:latin typeface="Arial MT"/>
                <a:cs typeface="Arial MT"/>
              </a:rPr>
              <a:t>provide </a:t>
            </a:r>
            <a:r>
              <a:rPr dirty="0" sz="1500">
                <a:latin typeface="Arial MT"/>
                <a:cs typeface="Arial MT"/>
              </a:rPr>
              <a:t>an always-on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simple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installation.</a:t>
            </a:r>
            <a:endParaRPr sz="1500">
              <a:latin typeface="Arial MT"/>
              <a:cs typeface="Arial MT"/>
            </a:endParaRPr>
          </a:p>
          <a:p>
            <a:pPr marL="181610" marR="4699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A subscriber connects a computer or a </a:t>
            </a:r>
            <a:r>
              <a:rPr dirty="0" sz="1500" spc="-5">
                <a:latin typeface="Arial MT"/>
                <a:cs typeface="Arial MT"/>
              </a:rPr>
              <a:t>LAN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router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cable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modem,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which </a:t>
            </a:r>
            <a:r>
              <a:rPr dirty="0" sz="1500">
                <a:latin typeface="Arial MT"/>
                <a:cs typeface="Arial MT"/>
              </a:rPr>
              <a:t>translates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5">
                <a:latin typeface="Arial MT"/>
                <a:cs typeface="Arial MT"/>
              </a:rPr>
              <a:t>digital signals </a:t>
            </a:r>
            <a:r>
              <a:rPr dirty="0" sz="1500">
                <a:latin typeface="Arial MT"/>
                <a:cs typeface="Arial MT"/>
              </a:rPr>
              <a:t>into broadband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frequencies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used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transmitting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on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cable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television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 </a:t>
            </a:r>
            <a:r>
              <a:rPr dirty="0" sz="1500">
                <a:latin typeface="Arial MT"/>
                <a:cs typeface="Arial MT"/>
              </a:rPr>
              <a:t>cable modem termination </a:t>
            </a:r>
            <a:r>
              <a:rPr dirty="0" sz="1500" spc="-5">
                <a:latin typeface="Arial MT"/>
                <a:cs typeface="Arial MT"/>
              </a:rPr>
              <a:t>system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(CMTS),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which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is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component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located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at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 local </a:t>
            </a:r>
            <a:r>
              <a:rPr dirty="0" sz="1500" spc="-5">
                <a:latin typeface="Arial MT"/>
                <a:cs typeface="Arial MT"/>
              </a:rPr>
              <a:t>cable TV office </a:t>
            </a:r>
            <a:r>
              <a:rPr dirty="0" sz="1500">
                <a:latin typeface="Arial MT"/>
                <a:cs typeface="Arial MT"/>
              </a:rPr>
              <a:t>(headend), sends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 </a:t>
            </a:r>
            <a:r>
              <a:rPr dirty="0" sz="1500" spc="-5">
                <a:latin typeface="Arial MT"/>
                <a:cs typeface="Arial MT"/>
              </a:rPr>
              <a:t>receives digital cable </a:t>
            </a:r>
            <a:r>
              <a:rPr dirty="0" sz="1500">
                <a:latin typeface="Arial MT"/>
                <a:cs typeface="Arial MT"/>
              </a:rPr>
              <a:t>modem </a:t>
            </a:r>
            <a:r>
              <a:rPr dirty="0" sz="1500" spc="-5">
                <a:latin typeface="Arial MT"/>
                <a:cs typeface="Arial MT"/>
              </a:rPr>
              <a:t>signals </a:t>
            </a:r>
            <a:r>
              <a:rPr dirty="0" sz="1500">
                <a:latin typeface="Arial MT"/>
                <a:cs typeface="Arial MT"/>
              </a:rPr>
              <a:t>on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5">
                <a:latin typeface="Arial MT"/>
                <a:cs typeface="Arial MT"/>
              </a:rPr>
              <a:t>cable network </a:t>
            </a:r>
            <a:r>
              <a:rPr dirty="0" sz="1500">
                <a:latin typeface="Arial MT"/>
                <a:cs typeface="Arial MT"/>
              </a:rPr>
              <a:t>and </a:t>
            </a:r>
            <a:r>
              <a:rPr dirty="0" sz="1500" spc="-5">
                <a:latin typeface="Arial MT"/>
                <a:cs typeface="Arial MT"/>
              </a:rPr>
              <a:t>is </a:t>
            </a:r>
            <a:r>
              <a:rPr dirty="0" sz="1500">
                <a:latin typeface="Arial MT"/>
                <a:cs typeface="Arial MT"/>
              </a:rPr>
              <a:t>necessary for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providing</a:t>
            </a:r>
            <a:r>
              <a:rPr dirty="0" sz="1500">
                <a:latin typeface="Arial MT"/>
                <a:cs typeface="Arial MT"/>
              </a:rPr>
              <a:t> Internet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services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subscribers.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47" y="798576"/>
            <a:ext cx="4602480" cy="35631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45237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Public</a:t>
            </a:r>
            <a:r>
              <a:rPr dirty="0" sz="1600" spc="-25"/>
              <a:t> WAN</a:t>
            </a:r>
            <a:r>
              <a:rPr dirty="0" sz="1600" spc="-10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Wireless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1890" y="272034"/>
            <a:ext cx="3753485" cy="4361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Until </a:t>
            </a:r>
            <a:r>
              <a:rPr dirty="0" sz="1500" spc="-15">
                <a:latin typeface="Arial MT"/>
                <a:cs typeface="Arial MT"/>
              </a:rPr>
              <a:t>recently, </a:t>
            </a:r>
            <a:r>
              <a:rPr dirty="0" sz="1500">
                <a:latin typeface="Arial MT"/>
                <a:cs typeface="Arial MT"/>
              </a:rPr>
              <a:t>one limitation of </a:t>
            </a:r>
            <a:r>
              <a:rPr dirty="0" sz="1500" spc="-5">
                <a:latin typeface="Arial MT"/>
                <a:cs typeface="Arial MT"/>
              </a:rPr>
              <a:t>wireless </a:t>
            </a:r>
            <a:r>
              <a:rPr dirty="0" sz="1500">
                <a:latin typeface="Arial MT"/>
                <a:cs typeface="Arial MT"/>
              </a:rPr>
              <a:t> access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has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been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need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within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local transmission range </a:t>
            </a:r>
            <a:r>
              <a:rPr dirty="0" sz="1500" spc="-5">
                <a:latin typeface="Arial MT"/>
                <a:cs typeface="Arial MT"/>
              </a:rPr>
              <a:t>(typically </a:t>
            </a:r>
            <a:r>
              <a:rPr dirty="0" sz="1500">
                <a:latin typeface="Arial MT"/>
                <a:cs typeface="Arial MT"/>
              </a:rPr>
              <a:t>less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than 100 feet) of a </a:t>
            </a:r>
            <a:r>
              <a:rPr dirty="0" sz="1500" spc="-5">
                <a:latin typeface="Arial MT"/>
                <a:cs typeface="Arial MT"/>
              </a:rPr>
              <a:t>wireless </a:t>
            </a:r>
            <a:r>
              <a:rPr dirty="0" sz="1500">
                <a:latin typeface="Arial MT"/>
                <a:cs typeface="Arial MT"/>
              </a:rPr>
              <a:t>router or a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wireless </a:t>
            </a:r>
            <a:r>
              <a:rPr dirty="0" sz="1500">
                <a:latin typeface="Arial MT"/>
                <a:cs typeface="Arial MT"/>
              </a:rPr>
              <a:t>modem.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The following </a:t>
            </a:r>
            <a:r>
              <a:rPr dirty="0" sz="1500">
                <a:latin typeface="Arial MT"/>
                <a:cs typeface="Arial MT"/>
              </a:rPr>
              <a:t>new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developments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changing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this:</a:t>
            </a:r>
            <a:endParaRPr sz="1500">
              <a:latin typeface="Arial MT"/>
              <a:cs typeface="Arial MT"/>
            </a:endParaRPr>
          </a:p>
          <a:p>
            <a:pPr lvl="1" marL="370205" marR="100330" indent="-169545">
              <a:lnSpc>
                <a:spcPct val="100000"/>
              </a:lnSpc>
              <a:spcBef>
                <a:spcPts val="890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Municipal </a:t>
            </a:r>
            <a:r>
              <a:rPr dirty="0" sz="1400">
                <a:latin typeface="Arial MT"/>
                <a:cs typeface="Arial MT"/>
              </a:rPr>
              <a:t>Wi-Fi – </a:t>
            </a:r>
            <a:r>
              <a:rPr dirty="0" sz="1400" spc="-5">
                <a:latin typeface="Arial MT"/>
                <a:cs typeface="Arial MT"/>
              </a:rPr>
              <a:t>Many cities </a:t>
            </a:r>
            <a:r>
              <a:rPr dirty="0" sz="1400" spc="-10">
                <a:latin typeface="Arial MT"/>
                <a:cs typeface="Arial MT"/>
              </a:rPr>
              <a:t>have </a:t>
            </a:r>
            <a:r>
              <a:rPr dirty="0" sz="1400" spc="-5">
                <a:latin typeface="Arial MT"/>
                <a:cs typeface="Arial MT"/>
              </a:rPr>
              <a:t>begun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setting up municipal wireless networks for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free or for </a:t>
            </a:r>
            <a:r>
              <a:rPr dirty="0" sz="1400" spc="-5">
                <a:latin typeface="Arial MT"/>
                <a:cs typeface="Arial MT"/>
              </a:rPr>
              <a:t>substantially less than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broadband.</a:t>
            </a:r>
            <a:endParaRPr sz="1400">
              <a:latin typeface="Arial MT"/>
              <a:cs typeface="Arial MT"/>
            </a:endParaRPr>
          </a:p>
          <a:p>
            <a:pPr lvl="1" marL="370205" marR="12065" indent="-16954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WiMAX (IEEE </a:t>
            </a:r>
            <a:r>
              <a:rPr dirty="0" sz="1400" spc="-5">
                <a:latin typeface="Arial MT"/>
                <a:cs typeface="Arial MT"/>
              </a:rPr>
              <a:t>802.16)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-10">
                <a:latin typeface="Arial MT"/>
                <a:cs typeface="Arial MT"/>
              </a:rPr>
              <a:t>Worldwide </a:t>
            </a:r>
            <a:r>
              <a:rPr dirty="0" sz="1400" spc="-5">
                <a:latin typeface="Arial MT"/>
                <a:cs typeface="Arial MT"/>
              </a:rPr>
              <a:t> Interoperability for Microwave </a:t>
            </a:r>
            <a:r>
              <a:rPr dirty="0" sz="1400">
                <a:latin typeface="Arial MT"/>
                <a:cs typeface="Arial MT"/>
              </a:rPr>
              <a:t>Access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(WiMAX) </a:t>
            </a:r>
            <a:r>
              <a:rPr dirty="0" sz="1400" spc="-5">
                <a:latin typeface="Arial MT"/>
                <a:cs typeface="Arial MT"/>
              </a:rPr>
              <a:t>is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new high-speed broadband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technology </a:t>
            </a:r>
            <a:r>
              <a:rPr dirty="0" sz="1400">
                <a:latin typeface="Arial MT"/>
                <a:cs typeface="Arial MT"/>
              </a:rPr>
              <a:t>that </a:t>
            </a:r>
            <a:r>
              <a:rPr dirty="0" sz="1400" spc="-5">
                <a:latin typeface="Arial MT"/>
                <a:cs typeface="Arial MT"/>
              </a:rPr>
              <a:t>is just beginning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come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into use.</a:t>
            </a:r>
            <a:r>
              <a:rPr dirty="0" sz="1400">
                <a:latin typeface="Arial MT"/>
                <a:cs typeface="Arial MT"/>
              </a:rPr>
              <a:t> WiMAX </a:t>
            </a:r>
            <a:r>
              <a:rPr dirty="0" sz="1400" spc="-5">
                <a:latin typeface="Arial MT"/>
                <a:cs typeface="Arial MT"/>
              </a:rPr>
              <a:t>provides broad coverage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similar </a:t>
            </a:r>
            <a:r>
              <a:rPr dirty="0" sz="1400">
                <a:latin typeface="Arial MT"/>
                <a:cs typeface="Arial MT"/>
              </a:rPr>
              <a:t>to a </a:t>
            </a:r>
            <a:r>
              <a:rPr dirty="0" sz="1400" spc="-5">
                <a:latin typeface="Arial MT"/>
                <a:cs typeface="Arial MT"/>
              </a:rPr>
              <a:t>cell phone network </a:t>
            </a:r>
            <a:r>
              <a:rPr dirty="0" sz="1400">
                <a:latin typeface="Arial MT"/>
                <a:cs typeface="Arial MT"/>
              </a:rPr>
              <a:t>rather </a:t>
            </a:r>
            <a:r>
              <a:rPr dirty="0" sz="1400" spc="-5">
                <a:latin typeface="Arial MT"/>
                <a:cs typeface="Arial MT"/>
              </a:rPr>
              <a:t>than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through </a:t>
            </a:r>
            <a:r>
              <a:rPr dirty="0" sz="1400">
                <a:latin typeface="Arial MT"/>
                <a:cs typeface="Arial MT"/>
              </a:rPr>
              <a:t>Wi-Fi </a:t>
            </a:r>
            <a:r>
              <a:rPr dirty="0" sz="1400" spc="-5">
                <a:latin typeface="Arial MT"/>
                <a:cs typeface="Arial MT"/>
              </a:rPr>
              <a:t>hotspots.</a:t>
            </a:r>
            <a:r>
              <a:rPr dirty="0" sz="1400">
                <a:latin typeface="Arial MT"/>
                <a:cs typeface="Arial MT"/>
              </a:rPr>
              <a:t> WiMAX </a:t>
            </a:r>
            <a:r>
              <a:rPr dirty="0" sz="1400" spc="-5">
                <a:latin typeface="Arial MT"/>
                <a:cs typeface="Arial MT"/>
              </a:rPr>
              <a:t>operates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similar </a:t>
            </a:r>
            <a:r>
              <a:rPr dirty="0" sz="1400">
                <a:latin typeface="Arial MT"/>
                <a:cs typeface="Arial MT"/>
              </a:rPr>
              <a:t>to Wi-Fi, </a:t>
            </a:r>
            <a:r>
              <a:rPr dirty="0" sz="1400" spc="-5">
                <a:latin typeface="Arial MT"/>
                <a:cs typeface="Arial MT"/>
              </a:rPr>
              <a:t>but at higher speeds and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over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longer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distances.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" y="1001267"/>
            <a:ext cx="4521708" cy="32445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45237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Public</a:t>
            </a:r>
            <a:r>
              <a:rPr dirty="0" sz="1600" spc="-25"/>
              <a:t> WAN</a:t>
            </a:r>
            <a:r>
              <a:rPr dirty="0" sz="1600" spc="-10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/>
              <a:t>Wireless</a:t>
            </a:r>
            <a:r>
              <a:rPr dirty="0" spc="-45"/>
              <a:t> </a:t>
            </a:r>
            <a:r>
              <a:rPr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0865" y="1027938"/>
            <a:ext cx="3602990" cy="2876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1610" marR="167005" indent="-169545">
              <a:lnSpc>
                <a:spcPct val="100000"/>
              </a:lnSpc>
              <a:spcBef>
                <a:spcPts val="105"/>
              </a:spcBef>
              <a:buClr>
                <a:srgbClr val="57575B"/>
              </a:buClr>
              <a:buChar char="•"/>
              <a:tabLst>
                <a:tab pos="182245" algn="l"/>
              </a:tabLst>
            </a:pPr>
            <a:r>
              <a:rPr dirty="0" sz="1400">
                <a:latin typeface="Arial MT"/>
                <a:cs typeface="Arial MT"/>
              </a:rPr>
              <a:t>WiMAX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uses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WiMAX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towers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that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are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similar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cell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phone</a:t>
            </a:r>
            <a:endParaRPr sz="1400">
              <a:latin typeface="Arial MT"/>
              <a:cs typeface="Arial MT"/>
            </a:endParaRPr>
          </a:p>
          <a:p>
            <a:pPr marL="181610" marR="376555">
              <a:lnSpc>
                <a:spcPct val="100000"/>
              </a:lnSpc>
            </a:pPr>
            <a:r>
              <a:rPr dirty="0" sz="1400" spc="-5">
                <a:latin typeface="Arial MT"/>
                <a:cs typeface="Arial MT"/>
              </a:rPr>
              <a:t>towers.</a:t>
            </a:r>
            <a:r>
              <a:rPr dirty="0" sz="1400" spc="3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Subscribers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must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within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30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miles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tower.</a:t>
            </a:r>
            <a:endParaRPr sz="14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182245" algn="l"/>
              </a:tabLst>
            </a:pPr>
            <a:r>
              <a:rPr dirty="0" sz="1400" spc="-5">
                <a:latin typeface="Arial MT"/>
                <a:cs typeface="Arial MT"/>
              </a:rPr>
              <a:t>Satellite Internet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-15">
                <a:latin typeface="Arial MT"/>
                <a:cs typeface="Arial MT"/>
              </a:rPr>
              <a:t>Typically </a:t>
            </a:r>
            <a:r>
              <a:rPr dirty="0" sz="1400" spc="-5">
                <a:latin typeface="Arial MT"/>
                <a:cs typeface="Arial MT"/>
              </a:rPr>
              <a:t>used by </a:t>
            </a:r>
            <a:r>
              <a:rPr dirty="0" sz="1400">
                <a:latin typeface="Arial MT"/>
                <a:cs typeface="Arial MT"/>
              </a:rPr>
              <a:t>rural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users where cable and DSL are not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available.</a:t>
            </a:r>
            <a:r>
              <a:rPr dirty="0" sz="1400">
                <a:latin typeface="Arial MT"/>
                <a:cs typeface="Arial MT"/>
              </a:rPr>
              <a:t> A </a:t>
            </a:r>
            <a:r>
              <a:rPr dirty="0" sz="1400" spc="-25">
                <a:latin typeface="Arial MT"/>
                <a:cs typeface="Arial MT"/>
              </a:rPr>
              <a:t>VSAT </a:t>
            </a:r>
            <a:r>
              <a:rPr dirty="0" sz="1400" spc="-5">
                <a:latin typeface="Arial MT"/>
                <a:cs typeface="Arial MT"/>
              </a:rPr>
              <a:t>provides two-way </a:t>
            </a:r>
            <a:r>
              <a:rPr dirty="0" sz="1400">
                <a:latin typeface="Arial MT"/>
                <a:cs typeface="Arial MT"/>
              </a:rPr>
              <a:t> (upload </a:t>
            </a:r>
            <a:r>
              <a:rPr dirty="0" sz="1400" spc="-5">
                <a:latin typeface="Arial MT"/>
                <a:cs typeface="Arial MT"/>
              </a:rPr>
              <a:t>and download) data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communications.</a:t>
            </a:r>
            <a:r>
              <a:rPr dirty="0" sz="1400" spc="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 upload speed is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about one-tenth of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500 </a:t>
            </a:r>
            <a:r>
              <a:rPr dirty="0" sz="1400">
                <a:latin typeface="Arial MT"/>
                <a:cs typeface="Arial MT"/>
              </a:rPr>
              <a:t>kb/s </a:t>
            </a:r>
            <a:r>
              <a:rPr dirty="0" sz="1400" spc="-5">
                <a:latin typeface="Arial MT"/>
                <a:cs typeface="Arial MT"/>
              </a:rPr>
              <a:t>download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speed.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Cable and DSL </a:t>
            </a:r>
            <a:r>
              <a:rPr dirty="0" sz="1400" spc="-10">
                <a:latin typeface="Arial MT"/>
                <a:cs typeface="Arial MT"/>
              </a:rPr>
              <a:t>have </a:t>
            </a:r>
            <a:r>
              <a:rPr dirty="0" sz="1400" spc="-5">
                <a:latin typeface="Arial MT"/>
                <a:cs typeface="Arial MT"/>
              </a:rPr>
              <a:t>higher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download speeds, but satellite systems are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about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10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times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faster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than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analog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modems.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" y="1001267"/>
            <a:ext cx="4521708" cy="32445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30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45237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Public</a:t>
            </a:r>
            <a:r>
              <a:rPr dirty="0" sz="1600" spc="-25"/>
              <a:t> WAN</a:t>
            </a:r>
            <a:r>
              <a:rPr dirty="0" sz="1600" spc="-10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3G/4G</a:t>
            </a:r>
            <a:r>
              <a:rPr dirty="0" spc="-50"/>
              <a:t> </a:t>
            </a:r>
            <a:r>
              <a:rPr dirty="0" spc="-10"/>
              <a:t>Cellular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6378" y="516763"/>
            <a:ext cx="3813810" cy="3989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4635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10">
                <a:latin typeface="Arial MT"/>
                <a:cs typeface="Arial MT"/>
              </a:rPr>
              <a:t>Increasingly, </a:t>
            </a:r>
            <a:r>
              <a:rPr dirty="0" sz="1500" spc="-5">
                <a:latin typeface="Arial MT"/>
                <a:cs typeface="Arial MT"/>
              </a:rPr>
              <a:t>cellular service is </a:t>
            </a:r>
            <a:r>
              <a:rPr dirty="0" sz="1500">
                <a:latin typeface="Arial MT"/>
                <a:cs typeface="Arial MT"/>
              </a:rPr>
              <a:t>another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wireless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>
                <a:latin typeface="Arial MT"/>
                <a:cs typeface="Arial MT"/>
              </a:rPr>
              <a:t>technology being used to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users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remote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locations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where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no other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>
                <a:latin typeface="Arial MT"/>
                <a:cs typeface="Arial MT"/>
              </a:rPr>
              <a:t>access technology </a:t>
            </a:r>
            <a:r>
              <a:rPr dirty="0" sz="1500" spc="-5">
                <a:latin typeface="Arial MT"/>
                <a:cs typeface="Arial MT"/>
              </a:rPr>
              <a:t>is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available.</a:t>
            </a:r>
            <a:endParaRPr sz="1500">
              <a:latin typeface="Arial MT"/>
              <a:cs typeface="Arial MT"/>
            </a:endParaRPr>
          </a:p>
          <a:p>
            <a:pPr marL="181610" marR="320675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Phones,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tablet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computers,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laptops,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even </a:t>
            </a:r>
            <a:r>
              <a:rPr dirty="0" sz="1500">
                <a:latin typeface="Arial MT"/>
                <a:cs typeface="Arial MT"/>
              </a:rPr>
              <a:t>some routers can communicate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through to the Internet using </a:t>
            </a:r>
            <a:r>
              <a:rPr dirty="0" sz="1500" spc="-5">
                <a:latin typeface="Arial MT"/>
                <a:cs typeface="Arial MT"/>
              </a:rPr>
              <a:t>cellular 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-15">
                <a:latin typeface="Arial MT"/>
                <a:cs typeface="Arial MT"/>
              </a:rPr>
              <a:t>technology.</a:t>
            </a:r>
            <a:endParaRPr sz="1500">
              <a:latin typeface="Arial MT"/>
              <a:cs typeface="Arial MT"/>
            </a:endParaRPr>
          </a:p>
          <a:p>
            <a:pPr marL="181610" marR="5080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These devices </a:t>
            </a:r>
            <a:r>
              <a:rPr dirty="0" sz="1500">
                <a:latin typeface="Arial MT"/>
                <a:cs typeface="Arial MT"/>
              </a:rPr>
              <a:t>use radio </a:t>
            </a:r>
            <a:r>
              <a:rPr dirty="0" sz="1500" spc="-10">
                <a:latin typeface="Arial MT"/>
                <a:cs typeface="Arial MT"/>
              </a:rPr>
              <a:t>waves </a:t>
            </a:r>
            <a:r>
              <a:rPr dirty="0" sz="1500">
                <a:latin typeface="Arial MT"/>
                <a:cs typeface="Arial MT"/>
              </a:rPr>
              <a:t>to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communicate through a nearby </a:t>
            </a:r>
            <a:r>
              <a:rPr dirty="0" sz="1500" spc="-5">
                <a:latin typeface="Arial MT"/>
                <a:cs typeface="Arial MT"/>
              </a:rPr>
              <a:t>mobile </a:t>
            </a:r>
            <a:r>
              <a:rPr dirty="0" sz="1500">
                <a:latin typeface="Arial MT"/>
                <a:cs typeface="Arial MT"/>
              </a:rPr>
              <a:t> phone </a:t>
            </a:r>
            <a:r>
              <a:rPr dirty="0" sz="1500" spc="-20">
                <a:latin typeface="Arial MT"/>
                <a:cs typeface="Arial MT"/>
              </a:rPr>
              <a:t>tower.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The device </a:t>
            </a:r>
            <a:r>
              <a:rPr dirty="0" sz="1500">
                <a:latin typeface="Arial MT"/>
                <a:cs typeface="Arial MT"/>
              </a:rPr>
              <a:t>has a </a:t>
            </a:r>
            <a:r>
              <a:rPr dirty="0" sz="1500" spc="-5">
                <a:latin typeface="Arial MT"/>
                <a:cs typeface="Arial MT"/>
              </a:rPr>
              <a:t>small radio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antenna, and the </a:t>
            </a:r>
            <a:r>
              <a:rPr dirty="0" sz="1500" spc="-5">
                <a:latin typeface="Arial MT"/>
                <a:cs typeface="Arial MT"/>
              </a:rPr>
              <a:t>provider </a:t>
            </a:r>
            <a:r>
              <a:rPr dirty="0" sz="1500">
                <a:latin typeface="Arial MT"/>
                <a:cs typeface="Arial MT"/>
              </a:rPr>
              <a:t>has a much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larger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antenna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sitting </a:t>
            </a:r>
            <a:r>
              <a:rPr dirty="0" sz="1500">
                <a:latin typeface="Arial MT"/>
                <a:cs typeface="Arial MT"/>
              </a:rPr>
              <a:t>at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top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tower somewhere within </a:t>
            </a:r>
            <a:r>
              <a:rPr dirty="0" sz="1500">
                <a:latin typeface="Arial MT"/>
                <a:cs typeface="Arial MT"/>
              </a:rPr>
              <a:t>miles of the </a:t>
            </a:r>
            <a:r>
              <a:rPr dirty="0" sz="1500" spc="5">
                <a:latin typeface="Arial MT"/>
                <a:cs typeface="Arial MT"/>
              </a:rPr>
              <a:t> phone.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968" y="798576"/>
            <a:ext cx="4852416" cy="22631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7698" y="3268802"/>
            <a:ext cx="4330065" cy="1314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701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87500"/>
              <a:buFont typeface="Wingdings"/>
              <a:buChar char=""/>
              <a:tabLst>
                <a:tab pos="207645" algn="l"/>
              </a:tabLst>
            </a:pP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common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cellular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industry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terms:</a:t>
            </a:r>
            <a:endParaRPr sz="1200">
              <a:latin typeface="Arial MT"/>
              <a:cs typeface="Arial MT"/>
            </a:endParaRPr>
          </a:p>
          <a:p>
            <a:pPr lvl="1" marL="396240" marR="136525" indent="-169545">
              <a:lnSpc>
                <a:spcPct val="100000"/>
              </a:lnSpc>
              <a:spcBef>
                <a:spcPts val="905"/>
              </a:spcBef>
              <a:buClr>
                <a:srgbClr val="57575B"/>
              </a:buClr>
              <a:buChar char="•"/>
              <a:tabLst>
                <a:tab pos="396240" algn="l"/>
              </a:tabLst>
            </a:pPr>
            <a:r>
              <a:rPr dirty="0" sz="1200">
                <a:latin typeface="Arial MT"/>
                <a:cs typeface="Arial MT"/>
              </a:rPr>
              <a:t>3G/4G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Wireless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–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Abbreviation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3</a:t>
            </a:r>
            <a:r>
              <a:rPr dirty="0" baseline="24305" sz="1200">
                <a:latin typeface="Arial MT"/>
                <a:cs typeface="Arial MT"/>
              </a:rPr>
              <a:t>rd</a:t>
            </a:r>
            <a:r>
              <a:rPr dirty="0" baseline="24305" sz="1200" spc="157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4</a:t>
            </a:r>
            <a:r>
              <a:rPr dirty="0" baseline="24305" sz="1200">
                <a:latin typeface="Arial MT"/>
                <a:cs typeface="Arial MT"/>
              </a:rPr>
              <a:t>th</a:t>
            </a:r>
            <a:r>
              <a:rPr dirty="0" baseline="24305" sz="1200" spc="142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cellular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access.</a:t>
            </a:r>
            <a:endParaRPr sz="1200">
              <a:latin typeface="Arial MT"/>
              <a:cs typeface="Arial MT"/>
            </a:endParaRPr>
          </a:p>
          <a:p>
            <a:pPr lvl="1" marL="396240" marR="30480" indent="-16954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96240" algn="l"/>
              </a:tabLst>
            </a:pPr>
            <a:r>
              <a:rPr dirty="0" sz="1200" spc="-20">
                <a:latin typeface="Arial MT"/>
                <a:cs typeface="Arial MT"/>
              </a:rPr>
              <a:t>Long-Term </a:t>
            </a:r>
            <a:r>
              <a:rPr dirty="0" sz="1200" spc="-5">
                <a:latin typeface="Arial MT"/>
                <a:cs typeface="Arial MT"/>
              </a:rPr>
              <a:t>Evolution </a:t>
            </a:r>
            <a:r>
              <a:rPr dirty="0" sz="1200" spc="-20">
                <a:latin typeface="Arial MT"/>
                <a:cs typeface="Arial MT"/>
              </a:rPr>
              <a:t>(LTE) </a:t>
            </a:r>
            <a:r>
              <a:rPr dirty="0" sz="1200">
                <a:latin typeface="Arial MT"/>
                <a:cs typeface="Arial MT"/>
              </a:rPr>
              <a:t>– Refers to a </a:t>
            </a:r>
            <a:r>
              <a:rPr dirty="0" sz="1200" spc="-5">
                <a:latin typeface="Arial MT"/>
                <a:cs typeface="Arial MT"/>
              </a:rPr>
              <a:t>newer </a:t>
            </a:r>
            <a:r>
              <a:rPr dirty="0" sz="1200">
                <a:latin typeface="Arial MT"/>
                <a:cs typeface="Arial MT"/>
              </a:rPr>
              <a:t>and faster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technology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is considered </a:t>
            </a:r>
            <a:r>
              <a:rPr dirty="0" sz="1200">
                <a:latin typeface="Arial MT"/>
                <a:cs typeface="Arial MT"/>
              </a:rPr>
              <a:t>to be part of the fourth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generation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(4G) </a:t>
            </a:r>
            <a:r>
              <a:rPr dirty="0" sz="1200" spc="-15">
                <a:latin typeface="Arial MT"/>
                <a:cs typeface="Arial MT"/>
              </a:rPr>
              <a:t>technology.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30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245237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Public</a:t>
            </a:r>
            <a:r>
              <a:rPr dirty="0" sz="1600" spc="-25"/>
              <a:t> WAN</a:t>
            </a:r>
            <a:r>
              <a:rPr dirty="0" sz="1600" spc="-10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VPN</a:t>
            </a:r>
            <a:r>
              <a:rPr dirty="0" spc="-75"/>
              <a:t> </a:t>
            </a:r>
            <a:r>
              <a:rPr dirty="0" spc="-35"/>
              <a:t>Technology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724400" marR="12382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4725670" algn="l"/>
              </a:tabLst>
            </a:pPr>
            <a:r>
              <a:rPr dirty="0" spc="-5"/>
              <a:t>Due </a:t>
            </a:r>
            <a:r>
              <a:rPr dirty="0"/>
              <a:t>to security risks, </a:t>
            </a:r>
            <a:r>
              <a:rPr dirty="0" spc="-5"/>
              <a:t>VPNs </a:t>
            </a:r>
            <a:r>
              <a:rPr dirty="0"/>
              <a:t>are needed </a:t>
            </a:r>
            <a:r>
              <a:rPr dirty="0" spc="5"/>
              <a:t> </a:t>
            </a:r>
            <a:r>
              <a:rPr dirty="0" spc="-5"/>
              <a:t>when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5"/>
              <a:t> teleworker</a:t>
            </a:r>
            <a:r>
              <a:rPr dirty="0" spc="-25"/>
              <a:t> </a:t>
            </a:r>
            <a:r>
              <a:rPr dirty="0"/>
              <a:t>or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remote</a:t>
            </a:r>
            <a:r>
              <a:rPr dirty="0" spc="-25"/>
              <a:t> </a:t>
            </a:r>
            <a:r>
              <a:rPr dirty="0" spc="-5"/>
              <a:t>office</a:t>
            </a:r>
            <a:r>
              <a:rPr dirty="0" spc="-35"/>
              <a:t> </a:t>
            </a:r>
            <a:r>
              <a:rPr dirty="0"/>
              <a:t>uses </a:t>
            </a:r>
            <a:r>
              <a:rPr dirty="0" spc="-400"/>
              <a:t> </a:t>
            </a:r>
            <a:r>
              <a:rPr dirty="0"/>
              <a:t>a broadband </a:t>
            </a:r>
            <a:r>
              <a:rPr dirty="0" spc="-5"/>
              <a:t>service </a:t>
            </a:r>
            <a:r>
              <a:rPr dirty="0"/>
              <a:t>to access the </a:t>
            </a:r>
            <a:r>
              <a:rPr dirty="0" spc="5"/>
              <a:t> </a:t>
            </a:r>
            <a:r>
              <a:rPr dirty="0"/>
              <a:t>corporate</a:t>
            </a:r>
            <a:r>
              <a:rPr dirty="0" spc="-30"/>
              <a:t> </a:t>
            </a:r>
            <a:r>
              <a:rPr dirty="0" spc="-10"/>
              <a:t>WAN</a:t>
            </a:r>
            <a:r>
              <a:rPr dirty="0" spc="-45"/>
              <a:t> </a:t>
            </a:r>
            <a:r>
              <a:rPr dirty="0" spc="-5"/>
              <a:t>over</a:t>
            </a:r>
            <a:r>
              <a:rPr dirty="0"/>
              <a:t> the</a:t>
            </a:r>
            <a:r>
              <a:rPr dirty="0" spc="-20"/>
              <a:t> </a:t>
            </a:r>
            <a:r>
              <a:rPr dirty="0"/>
              <a:t>Internet.</a:t>
            </a:r>
          </a:p>
          <a:p>
            <a:pPr marL="4724400" marR="508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4725670" algn="l"/>
              </a:tabLst>
            </a:pPr>
            <a:r>
              <a:rPr dirty="0"/>
              <a:t>A</a:t>
            </a:r>
            <a:r>
              <a:rPr dirty="0" spc="-95"/>
              <a:t> </a:t>
            </a:r>
            <a:r>
              <a:rPr dirty="0" spc="-5"/>
              <a:t>VPN</a:t>
            </a:r>
            <a:r>
              <a:rPr dirty="0" spc="-15"/>
              <a:t> </a:t>
            </a:r>
            <a:r>
              <a:rPr dirty="0" spc="-5"/>
              <a:t>is</a:t>
            </a:r>
            <a:r>
              <a:rPr dirty="0" spc="-10"/>
              <a:t> </a:t>
            </a:r>
            <a:r>
              <a:rPr dirty="0"/>
              <a:t>an</a:t>
            </a:r>
            <a:r>
              <a:rPr dirty="0" spc="-10"/>
              <a:t> </a:t>
            </a:r>
            <a:r>
              <a:rPr dirty="0" spc="-5"/>
              <a:t>encrypted</a:t>
            </a:r>
            <a:r>
              <a:rPr dirty="0" spc="-10"/>
              <a:t> </a:t>
            </a:r>
            <a:r>
              <a:rPr dirty="0"/>
              <a:t>connection</a:t>
            </a:r>
            <a:r>
              <a:rPr dirty="0" spc="-50"/>
              <a:t> </a:t>
            </a:r>
            <a:r>
              <a:rPr dirty="0" spc="-5"/>
              <a:t>between </a:t>
            </a:r>
            <a:r>
              <a:rPr dirty="0" spc="-405"/>
              <a:t> </a:t>
            </a:r>
            <a:r>
              <a:rPr dirty="0" spc="-5"/>
              <a:t>private networks over</a:t>
            </a:r>
            <a:r>
              <a:rPr dirty="0" spc="5"/>
              <a:t> </a:t>
            </a:r>
            <a:r>
              <a:rPr dirty="0"/>
              <a:t>a</a:t>
            </a:r>
            <a:r>
              <a:rPr dirty="0" spc="-5"/>
              <a:t> public network, </a:t>
            </a:r>
            <a:r>
              <a:rPr dirty="0"/>
              <a:t> such</a:t>
            </a:r>
            <a:r>
              <a:rPr dirty="0" spc="-25"/>
              <a:t> </a:t>
            </a:r>
            <a:r>
              <a:rPr dirty="0"/>
              <a:t>as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Internet.</a:t>
            </a:r>
          </a:p>
          <a:p>
            <a:pPr marL="4724400" marR="249554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4725670" algn="l"/>
              </a:tabLst>
            </a:pPr>
            <a:r>
              <a:rPr dirty="0"/>
              <a:t>Instead of using a dedicated </a:t>
            </a:r>
            <a:r>
              <a:rPr dirty="0" spc="-5"/>
              <a:t>Layer </a:t>
            </a:r>
            <a:r>
              <a:rPr dirty="0"/>
              <a:t>2 </a:t>
            </a:r>
            <a:r>
              <a:rPr dirty="0" spc="5"/>
              <a:t> </a:t>
            </a:r>
            <a:r>
              <a:rPr dirty="0"/>
              <a:t>connection</a:t>
            </a:r>
            <a:r>
              <a:rPr dirty="0" spc="-40"/>
              <a:t> </a:t>
            </a:r>
            <a:r>
              <a:rPr dirty="0"/>
              <a:t>such</a:t>
            </a:r>
            <a:r>
              <a:rPr dirty="0" spc="-30"/>
              <a:t> </a:t>
            </a:r>
            <a:r>
              <a:rPr dirty="0"/>
              <a:t>as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leased</a:t>
            </a:r>
            <a:r>
              <a:rPr dirty="0" spc="-15"/>
              <a:t> </a:t>
            </a:r>
            <a:r>
              <a:rPr dirty="0" spc="-5"/>
              <a:t>line,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 spc="-5"/>
              <a:t>VPN </a:t>
            </a:r>
            <a:r>
              <a:rPr dirty="0" spc="-400"/>
              <a:t> </a:t>
            </a:r>
            <a:r>
              <a:rPr dirty="0"/>
              <a:t>uses </a:t>
            </a:r>
            <a:r>
              <a:rPr dirty="0" spc="-5"/>
              <a:t>virtual </a:t>
            </a:r>
            <a:r>
              <a:rPr dirty="0"/>
              <a:t>connections </a:t>
            </a:r>
            <a:r>
              <a:rPr dirty="0" spc="-5"/>
              <a:t>called VPN </a:t>
            </a:r>
            <a:r>
              <a:rPr dirty="0"/>
              <a:t> tunnels, </a:t>
            </a:r>
            <a:r>
              <a:rPr dirty="0" spc="-5"/>
              <a:t>which </a:t>
            </a:r>
            <a:r>
              <a:rPr dirty="0"/>
              <a:t>are routed through the </a:t>
            </a:r>
            <a:r>
              <a:rPr dirty="0" spc="5"/>
              <a:t> </a:t>
            </a:r>
            <a:r>
              <a:rPr dirty="0"/>
              <a:t>Internet from the </a:t>
            </a:r>
            <a:r>
              <a:rPr dirty="0" spc="-5"/>
              <a:t>private network </a:t>
            </a:r>
            <a:r>
              <a:rPr dirty="0"/>
              <a:t>of the </a:t>
            </a:r>
            <a:r>
              <a:rPr dirty="0" spc="5"/>
              <a:t> </a:t>
            </a:r>
            <a:r>
              <a:rPr dirty="0"/>
              <a:t>company to the remote </a:t>
            </a:r>
            <a:r>
              <a:rPr dirty="0" spc="-5"/>
              <a:t>site </a:t>
            </a:r>
            <a:r>
              <a:rPr dirty="0"/>
              <a:t>or </a:t>
            </a:r>
            <a:r>
              <a:rPr dirty="0" spc="-5"/>
              <a:t>employee </a:t>
            </a:r>
            <a:r>
              <a:rPr dirty="0" spc="-405"/>
              <a:t> </a:t>
            </a:r>
            <a:r>
              <a:rPr dirty="0"/>
              <a:t>host.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31" y="798576"/>
            <a:ext cx="4698492" cy="38572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30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329247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Public</a:t>
            </a:r>
            <a:r>
              <a:rPr dirty="0" sz="1600" spc="-25"/>
              <a:t> WAN</a:t>
            </a:r>
            <a:r>
              <a:rPr dirty="0" sz="1600" spc="-10"/>
              <a:t> </a:t>
            </a:r>
            <a:r>
              <a:rPr dirty="0" sz="1600" spc="-5"/>
              <a:t>Infrastructures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VPN</a:t>
            </a:r>
            <a:r>
              <a:rPr dirty="0" spc="-70"/>
              <a:t> </a:t>
            </a:r>
            <a:r>
              <a:rPr dirty="0" spc="-35"/>
              <a:t>Technology</a:t>
            </a:r>
            <a:r>
              <a:rPr dirty="0" spc="10"/>
              <a:t> </a:t>
            </a:r>
            <a:r>
              <a:rPr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9853" y="535744"/>
            <a:ext cx="3733165" cy="381063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4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There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several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benefits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using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VPNs:</a:t>
            </a:r>
            <a:endParaRPr sz="1500">
              <a:latin typeface="Arial MT"/>
              <a:cs typeface="Arial MT"/>
            </a:endParaRPr>
          </a:p>
          <a:p>
            <a:pPr lvl="1" marL="370840" indent="-215265">
              <a:lnSpc>
                <a:spcPct val="100000"/>
              </a:lnSpc>
              <a:spcBef>
                <a:spcPts val="890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Cost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savings</a:t>
            </a:r>
            <a:endParaRPr sz="1400">
              <a:latin typeface="Arial MT"/>
              <a:cs typeface="Arial MT"/>
            </a:endParaRPr>
          </a:p>
          <a:p>
            <a:pPr lvl="1" marL="370840" indent="-21526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Security</a:t>
            </a:r>
            <a:endParaRPr sz="1400">
              <a:latin typeface="Arial MT"/>
              <a:cs typeface="Arial MT"/>
            </a:endParaRPr>
          </a:p>
          <a:p>
            <a:pPr lvl="1" marL="370840" indent="-21526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Scalability</a:t>
            </a:r>
            <a:endParaRPr sz="1400">
              <a:latin typeface="Arial MT"/>
              <a:cs typeface="Arial MT"/>
            </a:endParaRPr>
          </a:p>
          <a:p>
            <a:pPr lvl="1" marL="370840" indent="-21526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Compatibility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with broadband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technology</a:t>
            </a:r>
            <a:endParaRPr sz="1400">
              <a:latin typeface="Arial MT"/>
              <a:cs typeface="Arial MT"/>
            </a:endParaRPr>
          </a:p>
          <a:p>
            <a:pPr marL="181610" indent="-169545">
              <a:lnSpc>
                <a:spcPct val="100000"/>
              </a:lnSpc>
              <a:spcBef>
                <a:spcPts val="91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There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two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types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VPN</a:t>
            </a:r>
            <a:r>
              <a:rPr dirty="0" sz="1500">
                <a:latin typeface="Arial MT"/>
                <a:cs typeface="Arial MT"/>
              </a:rPr>
              <a:t> access:</a:t>
            </a:r>
            <a:endParaRPr sz="1500">
              <a:latin typeface="Arial MT"/>
              <a:cs typeface="Arial MT"/>
            </a:endParaRPr>
          </a:p>
          <a:p>
            <a:pPr lvl="1" marL="370205" marR="103505" indent="-215265">
              <a:lnSpc>
                <a:spcPct val="100000"/>
              </a:lnSpc>
              <a:spcBef>
                <a:spcPts val="890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Site-to-site VPNs – </a:t>
            </a:r>
            <a:r>
              <a:rPr dirty="0" sz="1400" spc="-5">
                <a:latin typeface="Arial MT"/>
                <a:cs typeface="Arial MT"/>
              </a:rPr>
              <a:t>Connects entire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networks </a:t>
            </a:r>
            <a:r>
              <a:rPr dirty="0" sz="1400">
                <a:latin typeface="Arial MT"/>
                <a:cs typeface="Arial MT"/>
              </a:rPr>
              <a:t>to </a:t>
            </a:r>
            <a:r>
              <a:rPr dirty="0" sz="1400" spc="-5">
                <a:latin typeface="Arial MT"/>
                <a:cs typeface="Arial MT"/>
              </a:rPr>
              <a:t>each other; for example, they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 </a:t>
            </a:r>
            <a:r>
              <a:rPr dirty="0" sz="1400" spc="-5">
                <a:latin typeface="Arial MT"/>
                <a:cs typeface="Arial MT"/>
              </a:rPr>
              <a:t>connect </a:t>
            </a:r>
            <a:r>
              <a:rPr dirty="0" sz="1400">
                <a:latin typeface="Arial MT"/>
                <a:cs typeface="Arial MT"/>
              </a:rPr>
              <a:t>a </a:t>
            </a:r>
            <a:r>
              <a:rPr dirty="0" sz="1400" spc="-5">
                <a:latin typeface="Arial MT"/>
                <a:cs typeface="Arial MT"/>
              </a:rPr>
              <a:t>branch office network </a:t>
            </a:r>
            <a:r>
              <a:rPr dirty="0" sz="1400">
                <a:latin typeface="Arial MT"/>
                <a:cs typeface="Arial MT"/>
              </a:rPr>
              <a:t>to a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company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headquarters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network.</a:t>
            </a:r>
            <a:endParaRPr sz="1400">
              <a:latin typeface="Arial MT"/>
              <a:cs typeface="Arial MT"/>
            </a:endParaRPr>
          </a:p>
          <a:p>
            <a:pPr lvl="1" marL="370205" marR="5080" indent="-21526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Remote-access </a:t>
            </a:r>
            <a:r>
              <a:rPr dirty="0" sz="1400">
                <a:latin typeface="Arial MT"/>
                <a:cs typeface="Arial MT"/>
              </a:rPr>
              <a:t>VPNs – Enables 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telecommuters, mobile users, and extranet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consumers </a:t>
            </a:r>
            <a:r>
              <a:rPr dirty="0" sz="1400">
                <a:latin typeface="Arial MT"/>
                <a:cs typeface="Arial MT"/>
              </a:rPr>
              <a:t>to access a </a:t>
            </a:r>
            <a:r>
              <a:rPr dirty="0" sz="1400" spc="-5">
                <a:latin typeface="Arial MT"/>
                <a:cs typeface="Arial MT"/>
              </a:rPr>
              <a:t>company network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securely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over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Internet.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31" y="798576"/>
            <a:ext cx="4698492" cy="38572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30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4622165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Selecting</a:t>
            </a:r>
            <a:r>
              <a:rPr dirty="0" sz="1600" spc="-45"/>
              <a:t> </a:t>
            </a:r>
            <a:r>
              <a:rPr dirty="0" sz="1600" spc="-25"/>
              <a:t>WAN</a:t>
            </a:r>
            <a:r>
              <a:rPr dirty="0" sz="1600" spc="-20"/>
              <a:t> </a:t>
            </a:r>
            <a:r>
              <a:rPr dirty="0" sz="1600" spc="-5"/>
              <a:t>Services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10"/>
              <a:t>Choosing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30"/>
              <a:t>WAN</a:t>
            </a:r>
            <a:r>
              <a:rPr dirty="0" spc="-15"/>
              <a:t> </a:t>
            </a:r>
            <a:r>
              <a:rPr dirty="0" spc="-10"/>
              <a:t>Link</a:t>
            </a:r>
            <a:r>
              <a:rPr dirty="0" spc="5"/>
              <a:t> </a:t>
            </a:r>
            <a:r>
              <a:rPr dirty="0" spc="-5"/>
              <a:t>Connection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4409" y="139700"/>
            <a:ext cx="3988435" cy="457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30035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There </a:t>
            </a:r>
            <a:r>
              <a:rPr dirty="0" sz="1500">
                <a:latin typeface="Arial MT"/>
                <a:cs typeface="Arial MT"/>
              </a:rPr>
              <a:t>are many factors to consider </a:t>
            </a:r>
            <a:r>
              <a:rPr dirty="0" sz="1500" spc="-5">
                <a:latin typeface="Arial MT"/>
                <a:cs typeface="Arial MT"/>
              </a:rPr>
              <a:t>when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choosing an appropriate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connection.</a:t>
            </a:r>
            <a:r>
              <a:rPr dirty="0" sz="1500" spc="35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Network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administrators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must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answer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numerous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questions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including:</a:t>
            </a:r>
            <a:endParaRPr sz="1500">
              <a:latin typeface="Arial MT"/>
              <a:cs typeface="Arial MT"/>
            </a:endParaRPr>
          </a:p>
          <a:p>
            <a:pPr lvl="1" marL="370840" indent="-215265">
              <a:lnSpc>
                <a:spcPct val="100000"/>
              </a:lnSpc>
              <a:spcBef>
                <a:spcPts val="895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What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purpose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WAN?</a:t>
            </a:r>
            <a:endParaRPr sz="1400">
              <a:latin typeface="Arial MT"/>
              <a:cs typeface="Arial MT"/>
            </a:endParaRPr>
          </a:p>
          <a:p>
            <a:pPr lvl="2" marL="443865" marR="311150" indent="-169545">
              <a:lnSpc>
                <a:spcPct val="100000"/>
              </a:lnSpc>
              <a:spcBef>
                <a:spcPts val="605"/>
              </a:spcBef>
              <a:buChar char="•"/>
              <a:tabLst>
                <a:tab pos="444500" algn="l"/>
              </a:tabLst>
            </a:pPr>
            <a:r>
              <a:rPr dirty="0" sz="1200" spc="5">
                <a:latin typeface="Arial MT"/>
                <a:cs typeface="Arial MT"/>
              </a:rPr>
              <a:t>Will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enterprise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connect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local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branches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same city area, connect remote </a:t>
            </a:r>
            <a:r>
              <a:rPr dirty="0" sz="1200" spc="-5">
                <a:latin typeface="Arial MT"/>
                <a:cs typeface="Arial MT"/>
              </a:rPr>
              <a:t>branches,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connect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single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branch?</a:t>
            </a:r>
            <a:endParaRPr sz="1200">
              <a:latin typeface="Arial MT"/>
              <a:cs typeface="Arial MT"/>
            </a:endParaRPr>
          </a:p>
          <a:p>
            <a:pPr lvl="2" marL="443865" marR="17145" indent="-169545">
              <a:lnSpc>
                <a:spcPct val="100000"/>
              </a:lnSpc>
              <a:spcBef>
                <a:spcPts val="605"/>
              </a:spcBef>
              <a:buChar char="•"/>
              <a:tabLst>
                <a:tab pos="444500" algn="l"/>
              </a:tabLst>
            </a:pPr>
            <a:r>
              <a:rPr dirty="0" sz="1200" spc="5">
                <a:latin typeface="Arial MT"/>
                <a:cs typeface="Arial MT"/>
              </a:rPr>
              <a:t>Will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connect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internal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external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employees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 customers?</a:t>
            </a:r>
            <a:endParaRPr sz="1200">
              <a:latin typeface="Arial MT"/>
              <a:cs typeface="Arial MT"/>
            </a:endParaRPr>
          </a:p>
          <a:p>
            <a:pPr lvl="1" marL="370840" indent="-215265">
              <a:lnSpc>
                <a:spcPct val="100000"/>
              </a:lnSpc>
              <a:spcBef>
                <a:spcPts val="590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What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geographic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scope?</a:t>
            </a:r>
            <a:endParaRPr sz="1400">
              <a:latin typeface="Arial MT"/>
              <a:cs typeface="Arial MT"/>
            </a:endParaRPr>
          </a:p>
          <a:p>
            <a:pPr lvl="2" marL="443865" indent="-170180">
              <a:lnSpc>
                <a:spcPct val="100000"/>
              </a:lnSpc>
              <a:spcBef>
                <a:spcPts val="610"/>
              </a:spcBef>
              <a:buChar char="•"/>
              <a:tabLst>
                <a:tab pos="444500" algn="l"/>
              </a:tabLst>
            </a:pP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local,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regional,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global?</a:t>
            </a:r>
            <a:endParaRPr sz="1200">
              <a:latin typeface="Arial MT"/>
              <a:cs typeface="Arial MT"/>
            </a:endParaRPr>
          </a:p>
          <a:p>
            <a:pPr lvl="2" marL="443865" marR="5080" indent="-169545">
              <a:lnSpc>
                <a:spcPct val="100000"/>
              </a:lnSpc>
              <a:spcBef>
                <a:spcPts val="600"/>
              </a:spcBef>
              <a:buChar char="•"/>
              <a:tabLst>
                <a:tab pos="444500" algn="l"/>
              </a:tabLst>
            </a:pPr>
            <a:r>
              <a:rPr dirty="0" sz="1200">
                <a:latin typeface="Arial MT"/>
                <a:cs typeface="Arial MT"/>
              </a:rPr>
              <a:t>Is the </a:t>
            </a:r>
            <a:r>
              <a:rPr dirty="0" sz="1200" spc="-5">
                <a:latin typeface="Arial MT"/>
                <a:cs typeface="Arial MT"/>
              </a:rPr>
              <a:t>WAN one-to-one (single </a:t>
            </a:r>
            <a:r>
              <a:rPr dirty="0" sz="1200">
                <a:latin typeface="Arial MT"/>
                <a:cs typeface="Arial MT"/>
              </a:rPr>
              <a:t>branch), </a:t>
            </a:r>
            <a:r>
              <a:rPr dirty="0" sz="1200" spc="-5">
                <a:latin typeface="Arial MT"/>
                <a:cs typeface="Arial MT"/>
              </a:rPr>
              <a:t>one-to-many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branches,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many-to-many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(distributed)?</a:t>
            </a:r>
            <a:endParaRPr sz="1200">
              <a:latin typeface="Arial MT"/>
              <a:cs typeface="Arial MT"/>
            </a:endParaRPr>
          </a:p>
          <a:p>
            <a:pPr algn="r" lvl="1" marL="214629" marR="929640" indent="-214629">
              <a:lnSpc>
                <a:spcPct val="100000"/>
              </a:lnSpc>
              <a:spcBef>
                <a:spcPts val="595"/>
              </a:spcBef>
              <a:buClr>
                <a:srgbClr val="57575B"/>
              </a:buClr>
              <a:buChar char="•"/>
              <a:tabLst>
                <a:tab pos="214629" algn="l"/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What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are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traffic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requirements?</a:t>
            </a:r>
            <a:endParaRPr sz="1400">
              <a:latin typeface="Arial MT"/>
              <a:cs typeface="Arial MT"/>
            </a:endParaRPr>
          </a:p>
          <a:p>
            <a:pPr algn="r" lvl="2" marL="169545" marR="878205" indent="-169545">
              <a:lnSpc>
                <a:spcPct val="100000"/>
              </a:lnSpc>
              <a:spcBef>
                <a:spcPts val="605"/>
              </a:spcBef>
              <a:buChar char="•"/>
              <a:tabLst>
                <a:tab pos="169545" algn="l"/>
              </a:tabLst>
            </a:pPr>
            <a:r>
              <a:rPr dirty="0" sz="1200" spc="5">
                <a:latin typeface="Arial MT"/>
                <a:cs typeface="Arial MT"/>
              </a:rPr>
              <a:t>What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traffic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supported?</a:t>
            </a:r>
            <a:endParaRPr sz="1200">
              <a:latin typeface="Arial MT"/>
              <a:cs typeface="Arial MT"/>
            </a:endParaRPr>
          </a:p>
          <a:p>
            <a:pPr lvl="2" marL="443865" marR="989330" indent="-169545">
              <a:lnSpc>
                <a:spcPct val="100000"/>
              </a:lnSpc>
              <a:spcBef>
                <a:spcPts val="605"/>
              </a:spcBef>
              <a:buChar char="•"/>
              <a:tabLst>
                <a:tab pos="444500" algn="l"/>
              </a:tabLst>
            </a:pPr>
            <a:r>
              <a:rPr dirty="0" sz="1200" spc="5">
                <a:latin typeface="Arial MT"/>
                <a:cs typeface="Arial MT"/>
              </a:rPr>
              <a:t>What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quality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requirements?</a:t>
            </a:r>
            <a:endParaRPr sz="1200">
              <a:latin typeface="Arial MT"/>
              <a:cs typeface="Arial MT"/>
            </a:endParaRPr>
          </a:p>
          <a:p>
            <a:pPr lvl="2" marL="443865" indent="-170180">
              <a:lnSpc>
                <a:spcPct val="100000"/>
              </a:lnSpc>
              <a:spcBef>
                <a:spcPts val="600"/>
              </a:spcBef>
              <a:buChar char="•"/>
              <a:tabLst>
                <a:tab pos="444500" algn="l"/>
              </a:tabLst>
            </a:pPr>
            <a:r>
              <a:rPr dirty="0" sz="1200" spc="5">
                <a:latin typeface="Arial MT"/>
                <a:cs typeface="Arial MT"/>
              </a:rPr>
              <a:t>What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Quality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Service 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required?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527" y="896111"/>
            <a:ext cx="4011167" cy="36579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30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564261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Selecting</a:t>
            </a:r>
            <a:r>
              <a:rPr dirty="0" sz="1600" spc="-45"/>
              <a:t> </a:t>
            </a:r>
            <a:r>
              <a:rPr dirty="0" sz="1600" spc="-25"/>
              <a:t>WAN</a:t>
            </a:r>
            <a:r>
              <a:rPr dirty="0" sz="1600" spc="-20"/>
              <a:t> </a:t>
            </a:r>
            <a:r>
              <a:rPr dirty="0" sz="1600" spc="-5"/>
              <a:t>Services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10"/>
              <a:t>Choosing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30"/>
              <a:t>WAN</a:t>
            </a:r>
            <a:r>
              <a:rPr dirty="0" spc="-15"/>
              <a:t> </a:t>
            </a:r>
            <a:r>
              <a:rPr dirty="0" spc="-10"/>
              <a:t>Link</a:t>
            </a:r>
            <a:r>
              <a:rPr dirty="0" spc="5"/>
              <a:t> </a:t>
            </a:r>
            <a:r>
              <a:rPr dirty="0" spc="-5"/>
              <a:t>Connection</a:t>
            </a:r>
            <a:r>
              <a:rPr dirty="0" spc="25"/>
              <a:t> </a:t>
            </a:r>
            <a:r>
              <a:rPr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71390" y="817879"/>
            <a:ext cx="3998595" cy="3928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648335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Should </a:t>
            </a:r>
            <a:r>
              <a:rPr dirty="0" sz="1500">
                <a:latin typeface="Arial MT"/>
                <a:cs typeface="Arial MT"/>
              </a:rPr>
              <a:t>the </a:t>
            </a:r>
            <a:r>
              <a:rPr dirty="0" sz="1500" spc="-10">
                <a:latin typeface="Arial MT"/>
                <a:cs typeface="Arial MT"/>
              </a:rPr>
              <a:t>WAN </a:t>
            </a:r>
            <a:r>
              <a:rPr dirty="0" sz="1500">
                <a:latin typeface="Arial MT"/>
                <a:cs typeface="Arial MT"/>
              </a:rPr>
              <a:t>use </a:t>
            </a:r>
            <a:r>
              <a:rPr dirty="0" sz="1500" spc="-5">
                <a:latin typeface="Arial MT"/>
                <a:cs typeface="Arial MT"/>
              </a:rPr>
              <a:t>private </a:t>
            </a:r>
            <a:r>
              <a:rPr dirty="0" sz="1500">
                <a:latin typeface="Arial MT"/>
                <a:cs typeface="Arial MT"/>
              </a:rPr>
              <a:t>or </a:t>
            </a:r>
            <a:r>
              <a:rPr dirty="0" sz="1500" spc="-5">
                <a:latin typeface="Arial MT"/>
                <a:cs typeface="Arial MT"/>
              </a:rPr>
              <a:t>public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infrastructure?</a:t>
            </a:r>
            <a:endParaRPr sz="1500">
              <a:latin typeface="Arial MT"/>
              <a:cs typeface="Arial MT"/>
            </a:endParaRPr>
          </a:p>
          <a:p>
            <a:pPr lvl="1" marL="370840" indent="-215265">
              <a:lnSpc>
                <a:spcPct val="100000"/>
              </a:lnSpc>
              <a:spcBef>
                <a:spcPts val="890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 spc="-5">
                <a:latin typeface="Arial MT"/>
                <a:cs typeface="Arial MT"/>
              </a:rPr>
              <a:t>Private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infrastructure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offers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best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security</a:t>
            </a:r>
            <a:endParaRPr sz="1400">
              <a:latin typeface="Arial MT"/>
              <a:cs typeface="Arial MT"/>
            </a:endParaRPr>
          </a:p>
          <a:p>
            <a:pPr lvl="1" marL="370205" marR="89535" indent="-21526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370205" algn="l"/>
                <a:tab pos="370840" algn="l"/>
              </a:tabLst>
            </a:pPr>
            <a:r>
              <a:rPr dirty="0" sz="1400">
                <a:latin typeface="Arial MT"/>
                <a:cs typeface="Arial MT"/>
              </a:rPr>
              <a:t>Public </a:t>
            </a:r>
            <a:r>
              <a:rPr dirty="0" sz="1400" spc="-5">
                <a:latin typeface="Arial MT"/>
                <a:cs typeface="Arial MT"/>
              </a:rPr>
              <a:t>Internet infrastructure </a:t>
            </a:r>
            <a:r>
              <a:rPr dirty="0" sz="1400">
                <a:latin typeface="Arial MT"/>
                <a:cs typeface="Arial MT"/>
              </a:rPr>
              <a:t>– </a:t>
            </a:r>
            <a:r>
              <a:rPr dirty="0" sz="1400" spc="-5">
                <a:latin typeface="Arial MT"/>
                <a:cs typeface="Arial MT"/>
              </a:rPr>
              <a:t>not as secure,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but offers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spc="-5">
                <a:latin typeface="Arial MT"/>
                <a:cs typeface="Arial MT"/>
              </a:rPr>
              <a:t>most flexibility and lowest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ongoing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expense</a:t>
            </a:r>
            <a:endParaRPr sz="1400">
              <a:latin typeface="Arial MT"/>
              <a:cs typeface="Arial MT"/>
            </a:endParaRPr>
          </a:p>
          <a:p>
            <a:pPr marL="181610" marR="68580" indent="-169545">
              <a:lnSpc>
                <a:spcPct val="100000"/>
              </a:lnSpc>
              <a:spcBef>
                <a:spcPts val="91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For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5">
                <a:latin typeface="Arial MT"/>
                <a:cs typeface="Arial MT"/>
              </a:rPr>
              <a:t>private </a:t>
            </a:r>
            <a:r>
              <a:rPr dirty="0" sz="1500" spc="-10">
                <a:latin typeface="Arial MT"/>
                <a:cs typeface="Arial MT"/>
              </a:rPr>
              <a:t>WAN, </a:t>
            </a:r>
            <a:r>
              <a:rPr dirty="0" sz="1500" spc="-5">
                <a:latin typeface="Arial MT"/>
                <a:cs typeface="Arial MT"/>
              </a:rPr>
              <a:t>should it </a:t>
            </a:r>
            <a:r>
              <a:rPr dirty="0" sz="1500">
                <a:latin typeface="Arial MT"/>
                <a:cs typeface="Arial MT"/>
              </a:rPr>
              <a:t>be dedicated or </a:t>
            </a:r>
            <a:r>
              <a:rPr dirty="0" sz="1500" spc="-409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switched?</a:t>
            </a:r>
            <a:endParaRPr sz="1500">
              <a:latin typeface="Arial MT"/>
              <a:cs typeface="Arial MT"/>
            </a:endParaRPr>
          </a:p>
          <a:p>
            <a:pPr marL="181610" marR="100965" indent="-169545">
              <a:lnSpc>
                <a:spcPct val="100000"/>
              </a:lnSpc>
              <a:spcBef>
                <a:spcPts val="1205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-5">
                <a:latin typeface="Arial MT"/>
                <a:cs typeface="Arial MT"/>
              </a:rPr>
              <a:t>For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5">
                <a:latin typeface="Arial MT"/>
                <a:cs typeface="Arial MT"/>
              </a:rPr>
              <a:t>public </a:t>
            </a:r>
            <a:r>
              <a:rPr dirty="0" sz="1500" spc="-10">
                <a:latin typeface="Arial MT"/>
                <a:cs typeface="Arial MT"/>
              </a:rPr>
              <a:t>WAN, </a:t>
            </a:r>
            <a:r>
              <a:rPr dirty="0" sz="1500" spc="-5">
                <a:latin typeface="Arial MT"/>
                <a:cs typeface="Arial MT"/>
              </a:rPr>
              <a:t>what type </a:t>
            </a:r>
            <a:r>
              <a:rPr dirty="0" sz="1500">
                <a:latin typeface="Arial MT"/>
                <a:cs typeface="Arial MT"/>
              </a:rPr>
              <a:t>of </a:t>
            </a:r>
            <a:r>
              <a:rPr dirty="0" sz="1500" spc="-5">
                <a:latin typeface="Arial MT"/>
                <a:cs typeface="Arial MT"/>
              </a:rPr>
              <a:t>VPN </a:t>
            </a:r>
            <a:r>
              <a:rPr dirty="0" sz="1500">
                <a:latin typeface="Arial MT"/>
                <a:cs typeface="Arial MT"/>
              </a:rPr>
              <a:t>access </a:t>
            </a:r>
            <a:r>
              <a:rPr dirty="0" sz="1500" spc="-40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is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required?</a:t>
            </a:r>
            <a:endParaRPr sz="1500">
              <a:latin typeface="Arial MT"/>
              <a:cs typeface="Arial MT"/>
            </a:endParaRPr>
          </a:p>
          <a:p>
            <a:pPr marL="18161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Which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options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available</a:t>
            </a:r>
            <a:endParaRPr sz="1500">
              <a:latin typeface="Arial MT"/>
              <a:cs typeface="Arial MT"/>
            </a:endParaRPr>
          </a:p>
          <a:p>
            <a:pPr marL="181610">
              <a:lnSpc>
                <a:spcPct val="100000"/>
              </a:lnSpc>
            </a:pPr>
            <a:r>
              <a:rPr dirty="0" sz="1500" spc="-5">
                <a:latin typeface="Arial MT"/>
                <a:cs typeface="Arial MT"/>
              </a:rPr>
              <a:t>locally?</a:t>
            </a:r>
            <a:endParaRPr sz="1500">
              <a:latin typeface="Arial MT"/>
              <a:cs typeface="Arial MT"/>
            </a:endParaRPr>
          </a:p>
          <a:p>
            <a:pPr marL="181610" marR="49530" indent="-169545">
              <a:lnSpc>
                <a:spcPct val="100000"/>
              </a:lnSpc>
              <a:spcBef>
                <a:spcPts val="12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 spc="5">
                <a:latin typeface="Arial MT"/>
                <a:cs typeface="Arial MT"/>
              </a:rPr>
              <a:t>What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costs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options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available?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843" y="912875"/>
            <a:ext cx="4408932" cy="34507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7917"/>
            <a:ext cx="5231130" cy="632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/>
              <a:t>Selecting</a:t>
            </a:r>
            <a:r>
              <a:rPr dirty="0" sz="1600" spc="-45"/>
              <a:t> </a:t>
            </a:r>
            <a:r>
              <a:rPr dirty="0" sz="1600" spc="-25"/>
              <a:t>WAN</a:t>
            </a:r>
            <a:r>
              <a:rPr dirty="0" sz="1600" spc="-20"/>
              <a:t> </a:t>
            </a:r>
            <a:r>
              <a:rPr dirty="0" sz="1600" spc="-5"/>
              <a:t>Services</a:t>
            </a:r>
            <a:endParaRPr sz="1600"/>
          </a:p>
          <a:p>
            <a:pPr marL="12700">
              <a:lnSpc>
                <a:spcPts val="2870"/>
              </a:lnSpc>
            </a:pPr>
            <a:r>
              <a:rPr dirty="0" spc="-5"/>
              <a:t>Lab</a:t>
            </a:r>
            <a:r>
              <a:rPr dirty="0"/>
              <a:t> –</a:t>
            </a:r>
            <a:r>
              <a:rPr dirty="0" spc="-20"/>
              <a:t> </a:t>
            </a:r>
            <a:r>
              <a:rPr dirty="0" spc="-5"/>
              <a:t>Researching</a:t>
            </a:r>
            <a:r>
              <a:rPr dirty="0" spc="30"/>
              <a:t> </a:t>
            </a:r>
            <a:r>
              <a:rPr dirty="0" spc="-30"/>
              <a:t>WAN</a:t>
            </a:r>
            <a:r>
              <a:rPr dirty="0" spc="-60"/>
              <a:t> </a:t>
            </a:r>
            <a:r>
              <a:rPr dirty="0" spc="-30"/>
              <a:t>Technologies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31685" y="1371091"/>
            <a:ext cx="2164715" cy="1626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Clr>
                <a:srgbClr val="57575B"/>
              </a:buClr>
              <a:buSzPct val="90000"/>
              <a:buFont typeface="Wingdings"/>
              <a:buChar char=""/>
              <a:tabLst>
                <a:tab pos="182245" algn="l"/>
              </a:tabLst>
            </a:pPr>
            <a:r>
              <a:rPr dirty="0" sz="1500">
                <a:latin typeface="Arial MT"/>
                <a:cs typeface="Arial MT"/>
              </a:rPr>
              <a:t>In this lab, </a:t>
            </a:r>
            <a:r>
              <a:rPr dirty="0" sz="1500" spc="-10">
                <a:latin typeface="Arial MT"/>
                <a:cs typeface="Arial MT"/>
              </a:rPr>
              <a:t>you will </a:t>
            </a:r>
            <a:r>
              <a:rPr dirty="0" sz="1500">
                <a:latin typeface="Arial MT"/>
                <a:cs typeface="Arial MT"/>
              </a:rPr>
              <a:t>be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required to </a:t>
            </a:r>
            <a:r>
              <a:rPr dirty="0" sz="1500" spc="-5">
                <a:latin typeface="Arial MT"/>
                <a:cs typeface="Arial MT"/>
              </a:rPr>
              <a:t>investigate </a:t>
            </a:r>
            <a:r>
              <a:rPr dirty="0" sz="1500">
                <a:latin typeface="Arial MT"/>
                <a:cs typeface="Arial MT"/>
              </a:rPr>
              <a:t> the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cost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5">
                <a:latin typeface="Arial MT"/>
                <a:cs typeface="Arial MT"/>
              </a:rPr>
              <a:t>availability </a:t>
            </a:r>
            <a:r>
              <a:rPr dirty="0" sz="1500" spc="-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 purchasing a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dedicated </a:t>
            </a:r>
            <a:r>
              <a:rPr dirty="0" sz="1500" spc="-5">
                <a:latin typeface="Arial MT"/>
                <a:cs typeface="Arial MT"/>
              </a:rPr>
              <a:t>T1 </a:t>
            </a:r>
            <a:r>
              <a:rPr dirty="0" sz="1500">
                <a:latin typeface="Arial MT"/>
                <a:cs typeface="Arial MT"/>
              </a:rPr>
              <a:t>Internet 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connection for </a:t>
            </a:r>
            <a:r>
              <a:rPr dirty="0" sz="1500" spc="-5">
                <a:latin typeface="Arial MT"/>
                <a:cs typeface="Arial MT"/>
              </a:rPr>
              <a:t>your </a:t>
            </a:r>
            <a:r>
              <a:rPr dirty="0" sz="1500">
                <a:latin typeface="Arial MT"/>
                <a:cs typeface="Arial MT"/>
              </a:rPr>
              <a:t> home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or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business.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" y="1082039"/>
            <a:ext cx="6477000" cy="30685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2910" y="712495"/>
            <a:ext cx="8507730" cy="319659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82880" indent="-170815">
              <a:lnSpc>
                <a:spcPct val="100000"/>
              </a:lnSpc>
              <a:spcBef>
                <a:spcPts val="1000"/>
              </a:spcBef>
              <a:buClr>
                <a:srgbClr val="57575B"/>
              </a:buClr>
              <a:buSzPct val="90625"/>
              <a:buFont typeface="Wingdings"/>
              <a:buChar char=""/>
              <a:tabLst>
                <a:tab pos="183515" algn="l"/>
              </a:tabLst>
            </a:pPr>
            <a:r>
              <a:rPr dirty="0" sz="1600" spc="-10">
                <a:latin typeface="Arial MT"/>
                <a:cs typeface="Arial MT"/>
              </a:rPr>
              <a:t>1.1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WAN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Technologies </a:t>
            </a:r>
            <a:r>
              <a:rPr dirty="0" sz="1600" spc="-10">
                <a:latin typeface="Arial MT"/>
                <a:cs typeface="Arial MT"/>
              </a:rPr>
              <a:t>Overview</a:t>
            </a:r>
            <a:endParaRPr sz="1600">
              <a:latin typeface="Arial MT"/>
              <a:cs typeface="Arial MT"/>
            </a:endParaRPr>
          </a:p>
          <a:p>
            <a:pPr lvl="1" marL="481965" indent="-215900">
              <a:lnSpc>
                <a:spcPct val="100000"/>
              </a:lnSpc>
              <a:spcBef>
                <a:spcPts val="905"/>
              </a:spcBef>
              <a:buClr>
                <a:srgbClr val="57575B"/>
              </a:buClr>
              <a:buChar char="•"/>
              <a:tabLst>
                <a:tab pos="481965" algn="l"/>
                <a:tab pos="482600" algn="l"/>
              </a:tabLst>
            </a:pPr>
            <a:r>
              <a:rPr dirty="0" sz="1600" spc="-5">
                <a:latin typeface="Arial MT"/>
                <a:cs typeface="Arial MT"/>
              </a:rPr>
              <a:t>Explain </a:t>
            </a:r>
            <a:r>
              <a:rPr dirty="0" sz="1600" spc="-25">
                <a:latin typeface="Arial MT"/>
                <a:cs typeface="Arial MT"/>
              </a:rPr>
              <a:t>WAN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access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technologies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available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small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medium-sized business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networks.</a:t>
            </a:r>
            <a:endParaRPr sz="1600">
              <a:latin typeface="Arial MT"/>
              <a:cs typeface="Arial MT"/>
            </a:endParaRPr>
          </a:p>
          <a:p>
            <a:pPr lvl="2" marL="570230" indent="-215265">
              <a:lnSpc>
                <a:spcPct val="100000"/>
              </a:lnSpc>
              <a:spcBef>
                <a:spcPts val="595"/>
              </a:spcBef>
              <a:buClr>
                <a:srgbClr val="57575B"/>
              </a:buClr>
              <a:buChar char="•"/>
              <a:tabLst>
                <a:tab pos="570230" algn="l"/>
                <a:tab pos="570865" algn="l"/>
              </a:tabLst>
            </a:pPr>
            <a:r>
              <a:rPr dirty="0" sz="1400" spc="-5">
                <a:latin typeface="Arial MT"/>
                <a:cs typeface="Arial MT"/>
              </a:rPr>
              <a:t>Explain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purpose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WAN.</a:t>
            </a:r>
            <a:endParaRPr sz="1400">
              <a:latin typeface="Arial MT"/>
              <a:cs typeface="Arial MT"/>
            </a:endParaRPr>
          </a:p>
          <a:p>
            <a:pPr lvl="2" marL="570230" indent="-21526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570230" algn="l"/>
                <a:tab pos="570865" algn="l"/>
              </a:tabLst>
            </a:pPr>
            <a:r>
              <a:rPr dirty="0" sz="1400" spc="-5">
                <a:latin typeface="Arial MT"/>
                <a:cs typeface="Arial MT"/>
              </a:rPr>
              <a:t>Explain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how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operate.</a:t>
            </a:r>
            <a:endParaRPr sz="1400">
              <a:latin typeface="Arial MT"/>
              <a:cs typeface="Arial MT"/>
            </a:endParaRPr>
          </a:p>
          <a:p>
            <a:pPr marL="299085" indent="-285750">
              <a:lnSpc>
                <a:spcPct val="100000"/>
              </a:lnSpc>
              <a:spcBef>
                <a:spcPts val="905"/>
              </a:spcBef>
              <a:buClr>
                <a:srgbClr val="57575B"/>
              </a:buClr>
              <a:buSzPct val="90625"/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dirty="0" sz="1600" spc="-5">
                <a:latin typeface="Arial MT"/>
                <a:cs typeface="Arial MT"/>
              </a:rPr>
              <a:t>1.2 Selecting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 </a:t>
            </a:r>
            <a:r>
              <a:rPr dirty="0" sz="1600" spc="-25">
                <a:latin typeface="Arial MT"/>
                <a:cs typeface="Arial MT"/>
              </a:rPr>
              <a:t>WAN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Technology</a:t>
            </a:r>
            <a:endParaRPr sz="1600">
              <a:latin typeface="Arial MT"/>
              <a:cs typeface="Arial MT"/>
            </a:endParaRPr>
          </a:p>
          <a:p>
            <a:pPr lvl="1" marL="481965" indent="-215900">
              <a:lnSpc>
                <a:spcPct val="100000"/>
              </a:lnSpc>
              <a:spcBef>
                <a:spcPts val="900"/>
              </a:spcBef>
              <a:buClr>
                <a:srgbClr val="57575B"/>
              </a:buClr>
              <a:buChar char="•"/>
              <a:tabLst>
                <a:tab pos="481965" algn="l"/>
                <a:tab pos="482600" algn="l"/>
              </a:tabLst>
            </a:pPr>
            <a:r>
              <a:rPr dirty="0" sz="1600" spc="-5">
                <a:latin typeface="Arial MT"/>
                <a:cs typeface="Arial MT"/>
              </a:rPr>
              <a:t>Select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WAN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access technologies to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satisfy business requirements.</a:t>
            </a:r>
            <a:endParaRPr sz="1600">
              <a:latin typeface="Arial MT"/>
              <a:cs typeface="Arial MT"/>
            </a:endParaRPr>
          </a:p>
          <a:p>
            <a:pPr lvl="2" marL="570230" indent="-215265">
              <a:lnSpc>
                <a:spcPct val="100000"/>
              </a:lnSpc>
              <a:spcBef>
                <a:spcPts val="595"/>
              </a:spcBef>
              <a:buClr>
                <a:srgbClr val="57575B"/>
              </a:buClr>
              <a:buChar char="•"/>
              <a:tabLst>
                <a:tab pos="570230" algn="l"/>
                <a:tab pos="570865" algn="l"/>
              </a:tabLst>
            </a:pPr>
            <a:r>
              <a:rPr dirty="0" sz="1400">
                <a:latin typeface="Arial MT"/>
                <a:cs typeface="Arial MT"/>
              </a:rPr>
              <a:t>Describe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services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available.</a:t>
            </a:r>
            <a:endParaRPr sz="1400">
              <a:latin typeface="Arial MT"/>
              <a:cs typeface="Arial MT"/>
            </a:endParaRPr>
          </a:p>
          <a:p>
            <a:pPr lvl="2" marL="570230" indent="-21526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570230" algn="l"/>
                <a:tab pos="570865" algn="l"/>
              </a:tabLst>
            </a:pPr>
            <a:r>
              <a:rPr dirty="0" sz="1400" spc="-5">
                <a:latin typeface="Arial MT"/>
                <a:cs typeface="Arial MT"/>
              </a:rPr>
              <a:t>Compare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private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technologies.</a:t>
            </a:r>
            <a:endParaRPr sz="1400">
              <a:latin typeface="Arial MT"/>
              <a:cs typeface="Arial MT"/>
            </a:endParaRPr>
          </a:p>
          <a:p>
            <a:pPr lvl="2" marL="570230" indent="-215265">
              <a:lnSpc>
                <a:spcPct val="100000"/>
              </a:lnSpc>
              <a:spcBef>
                <a:spcPts val="605"/>
              </a:spcBef>
              <a:buClr>
                <a:srgbClr val="57575B"/>
              </a:buClr>
              <a:buChar char="•"/>
              <a:tabLst>
                <a:tab pos="570230" algn="l"/>
                <a:tab pos="570865" algn="l"/>
              </a:tabLst>
            </a:pPr>
            <a:r>
              <a:rPr dirty="0" sz="1400" spc="-5">
                <a:latin typeface="Arial MT"/>
                <a:cs typeface="Arial MT"/>
              </a:rPr>
              <a:t>Compare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public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technologies.</a:t>
            </a:r>
            <a:endParaRPr sz="1400">
              <a:latin typeface="Arial MT"/>
              <a:cs typeface="Arial MT"/>
            </a:endParaRPr>
          </a:p>
          <a:p>
            <a:pPr lvl="2" marL="570230" indent="-215265">
              <a:lnSpc>
                <a:spcPct val="100000"/>
              </a:lnSpc>
              <a:spcBef>
                <a:spcPts val="600"/>
              </a:spcBef>
              <a:buClr>
                <a:srgbClr val="57575B"/>
              </a:buClr>
              <a:buChar char="•"/>
              <a:tabLst>
                <a:tab pos="570230" algn="l"/>
                <a:tab pos="570865" algn="l"/>
              </a:tabLst>
            </a:pPr>
            <a:r>
              <a:rPr dirty="0" sz="1400">
                <a:latin typeface="Arial MT"/>
                <a:cs typeface="Arial MT"/>
              </a:rPr>
              <a:t>Select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appropriate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WAN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protocol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service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5">
                <a:latin typeface="Arial MT"/>
                <a:cs typeface="Arial MT"/>
              </a:rPr>
              <a:t> specific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network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requirement.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dirty="0" spc="-10"/>
              <a:t> </a:t>
            </a:r>
            <a:r>
              <a:rPr dirty="0"/>
              <a:t>2016 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/>
              <a:t>and/or</a:t>
            </a:r>
            <a:r>
              <a:rPr dirty="0" spc="-10"/>
              <a:t> </a:t>
            </a:r>
            <a:r>
              <a:rPr dirty="0" spc="10"/>
              <a:t>i</a:t>
            </a:r>
            <a:r>
              <a:rPr dirty="0"/>
              <a:t>ts</a:t>
            </a:r>
            <a:r>
              <a:rPr dirty="0" spc="-10"/>
              <a:t> </a:t>
            </a:r>
            <a:r>
              <a:rPr dirty="0"/>
              <a:t>aff</a:t>
            </a:r>
            <a:r>
              <a:rPr dirty="0" spc="10"/>
              <a:t>ili</a:t>
            </a:r>
            <a:r>
              <a:rPr dirty="0"/>
              <a:t>ates.</a:t>
            </a:r>
            <a:r>
              <a:rPr dirty="0" spc="-50"/>
              <a:t> </a:t>
            </a:r>
            <a:r>
              <a:rPr dirty="0" spc="-5"/>
              <a:t>A</a:t>
            </a:r>
            <a:r>
              <a:rPr dirty="0" spc="10"/>
              <a:t>l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r</a:t>
            </a:r>
            <a:r>
              <a:rPr dirty="0" spc="10"/>
              <a:t>i</a:t>
            </a:r>
            <a:r>
              <a:rPr dirty="0"/>
              <a:t>ghts</a:t>
            </a:r>
            <a:r>
              <a:rPr dirty="0" spc="-10"/>
              <a:t> </a:t>
            </a:r>
            <a:r>
              <a:rPr dirty="0"/>
              <a:t>reserved.  </a:t>
            </a:r>
            <a:r>
              <a:rPr dirty="0" spc="-20"/>
              <a:t> </a:t>
            </a:r>
            <a:r>
              <a:rPr dirty="0" spc="-5"/>
              <a:t>C</a:t>
            </a:r>
            <a:r>
              <a:rPr dirty="0" spc="5"/>
              <a:t>i</a:t>
            </a:r>
            <a:r>
              <a:rPr dirty="0"/>
              <a:t>sco</a:t>
            </a:r>
            <a:r>
              <a:rPr dirty="0" spc="-10"/>
              <a:t> </a:t>
            </a:r>
            <a:r>
              <a:rPr dirty="0" spc="-5"/>
              <a:t>Co</a:t>
            </a:r>
            <a:r>
              <a:rPr dirty="0"/>
              <a:t>nf</a:t>
            </a:r>
            <a:r>
              <a:rPr dirty="0" spc="10"/>
              <a:t>i</a:t>
            </a:r>
            <a:r>
              <a:rPr dirty="0"/>
              <a:t>dent</a:t>
            </a:r>
            <a:r>
              <a:rPr dirty="0" spc="10"/>
              <a:t>i</a:t>
            </a:r>
            <a:r>
              <a:rPr dirty="0"/>
              <a:t>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8739" y="98298"/>
            <a:ext cx="89344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367086"/>
                </a:solidFill>
                <a:latin typeface="Arial MT"/>
                <a:cs typeface="Arial MT"/>
              </a:rPr>
              <a:t>Summary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</a:t>
            </a:r>
            <a:r>
              <a:rPr dirty="0" spc="-10"/>
              <a:t>o</a:t>
            </a:r>
            <a:r>
              <a:rPr dirty="0" spc="-5"/>
              <a:t>ncl</a:t>
            </a:r>
            <a:r>
              <a:rPr dirty="0" spc="-10"/>
              <a:t>u</a:t>
            </a:r>
            <a:r>
              <a:rPr dirty="0"/>
              <a:t>si</a:t>
            </a:r>
            <a:r>
              <a:rPr dirty="0" spc="-10"/>
              <a:t>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Torres,Frank A.</dc:creator>
  <dc:title>WAN Concepts</dc:title>
  <dcterms:created xsi:type="dcterms:W3CDTF">2023-11-01T06:17:38Z</dcterms:created>
  <dcterms:modified xsi:type="dcterms:W3CDTF">2023-11-01T06:17:38Z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2019-12-03T00:00:00Z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2023-11-01T00:00:00Z</vt:filetime>
  </property>
</Properties>
</file>