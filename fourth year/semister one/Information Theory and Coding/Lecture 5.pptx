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EEE377 Lecture Notes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779D421-6804-472F-9518-B4B4FB06E1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EEE377 Lecture Notes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5AD4150-23C8-482E-B4E8-ACDF5B0B6C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CHANNEL CODING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F9503-62FC-443B-A17D-85E27B5368A1}" type="slidenum">
              <a:rPr lang="en-US"/>
              <a:pPr/>
              <a:t>2</a:t>
            </a:fld>
            <a:endParaRPr lang="en-US"/>
          </a:p>
        </p:txBody>
      </p:sp>
      <p:sp>
        <p:nvSpPr>
          <p:cNvPr id="31846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617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Channel Coding </a:t>
            </a:r>
          </a:p>
        </p:txBody>
      </p:sp>
      <p:sp>
        <p:nvSpPr>
          <p:cNvPr id="31846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18468" name="Text Box 4"/>
          <p:cNvSpPr txBox="1">
            <a:spLocks noChangeArrowheads="1"/>
          </p:cNvSpPr>
          <p:nvPr/>
        </p:nvSpPr>
        <p:spPr bwMode="auto">
          <a:xfrm>
            <a:off x="457200" y="685800"/>
            <a:ext cx="8077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dirty="0"/>
              <a:t>Why?</a:t>
            </a:r>
          </a:p>
          <a:p>
            <a:r>
              <a:rPr lang="en-US" sz="2000" dirty="0"/>
              <a:t>To increase the resistance of digital communication systems to channel noise via error control coding</a:t>
            </a:r>
          </a:p>
          <a:p>
            <a:endParaRPr lang="en-US" sz="2000" dirty="0"/>
          </a:p>
          <a:p>
            <a:r>
              <a:rPr lang="en-US" sz="2000" dirty="0"/>
              <a:t>How?</a:t>
            </a:r>
          </a:p>
          <a:p>
            <a:r>
              <a:rPr lang="en-US" sz="2000" dirty="0"/>
              <a:t>By mapping the incoming data sequence into a channel input sequence and inverse mapping the channel output sequence into an output data sequence in such a way that the overall effect of channel noise on the system is </a:t>
            </a:r>
            <a:r>
              <a:rPr lang="en-US" sz="2000" dirty="0" err="1"/>
              <a:t>minimised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Redundancy is introduced in the channel encoder so as to reconstruct the original source sequence as accurately as possible.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2C2F-B75D-4FDB-A41B-47F7B73536D6}" type="slidenum">
              <a:rPr lang="en-US"/>
              <a:pPr/>
              <a:t>3</a:t>
            </a:fld>
            <a:endParaRPr lang="en-US"/>
          </a:p>
        </p:txBody>
      </p:sp>
      <p:sp>
        <p:nvSpPr>
          <p:cNvPr id="31949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617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Error Control Coding </a:t>
            </a:r>
          </a:p>
        </p:txBody>
      </p:sp>
      <p:sp>
        <p:nvSpPr>
          <p:cNvPr id="31949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19492" name="Text Box 4"/>
          <p:cNvSpPr txBox="1">
            <a:spLocks noChangeArrowheads="1"/>
          </p:cNvSpPr>
          <p:nvPr/>
        </p:nvSpPr>
        <p:spPr bwMode="auto">
          <a:xfrm>
            <a:off x="457200" y="685800"/>
            <a:ext cx="80772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/>
              <a:t>Error control for data integrity may be exercised by means of forward error correction (FEC).</a:t>
            </a:r>
          </a:p>
          <a:p>
            <a:endParaRPr lang="en-US" sz="2000"/>
          </a:p>
          <a:p>
            <a:endParaRPr lang="en-US" sz="2000"/>
          </a:p>
        </p:txBody>
      </p:sp>
      <p:pic>
        <p:nvPicPr>
          <p:cNvPr id="31949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8700" y="1600200"/>
            <a:ext cx="7181850" cy="37512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319495" name="Text Box 7"/>
          <p:cNvSpPr txBox="1">
            <a:spLocks noChangeArrowheads="1"/>
          </p:cNvSpPr>
          <p:nvPr/>
        </p:nvSpPr>
        <p:spPr bwMode="auto">
          <a:xfrm>
            <a:off x="533400" y="3352800"/>
            <a:ext cx="8077200" cy="2530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/>
              <a:t>The discrete source generates information in the form of binary symbols.</a:t>
            </a:r>
          </a:p>
          <a:p>
            <a:r>
              <a:rPr lang="en-US" sz="2000"/>
              <a:t>The channel encoder accepts message bits and adds redundancy to produce encoded data at higher bit rate.</a:t>
            </a:r>
          </a:p>
          <a:p>
            <a:r>
              <a:rPr lang="en-US" sz="2000"/>
              <a:t>The channel decoder uses the redundancy to decide which message bits were actually transmitted.</a:t>
            </a:r>
          </a:p>
          <a:p>
            <a:endParaRPr lang="en-US" sz="2000"/>
          </a:p>
          <a:p>
            <a:r>
              <a:rPr lang="en-US" sz="2000"/>
              <a:t>What is the implication?</a:t>
            </a:r>
          </a:p>
        </p:txBody>
      </p:sp>
      <p:sp>
        <p:nvSpPr>
          <p:cNvPr id="319496" name="Rectangle 8"/>
          <p:cNvSpPr>
            <a:spLocks noChangeArrowheads="1"/>
          </p:cNvSpPr>
          <p:nvPr/>
        </p:nvSpPr>
        <p:spPr bwMode="auto">
          <a:xfrm>
            <a:off x="533400" y="5486400"/>
            <a:ext cx="289560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4252-B5DB-42A2-BB3A-2503EEBBB87A}" type="slidenum">
              <a:rPr lang="en-US"/>
              <a:pPr/>
              <a:t>4</a:t>
            </a:fld>
            <a:endParaRPr lang="en-US"/>
          </a:p>
        </p:txBody>
      </p:sp>
      <p:sp>
        <p:nvSpPr>
          <p:cNvPr id="3205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617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The implication of Error Control Coding </a:t>
            </a:r>
          </a:p>
        </p:txBody>
      </p:sp>
      <p:sp>
        <p:nvSpPr>
          <p:cNvPr id="32051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0516" name="Text Box 4"/>
          <p:cNvSpPr txBox="1">
            <a:spLocks noChangeArrowheads="1"/>
          </p:cNvSpPr>
          <p:nvPr/>
        </p:nvSpPr>
        <p:spPr bwMode="auto">
          <a:xfrm>
            <a:off x="457200" y="685800"/>
            <a:ext cx="8077200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/>
              <a:t>Addition of redundancy implies the need for increased transmission bandwidth</a:t>
            </a:r>
          </a:p>
          <a:p>
            <a:r>
              <a:rPr lang="en-US" sz="2000"/>
              <a:t>It also adds complexity in the decoding operation</a:t>
            </a:r>
          </a:p>
          <a:p>
            <a:r>
              <a:rPr lang="en-US" sz="2000"/>
              <a:t>Therefore, there is a design trade-off in the use of error-control coding to achieve acceptable error performance considering bandwidth and system complexity.</a:t>
            </a:r>
          </a:p>
          <a:p>
            <a:endParaRPr lang="en-US" sz="2000"/>
          </a:p>
          <a:p>
            <a:endParaRPr lang="en-US" sz="2000"/>
          </a:p>
        </p:txBody>
      </p:sp>
      <p:sp>
        <p:nvSpPr>
          <p:cNvPr id="320519" name="Text Box 7"/>
          <p:cNvSpPr txBox="1">
            <a:spLocks noChangeArrowheads="1"/>
          </p:cNvSpPr>
          <p:nvPr/>
        </p:nvSpPr>
        <p:spPr bwMode="auto">
          <a:xfrm>
            <a:off x="533400" y="2895600"/>
            <a:ext cx="61722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Types of Error Control Coding </a:t>
            </a:r>
          </a:p>
          <a:p>
            <a:pPr lvl="1">
              <a:buFontTx/>
              <a:buChar char="•"/>
            </a:pPr>
            <a:r>
              <a:rPr lang="en-US" b="1"/>
              <a:t> Block codes</a:t>
            </a:r>
          </a:p>
          <a:p>
            <a:pPr lvl="1">
              <a:buFontTx/>
              <a:buChar char="•"/>
            </a:pPr>
            <a:r>
              <a:rPr lang="en-US" b="1"/>
              <a:t> Convolutional codes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F961-B801-49B0-96FA-18637FD4EB8A}" type="slidenum">
              <a:rPr lang="en-US"/>
              <a:pPr/>
              <a:t>5</a:t>
            </a:fld>
            <a:endParaRPr lang="en-US"/>
          </a:p>
        </p:txBody>
      </p:sp>
      <p:sp>
        <p:nvSpPr>
          <p:cNvPr id="32153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617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Block Codes </a:t>
            </a:r>
          </a:p>
        </p:txBody>
      </p:sp>
      <p:sp>
        <p:nvSpPr>
          <p:cNvPr id="32153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1540" name="Text Box 4"/>
          <p:cNvSpPr txBox="1">
            <a:spLocks noChangeArrowheads="1"/>
          </p:cNvSpPr>
          <p:nvPr/>
        </p:nvSpPr>
        <p:spPr bwMode="auto">
          <a:xfrm>
            <a:off x="457200" y="685800"/>
            <a:ext cx="8077200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/>
              <a:t>Usually in the form of (n,k) block code where n is the number of bits of the codeword and k is the number of bits for the binary message</a:t>
            </a:r>
          </a:p>
          <a:p>
            <a:endParaRPr lang="en-US" sz="2000"/>
          </a:p>
          <a:p>
            <a:r>
              <a:rPr lang="en-US" sz="2000"/>
              <a:t>To generate an (n,k) block code, the channel encoder accepts information in successive k-bit blocks</a:t>
            </a:r>
          </a:p>
          <a:p>
            <a:r>
              <a:rPr lang="en-US" sz="2000"/>
              <a:t>For each block add (n-k) redundant bits to produce an encoded block of n-bits called a code-word</a:t>
            </a:r>
          </a:p>
          <a:p>
            <a:r>
              <a:rPr lang="en-US" sz="2000"/>
              <a:t>The (n-k) redundant bits are algebraically related to the k message bits</a:t>
            </a:r>
          </a:p>
          <a:p>
            <a:r>
              <a:rPr lang="en-US" sz="2000"/>
              <a:t>The channel encoder produces bits at a rate called the </a:t>
            </a:r>
            <a:r>
              <a:rPr lang="en-US" sz="2000" u="sng"/>
              <a:t>channel data rate, R</a:t>
            </a:r>
            <a:r>
              <a:rPr lang="en-US" sz="2000" u="sng" baseline="-25000"/>
              <a:t>0</a:t>
            </a:r>
          </a:p>
          <a:p>
            <a:endParaRPr lang="en-US" sz="2000" u="sng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sp>
        <p:nvSpPr>
          <p:cNvPr id="321543" name="Rectangle 7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321542" name="Object 6"/>
          <p:cNvGraphicFramePr>
            <a:graphicFrameLocks noChangeAspect="1"/>
          </p:cNvGraphicFramePr>
          <p:nvPr/>
        </p:nvGraphicFramePr>
        <p:xfrm>
          <a:off x="2057400" y="3886200"/>
          <a:ext cx="1981200" cy="1066800"/>
        </p:xfrm>
        <a:graphic>
          <a:graphicData uri="http://schemas.openxmlformats.org/presentationml/2006/ole">
            <p:oleObj spid="_x0000_s1026" name="Equation" r:id="rId3" imgW="812447" imgH="431613" progId="Equation.3">
              <p:embed/>
            </p:oleObj>
          </a:graphicData>
        </a:graphic>
      </p:graphicFrame>
      <p:sp>
        <p:nvSpPr>
          <p:cNvPr id="321544" name="Text Box 8"/>
          <p:cNvSpPr txBox="1">
            <a:spLocks noChangeArrowheads="1"/>
          </p:cNvSpPr>
          <p:nvPr/>
        </p:nvSpPr>
        <p:spPr bwMode="auto">
          <a:xfrm>
            <a:off x="4479925" y="4075113"/>
            <a:ext cx="2830513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Where R</a:t>
            </a:r>
            <a:r>
              <a:rPr lang="en-US" baseline="-25000"/>
              <a:t>s </a:t>
            </a:r>
            <a:r>
              <a:rPr lang="en-US"/>
              <a:t>is the bit rate of </a:t>
            </a:r>
          </a:p>
          <a:p>
            <a:r>
              <a:rPr lang="en-US"/>
              <a:t>the information source</a:t>
            </a:r>
          </a:p>
          <a:p>
            <a:endParaRPr lang="en-US"/>
          </a:p>
          <a:p>
            <a:r>
              <a:rPr lang="en-US"/>
              <a:t>and n/k is the code rate</a:t>
            </a:r>
            <a:endParaRPr lang="en-US" baseline="-25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25D64-7DE7-4C07-8CDE-4E4F7C625181}" type="slidenum">
              <a:rPr lang="en-US"/>
              <a:pPr/>
              <a:t>6</a:t>
            </a:fld>
            <a:endParaRPr lang="en-US"/>
          </a:p>
        </p:txBody>
      </p:sp>
      <p:sp>
        <p:nvSpPr>
          <p:cNvPr id="32256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2564" name="Text Box 4"/>
          <p:cNvSpPr txBox="1">
            <a:spLocks noChangeArrowheads="1"/>
          </p:cNvSpPr>
          <p:nvPr/>
        </p:nvSpPr>
        <p:spPr bwMode="auto">
          <a:xfrm>
            <a:off x="457200" y="685800"/>
            <a:ext cx="8382000" cy="301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Forward Error-Correction (FEC) </a:t>
            </a:r>
          </a:p>
          <a:p>
            <a:r>
              <a:rPr lang="en-US" sz="2000"/>
              <a:t>The </a:t>
            </a:r>
            <a:r>
              <a:rPr lang="en-US"/>
              <a:t>channel encoder accepts information in successive k-bit blocks and for each block it adds (n-k) redundant bits to produce an encoded block of n-bits called a code-word.</a:t>
            </a:r>
          </a:p>
          <a:p>
            <a:r>
              <a:rPr lang="en-US"/>
              <a:t>The channel decoder uses the redundancy to decide which message bits were actually transmitted.</a:t>
            </a:r>
          </a:p>
          <a:p>
            <a:r>
              <a:rPr lang="en-US" sz="2000"/>
              <a:t>In this case, whether the decoding of the received code word is successful or not, the receiver does not perform further processing.</a:t>
            </a:r>
          </a:p>
          <a:p>
            <a:r>
              <a:rPr lang="en-US" sz="2000"/>
              <a:t>In other words, if an error is detected in a transmitted code word, the receiver does not request for retransmission of the corrupted code word.</a:t>
            </a:r>
          </a:p>
        </p:txBody>
      </p:sp>
      <p:sp>
        <p:nvSpPr>
          <p:cNvPr id="322565" name="Rectangle 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2568" name="Text Box 8"/>
          <p:cNvSpPr txBox="1">
            <a:spLocks noChangeArrowheads="1"/>
          </p:cNvSpPr>
          <p:nvPr/>
        </p:nvSpPr>
        <p:spPr bwMode="auto">
          <a:xfrm>
            <a:off x="457200" y="3838575"/>
            <a:ext cx="8382000" cy="259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 dirty="0"/>
              <a:t>Automatic-Repeat Request (</a:t>
            </a:r>
            <a:r>
              <a:rPr lang="en-US" sz="2000" b="1" dirty="0" err="1"/>
              <a:t>ARQ</a:t>
            </a:r>
            <a:r>
              <a:rPr lang="en-US" sz="2000" b="1" dirty="0"/>
              <a:t>) scheme</a:t>
            </a:r>
          </a:p>
          <a:p>
            <a:r>
              <a:rPr lang="en-US" dirty="0"/>
              <a:t>Upon detection of error, the receiver requests a repeat transmission of the corrupted code word</a:t>
            </a:r>
          </a:p>
          <a:p>
            <a:r>
              <a:rPr lang="en-US" dirty="0"/>
              <a:t>There are 3 types of </a:t>
            </a:r>
            <a:r>
              <a:rPr lang="en-US" dirty="0" err="1"/>
              <a:t>ARQ</a:t>
            </a:r>
            <a:r>
              <a:rPr lang="en-US" dirty="0"/>
              <a:t> scheme</a:t>
            </a:r>
          </a:p>
          <a:p>
            <a:pPr lvl="2">
              <a:buFontTx/>
              <a:buChar char="•"/>
            </a:pPr>
            <a:r>
              <a:rPr lang="en-US" dirty="0"/>
              <a:t> Stop-and-Wait</a:t>
            </a:r>
          </a:p>
          <a:p>
            <a:pPr lvl="2">
              <a:buFontTx/>
              <a:buChar char="•"/>
            </a:pPr>
            <a:r>
              <a:rPr lang="en-US" dirty="0"/>
              <a:t> Continuous </a:t>
            </a:r>
            <a:r>
              <a:rPr lang="en-US" dirty="0" err="1"/>
              <a:t>ARQ</a:t>
            </a:r>
            <a:r>
              <a:rPr lang="en-US" dirty="0"/>
              <a:t> with pullback</a:t>
            </a:r>
          </a:p>
          <a:p>
            <a:pPr lvl="2">
              <a:buFontTx/>
              <a:buChar char="•"/>
            </a:pPr>
            <a:r>
              <a:rPr lang="en-US" dirty="0"/>
              <a:t> Continuous </a:t>
            </a:r>
            <a:r>
              <a:rPr lang="en-US" dirty="0" err="1"/>
              <a:t>ARQ</a:t>
            </a:r>
            <a:r>
              <a:rPr lang="en-US" dirty="0"/>
              <a:t> with selective repeat</a:t>
            </a:r>
          </a:p>
          <a:p>
            <a:pPr lvl="2">
              <a:buFontTx/>
              <a:buChar char="•"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C26C8-4C2F-43C2-BB4E-7386F50585BC}" type="slidenum">
              <a:rPr lang="en-US"/>
              <a:pPr/>
              <a:t>7</a:t>
            </a:fld>
            <a:endParaRPr lang="en-US"/>
          </a:p>
        </p:txBody>
      </p:sp>
      <p:sp>
        <p:nvSpPr>
          <p:cNvPr id="3235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617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Types of ARQ scheme </a:t>
            </a:r>
          </a:p>
        </p:txBody>
      </p:sp>
      <p:sp>
        <p:nvSpPr>
          <p:cNvPr id="32358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3588" name="Text Box 4"/>
          <p:cNvSpPr txBox="1">
            <a:spLocks noChangeArrowheads="1"/>
          </p:cNvSpPr>
          <p:nvPr/>
        </p:nvSpPr>
        <p:spPr bwMode="auto">
          <a:xfrm>
            <a:off x="457200" y="685800"/>
            <a:ext cx="8382000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Stop-and-wait </a:t>
            </a:r>
          </a:p>
          <a:p>
            <a:pPr>
              <a:buFontTx/>
              <a:buChar char="•"/>
            </a:pPr>
            <a:r>
              <a:rPr lang="en-US" sz="2000"/>
              <a:t> A block of message is encoded into a code word and transmitted</a:t>
            </a:r>
          </a:p>
          <a:p>
            <a:pPr>
              <a:buFontTx/>
              <a:buChar char="•"/>
            </a:pPr>
            <a:r>
              <a:rPr lang="en-US" sz="2000"/>
              <a:t> The transmitter </a:t>
            </a:r>
            <a:r>
              <a:rPr lang="en-US" sz="2000" u="sng"/>
              <a:t>stops and waits</a:t>
            </a:r>
            <a:r>
              <a:rPr lang="en-US" sz="2000"/>
              <a:t> for feedback from the receiver either an acknowledgement of a correct receipt of the codeword or a retransmission request due to error in decoding.</a:t>
            </a:r>
          </a:p>
          <a:p>
            <a:pPr>
              <a:buFontTx/>
              <a:buChar char="•"/>
            </a:pPr>
            <a:r>
              <a:rPr lang="en-US" sz="2000"/>
              <a:t> The transmitter resends the code word before moving onto the next block of message</a:t>
            </a:r>
          </a:p>
          <a:p>
            <a:pPr>
              <a:buFontTx/>
              <a:buChar char="•"/>
            </a:pPr>
            <a:endParaRPr lang="en-US" sz="2000"/>
          </a:p>
          <a:p>
            <a:r>
              <a:rPr lang="en-US" sz="2000"/>
              <a:t>What is the implication of this?</a:t>
            </a:r>
          </a:p>
        </p:txBody>
      </p:sp>
      <p:sp>
        <p:nvSpPr>
          <p:cNvPr id="323589" name="Rectangle 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3590" name="Text Box 6"/>
          <p:cNvSpPr txBox="1">
            <a:spLocks noChangeArrowheads="1"/>
          </p:cNvSpPr>
          <p:nvPr/>
        </p:nvSpPr>
        <p:spPr bwMode="auto">
          <a:xfrm>
            <a:off x="457200" y="3717925"/>
            <a:ext cx="8382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Idle time during stop-and-wait is wasted and will reduce the data throughput</a:t>
            </a:r>
            <a:endParaRPr lang="en-US"/>
          </a:p>
        </p:txBody>
      </p:sp>
      <p:sp>
        <p:nvSpPr>
          <p:cNvPr id="323591" name="Text Box 7"/>
          <p:cNvSpPr txBox="1">
            <a:spLocks noChangeArrowheads="1"/>
          </p:cNvSpPr>
          <p:nvPr/>
        </p:nvSpPr>
        <p:spPr bwMode="auto">
          <a:xfrm>
            <a:off x="533400" y="4648200"/>
            <a:ext cx="838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Any idea to overcome this?</a:t>
            </a:r>
            <a:endParaRPr lang="en-US"/>
          </a:p>
        </p:txBody>
      </p:sp>
      <p:sp>
        <p:nvSpPr>
          <p:cNvPr id="323592" name="Rectangle 8"/>
          <p:cNvSpPr>
            <a:spLocks noChangeArrowheads="1"/>
          </p:cNvSpPr>
          <p:nvPr/>
        </p:nvSpPr>
        <p:spPr bwMode="auto">
          <a:xfrm>
            <a:off x="381000" y="3124200"/>
            <a:ext cx="426720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3593" name="Rectangle 9"/>
          <p:cNvSpPr>
            <a:spLocks noChangeArrowheads="1"/>
          </p:cNvSpPr>
          <p:nvPr/>
        </p:nvSpPr>
        <p:spPr bwMode="auto">
          <a:xfrm>
            <a:off x="304800" y="3810000"/>
            <a:ext cx="8077200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3594" name="Rectangle 10"/>
          <p:cNvSpPr>
            <a:spLocks noChangeArrowheads="1"/>
          </p:cNvSpPr>
          <p:nvPr/>
        </p:nvSpPr>
        <p:spPr bwMode="auto">
          <a:xfrm>
            <a:off x="228600" y="4572000"/>
            <a:ext cx="8077200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92" grpId="0" animBg="1"/>
      <p:bldP spid="323593" grpId="0" animBg="1"/>
      <p:bldP spid="32359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2D30-9453-47B7-9CC5-AD80A1B66AEC}" type="slidenum">
              <a:rPr lang="en-US"/>
              <a:pPr/>
              <a:t>8</a:t>
            </a:fld>
            <a:endParaRPr lang="en-US"/>
          </a:p>
        </p:txBody>
      </p:sp>
      <p:sp>
        <p:nvSpPr>
          <p:cNvPr id="3246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617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Types of ARQ scheme </a:t>
            </a:r>
          </a:p>
        </p:txBody>
      </p:sp>
      <p:sp>
        <p:nvSpPr>
          <p:cNvPr id="32461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4612" name="Text Box 4"/>
          <p:cNvSpPr txBox="1">
            <a:spLocks noChangeArrowheads="1"/>
          </p:cNvSpPr>
          <p:nvPr/>
        </p:nvSpPr>
        <p:spPr bwMode="auto">
          <a:xfrm>
            <a:off x="457200" y="685800"/>
            <a:ext cx="8382000" cy="341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Continuous ARQ with pullback (or go-back-N)</a:t>
            </a:r>
          </a:p>
          <a:p>
            <a:pPr>
              <a:buFontTx/>
              <a:buChar char="•"/>
            </a:pPr>
            <a:r>
              <a:rPr lang="en-US" sz="2000"/>
              <a:t>Allows the receiver to send a feedback signal while the transmitter is sending another code word</a:t>
            </a:r>
          </a:p>
          <a:p>
            <a:pPr>
              <a:buFontTx/>
              <a:buChar char="•"/>
            </a:pPr>
            <a:r>
              <a:rPr lang="en-US" sz="2000"/>
              <a:t>The transmitter continues to send a succession of code words until it receives a retransmission request.</a:t>
            </a:r>
          </a:p>
          <a:p>
            <a:pPr>
              <a:buFontTx/>
              <a:buChar char="•"/>
            </a:pPr>
            <a:r>
              <a:rPr lang="en-US" sz="2000"/>
              <a:t>It then stops and pulls back to the particular code word that was not correctly decoded and retransmits the complete sequence of code words starting with the corrupted one.</a:t>
            </a:r>
          </a:p>
          <a:p>
            <a:pPr>
              <a:buFontTx/>
              <a:buChar char="•"/>
            </a:pPr>
            <a:endParaRPr lang="en-US" sz="2000"/>
          </a:p>
          <a:p>
            <a:r>
              <a:rPr lang="en-US"/>
              <a:t>What is the implication of this?</a:t>
            </a:r>
          </a:p>
          <a:p>
            <a:endParaRPr lang="en-US" sz="2000"/>
          </a:p>
        </p:txBody>
      </p:sp>
      <p:sp>
        <p:nvSpPr>
          <p:cNvPr id="324613" name="Rectangle 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4614" name="Text Box 6"/>
          <p:cNvSpPr txBox="1">
            <a:spLocks noChangeArrowheads="1"/>
          </p:cNvSpPr>
          <p:nvPr/>
        </p:nvSpPr>
        <p:spPr bwMode="auto">
          <a:xfrm>
            <a:off x="457200" y="3870325"/>
            <a:ext cx="8382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Code words that are successfully decoded are also retransmitted. This is a waste of resources</a:t>
            </a:r>
            <a:endParaRPr lang="en-US"/>
          </a:p>
        </p:txBody>
      </p:sp>
      <p:sp>
        <p:nvSpPr>
          <p:cNvPr id="324615" name="Text Box 7"/>
          <p:cNvSpPr txBox="1">
            <a:spLocks noChangeArrowheads="1"/>
          </p:cNvSpPr>
          <p:nvPr/>
        </p:nvSpPr>
        <p:spPr bwMode="auto">
          <a:xfrm>
            <a:off x="533400" y="4648200"/>
            <a:ext cx="838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Any idea to overcome this?</a:t>
            </a:r>
            <a:endParaRPr lang="en-US"/>
          </a:p>
        </p:txBody>
      </p:sp>
      <p:sp>
        <p:nvSpPr>
          <p:cNvPr id="324616" name="Rectangle 8"/>
          <p:cNvSpPr>
            <a:spLocks noChangeArrowheads="1"/>
          </p:cNvSpPr>
          <p:nvPr/>
        </p:nvSpPr>
        <p:spPr bwMode="auto">
          <a:xfrm>
            <a:off x="381000" y="3429000"/>
            <a:ext cx="342900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4617" name="Rectangle 9"/>
          <p:cNvSpPr>
            <a:spLocks noChangeArrowheads="1"/>
          </p:cNvSpPr>
          <p:nvPr/>
        </p:nvSpPr>
        <p:spPr bwMode="auto">
          <a:xfrm>
            <a:off x="457200" y="3962400"/>
            <a:ext cx="8077200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24618" name="Rectangle 10"/>
          <p:cNvSpPr>
            <a:spLocks noChangeArrowheads="1"/>
          </p:cNvSpPr>
          <p:nvPr/>
        </p:nvSpPr>
        <p:spPr bwMode="auto">
          <a:xfrm>
            <a:off x="457200" y="4648200"/>
            <a:ext cx="8077200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6" grpId="0" animBg="1"/>
      <p:bldP spid="324617" grpId="0" animBg="1"/>
      <p:bldP spid="3246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AED71-FF56-460B-987F-A7CF302370BC}" type="slidenum">
              <a:rPr lang="en-US"/>
              <a:pPr/>
              <a:t>9</a:t>
            </a:fld>
            <a:endParaRPr lang="en-US"/>
          </a:p>
        </p:txBody>
      </p:sp>
      <p:sp>
        <p:nvSpPr>
          <p:cNvPr id="32665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6660" name="Text Box 4"/>
          <p:cNvSpPr txBox="1">
            <a:spLocks noChangeArrowheads="1"/>
          </p:cNvSpPr>
          <p:nvPr/>
        </p:nvSpPr>
        <p:spPr bwMode="auto">
          <a:xfrm>
            <a:off x="533400" y="381000"/>
            <a:ext cx="838200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Continuous ARQ with selective repeat</a:t>
            </a:r>
          </a:p>
          <a:p>
            <a:pPr>
              <a:buFontTx/>
              <a:buChar char="•"/>
            </a:pPr>
            <a:r>
              <a:rPr lang="en-US"/>
              <a:t>Retransmits the code word that was incorrectly decoded only.</a:t>
            </a:r>
          </a:p>
          <a:p>
            <a:pPr>
              <a:buFontTx/>
              <a:buChar char="•"/>
            </a:pPr>
            <a:r>
              <a:rPr lang="en-US"/>
              <a:t>Thus, eliminates the need for retransmitting the successfully decoded code words.</a:t>
            </a:r>
          </a:p>
          <a:p>
            <a:endParaRPr lang="en-US"/>
          </a:p>
        </p:txBody>
      </p:sp>
      <p:sp>
        <p:nvSpPr>
          <p:cNvPr id="326661" name="Rectangle 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6662" name="Text Box 6"/>
          <p:cNvSpPr txBox="1">
            <a:spLocks noChangeArrowheads="1"/>
          </p:cNvSpPr>
          <p:nvPr/>
        </p:nvSpPr>
        <p:spPr bwMode="auto">
          <a:xfrm>
            <a:off x="1295400" y="5867400"/>
            <a:ext cx="7696200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b="1">
                <a:latin typeface="Times New Roman" pitchFamily="18" charset="0"/>
              </a:rPr>
              <a:t>ARQ schemes  (a) stop-and-wait (b) go-back (c) selective repeat  </a:t>
            </a:r>
          </a:p>
          <a:p>
            <a:pPr eaLnBrk="0" hangingPunct="0">
              <a:spcBef>
                <a:spcPct val="50000"/>
              </a:spcBef>
            </a:pPr>
            <a:r>
              <a:rPr lang="en-US" sz="1200">
                <a:latin typeface="Times New Roman" pitchFamily="18" charset="0"/>
              </a:rPr>
              <a:t>Figure 13.1-7</a:t>
            </a:r>
            <a:endParaRPr lang="en-US" sz="1600" b="1">
              <a:latin typeface="Times New Roman" pitchFamily="18" charset="0"/>
            </a:endParaRPr>
          </a:p>
        </p:txBody>
      </p:sp>
      <p:pic>
        <p:nvPicPr>
          <p:cNvPr id="326663" name="Picture 7" descr="car11278_13010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2125" y="1447800"/>
            <a:ext cx="5629275" cy="4448175"/>
          </a:xfrm>
          <a:prstGeom prst="rect">
            <a:avLst/>
          </a:prstGeom>
          <a:noFill/>
        </p:spPr>
      </p:pic>
      <p:sp>
        <p:nvSpPr>
          <p:cNvPr id="326664" name="Rectangle 8"/>
          <p:cNvSpPr>
            <a:spLocks noChangeArrowheads="1"/>
          </p:cNvSpPr>
          <p:nvPr/>
        </p:nvSpPr>
        <p:spPr bwMode="auto">
          <a:xfrm>
            <a:off x="1371600" y="1371600"/>
            <a:ext cx="6096000" cy="487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055A7-AA73-4DD2-B87C-E9A6E5FFE794}" type="slidenum">
              <a:rPr lang="en-US"/>
              <a:pPr/>
              <a:t>10</a:t>
            </a:fld>
            <a:endParaRPr lang="en-US"/>
          </a:p>
        </p:txBody>
      </p:sp>
      <p:sp>
        <p:nvSpPr>
          <p:cNvPr id="32768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3058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Linear Block Codes </a:t>
            </a:r>
          </a:p>
          <a:p>
            <a:r>
              <a:rPr lang="en-US"/>
              <a:t>An (n,k) block code indicates that the codeword has n number of bits and k is the number of bits for the original binary message</a:t>
            </a:r>
          </a:p>
          <a:p>
            <a:r>
              <a:rPr lang="en-US"/>
              <a:t>A code is said to be linear if any two code words in the code can be added in modulo-2 arithmetic to produce a third code word in the code</a:t>
            </a:r>
          </a:p>
          <a:p>
            <a:endParaRPr lang="en-US" b="1"/>
          </a:p>
        </p:txBody>
      </p:sp>
      <p:sp>
        <p:nvSpPr>
          <p:cNvPr id="32768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7684" name="Text Box 4"/>
          <p:cNvSpPr txBox="1">
            <a:spLocks noChangeArrowheads="1"/>
          </p:cNvSpPr>
          <p:nvPr/>
        </p:nvSpPr>
        <p:spPr bwMode="auto">
          <a:xfrm>
            <a:off x="304800" y="1752600"/>
            <a:ext cx="83820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Code Vectors</a:t>
            </a:r>
          </a:p>
          <a:p>
            <a:r>
              <a:rPr lang="en-US"/>
              <a:t>Any n-bit code word can be visualised in an n-dimensional space as a vector whose elements having coordinates equal the bits in the code word</a:t>
            </a:r>
          </a:p>
          <a:p>
            <a:endParaRPr lang="en-US"/>
          </a:p>
          <a:p>
            <a:r>
              <a:rPr lang="en-US"/>
              <a:t>For example a code word 101 can be written in a row vector notation as (1 0 1)</a:t>
            </a:r>
          </a:p>
          <a:p>
            <a:endParaRPr lang="en-US" sz="2000"/>
          </a:p>
        </p:txBody>
      </p:sp>
      <p:sp>
        <p:nvSpPr>
          <p:cNvPr id="327685" name="Rectangle 5"/>
          <p:cNvSpPr>
            <a:spLocks noChangeArrowheads="1"/>
          </p:cNvSpPr>
          <p:nvPr/>
        </p:nvSpPr>
        <p:spPr bwMode="auto">
          <a:xfrm>
            <a:off x="0" y="3748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7686" name="Text Box 6"/>
          <p:cNvSpPr txBox="1">
            <a:spLocks noChangeArrowheads="1"/>
          </p:cNvSpPr>
          <p:nvPr/>
        </p:nvSpPr>
        <p:spPr bwMode="auto">
          <a:xfrm>
            <a:off x="228600" y="3427413"/>
            <a:ext cx="8686800" cy="304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 Matrix representation of block codes</a:t>
            </a:r>
          </a:p>
          <a:p>
            <a:r>
              <a:rPr lang="en-US"/>
              <a:t>The code vector can be written in matrix form:</a:t>
            </a:r>
          </a:p>
          <a:p>
            <a:r>
              <a:rPr lang="en-US"/>
              <a:t>A block of k message bits can be written in the form of 1-by-k matrix</a:t>
            </a:r>
          </a:p>
          <a:p>
            <a:endParaRPr lang="en-US" b="1"/>
          </a:p>
          <a:p>
            <a:pPr lvl="1"/>
            <a:r>
              <a:rPr lang="en-US" sz="2000" b="1"/>
              <a:t>Modulo-2 operations</a:t>
            </a:r>
          </a:p>
          <a:p>
            <a:pPr lvl="1"/>
            <a:r>
              <a:rPr lang="en-US" sz="2000"/>
              <a:t> The encoding and decoding functions involve the binary arithmetic operation of modulo-2</a:t>
            </a:r>
          </a:p>
          <a:p>
            <a:pPr lvl="1"/>
            <a:r>
              <a:rPr lang="en-US" sz="2000"/>
              <a:t> Rules for modulo-2 operations are…..</a:t>
            </a:r>
          </a:p>
          <a:p>
            <a:endParaRPr lang="en-US" sz="2000"/>
          </a:p>
          <a:p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D125-4D51-43B0-B705-6276F3D156C8}" type="slidenum">
              <a:rPr lang="en-US"/>
              <a:pPr/>
              <a:t>11</a:t>
            </a:fld>
            <a:endParaRPr lang="en-US"/>
          </a:p>
        </p:txBody>
      </p:sp>
      <p:sp>
        <p:nvSpPr>
          <p:cNvPr id="33792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37925" name="Rectangle 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37926" name="Text Box 6"/>
          <p:cNvSpPr txBox="1">
            <a:spLocks noChangeArrowheads="1"/>
          </p:cNvSpPr>
          <p:nvPr/>
        </p:nvSpPr>
        <p:spPr bwMode="auto">
          <a:xfrm>
            <a:off x="228600" y="381000"/>
            <a:ext cx="8686800" cy="603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Modulo-2 operations</a:t>
            </a:r>
          </a:p>
          <a:p>
            <a:pPr lvl="1"/>
            <a:r>
              <a:rPr lang="en-US" sz="2000"/>
              <a:t> The encoding and decoding functions involve the binary arithmetic operation of modulo-2</a:t>
            </a:r>
          </a:p>
          <a:p>
            <a:pPr lvl="1"/>
            <a:r>
              <a:rPr lang="en-US" sz="2000"/>
              <a:t> Rules for modulo-2 operations are:</a:t>
            </a:r>
          </a:p>
          <a:p>
            <a:pPr lvl="1"/>
            <a:endParaRPr lang="en-US" sz="2000"/>
          </a:p>
          <a:p>
            <a:pPr lvl="3"/>
            <a:r>
              <a:rPr lang="en-US" sz="2000"/>
              <a:t>	Modulo-2 addition</a:t>
            </a:r>
          </a:p>
          <a:p>
            <a:pPr lvl="3"/>
            <a:r>
              <a:rPr lang="en-US" sz="2000"/>
              <a:t>		0 + 0 = 0</a:t>
            </a:r>
          </a:p>
          <a:p>
            <a:pPr lvl="3"/>
            <a:r>
              <a:rPr lang="en-US" sz="2000"/>
              <a:t>		1 + 0 = 1</a:t>
            </a:r>
          </a:p>
          <a:p>
            <a:pPr lvl="3"/>
            <a:r>
              <a:rPr lang="en-US" sz="2000"/>
              <a:t>		0 + 1 = 1</a:t>
            </a:r>
          </a:p>
          <a:p>
            <a:pPr lvl="3"/>
            <a:r>
              <a:rPr lang="en-US" sz="2000"/>
              <a:t>		1 + 1 = 0</a:t>
            </a:r>
          </a:p>
          <a:p>
            <a:pPr lvl="3"/>
            <a:endParaRPr lang="en-US" sz="2000"/>
          </a:p>
          <a:p>
            <a:pPr lvl="3"/>
            <a:r>
              <a:rPr lang="en-US"/>
              <a:t>	Modulo-2 multiplication</a:t>
            </a:r>
          </a:p>
          <a:p>
            <a:pPr lvl="3"/>
            <a:r>
              <a:rPr lang="en-US"/>
              <a:t>		0 x 0 = 0</a:t>
            </a:r>
          </a:p>
          <a:p>
            <a:pPr lvl="3"/>
            <a:r>
              <a:rPr lang="en-US"/>
              <a:t>		1 x 0 = 0</a:t>
            </a:r>
          </a:p>
          <a:p>
            <a:pPr lvl="3"/>
            <a:r>
              <a:rPr lang="en-US"/>
              <a:t>		0 x 1 = 0</a:t>
            </a:r>
          </a:p>
          <a:p>
            <a:pPr lvl="3"/>
            <a:r>
              <a:rPr lang="en-US"/>
              <a:t>		1 x 1 = 1</a:t>
            </a:r>
          </a:p>
          <a:p>
            <a:pPr lvl="3"/>
            <a:endParaRPr lang="en-US" sz="2000"/>
          </a:p>
          <a:p>
            <a:pPr lvl="1"/>
            <a:endParaRPr lang="en-US" sz="2000"/>
          </a:p>
          <a:p>
            <a:endParaRPr lang="en-US" sz="2000"/>
          </a:p>
          <a:p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98EA3-FC75-430B-BDE2-227F20DF38B9}" type="slidenum">
              <a:rPr lang="en-US"/>
              <a:pPr/>
              <a:t>12</a:t>
            </a:fld>
            <a:endParaRPr lang="en-US"/>
          </a:p>
        </p:txBody>
      </p:sp>
      <p:sp>
        <p:nvSpPr>
          <p:cNvPr id="34304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3058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Linear Block Code – Example : The Repetition Code</a:t>
            </a:r>
          </a:p>
          <a:p>
            <a:endParaRPr lang="en-US"/>
          </a:p>
          <a:p>
            <a:r>
              <a:rPr lang="en-US"/>
              <a:t>The additional (redundancy) bits (n-k) are identical to k</a:t>
            </a:r>
          </a:p>
          <a:p>
            <a:endParaRPr lang="en-US"/>
          </a:p>
        </p:txBody>
      </p:sp>
      <p:sp>
        <p:nvSpPr>
          <p:cNvPr id="34304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3044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3045" name="Text Box 5"/>
          <p:cNvSpPr txBox="1">
            <a:spLocks noChangeArrowheads="1"/>
          </p:cNvSpPr>
          <p:nvPr/>
        </p:nvSpPr>
        <p:spPr bwMode="auto">
          <a:xfrm>
            <a:off x="381000" y="1828800"/>
            <a:ext cx="8305800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Example : A (5,1) repetition code. </a:t>
            </a:r>
          </a:p>
          <a:p>
            <a:endParaRPr lang="en-US"/>
          </a:p>
          <a:p>
            <a:r>
              <a:rPr lang="en-US"/>
              <a:t>The original binary message has 1 bit. (5-1=4) bits are added to the binary message to form a code word and the 4 additional bits are identical to the 1 bit binary message.</a:t>
            </a:r>
          </a:p>
          <a:p>
            <a:r>
              <a:rPr lang="en-US"/>
              <a:t>So, you have 2 code words either 1111</a:t>
            </a:r>
            <a:r>
              <a:rPr lang="en-US" u="sng"/>
              <a:t>1</a:t>
            </a:r>
            <a:r>
              <a:rPr lang="en-US"/>
              <a:t> or 0000</a:t>
            </a:r>
            <a:r>
              <a:rPr lang="en-US" u="sng"/>
              <a:t>0.</a:t>
            </a:r>
          </a:p>
          <a:p>
            <a:r>
              <a:rPr lang="en-US"/>
              <a:t>In the case of error, 1 will changed to 0 and/or vice versa and the decoder will know that it has wrongly received a code word.</a:t>
            </a:r>
          </a:p>
          <a:p>
            <a:endParaRPr lang="en-US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0EA54-1AFA-453B-A9E3-F0170B251257}" type="slidenum">
              <a:rPr lang="en-US"/>
              <a:pPr/>
              <a:t>13</a:t>
            </a:fld>
            <a:endParaRPr lang="en-US"/>
          </a:p>
        </p:txBody>
      </p:sp>
      <p:sp>
        <p:nvSpPr>
          <p:cNvPr id="34406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534400" cy="311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Parity-check Codes </a:t>
            </a:r>
          </a:p>
          <a:p>
            <a:r>
              <a:rPr lang="en-US"/>
              <a:t>Codes are based on the notion of parity.</a:t>
            </a:r>
          </a:p>
          <a:p>
            <a:r>
              <a:rPr lang="en-US"/>
              <a:t>The parity of a binary word is said to be even when the word contains and even number of 1s and odd parity when it has odd number of 1s.</a:t>
            </a:r>
          </a:p>
          <a:p>
            <a:endParaRPr lang="en-US"/>
          </a:p>
          <a:p>
            <a:r>
              <a:rPr lang="en-US"/>
              <a:t>A group of n-bits codewords are constructed from a group of n-1 message bits.</a:t>
            </a:r>
          </a:p>
          <a:p>
            <a:r>
              <a:rPr lang="en-US"/>
              <a:t>One check bit is added to the n-1 message bits such that all the codewords have the same parity</a:t>
            </a:r>
          </a:p>
          <a:p>
            <a:endParaRPr lang="en-US"/>
          </a:p>
          <a:p>
            <a:r>
              <a:rPr lang="en-US"/>
              <a:t>When the received codeword has different parity, we know that an error has occurred</a:t>
            </a:r>
            <a:endParaRPr lang="en-US" b="1"/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4068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4069" name="Text Box 5"/>
          <p:cNvSpPr txBox="1">
            <a:spLocks noChangeArrowheads="1"/>
          </p:cNvSpPr>
          <p:nvPr/>
        </p:nvSpPr>
        <p:spPr bwMode="auto">
          <a:xfrm>
            <a:off x="381000" y="3471863"/>
            <a:ext cx="83058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Example : n=3 and even parity</a:t>
            </a:r>
          </a:p>
          <a:p>
            <a:endParaRPr lang="en-US"/>
          </a:p>
          <a:p>
            <a:r>
              <a:rPr lang="en-US"/>
              <a:t>The binary message are 00,01,10,11</a:t>
            </a:r>
          </a:p>
          <a:p>
            <a:r>
              <a:rPr lang="en-US"/>
              <a:t>The check bit is added such that all the code words have even parity</a:t>
            </a:r>
          </a:p>
          <a:p>
            <a:r>
              <a:rPr lang="en-US"/>
              <a:t>So, the resulting code words are 00</a:t>
            </a:r>
            <a:r>
              <a:rPr lang="en-US" u="sng"/>
              <a:t>0</a:t>
            </a:r>
            <a:r>
              <a:rPr lang="en-US"/>
              <a:t>,01</a:t>
            </a:r>
            <a:r>
              <a:rPr lang="en-US" u="sng"/>
              <a:t>1</a:t>
            </a:r>
            <a:r>
              <a:rPr lang="en-US"/>
              <a:t>,10</a:t>
            </a:r>
            <a:r>
              <a:rPr lang="en-US" u="sng"/>
              <a:t>1</a:t>
            </a:r>
            <a:r>
              <a:rPr lang="en-US"/>
              <a:t> and 11</a:t>
            </a:r>
            <a:r>
              <a:rPr lang="en-US" u="sng"/>
              <a:t>0</a:t>
            </a:r>
          </a:p>
          <a:p>
            <a:endParaRPr lang="en-US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08CE5-C44B-4E82-8215-325A5E7A6C2C}" type="slidenum">
              <a:rPr lang="en-US"/>
              <a:pPr/>
              <a:t>14</a:t>
            </a:fld>
            <a:endParaRPr lang="en-US"/>
          </a:p>
        </p:txBody>
      </p:sp>
      <p:sp>
        <p:nvSpPr>
          <p:cNvPr id="34509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534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Systematic Block Codes </a:t>
            </a:r>
          </a:p>
          <a:p>
            <a:r>
              <a:rPr lang="en-US"/>
              <a:t>Codes in which the message bits are transmitted in an unaltered form.</a:t>
            </a:r>
            <a:endParaRPr lang="en-US" b="1"/>
          </a:p>
        </p:txBody>
      </p:sp>
      <p:sp>
        <p:nvSpPr>
          <p:cNvPr id="34509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5092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5093" name="Text Box 5"/>
          <p:cNvSpPr txBox="1">
            <a:spLocks noChangeArrowheads="1"/>
          </p:cNvSpPr>
          <p:nvPr/>
        </p:nvSpPr>
        <p:spPr bwMode="auto">
          <a:xfrm>
            <a:off x="381000" y="990600"/>
            <a:ext cx="8305800" cy="558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Example : Consider an (n,k) linear block code</a:t>
            </a:r>
          </a:p>
          <a:p>
            <a:endParaRPr lang="en-US"/>
          </a:p>
          <a:p>
            <a:r>
              <a:rPr lang="en-US"/>
              <a:t>There are 2</a:t>
            </a:r>
            <a:r>
              <a:rPr lang="en-US" baseline="30000"/>
              <a:t>k</a:t>
            </a:r>
            <a:r>
              <a:rPr lang="en-US"/>
              <a:t> number of distinct message blocks  and 2</a:t>
            </a:r>
            <a:r>
              <a:rPr lang="en-US" baseline="30000"/>
              <a:t>n</a:t>
            </a:r>
            <a:r>
              <a:rPr lang="en-US"/>
              <a:t>  number of distinct code words</a:t>
            </a:r>
          </a:p>
          <a:p>
            <a:endParaRPr lang="en-US"/>
          </a:p>
          <a:p>
            <a:r>
              <a:rPr lang="en-US"/>
              <a:t>Let m</a:t>
            </a:r>
            <a:r>
              <a:rPr lang="en-US" baseline="-25000"/>
              <a:t>0</a:t>
            </a:r>
            <a:r>
              <a:rPr lang="en-US"/>
              <a:t>,m</a:t>
            </a:r>
            <a:r>
              <a:rPr lang="en-US" baseline="-25000"/>
              <a:t>1</a:t>
            </a:r>
            <a:r>
              <a:rPr lang="en-US"/>
              <a:t>,….m</a:t>
            </a:r>
            <a:r>
              <a:rPr lang="en-US" baseline="-25000"/>
              <a:t>k-1</a:t>
            </a:r>
            <a:r>
              <a:rPr lang="en-US"/>
              <a:t> constitute a block of k-bits binary message</a:t>
            </a:r>
          </a:p>
          <a:p>
            <a:endParaRPr lang="en-US"/>
          </a:p>
          <a:p>
            <a:r>
              <a:rPr lang="en-US"/>
              <a:t>By applying this sequence of message bits to a linear block encoder, it adds n-k bits to the binary message</a:t>
            </a:r>
          </a:p>
          <a:p>
            <a:endParaRPr lang="en-US"/>
          </a:p>
          <a:p>
            <a:r>
              <a:rPr lang="en-US"/>
              <a:t>Let b</a:t>
            </a:r>
            <a:r>
              <a:rPr lang="en-US" baseline="-25000"/>
              <a:t>0</a:t>
            </a:r>
            <a:r>
              <a:rPr lang="en-US"/>
              <a:t>,b</a:t>
            </a:r>
            <a:r>
              <a:rPr lang="en-US" baseline="-25000"/>
              <a:t>1</a:t>
            </a:r>
            <a:r>
              <a:rPr lang="en-US"/>
              <a:t>,….b</a:t>
            </a:r>
            <a:r>
              <a:rPr lang="en-US" baseline="-25000"/>
              <a:t>n-k-1</a:t>
            </a:r>
            <a:r>
              <a:rPr lang="en-US"/>
              <a:t> constitute a block of n-k-bits redundancy</a:t>
            </a:r>
          </a:p>
          <a:p>
            <a:endParaRPr lang="en-US"/>
          </a:p>
          <a:p>
            <a:r>
              <a:rPr lang="en-US"/>
              <a:t>This will produce an n-bits code word</a:t>
            </a:r>
          </a:p>
          <a:p>
            <a:endParaRPr lang="en-US"/>
          </a:p>
          <a:p>
            <a:r>
              <a:rPr lang="en-US"/>
              <a:t>Let c</a:t>
            </a:r>
            <a:r>
              <a:rPr lang="en-US" baseline="-25000"/>
              <a:t>0</a:t>
            </a:r>
            <a:r>
              <a:rPr lang="en-US"/>
              <a:t>,c</a:t>
            </a:r>
            <a:r>
              <a:rPr lang="en-US" baseline="-25000"/>
              <a:t>1</a:t>
            </a:r>
            <a:r>
              <a:rPr lang="en-US"/>
              <a:t>,….c</a:t>
            </a:r>
            <a:r>
              <a:rPr lang="en-US" baseline="-25000"/>
              <a:t>n-1</a:t>
            </a:r>
            <a:r>
              <a:rPr lang="en-US"/>
              <a:t> constitute a block of n-bits code word</a:t>
            </a:r>
          </a:p>
          <a:p>
            <a:endParaRPr lang="en-US"/>
          </a:p>
          <a:p>
            <a:r>
              <a:rPr lang="en-US"/>
              <a:t>Using vector representation they can be written in a row vector notation respectively as </a:t>
            </a:r>
          </a:p>
          <a:p>
            <a:r>
              <a:rPr lang="en-US"/>
              <a:t>	</a:t>
            </a:r>
            <a:r>
              <a:rPr lang="en-US" b="1"/>
              <a:t> </a:t>
            </a:r>
            <a:r>
              <a:rPr lang="en-US"/>
              <a:t>(c</a:t>
            </a:r>
            <a:r>
              <a:rPr lang="en-US" baseline="-25000"/>
              <a:t>0</a:t>
            </a:r>
            <a:r>
              <a:rPr lang="en-US"/>
              <a:t>  c</a:t>
            </a:r>
            <a:r>
              <a:rPr lang="en-US" baseline="-25000"/>
              <a:t>1</a:t>
            </a:r>
            <a:r>
              <a:rPr lang="en-US"/>
              <a:t> ….  c</a:t>
            </a:r>
            <a:r>
              <a:rPr lang="en-US" baseline="-25000"/>
              <a:t>n</a:t>
            </a:r>
            <a:r>
              <a:rPr lang="en-US"/>
              <a:t> )  ,   (m</a:t>
            </a:r>
            <a:r>
              <a:rPr lang="en-US" baseline="-25000"/>
              <a:t>0</a:t>
            </a:r>
            <a:r>
              <a:rPr lang="en-US"/>
              <a:t> m</a:t>
            </a:r>
            <a:r>
              <a:rPr lang="en-US" baseline="-25000"/>
              <a:t>1</a:t>
            </a:r>
            <a:r>
              <a:rPr lang="en-US"/>
              <a:t> …. m</a:t>
            </a:r>
            <a:r>
              <a:rPr lang="en-US" baseline="-25000"/>
              <a:t>k-1 </a:t>
            </a:r>
            <a:r>
              <a:rPr lang="en-US"/>
              <a:t>) </a:t>
            </a:r>
            <a:r>
              <a:rPr lang="en-US" b="1"/>
              <a:t> and </a:t>
            </a:r>
            <a:r>
              <a:rPr lang="en-US"/>
              <a:t>(b</a:t>
            </a:r>
            <a:r>
              <a:rPr lang="en-US" baseline="-25000"/>
              <a:t>0</a:t>
            </a:r>
            <a:r>
              <a:rPr lang="en-US"/>
              <a:t> b</a:t>
            </a:r>
            <a:r>
              <a:rPr lang="en-US" baseline="-25000"/>
              <a:t>1</a:t>
            </a:r>
            <a:r>
              <a:rPr lang="en-US"/>
              <a:t> …. b</a:t>
            </a:r>
            <a:r>
              <a:rPr lang="en-US" baseline="-25000"/>
              <a:t>n-k-1</a:t>
            </a:r>
            <a:r>
              <a:rPr lang="en-US"/>
              <a:t> )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53E2B-6C6C-4DC2-89F8-180AA0EB026E}" type="slidenum">
              <a:rPr lang="en-US"/>
              <a:pPr/>
              <a:t>15</a:t>
            </a:fld>
            <a:endParaRPr lang="en-US"/>
          </a:p>
        </p:txBody>
      </p:sp>
      <p:sp>
        <p:nvSpPr>
          <p:cNvPr id="3461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53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Systematic Block Codes </a:t>
            </a:r>
          </a:p>
        </p:txBody>
      </p:sp>
      <p:sp>
        <p:nvSpPr>
          <p:cNvPr id="34611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6116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6117" name="Text Box 5"/>
          <p:cNvSpPr txBox="1">
            <a:spLocks noChangeArrowheads="1"/>
          </p:cNvSpPr>
          <p:nvPr/>
        </p:nvSpPr>
        <p:spPr bwMode="auto">
          <a:xfrm>
            <a:off x="381000" y="838200"/>
            <a:ext cx="8305800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Using matrix representation, we can define </a:t>
            </a:r>
          </a:p>
          <a:p>
            <a:endParaRPr lang="en-US"/>
          </a:p>
          <a:p>
            <a:r>
              <a:rPr lang="en-US"/>
              <a:t>	</a:t>
            </a:r>
            <a:r>
              <a:rPr lang="en-US" b="1"/>
              <a:t>c</a:t>
            </a:r>
            <a:r>
              <a:rPr lang="en-US"/>
              <a:t>, the 1-by-n code vector = [c</a:t>
            </a:r>
            <a:r>
              <a:rPr lang="en-US" baseline="-25000"/>
              <a:t>0</a:t>
            </a:r>
            <a:r>
              <a:rPr lang="en-US"/>
              <a:t>  c</a:t>
            </a:r>
            <a:r>
              <a:rPr lang="en-US" baseline="-25000"/>
              <a:t>1</a:t>
            </a:r>
            <a:r>
              <a:rPr lang="en-US"/>
              <a:t> ….  c</a:t>
            </a:r>
            <a:r>
              <a:rPr lang="en-US" baseline="-25000"/>
              <a:t>n</a:t>
            </a:r>
            <a:r>
              <a:rPr lang="en-US"/>
              <a:t> ] </a:t>
            </a:r>
          </a:p>
          <a:p>
            <a:r>
              <a:rPr lang="en-US"/>
              <a:t>	</a:t>
            </a:r>
            <a:r>
              <a:rPr lang="en-US" b="1"/>
              <a:t>m, </a:t>
            </a:r>
            <a:r>
              <a:rPr lang="en-US"/>
              <a:t>the 1-by-k message vector =[m</a:t>
            </a:r>
            <a:r>
              <a:rPr lang="en-US" baseline="-25000"/>
              <a:t>0</a:t>
            </a:r>
            <a:r>
              <a:rPr lang="en-US"/>
              <a:t> m</a:t>
            </a:r>
            <a:r>
              <a:rPr lang="en-US" baseline="-25000"/>
              <a:t>1</a:t>
            </a:r>
            <a:r>
              <a:rPr lang="en-US"/>
              <a:t> …. m</a:t>
            </a:r>
            <a:r>
              <a:rPr lang="en-US" baseline="-25000"/>
              <a:t>k-1</a:t>
            </a:r>
            <a:r>
              <a:rPr lang="en-US"/>
              <a:t> ] </a:t>
            </a:r>
          </a:p>
          <a:p>
            <a:r>
              <a:rPr lang="en-US"/>
              <a:t>	</a:t>
            </a:r>
            <a:r>
              <a:rPr lang="en-US" b="1"/>
              <a:t>b, </a:t>
            </a:r>
            <a:r>
              <a:rPr lang="en-US"/>
              <a:t>the 1-by-(n-k) parity vector = [b</a:t>
            </a:r>
            <a:r>
              <a:rPr lang="en-US" baseline="-25000"/>
              <a:t>0</a:t>
            </a:r>
            <a:r>
              <a:rPr lang="en-US"/>
              <a:t> b</a:t>
            </a:r>
            <a:r>
              <a:rPr lang="en-US" baseline="-25000"/>
              <a:t>1</a:t>
            </a:r>
            <a:r>
              <a:rPr lang="en-US"/>
              <a:t> …. b</a:t>
            </a:r>
            <a:r>
              <a:rPr lang="en-US" baseline="-25000"/>
              <a:t>n-k-1</a:t>
            </a:r>
            <a:r>
              <a:rPr lang="en-US"/>
              <a:t> ]</a:t>
            </a:r>
          </a:p>
          <a:p>
            <a:endParaRPr lang="en-US"/>
          </a:p>
          <a:p>
            <a:r>
              <a:rPr lang="en-US"/>
              <a:t>With a </a:t>
            </a:r>
            <a:r>
              <a:rPr lang="en-US" u="sng"/>
              <a:t>systematic</a:t>
            </a:r>
            <a:r>
              <a:rPr lang="en-US"/>
              <a:t> structure, a code word is divided into 2 parts. 1 part occupied by the binary message only and the other part by the redundant (parity) bits.</a:t>
            </a:r>
          </a:p>
        </p:txBody>
      </p:sp>
      <p:pic>
        <p:nvPicPr>
          <p:cNvPr id="34611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048000"/>
            <a:ext cx="7696200" cy="2195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346119" name="Text Box 7"/>
          <p:cNvSpPr txBox="1">
            <a:spLocks noChangeArrowheads="1"/>
          </p:cNvSpPr>
          <p:nvPr/>
        </p:nvSpPr>
        <p:spPr bwMode="auto">
          <a:xfrm>
            <a:off x="457200" y="5029200"/>
            <a:ext cx="83058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The (n-k) left-most bits of a code word are identical to the corresponding parity bits</a:t>
            </a:r>
          </a:p>
          <a:p>
            <a:r>
              <a:rPr lang="en-US"/>
              <a:t>The k right-most bits of a code word are identical to the corresponding message bits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C172-D421-4AF5-839E-AA8ABE66790B}" type="slidenum">
              <a:rPr lang="en-US"/>
              <a:pPr/>
              <a:t>16</a:t>
            </a:fld>
            <a:endParaRPr lang="en-US"/>
          </a:p>
        </p:txBody>
      </p:sp>
      <p:sp>
        <p:nvSpPr>
          <p:cNvPr id="347138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853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Systematic Block Codes </a:t>
            </a:r>
          </a:p>
        </p:txBody>
      </p:sp>
      <p:sp>
        <p:nvSpPr>
          <p:cNvPr id="34713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7140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7141" name="Text Box 5"/>
          <p:cNvSpPr txBox="1">
            <a:spLocks noChangeArrowheads="1"/>
          </p:cNvSpPr>
          <p:nvPr/>
        </p:nvSpPr>
        <p:spPr bwMode="auto">
          <a:xfrm>
            <a:off x="228600" y="914400"/>
            <a:ext cx="8305800" cy="366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In matrix form, we can write the code vector,</a:t>
            </a:r>
            <a:r>
              <a:rPr lang="en-US" b="1"/>
              <a:t>c </a:t>
            </a:r>
            <a:r>
              <a:rPr lang="en-US"/>
              <a:t>as a partitioned row vector in terms of vectors </a:t>
            </a:r>
            <a:r>
              <a:rPr lang="en-US" b="1"/>
              <a:t>m</a:t>
            </a:r>
            <a:r>
              <a:rPr lang="en-US"/>
              <a:t> and </a:t>
            </a:r>
            <a:r>
              <a:rPr lang="en-US" b="1"/>
              <a:t>b</a:t>
            </a:r>
          </a:p>
          <a:p>
            <a:endParaRPr lang="en-US" b="1"/>
          </a:p>
          <a:p>
            <a:r>
              <a:rPr lang="en-US" b="1"/>
              <a:t>			c=</a:t>
            </a:r>
            <a:r>
              <a:rPr lang="en-US"/>
              <a:t>[</a:t>
            </a:r>
            <a:r>
              <a:rPr lang="en-US" b="1"/>
              <a:t>b  m</a:t>
            </a:r>
            <a:r>
              <a:rPr lang="en-US"/>
              <a:t>]</a:t>
            </a:r>
          </a:p>
          <a:p>
            <a:endParaRPr lang="en-US"/>
          </a:p>
          <a:p>
            <a:r>
              <a:rPr lang="en-US"/>
              <a:t>Given a message vector m, the corresponding code vector, c for a systematic linear (n,k) block code can be obtained by a matrix multiplication</a:t>
            </a:r>
          </a:p>
          <a:p>
            <a:endParaRPr lang="en-US"/>
          </a:p>
          <a:p>
            <a:r>
              <a:rPr lang="en-US" b="1"/>
              <a:t>			c=m.G</a:t>
            </a:r>
          </a:p>
          <a:p>
            <a:endParaRPr lang="en-US" b="1"/>
          </a:p>
          <a:p>
            <a:r>
              <a:rPr lang="en-US"/>
              <a:t>Where </a:t>
            </a:r>
            <a:r>
              <a:rPr lang="en-US" b="1"/>
              <a:t>G </a:t>
            </a:r>
            <a:r>
              <a:rPr lang="en-US"/>
              <a:t>is the k-by-n generator matrix.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47142" name="Line 6"/>
          <p:cNvSpPr>
            <a:spLocks noChangeShapeType="1"/>
          </p:cNvSpPr>
          <p:nvPr/>
        </p:nvSpPr>
        <p:spPr bwMode="auto">
          <a:xfrm>
            <a:off x="3581400" y="1752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85284-A1CC-474C-8116-92F15E070478}" type="slidenum">
              <a:rPr lang="en-US"/>
              <a:pPr/>
              <a:t>17</a:t>
            </a:fld>
            <a:endParaRPr lang="en-US"/>
          </a:p>
        </p:txBody>
      </p:sp>
      <p:sp>
        <p:nvSpPr>
          <p:cNvPr id="348162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853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Systematic Block Codes – The generator matrix, G</a:t>
            </a:r>
          </a:p>
        </p:txBody>
      </p:sp>
      <p:sp>
        <p:nvSpPr>
          <p:cNvPr id="34816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8164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8165" name="Text Box 5"/>
          <p:cNvSpPr txBox="1">
            <a:spLocks noChangeArrowheads="1"/>
          </p:cNvSpPr>
          <p:nvPr/>
        </p:nvSpPr>
        <p:spPr bwMode="auto">
          <a:xfrm>
            <a:off x="228600" y="914400"/>
            <a:ext cx="8305800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G, </a:t>
            </a:r>
            <a:r>
              <a:rPr lang="en-US"/>
              <a:t>the k-by-n generator matrix has the general structure</a:t>
            </a:r>
          </a:p>
          <a:p>
            <a:endParaRPr lang="en-US"/>
          </a:p>
          <a:p>
            <a:r>
              <a:rPr lang="en-US"/>
              <a:t>			</a:t>
            </a:r>
            <a:r>
              <a:rPr lang="en-US" b="1"/>
              <a:t>G</a:t>
            </a:r>
            <a:r>
              <a:rPr lang="en-US"/>
              <a:t> = [</a:t>
            </a:r>
            <a:r>
              <a:rPr lang="en-US" b="1"/>
              <a:t>I</a:t>
            </a:r>
            <a:r>
              <a:rPr lang="en-US" b="1" baseline="-25000"/>
              <a:t>k</a:t>
            </a:r>
            <a:r>
              <a:rPr lang="en-US" baseline="-25000"/>
              <a:t> </a:t>
            </a:r>
            <a:r>
              <a:rPr lang="en-US"/>
              <a:t> </a:t>
            </a:r>
            <a:r>
              <a:rPr lang="en-US" b="1"/>
              <a:t>P</a:t>
            </a:r>
            <a:r>
              <a:rPr lang="en-US"/>
              <a:t>]</a:t>
            </a:r>
          </a:p>
          <a:p>
            <a:endParaRPr lang="en-US"/>
          </a:p>
          <a:p>
            <a:r>
              <a:rPr lang="en-US"/>
              <a:t>Where I</a:t>
            </a:r>
            <a:r>
              <a:rPr lang="en-US" baseline="-25000"/>
              <a:t>k</a:t>
            </a:r>
            <a:r>
              <a:rPr lang="en-US"/>
              <a:t> is the k-by-k identity matrix and </a:t>
            </a:r>
          </a:p>
          <a:p>
            <a:endParaRPr lang="en-US"/>
          </a:p>
          <a:p>
            <a:r>
              <a:rPr lang="en-US" b="1"/>
              <a:t>P</a:t>
            </a:r>
            <a:r>
              <a:rPr lang="en-US"/>
              <a:t> is the k-by-(n-k) coefficient matrix</a:t>
            </a:r>
          </a:p>
          <a:p>
            <a:endParaRPr lang="en-US"/>
          </a:p>
        </p:txBody>
      </p:sp>
      <p:sp>
        <p:nvSpPr>
          <p:cNvPr id="348166" name="Line 6"/>
          <p:cNvSpPr>
            <a:spLocks noChangeShapeType="1"/>
          </p:cNvSpPr>
          <p:nvPr/>
        </p:nvSpPr>
        <p:spPr bwMode="auto">
          <a:xfrm>
            <a:off x="3778250" y="1497013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aphicFrame>
        <p:nvGraphicFramePr>
          <p:cNvPr id="348167" name="Group 7"/>
          <p:cNvGraphicFramePr>
            <a:graphicFrameLocks noGrp="1"/>
          </p:cNvGraphicFramePr>
          <p:nvPr>
            <p:ph/>
          </p:nvPr>
        </p:nvGraphicFramePr>
        <p:xfrm>
          <a:off x="1768475" y="3352800"/>
          <a:ext cx="1752600" cy="1463040"/>
        </p:xfrm>
        <a:graphic>
          <a:graphicData uri="http://schemas.openxmlformats.org/drawingml/2006/table">
            <a:tbl>
              <a:tblPr/>
              <a:tblGrid>
                <a:gridCol w="438150"/>
                <a:gridCol w="438150"/>
                <a:gridCol w="557213"/>
                <a:gridCol w="319087"/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….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….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….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8200" name="Line 40"/>
          <p:cNvSpPr>
            <a:spLocks noChangeShapeType="1"/>
          </p:cNvSpPr>
          <p:nvPr/>
        </p:nvSpPr>
        <p:spPr bwMode="auto">
          <a:xfrm>
            <a:off x="1997075" y="4191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01" name="Line 41"/>
          <p:cNvSpPr>
            <a:spLocks noChangeShapeType="1"/>
          </p:cNvSpPr>
          <p:nvPr/>
        </p:nvSpPr>
        <p:spPr bwMode="auto">
          <a:xfrm>
            <a:off x="3368675" y="4191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02" name="Line 42"/>
          <p:cNvSpPr>
            <a:spLocks noChangeShapeType="1"/>
          </p:cNvSpPr>
          <p:nvPr/>
        </p:nvSpPr>
        <p:spPr bwMode="auto">
          <a:xfrm>
            <a:off x="2432050" y="4191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03" name="Line 43"/>
          <p:cNvSpPr>
            <a:spLocks noChangeShapeType="1"/>
          </p:cNvSpPr>
          <p:nvPr/>
        </p:nvSpPr>
        <p:spPr bwMode="auto">
          <a:xfrm>
            <a:off x="1768475" y="33528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04" name="Line 44"/>
          <p:cNvSpPr>
            <a:spLocks noChangeShapeType="1"/>
          </p:cNvSpPr>
          <p:nvPr/>
        </p:nvSpPr>
        <p:spPr bwMode="auto">
          <a:xfrm>
            <a:off x="1768475" y="4876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05" name="Line 45"/>
          <p:cNvSpPr>
            <a:spLocks noChangeShapeType="1"/>
          </p:cNvSpPr>
          <p:nvPr/>
        </p:nvSpPr>
        <p:spPr bwMode="auto">
          <a:xfrm>
            <a:off x="1768475" y="3352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06" name="Line 46"/>
          <p:cNvSpPr>
            <a:spLocks noChangeShapeType="1"/>
          </p:cNvSpPr>
          <p:nvPr/>
        </p:nvSpPr>
        <p:spPr bwMode="auto">
          <a:xfrm>
            <a:off x="3521075" y="33528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07" name="Line 47"/>
          <p:cNvSpPr>
            <a:spLocks noChangeShapeType="1"/>
          </p:cNvSpPr>
          <p:nvPr/>
        </p:nvSpPr>
        <p:spPr bwMode="auto">
          <a:xfrm>
            <a:off x="3368675" y="4876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08" name="Line 48"/>
          <p:cNvSpPr>
            <a:spLocks noChangeShapeType="1"/>
          </p:cNvSpPr>
          <p:nvPr/>
        </p:nvSpPr>
        <p:spPr bwMode="auto">
          <a:xfrm>
            <a:off x="3368675" y="3352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09" name="Text Box 49"/>
          <p:cNvSpPr txBox="1">
            <a:spLocks noChangeArrowheads="1"/>
          </p:cNvSpPr>
          <p:nvPr/>
        </p:nvSpPr>
        <p:spPr bwMode="auto">
          <a:xfrm>
            <a:off x="1066800" y="3770313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</a:t>
            </a:r>
            <a:r>
              <a:rPr lang="en-US" baseline="-25000"/>
              <a:t>k</a:t>
            </a:r>
            <a:r>
              <a:rPr lang="en-US"/>
              <a:t>=</a:t>
            </a:r>
          </a:p>
        </p:txBody>
      </p:sp>
      <p:graphicFrame>
        <p:nvGraphicFramePr>
          <p:cNvPr id="348210" name="Group 50"/>
          <p:cNvGraphicFramePr>
            <a:graphicFrameLocks noGrp="1"/>
          </p:cNvGraphicFramePr>
          <p:nvPr/>
        </p:nvGraphicFramePr>
        <p:xfrm>
          <a:off x="5334000" y="3429000"/>
          <a:ext cx="3276600" cy="1371600"/>
        </p:xfrm>
        <a:graphic>
          <a:graphicData uri="http://schemas.openxmlformats.org/drawingml/2006/table">
            <a:tbl>
              <a:tblPr/>
              <a:tblGrid>
                <a:gridCol w="819150"/>
                <a:gridCol w="819150"/>
                <a:gridCol w="701675"/>
                <a:gridCol w="936625"/>
              </a:tblGrid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…..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0,n-k-1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…..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1,n-k-1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k-1, 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k-1,1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…..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k-1,n-k-1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8243" name="Text Box 83"/>
          <p:cNvSpPr txBox="1">
            <a:spLocks noChangeArrowheads="1"/>
          </p:cNvSpPr>
          <p:nvPr/>
        </p:nvSpPr>
        <p:spPr bwMode="auto">
          <a:xfrm>
            <a:off x="4632325" y="3846513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 =</a:t>
            </a:r>
          </a:p>
        </p:txBody>
      </p:sp>
      <p:sp>
        <p:nvSpPr>
          <p:cNvPr id="348244" name="Line 84"/>
          <p:cNvSpPr>
            <a:spLocks noChangeShapeType="1"/>
          </p:cNvSpPr>
          <p:nvPr/>
        </p:nvSpPr>
        <p:spPr bwMode="auto">
          <a:xfrm>
            <a:off x="5486400" y="4191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45" name="Line 85"/>
          <p:cNvSpPr>
            <a:spLocks noChangeShapeType="1"/>
          </p:cNvSpPr>
          <p:nvPr/>
        </p:nvSpPr>
        <p:spPr bwMode="auto">
          <a:xfrm>
            <a:off x="6400800" y="4191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46" name="Line 86"/>
          <p:cNvSpPr>
            <a:spLocks noChangeShapeType="1"/>
          </p:cNvSpPr>
          <p:nvPr/>
        </p:nvSpPr>
        <p:spPr bwMode="auto">
          <a:xfrm>
            <a:off x="8001000" y="4191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47" name="Line 87"/>
          <p:cNvSpPr>
            <a:spLocks noChangeShapeType="1"/>
          </p:cNvSpPr>
          <p:nvPr/>
        </p:nvSpPr>
        <p:spPr bwMode="auto">
          <a:xfrm>
            <a:off x="5257800" y="33528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48" name="Line 88"/>
          <p:cNvSpPr>
            <a:spLocks noChangeShapeType="1"/>
          </p:cNvSpPr>
          <p:nvPr/>
        </p:nvSpPr>
        <p:spPr bwMode="auto">
          <a:xfrm>
            <a:off x="5257800" y="4876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49" name="Line 89"/>
          <p:cNvSpPr>
            <a:spLocks noChangeShapeType="1"/>
          </p:cNvSpPr>
          <p:nvPr/>
        </p:nvSpPr>
        <p:spPr bwMode="auto">
          <a:xfrm>
            <a:off x="5257800" y="3352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50" name="Line 90"/>
          <p:cNvSpPr>
            <a:spLocks noChangeShapeType="1"/>
          </p:cNvSpPr>
          <p:nvPr/>
        </p:nvSpPr>
        <p:spPr bwMode="auto">
          <a:xfrm>
            <a:off x="8610600" y="34290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51" name="Line 91"/>
          <p:cNvSpPr>
            <a:spLocks noChangeShapeType="1"/>
          </p:cNvSpPr>
          <p:nvPr/>
        </p:nvSpPr>
        <p:spPr bwMode="auto">
          <a:xfrm>
            <a:off x="8458200" y="4953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52" name="Line 92"/>
          <p:cNvSpPr>
            <a:spLocks noChangeShapeType="1"/>
          </p:cNvSpPr>
          <p:nvPr/>
        </p:nvSpPr>
        <p:spPr bwMode="auto">
          <a:xfrm>
            <a:off x="8458200" y="3429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48253" name="Text Box 93"/>
          <p:cNvSpPr txBox="1">
            <a:spLocks noChangeArrowheads="1"/>
          </p:cNvSpPr>
          <p:nvPr/>
        </p:nvSpPr>
        <p:spPr bwMode="auto">
          <a:xfrm>
            <a:off x="593725" y="5029200"/>
            <a:ext cx="723265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identity matrix simply reproduces the message vector for the first </a:t>
            </a:r>
          </a:p>
          <a:p>
            <a:r>
              <a:rPr lang="en-US"/>
              <a:t>k elements of </a:t>
            </a:r>
            <a:r>
              <a:rPr lang="en-US" b="1"/>
              <a:t>c</a:t>
            </a:r>
          </a:p>
          <a:p>
            <a:r>
              <a:rPr lang="en-US"/>
              <a:t>The coefficient matrix generates the parity vector,</a:t>
            </a:r>
            <a:r>
              <a:rPr lang="en-US" b="1"/>
              <a:t>b</a:t>
            </a:r>
            <a:r>
              <a:rPr lang="en-US"/>
              <a:t> via </a:t>
            </a:r>
            <a:r>
              <a:rPr lang="en-US" b="1"/>
              <a:t>b</a:t>
            </a:r>
            <a:r>
              <a:rPr lang="en-US"/>
              <a:t>=</a:t>
            </a:r>
            <a:r>
              <a:rPr lang="en-US" b="1"/>
              <a:t>m</a:t>
            </a:r>
            <a:r>
              <a:rPr lang="en-US"/>
              <a:t>.</a:t>
            </a:r>
            <a:r>
              <a:rPr lang="en-US" b="1"/>
              <a:t>P</a:t>
            </a:r>
          </a:p>
          <a:p>
            <a:r>
              <a:rPr lang="en-US"/>
              <a:t>The elements of P are found via research on coding.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EE9FD-AB76-46C3-844B-B826910FFF6D}" type="slidenum">
              <a:rPr lang="en-US"/>
              <a:pPr/>
              <a:t>18</a:t>
            </a:fld>
            <a:endParaRPr lang="en-US"/>
          </a:p>
        </p:txBody>
      </p:sp>
      <p:sp>
        <p:nvSpPr>
          <p:cNvPr id="3491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9187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9188" name="Text Box 4"/>
          <p:cNvSpPr txBox="1">
            <a:spLocks noChangeArrowheads="1"/>
          </p:cNvSpPr>
          <p:nvPr/>
        </p:nvSpPr>
        <p:spPr bwMode="auto">
          <a:xfrm>
            <a:off x="304800" y="457200"/>
            <a:ext cx="8305800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Hamming Code </a:t>
            </a:r>
          </a:p>
          <a:p>
            <a:endParaRPr lang="en-US" sz="2000" b="1"/>
          </a:p>
          <a:p>
            <a:r>
              <a:rPr lang="en-US" sz="2000"/>
              <a:t>A type of (n, k) linear block codes with the following parameters</a:t>
            </a:r>
          </a:p>
          <a:p>
            <a:pPr lvl="2">
              <a:buFontTx/>
              <a:buChar char="•"/>
            </a:pPr>
            <a:r>
              <a:rPr lang="en-US" sz="2000"/>
              <a:t> 	Block length, n = 2</a:t>
            </a:r>
            <a:r>
              <a:rPr lang="en-US" sz="2000" baseline="30000"/>
              <a:t>m</a:t>
            </a:r>
            <a:r>
              <a:rPr lang="en-US" sz="2000"/>
              <a:t>  - 1</a:t>
            </a:r>
          </a:p>
          <a:p>
            <a:pPr lvl="2">
              <a:buFontTx/>
              <a:buChar char="•"/>
            </a:pPr>
            <a:r>
              <a:rPr lang="en-US" sz="2000"/>
              <a:t> 	Number of message bits, k = 2</a:t>
            </a:r>
            <a:r>
              <a:rPr lang="en-US" sz="2000" baseline="30000"/>
              <a:t>m</a:t>
            </a:r>
            <a:r>
              <a:rPr lang="en-US" sz="2000"/>
              <a:t> – m -1</a:t>
            </a:r>
          </a:p>
          <a:p>
            <a:pPr lvl="2">
              <a:buFontTx/>
              <a:buChar char="•"/>
            </a:pPr>
            <a:r>
              <a:rPr lang="en-US" sz="2000"/>
              <a:t> 	Number of parity bits : n-k=m</a:t>
            </a:r>
          </a:p>
          <a:p>
            <a:pPr lvl="2">
              <a:buFontTx/>
              <a:buChar char="•"/>
            </a:pPr>
            <a:r>
              <a:rPr lang="en-US" sz="2000"/>
              <a:t> 	m &gt;=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04143-680C-4279-A5BA-110254284642}" type="slidenum">
              <a:rPr lang="en-US"/>
              <a:pPr/>
              <a:t>19</a:t>
            </a:fld>
            <a:endParaRPr lang="en-US"/>
          </a:p>
        </p:txBody>
      </p:sp>
      <p:sp>
        <p:nvSpPr>
          <p:cNvPr id="3502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50211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50212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8305800" cy="503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b="1"/>
              <a:t>Hamming Code – Example </a:t>
            </a:r>
          </a:p>
          <a:p>
            <a:endParaRPr lang="en-US" b="1"/>
          </a:p>
          <a:p>
            <a:r>
              <a:rPr lang="en-US"/>
              <a:t>A (7,4) Hamming code with the following parameters</a:t>
            </a:r>
          </a:p>
          <a:p>
            <a:pPr lvl="1"/>
            <a:r>
              <a:rPr lang="en-US"/>
              <a:t> n=7; k=4, m=7-4=3</a:t>
            </a:r>
          </a:p>
          <a:p>
            <a:pPr lvl="1"/>
            <a:r>
              <a:rPr lang="en-US"/>
              <a:t> The k-by-(n-k) (4-by-3) coefficient matrix, </a:t>
            </a:r>
            <a:r>
              <a:rPr lang="en-US" b="1"/>
              <a:t>P = </a:t>
            </a:r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r>
              <a:rPr lang="en-US"/>
              <a:t>The generator matrix, G is, G = 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graphicFrame>
        <p:nvGraphicFramePr>
          <p:cNvPr id="350213" name="Group 5"/>
          <p:cNvGraphicFramePr>
            <a:graphicFrameLocks noGrp="1"/>
          </p:cNvGraphicFramePr>
          <p:nvPr/>
        </p:nvGraphicFramePr>
        <p:xfrm>
          <a:off x="2133600" y="1981200"/>
          <a:ext cx="2339975" cy="1584960"/>
        </p:xfrm>
        <a:graphic>
          <a:graphicData uri="http://schemas.openxmlformats.org/drawingml/2006/table">
            <a:tbl>
              <a:tblPr/>
              <a:tblGrid>
                <a:gridCol w="819150"/>
                <a:gridCol w="819150"/>
                <a:gridCol w="701675"/>
              </a:tblGrid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0240" name="Text Box 32"/>
          <p:cNvSpPr txBox="1">
            <a:spLocks noChangeArrowheads="1"/>
          </p:cNvSpPr>
          <p:nvPr/>
        </p:nvSpPr>
        <p:spPr bwMode="auto">
          <a:xfrm>
            <a:off x="1431925" y="2398713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 =</a:t>
            </a:r>
          </a:p>
        </p:txBody>
      </p:sp>
      <p:sp>
        <p:nvSpPr>
          <p:cNvPr id="350241" name="Line 33"/>
          <p:cNvSpPr>
            <a:spLocks noChangeShapeType="1"/>
          </p:cNvSpPr>
          <p:nvPr/>
        </p:nvSpPr>
        <p:spPr bwMode="auto">
          <a:xfrm>
            <a:off x="2057400" y="19050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50242" name="Line 34"/>
          <p:cNvSpPr>
            <a:spLocks noChangeShapeType="1"/>
          </p:cNvSpPr>
          <p:nvPr/>
        </p:nvSpPr>
        <p:spPr bwMode="auto">
          <a:xfrm>
            <a:off x="2057400" y="3429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50243" name="Line 35"/>
          <p:cNvSpPr>
            <a:spLocks noChangeShapeType="1"/>
          </p:cNvSpPr>
          <p:nvPr/>
        </p:nvSpPr>
        <p:spPr bwMode="auto">
          <a:xfrm>
            <a:off x="2057400" y="1905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50244" name="Line 36"/>
          <p:cNvSpPr>
            <a:spLocks noChangeShapeType="1"/>
          </p:cNvSpPr>
          <p:nvPr/>
        </p:nvSpPr>
        <p:spPr bwMode="auto">
          <a:xfrm>
            <a:off x="4191000" y="19050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50245" name="Line 37"/>
          <p:cNvSpPr>
            <a:spLocks noChangeShapeType="1"/>
          </p:cNvSpPr>
          <p:nvPr/>
        </p:nvSpPr>
        <p:spPr bwMode="auto">
          <a:xfrm>
            <a:off x="4038600" y="3429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50246" name="Line 38"/>
          <p:cNvSpPr>
            <a:spLocks noChangeShapeType="1"/>
          </p:cNvSpPr>
          <p:nvPr/>
        </p:nvSpPr>
        <p:spPr bwMode="auto">
          <a:xfrm>
            <a:off x="4038600" y="1905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aphicFrame>
        <p:nvGraphicFramePr>
          <p:cNvPr id="350247" name="Group 39"/>
          <p:cNvGraphicFramePr>
            <a:graphicFrameLocks noGrp="1"/>
          </p:cNvGraphicFramePr>
          <p:nvPr>
            <p:ph sz="half" idx="2"/>
          </p:nvPr>
        </p:nvGraphicFramePr>
        <p:xfrm>
          <a:off x="2362200" y="3962400"/>
          <a:ext cx="4025900" cy="1631633"/>
        </p:xfrm>
        <a:graphic>
          <a:graphicData uri="http://schemas.openxmlformats.org/drawingml/2006/table">
            <a:tbl>
              <a:tblPr/>
              <a:tblGrid>
                <a:gridCol w="639763"/>
                <a:gridCol w="639762"/>
                <a:gridCol w="549275"/>
                <a:gridCol w="549275"/>
                <a:gridCol w="549275"/>
                <a:gridCol w="549275"/>
                <a:gridCol w="549275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0290" name="Text Box 82"/>
          <p:cNvSpPr txBox="1">
            <a:spLocks noChangeArrowheads="1"/>
          </p:cNvSpPr>
          <p:nvPr/>
        </p:nvSpPr>
        <p:spPr bwMode="auto">
          <a:xfrm>
            <a:off x="1524000" y="4343400"/>
            <a:ext cx="558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G =</a:t>
            </a:r>
          </a:p>
        </p:txBody>
      </p:sp>
      <p:sp>
        <p:nvSpPr>
          <p:cNvPr id="350291" name="Line 83"/>
          <p:cNvSpPr>
            <a:spLocks noChangeShapeType="1"/>
          </p:cNvSpPr>
          <p:nvPr/>
        </p:nvSpPr>
        <p:spPr bwMode="auto">
          <a:xfrm flipV="1">
            <a:off x="4114800" y="38862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50292" name="Line 84"/>
          <p:cNvSpPr>
            <a:spLocks noChangeShapeType="1"/>
          </p:cNvSpPr>
          <p:nvPr/>
        </p:nvSpPr>
        <p:spPr bwMode="auto">
          <a:xfrm>
            <a:off x="2286000" y="40386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50293" name="Line 85"/>
          <p:cNvSpPr>
            <a:spLocks noChangeShapeType="1"/>
          </p:cNvSpPr>
          <p:nvPr/>
        </p:nvSpPr>
        <p:spPr bwMode="auto">
          <a:xfrm>
            <a:off x="2286000" y="556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50294" name="Line 86"/>
          <p:cNvSpPr>
            <a:spLocks noChangeShapeType="1"/>
          </p:cNvSpPr>
          <p:nvPr/>
        </p:nvSpPr>
        <p:spPr bwMode="auto">
          <a:xfrm>
            <a:off x="2286000" y="4038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50295" name="Line 87"/>
          <p:cNvSpPr>
            <a:spLocks noChangeShapeType="1"/>
          </p:cNvSpPr>
          <p:nvPr/>
        </p:nvSpPr>
        <p:spPr bwMode="auto">
          <a:xfrm>
            <a:off x="6324600" y="40386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50296" name="Line 88"/>
          <p:cNvSpPr>
            <a:spLocks noChangeShapeType="1"/>
          </p:cNvSpPr>
          <p:nvPr/>
        </p:nvSpPr>
        <p:spPr bwMode="auto">
          <a:xfrm>
            <a:off x="6172200" y="556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50297" name="Line 89"/>
          <p:cNvSpPr>
            <a:spLocks noChangeShapeType="1"/>
          </p:cNvSpPr>
          <p:nvPr/>
        </p:nvSpPr>
        <p:spPr bwMode="auto">
          <a:xfrm>
            <a:off x="6172200" y="4038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350298" name="Rectangle 90"/>
          <p:cNvSpPr>
            <a:spLocks noChangeArrowheads="1"/>
          </p:cNvSpPr>
          <p:nvPr/>
        </p:nvSpPr>
        <p:spPr bwMode="auto">
          <a:xfrm>
            <a:off x="304800" y="1371600"/>
            <a:ext cx="5334000" cy="2209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350299" name="Rectangle 91"/>
          <p:cNvSpPr>
            <a:spLocks noChangeArrowheads="1"/>
          </p:cNvSpPr>
          <p:nvPr/>
        </p:nvSpPr>
        <p:spPr bwMode="auto">
          <a:xfrm>
            <a:off x="228600" y="3505200"/>
            <a:ext cx="6477000" cy="2209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98" grpId="0" animBg="1"/>
      <p:bldP spid="35029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B28F9-9593-483D-9131-69F7BAA6B2FF}" type="slidenum">
              <a:rPr lang="en-US"/>
              <a:pPr/>
              <a:t>20</a:t>
            </a:fld>
            <a:endParaRPr lang="en-US"/>
          </a:p>
        </p:txBody>
      </p:sp>
      <p:sp>
        <p:nvSpPr>
          <p:cNvPr id="3512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51235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51236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8305800" cy="311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b="1"/>
              <a:t>Hamming Code – Example </a:t>
            </a:r>
          </a:p>
          <a:p>
            <a:endParaRPr lang="en-US" b="1"/>
          </a:p>
          <a:p>
            <a:pPr lvl="1"/>
            <a:r>
              <a:rPr lang="en-US"/>
              <a:t>The parity vector,b is generated by </a:t>
            </a:r>
            <a:r>
              <a:rPr lang="en-US" b="1"/>
              <a:t>b=m.P</a:t>
            </a:r>
          </a:p>
          <a:p>
            <a:pPr lvl="1"/>
            <a:endParaRPr lang="en-US" b="1"/>
          </a:p>
          <a:p>
            <a:pPr lvl="1"/>
            <a:r>
              <a:rPr lang="en-US"/>
              <a:t> For a given block of message bits m = (m1  m2  m3  m4), we can work out the parity vector, b and hence the code word, </a:t>
            </a:r>
            <a:r>
              <a:rPr lang="en-US" b="1"/>
              <a:t>c = mG</a:t>
            </a:r>
            <a:r>
              <a:rPr lang="en-US"/>
              <a:t> for the (7,4) Hamming Code.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Exercise: Try to work out the codewords for the (7,4) Hamming Code.</a:t>
            </a:r>
          </a:p>
          <a:p>
            <a:pPr lvl="1"/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B90FE-25E8-479D-8E59-7DC6DAB72767}" type="slidenum">
              <a:rPr lang="en-US"/>
              <a:pPr/>
              <a:t>21</a:t>
            </a:fld>
            <a:endParaRPr lang="en-US"/>
          </a:p>
        </p:txBody>
      </p:sp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3600"/>
              <a:t>Codewords for (7,4) Hamming Code</a:t>
            </a:r>
          </a:p>
        </p:txBody>
      </p:sp>
      <p:graphicFrame>
        <p:nvGraphicFramePr>
          <p:cNvPr id="370823" name="Group 135"/>
          <p:cNvGraphicFramePr>
            <a:graphicFrameLocks noGrp="1"/>
          </p:cNvGraphicFramePr>
          <p:nvPr>
            <p:ph idx="1"/>
          </p:nvPr>
        </p:nvGraphicFramePr>
        <p:xfrm>
          <a:off x="457200" y="990600"/>
          <a:ext cx="8229600" cy="518795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Message Word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Parity bits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Code words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0001101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BE0E-4EE9-46DC-99CA-705377A56523}" type="slidenum">
              <a:rPr lang="en-US"/>
              <a:pPr/>
              <a:t>22</a:t>
            </a:fld>
            <a:endParaRPr lang="en-US"/>
          </a:p>
        </p:txBody>
      </p:sp>
      <p:sp>
        <p:nvSpPr>
          <p:cNvPr id="3594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59427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59428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8305800" cy="527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sz="2000" b="1"/>
              <a:t>Cyclic Codes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A subclass of linear codes having a cyclic structure.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The code vector can be expressed in the form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	c = ( c</a:t>
            </a:r>
            <a:r>
              <a:rPr lang="en-US" sz="2000" baseline="-25000"/>
              <a:t>n-1</a:t>
            </a:r>
            <a:r>
              <a:rPr lang="en-US" sz="2000"/>
              <a:t>  c</a:t>
            </a:r>
            <a:r>
              <a:rPr lang="en-US" sz="2000" baseline="-25000"/>
              <a:t>n-2</a:t>
            </a:r>
            <a:r>
              <a:rPr lang="en-US" sz="2000"/>
              <a:t>  ……c</a:t>
            </a:r>
            <a:r>
              <a:rPr lang="en-US" sz="2000" baseline="-25000"/>
              <a:t>1</a:t>
            </a:r>
            <a:r>
              <a:rPr lang="en-US" sz="2000"/>
              <a:t> c</a:t>
            </a:r>
            <a:r>
              <a:rPr lang="en-US" sz="2000" baseline="-25000"/>
              <a:t>0 </a:t>
            </a:r>
            <a:r>
              <a:rPr lang="en-US" sz="2000"/>
              <a:t>)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A new code vector in the code can be produced by cyclic shifting of another code vector. </a:t>
            </a:r>
          </a:p>
          <a:p>
            <a:pPr lvl="1"/>
            <a:r>
              <a:rPr lang="en-US" sz="2000"/>
              <a:t>For example, a cyclic shift of all n bits one position to the left gives</a:t>
            </a:r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</p:txBody>
      </p:sp>
      <p:sp>
        <p:nvSpPr>
          <p:cNvPr id="359429" name="Text Box 5"/>
          <p:cNvSpPr txBox="1">
            <a:spLocks noChangeArrowheads="1"/>
          </p:cNvSpPr>
          <p:nvPr/>
        </p:nvSpPr>
        <p:spPr bwMode="auto">
          <a:xfrm>
            <a:off x="228600" y="3870325"/>
            <a:ext cx="830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sz="2000"/>
              <a:t>	c’ = ( c</a:t>
            </a:r>
            <a:r>
              <a:rPr lang="en-US" sz="2000" baseline="-25000"/>
              <a:t>n-2</a:t>
            </a:r>
            <a:r>
              <a:rPr lang="en-US" sz="2000"/>
              <a:t>  c</a:t>
            </a:r>
            <a:r>
              <a:rPr lang="en-US" sz="2000" baseline="-25000"/>
              <a:t>n-3</a:t>
            </a:r>
            <a:r>
              <a:rPr lang="en-US" sz="2000"/>
              <a:t>  ……c</a:t>
            </a:r>
            <a:r>
              <a:rPr lang="en-US" sz="2000" baseline="-25000"/>
              <a:t>1</a:t>
            </a:r>
            <a:r>
              <a:rPr lang="en-US" sz="2000"/>
              <a:t> c</a:t>
            </a:r>
            <a:r>
              <a:rPr lang="en-US" sz="2000" baseline="-25000"/>
              <a:t>0  </a:t>
            </a:r>
            <a:r>
              <a:rPr lang="en-US" sz="2000"/>
              <a:t>c</a:t>
            </a:r>
            <a:r>
              <a:rPr lang="en-US" sz="2000" baseline="-25000"/>
              <a:t>n-1</a:t>
            </a:r>
            <a:r>
              <a:rPr lang="en-US" sz="2000"/>
              <a:t>)</a:t>
            </a:r>
          </a:p>
        </p:txBody>
      </p:sp>
      <p:sp>
        <p:nvSpPr>
          <p:cNvPr id="359430" name="Text Box 6"/>
          <p:cNvSpPr txBox="1">
            <a:spLocks noChangeArrowheads="1"/>
          </p:cNvSpPr>
          <p:nvPr/>
        </p:nvSpPr>
        <p:spPr bwMode="auto">
          <a:xfrm>
            <a:off x="228600" y="4937125"/>
            <a:ext cx="830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sz="2000"/>
              <a:t>	c” = ( c</a:t>
            </a:r>
            <a:r>
              <a:rPr lang="en-US" sz="2000" baseline="-25000"/>
              <a:t>n-3</a:t>
            </a:r>
            <a:r>
              <a:rPr lang="en-US" sz="2000"/>
              <a:t>  c</a:t>
            </a:r>
            <a:r>
              <a:rPr lang="en-US" sz="2000" baseline="-25000"/>
              <a:t>n-4</a:t>
            </a:r>
            <a:r>
              <a:rPr lang="en-US" sz="2000"/>
              <a:t>  ……c</a:t>
            </a:r>
            <a:r>
              <a:rPr lang="en-US" sz="2000" baseline="-25000"/>
              <a:t>1</a:t>
            </a:r>
            <a:r>
              <a:rPr lang="en-US" sz="2000"/>
              <a:t> c</a:t>
            </a:r>
            <a:r>
              <a:rPr lang="en-US" sz="2000" baseline="-25000"/>
              <a:t>0  </a:t>
            </a:r>
            <a:r>
              <a:rPr lang="en-US" sz="2000"/>
              <a:t>c</a:t>
            </a:r>
            <a:r>
              <a:rPr lang="en-US" sz="2000" baseline="-25000"/>
              <a:t>n-1 </a:t>
            </a:r>
            <a:r>
              <a:rPr lang="en-US" sz="2000"/>
              <a:t>c</a:t>
            </a:r>
            <a:r>
              <a:rPr lang="en-US" sz="2000" baseline="-25000"/>
              <a:t>n-2</a:t>
            </a:r>
            <a:r>
              <a:rPr lang="en-US" sz="2000"/>
              <a:t>)</a:t>
            </a:r>
          </a:p>
        </p:txBody>
      </p:sp>
      <p:sp>
        <p:nvSpPr>
          <p:cNvPr id="359431" name="Text Box 7"/>
          <p:cNvSpPr txBox="1">
            <a:spLocks noChangeArrowheads="1"/>
          </p:cNvSpPr>
          <p:nvPr/>
        </p:nvSpPr>
        <p:spPr bwMode="auto">
          <a:xfrm>
            <a:off x="228600" y="4343400"/>
            <a:ext cx="830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sz="2000"/>
              <a:t>A second shift produces another code vector, c”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8F280-9045-421E-9730-9FC68B104C23}" type="slidenum">
              <a:rPr lang="en-US"/>
              <a:pPr/>
              <a:t>23</a:t>
            </a:fld>
            <a:endParaRPr lang="en-US"/>
          </a:p>
        </p:txBody>
      </p:sp>
      <p:sp>
        <p:nvSpPr>
          <p:cNvPr id="3604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0452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8305800" cy="435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sz="2000" b="1"/>
              <a:t>Cyclic Codes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The cyclic property can be treated mathematically by associating a code vector, c with the code polynomial, c(X)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	c(X) = c</a:t>
            </a:r>
            <a:r>
              <a:rPr lang="en-US" sz="2000" baseline="-25000"/>
              <a:t>0</a:t>
            </a:r>
            <a:r>
              <a:rPr lang="en-US" sz="2000"/>
              <a:t> + c</a:t>
            </a:r>
            <a:r>
              <a:rPr lang="en-US" sz="2000" baseline="-25000"/>
              <a:t>1</a:t>
            </a:r>
            <a:r>
              <a:rPr lang="en-US" sz="2000"/>
              <a:t>X + c</a:t>
            </a:r>
            <a:r>
              <a:rPr lang="en-US" sz="2000" baseline="-25000"/>
              <a:t>2</a:t>
            </a:r>
            <a:r>
              <a:rPr lang="en-US" sz="2000"/>
              <a:t>X</a:t>
            </a:r>
            <a:r>
              <a:rPr lang="en-US" sz="2000" baseline="30000"/>
              <a:t>2</a:t>
            </a:r>
            <a:r>
              <a:rPr lang="en-US" sz="2000"/>
              <a:t>+……c</a:t>
            </a:r>
            <a:r>
              <a:rPr lang="en-US" sz="2000" baseline="-25000"/>
              <a:t>n-1</a:t>
            </a:r>
            <a:r>
              <a:rPr lang="en-US" sz="2000"/>
              <a:t>X</a:t>
            </a:r>
            <a:r>
              <a:rPr lang="en-US" sz="2000" baseline="30000"/>
              <a:t>n-1</a:t>
            </a:r>
            <a:endParaRPr lang="en-US" sz="2000"/>
          </a:p>
          <a:p>
            <a:pPr lvl="1"/>
            <a:endParaRPr lang="en-US" sz="2000"/>
          </a:p>
          <a:p>
            <a:pPr lvl="1"/>
            <a:r>
              <a:rPr lang="en-US" sz="2000"/>
              <a:t>The power of X denotes the positions of the codeword bits.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The coefficients are either 1s and 0s.</a:t>
            </a:r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</p:txBody>
      </p:sp>
      <p:sp>
        <p:nvSpPr>
          <p:cNvPr id="360453" name="Text Box 5"/>
          <p:cNvSpPr txBox="1">
            <a:spLocks noChangeArrowheads="1"/>
          </p:cNvSpPr>
          <p:nvPr/>
        </p:nvSpPr>
        <p:spPr bwMode="auto">
          <a:xfrm>
            <a:off x="228600" y="3429000"/>
            <a:ext cx="8305800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sz="2000"/>
              <a:t>An (n,k) cyclic code is defined by a generator polynomial, g(X)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	g(X) = X</a:t>
            </a:r>
            <a:r>
              <a:rPr lang="en-US" sz="2000" baseline="30000"/>
              <a:t>n-k</a:t>
            </a:r>
            <a:r>
              <a:rPr lang="en-US" sz="2000"/>
              <a:t> + g</a:t>
            </a:r>
            <a:r>
              <a:rPr lang="en-US" sz="2000" baseline="-25000"/>
              <a:t>n-k-1</a:t>
            </a:r>
            <a:r>
              <a:rPr lang="en-US" sz="2000"/>
              <a:t>X</a:t>
            </a:r>
            <a:r>
              <a:rPr lang="en-US" sz="2000" baseline="30000"/>
              <a:t>n-k-1</a:t>
            </a:r>
            <a:r>
              <a:rPr lang="en-US" sz="2000"/>
              <a:t> + ……. + g</a:t>
            </a:r>
            <a:r>
              <a:rPr lang="en-US" sz="2000" baseline="-25000"/>
              <a:t>1</a:t>
            </a:r>
            <a:r>
              <a:rPr lang="en-US" sz="2000"/>
              <a:t>X   + 1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The coefficient g are such that g(X) is a factor of X</a:t>
            </a:r>
            <a:r>
              <a:rPr lang="en-US" sz="2000" baseline="30000"/>
              <a:t>n</a:t>
            </a:r>
            <a:r>
              <a:rPr lang="en-US" sz="2000"/>
              <a:t> + 1</a:t>
            </a:r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4A67C-F5D4-4D25-8551-3AB59AF90B8D}" type="slidenum">
              <a:rPr lang="en-US"/>
              <a:pPr/>
              <a:t>24</a:t>
            </a:fld>
            <a:endParaRPr lang="en-US"/>
          </a:p>
        </p:txBody>
      </p:sp>
      <p:sp>
        <p:nvSpPr>
          <p:cNvPr id="3614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1475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1476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8305800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00100" lvl="1" indent="-342900"/>
            <a:r>
              <a:rPr lang="en-US" sz="2000" b="1"/>
              <a:t>Cyclic Codes – Encoding Procedure</a:t>
            </a:r>
          </a:p>
          <a:p>
            <a:pPr marL="800100" lvl="1" indent="-342900"/>
            <a:endParaRPr lang="en-US" sz="2000"/>
          </a:p>
          <a:p>
            <a:pPr marL="800100" lvl="1" indent="-342900"/>
            <a:r>
              <a:rPr lang="en-US" sz="2000"/>
              <a:t>To encode an (n,k) cyclic code</a:t>
            </a:r>
          </a:p>
          <a:p>
            <a:pPr marL="800100" lvl="1" indent="-342900"/>
            <a:endParaRPr lang="en-US" sz="2000"/>
          </a:p>
          <a:p>
            <a:pPr marL="800100" lvl="1" indent="-342900">
              <a:buFontTx/>
              <a:buAutoNum type="arabicPeriod"/>
            </a:pPr>
            <a:r>
              <a:rPr lang="en-US" sz="2000"/>
              <a:t>Multiply the message polynomial , m(X) by X</a:t>
            </a:r>
            <a:r>
              <a:rPr lang="en-US" sz="2000" baseline="30000"/>
              <a:t>n-k</a:t>
            </a:r>
          </a:p>
          <a:p>
            <a:pPr marL="800100" lvl="1" indent="-342900"/>
            <a:endParaRPr lang="en-US" sz="2000" baseline="30000"/>
          </a:p>
          <a:p>
            <a:pPr marL="800100" lvl="1" indent="-342900">
              <a:buFontTx/>
              <a:buAutoNum type="arabicPeriod" startAt="2"/>
            </a:pPr>
            <a:r>
              <a:rPr lang="en-US" sz="2000"/>
              <a:t>Divide X</a:t>
            </a:r>
            <a:r>
              <a:rPr lang="en-US" sz="2000" baseline="30000"/>
              <a:t>n-k</a:t>
            </a:r>
            <a:r>
              <a:rPr lang="en-US" sz="2000"/>
              <a:t>.m(X) by the generator polynomial, g(X) to obtain the remainder polynomial, b(X)</a:t>
            </a:r>
          </a:p>
          <a:p>
            <a:pPr marL="800100" lvl="1" indent="-342900">
              <a:buFontTx/>
              <a:buAutoNum type="arabicPeriod" startAt="2"/>
            </a:pPr>
            <a:endParaRPr lang="en-US" sz="2000"/>
          </a:p>
          <a:p>
            <a:pPr marL="800100" lvl="1" indent="-342900"/>
            <a:r>
              <a:rPr lang="en-US" sz="2000"/>
              <a:t>3.	Add b(X) to X</a:t>
            </a:r>
            <a:r>
              <a:rPr lang="en-US" sz="2000" baseline="30000"/>
              <a:t>n-k.</a:t>
            </a:r>
            <a:r>
              <a:rPr lang="en-US" sz="2000"/>
              <a:t>m(X) to obtain the code polynomial</a:t>
            </a:r>
          </a:p>
          <a:p>
            <a:pPr marL="800100" lvl="1" indent="-342900"/>
            <a:endParaRPr lang="en-US" sz="2000"/>
          </a:p>
          <a:p>
            <a:pPr marL="800100" lvl="1" indent="-342900"/>
            <a:endParaRPr lang="en-US" sz="2000"/>
          </a:p>
          <a:p>
            <a:pPr marL="800100" lvl="1" indent="-342900"/>
            <a:endParaRPr lang="en-US" sz="2000"/>
          </a:p>
          <a:p>
            <a:pPr marL="800100" lvl="1" indent="-342900"/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D8B7-CF8F-4C13-BB44-3143FDBD0215}" type="slidenum">
              <a:rPr lang="en-US"/>
              <a:pPr/>
              <a:t>25</a:t>
            </a:fld>
            <a:endParaRPr lang="en-US"/>
          </a:p>
        </p:txBody>
      </p:sp>
      <p:sp>
        <p:nvSpPr>
          <p:cNvPr id="3624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2499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2500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8610600" cy="384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sz="2000" b="1"/>
              <a:t>Cyclic Codes - Example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The (7,4) Hamming Code 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	For message sequence 1001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	The message polynomial, m(X) = 1 + X</a:t>
            </a:r>
            <a:r>
              <a:rPr lang="en-US" sz="2000" baseline="30000"/>
              <a:t>3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	1. Multiply by X</a:t>
            </a:r>
            <a:r>
              <a:rPr lang="en-US" sz="2000" baseline="30000"/>
              <a:t>n-k </a:t>
            </a:r>
            <a:r>
              <a:rPr lang="en-US" sz="2000"/>
              <a:t>(X</a:t>
            </a:r>
            <a:r>
              <a:rPr lang="en-US" sz="2000" baseline="30000"/>
              <a:t>3</a:t>
            </a:r>
            <a:r>
              <a:rPr lang="en-US" sz="2000"/>
              <a:t>) gives X</a:t>
            </a:r>
            <a:r>
              <a:rPr lang="en-US" sz="2000" baseline="30000"/>
              <a:t>3</a:t>
            </a:r>
            <a:r>
              <a:rPr lang="en-US" sz="2000"/>
              <a:t> + X</a:t>
            </a:r>
            <a:r>
              <a:rPr lang="en-US" sz="2000" baseline="30000"/>
              <a:t>6</a:t>
            </a:r>
          </a:p>
          <a:p>
            <a:pPr lvl="1"/>
            <a:endParaRPr lang="en-US" sz="2000" baseline="30000"/>
          </a:p>
          <a:p>
            <a:pPr lvl="1"/>
            <a:r>
              <a:rPr lang="en-US" sz="2000" baseline="30000"/>
              <a:t>	</a:t>
            </a:r>
          </a:p>
          <a:p>
            <a:pPr lvl="1"/>
            <a:r>
              <a:rPr lang="en-US" sz="2000" baseline="30000"/>
              <a:t>	</a:t>
            </a:r>
            <a:r>
              <a:rPr lang="en-US" sz="2000"/>
              <a:t>2.</a:t>
            </a:r>
            <a:r>
              <a:rPr lang="en-US" sz="2000" baseline="30000"/>
              <a:t> </a:t>
            </a:r>
            <a:r>
              <a:rPr lang="en-US" sz="2000"/>
              <a:t>Divide by the generator polynomial, g(X) that is a factor of X</a:t>
            </a:r>
            <a:r>
              <a:rPr lang="en-US" sz="2000" baseline="30000"/>
              <a:t>n</a:t>
            </a:r>
            <a:r>
              <a:rPr lang="en-US" sz="2000"/>
              <a:t> + 1</a:t>
            </a:r>
          </a:p>
          <a:p>
            <a:pPr lvl="1"/>
            <a:endParaRPr lang="en-US" sz="2000"/>
          </a:p>
        </p:txBody>
      </p:sp>
      <p:sp>
        <p:nvSpPr>
          <p:cNvPr id="362501" name="Text Box 5"/>
          <p:cNvSpPr txBox="1">
            <a:spLocks noChangeArrowheads="1"/>
          </p:cNvSpPr>
          <p:nvPr/>
        </p:nvSpPr>
        <p:spPr bwMode="auto">
          <a:xfrm>
            <a:off x="609600" y="3962400"/>
            <a:ext cx="8305800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sz="2000"/>
              <a:t>For the (7,4) Hamming code is defined by its generator polynomials, g(X) that are factors of X</a:t>
            </a:r>
            <a:r>
              <a:rPr lang="en-US" sz="2000" baseline="30000"/>
              <a:t>7</a:t>
            </a:r>
            <a:r>
              <a:rPr lang="en-US" sz="2000"/>
              <a:t> + 1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With n =7, we can factorize X</a:t>
            </a:r>
            <a:r>
              <a:rPr lang="en-US" sz="2000" baseline="30000"/>
              <a:t>7</a:t>
            </a:r>
            <a:r>
              <a:rPr lang="en-US" sz="2000"/>
              <a:t> + 1 into three irreducible polynomials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	X</a:t>
            </a:r>
            <a:r>
              <a:rPr lang="en-US" sz="2000" baseline="30000"/>
              <a:t>7</a:t>
            </a:r>
            <a:r>
              <a:rPr lang="en-US" sz="2000"/>
              <a:t> + 1 = (1 + X)(1 + X</a:t>
            </a:r>
            <a:r>
              <a:rPr lang="en-US" sz="2000" baseline="30000"/>
              <a:t>2</a:t>
            </a:r>
            <a:r>
              <a:rPr lang="en-US" sz="2000"/>
              <a:t> + X</a:t>
            </a:r>
            <a:r>
              <a:rPr lang="en-US" sz="2000" baseline="30000"/>
              <a:t>3</a:t>
            </a:r>
            <a:r>
              <a:rPr lang="en-US" sz="2000"/>
              <a:t>)(1 + X + X</a:t>
            </a:r>
            <a:r>
              <a:rPr lang="en-US" sz="2000" baseline="30000"/>
              <a:t>3</a:t>
            </a:r>
            <a:r>
              <a:rPr lang="en-US" sz="2000"/>
              <a:t>)</a:t>
            </a:r>
          </a:p>
          <a:p>
            <a:pPr lvl="1"/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8691-3A0F-4BF8-96E4-22B16EE73DC0}" type="slidenum">
              <a:rPr lang="en-US"/>
              <a:pPr/>
              <a:t>26</a:t>
            </a:fld>
            <a:endParaRPr lang="en-US"/>
          </a:p>
        </p:txBody>
      </p:sp>
      <p:sp>
        <p:nvSpPr>
          <p:cNvPr id="3635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3523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3524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8305800" cy="41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sz="2000" b="1"/>
              <a:t>Cyclic Codes - Example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For example we choose the generator polynomial, 1 + X + X</a:t>
            </a:r>
            <a:r>
              <a:rPr lang="en-US" sz="2000" baseline="30000"/>
              <a:t>3 </a:t>
            </a:r>
            <a:r>
              <a:rPr lang="en-US" sz="2000"/>
              <a:t>and perform the division we get the remainder, b(X) as X</a:t>
            </a:r>
            <a:r>
              <a:rPr lang="en-US" sz="2000" baseline="30000"/>
              <a:t>2</a:t>
            </a:r>
            <a:r>
              <a:rPr lang="en-US" sz="2000"/>
              <a:t> + X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	3. Add b(X) to obtain the code polynomial, c(X)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		c(X) = X + X</a:t>
            </a:r>
            <a:r>
              <a:rPr lang="en-US" sz="2000" baseline="30000"/>
              <a:t>2</a:t>
            </a:r>
            <a:r>
              <a:rPr lang="en-US" sz="2000"/>
              <a:t> + X</a:t>
            </a:r>
            <a:r>
              <a:rPr lang="en-US" sz="2000" baseline="30000"/>
              <a:t>3</a:t>
            </a:r>
            <a:r>
              <a:rPr lang="en-US" sz="2000"/>
              <a:t> + X</a:t>
            </a:r>
            <a:r>
              <a:rPr lang="en-US" sz="2000" baseline="30000"/>
              <a:t>6</a:t>
            </a:r>
          </a:p>
          <a:p>
            <a:pPr lvl="1"/>
            <a:endParaRPr lang="en-US" sz="2000" baseline="30000"/>
          </a:p>
          <a:p>
            <a:pPr lvl="1"/>
            <a:r>
              <a:rPr lang="en-US" sz="2000" baseline="30000"/>
              <a:t>	</a:t>
            </a:r>
            <a:endParaRPr lang="en-US" sz="2000"/>
          </a:p>
          <a:p>
            <a:pPr lvl="1"/>
            <a:r>
              <a:rPr lang="en-US" sz="2000"/>
              <a:t>	So the codeword for message sequence 1001 is </a:t>
            </a:r>
            <a:r>
              <a:rPr lang="en-US" sz="2000">
                <a:solidFill>
                  <a:srgbClr val="FF3300"/>
                </a:solidFill>
              </a:rPr>
              <a:t>011</a:t>
            </a:r>
            <a:r>
              <a:rPr lang="en-US" sz="2000">
                <a:solidFill>
                  <a:schemeClr val="accent2"/>
                </a:solidFill>
              </a:rPr>
              <a:t>1001</a:t>
            </a:r>
            <a:endParaRPr lang="en-US" sz="2000" baseline="30000">
              <a:solidFill>
                <a:schemeClr val="accent2"/>
              </a:solidFill>
            </a:endParaRPr>
          </a:p>
          <a:p>
            <a:pPr lvl="1"/>
            <a:endParaRPr lang="en-US" sz="2000"/>
          </a:p>
          <a:p>
            <a:pPr lvl="1"/>
            <a:endParaRPr lang="en-US" sz="2000" baseline="30000"/>
          </a:p>
          <a:p>
            <a:pPr lvl="1"/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45D34-C030-4E32-B52C-90DB819472D8}" type="slidenum">
              <a:rPr lang="en-US"/>
              <a:pPr/>
              <a:t>27</a:t>
            </a:fld>
            <a:endParaRPr lang="en-US"/>
          </a:p>
        </p:txBody>
      </p:sp>
      <p:sp>
        <p:nvSpPr>
          <p:cNvPr id="3645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4547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4548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8305800" cy="2424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sz="2000" b="1"/>
              <a:t>Cyclic Codes – Exercise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Find the codeword for (7,4) cyclic Hamming Code using the generator polynomial, 1 + X + X</a:t>
            </a:r>
            <a:r>
              <a:rPr lang="en-US" sz="2000" baseline="30000"/>
              <a:t>3 </a:t>
            </a:r>
            <a:r>
              <a:rPr lang="en-US" sz="2000"/>
              <a:t>for the message sequence 0011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	</a:t>
            </a:r>
          </a:p>
          <a:p>
            <a:pPr lvl="1"/>
            <a:endParaRPr lang="en-US" sz="2000" baseline="30000"/>
          </a:p>
          <a:p>
            <a:pPr lvl="1"/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9D34-1AF3-4C21-9888-C65017B46F1D}" type="slidenum">
              <a:rPr lang="en-US"/>
              <a:pPr/>
              <a:t>28</a:t>
            </a:fld>
            <a:endParaRPr lang="en-US"/>
          </a:p>
        </p:txBody>
      </p:sp>
      <p:sp>
        <p:nvSpPr>
          <p:cNvPr id="3655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5571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5572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83058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sz="2000" b="1"/>
              <a:t>Cyclic Codes – Implementation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The Cyclic code is implemented by the shift-register encoder with (n-k) stages</a:t>
            </a:r>
          </a:p>
          <a:p>
            <a:pPr lvl="1"/>
            <a:endParaRPr lang="en-US" sz="200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981075" y="1600200"/>
            <a:ext cx="7183438" cy="2619375"/>
            <a:chOff x="618" y="1335"/>
            <a:chExt cx="4525" cy="1650"/>
          </a:xfrm>
        </p:grpSpPr>
        <p:pic>
          <p:nvPicPr>
            <p:cNvPr id="365574" name="Picture 6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18" y="1335"/>
              <a:ext cx="4525" cy="1650"/>
            </a:xfrm>
            <a:prstGeom prst="rect">
              <a:avLst/>
            </a:prstGeom>
            <a:noFill/>
          </p:spPr>
        </p:pic>
        <p:sp>
          <p:nvSpPr>
            <p:cNvPr id="365575" name="Text Box 7"/>
            <p:cNvSpPr txBox="1">
              <a:spLocks noChangeArrowheads="1"/>
            </p:cNvSpPr>
            <p:nvPr/>
          </p:nvSpPr>
          <p:spPr bwMode="auto">
            <a:xfrm>
              <a:off x="2254" y="2208"/>
              <a:ext cx="338" cy="269"/>
            </a:xfrm>
            <a:prstGeom prst="rect">
              <a:avLst/>
            </a:prstGeom>
            <a:solidFill>
              <a:srgbClr val="F8F8F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sz="1400"/>
                <a:t>r</a:t>
              </a:r>
              <a:r>
                <a:rPr lang="en-US" sz="1200" baseline="-25000"/>
                <a:t>n-k-1</a:t>
              </a:r>
            </a:p>
            <a:p>
              <a:pPr algn="ctr"/>
              <a:endParaRPr lang="en-US" sz="1200" baseline="-25000"/>
            </a:p>
          </p:txBody>
        </p:sp>
        <p:sp>
          <p:nvSpPr>
            <p:cNvPr id="365576" name="Line 8"/>
            <p:cNvSpPr>
              <a:spLocks noChangeShapeType="1"/>
            </p:cNvSpPr>
            <p:nvPr/>
          </p:nvSpPr>
          <p:spPr bwMode="auto">
            <a:xfrm flipH="1">
              <a:off x="2592" y="235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65577" name="Text Box 9"/>
          <p:cNvSpPr txBox="1">
            <a:spLocks noChangeArrowheads="1"/>
          </p:cNvSpPr>
          <p:nvPr/>
        </p:nvSpPr>
        <p:spPr bwMode="auto">
          <a:xfrm>
            <a:off x="381000" y="4267200"/>
            <a:ext cx="8305800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/>
              <a:t>Encoding starts with the feedback switch closed, the output switch in the message bit position, and the register initialised to the all-zero state.</a:t>
            </a:r>
          </a:p>
          <a:p>
            <a:pPr lvl="1"/>
            <a:r>
              <a:rPr lang="en-US"/>
              <a:t>The k message bits are shifted into the register and delivered to the transmitter.</a:t>
            </a:r>
          </a:p>
          <a:p>
            <a:pPr lvl="1"/>
            <a:r>
              <a:rPr lang="en-US"/>
              <a:t>After k shift cycles, the register contains the b check bits.</a:t>
            </a:r>
          </a:p>
          <a:p>
            <a:pPr lvl="1"/>
            <a:r>
              <a:rPr lang="en-US"/>
              <a:t>The feedback switch is now opened and the output switch is moved to the check bits to deliver them to the transmitter.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64973-EB68-4992-AA85-E9F208236913}" type="slidenum">
              <a:rPr lang="en-US"/>
              <a:pPr/>
              <a:t>29</a:t>
            </a:fld>
            <a:endParaRPr lang="en-US"/>
          </a:p>
        </p:txBody>
      </p:sp>
      <p:sp>
        <p:nvSpPr>
          <p:cNvPr id="3665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6595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6596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830580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b="1"/>
              <a:t>Cyclic Codes – Implementation example</a:t>
            </a:r>
          </a:p>
          <a:p>
            <a:pPr lvl="1"/>
            <a:endParaRPr lang="en-US"/>
          </a:p>
          <a:p>
            <a:pPr lvl="1"/>
            <a:r>
              <a:rPr lang="en-US"/>
              <a:t>The shift-register encoder for the (7,4) Hamming Code has (7-4=3) stages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	</a:t>
            </a:r>
          </a:p>
          <a:p>
            <a:pPr lvl="1"/>
            <a:endParaRPr lang="en-US" sz="2000" baseline="30000"/>
          </a:p>
          <a:p>
            <a:pPr lvl="1"/>
            <a:endParaRPr lang="en-US" sz="2000"/>
          </a:p>
        </p:txBody>
      </p:sp>
      <p:pic>
        <p:nvPicPr>
          <p:cNvPr id="36659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47863" y="1219200"/>
            <a:ext cx="5248275" cy="2371725"/>
          </a:xfrm>
          <a:prstGeom prst="rect">
            <a:avLst/>
          </a:prstGeom>
          <a:noFill/>
        </p:spPr>
      </p:pic>
      <p:pic>
        <p:nvPicPr>
          <p:cNvPr id="36659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14538" y="3962400"/>
            <a:ext cx="5114925" cy="2209800"/>
          </a:xfrm>
          <a:prstGeom prst="rect">
            <a:avLst/>
          </a:prstGeom>
          <a:noFill/>
        </p:spPr>
      </p:pic>
      <p:sp>
        <p:nvSpPr>
          <p:cNvPr id="366599" name="Text Box 7"/>
          <p:cNvSpPr txBox="1">
            <a:spLocks noChangeArrowheads="1"/>
          </p:cNvSpPr>
          <p:nvPr/>
        </p:nvSpPr>
        <p:spPr bwMode="auto">
          <a:xfrm>
            <a:off x="76200" y="3541713"/>
            <a:ext cx="8909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/>
              <a:t>When the input message is 0011, after 4 shift cycles the redundancy bits are delivered</a:t>
            </a:r>
          </a:p>
        </p:txBody>
      </p:sp>
      <p:sp>
        <p:nvSpPr>
          <p:cNvPr id="366600" name="Rectangle 8"/>
          <p:cNvSpPr>
            <a:spLocks noChangeArrowheads="1"/>
          </p:cNvSpPr>
          <p:nvPr/>
        </p:nvSpPr>
        <p:spPr bwMode="auto">
          <a:xfrm>
            <a:off x="4876800" y="5746750"/>
            <a:ext cx="1981200" cy="273050"/>
          </a:xfrm>
          <a:prstGeom prst="rect">
            <a:avLst/>
          </a:prstGeom>
          <a:noFill/>
          <a:ln w="28575">
            <a:solidFill>
              <a:srgbClr val="FF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A958-3353-4B7E-8C27-9D4FF4090CF0}" type="slidenum">
              <a:rPr lang="en-US"/>
              <a:pPr/>
              <a:t>30</a:t>
            </a:fld>
            <a:endParaRPr lang="en-US"/>
          </a:p>
        </p:txBody>
      </p:sp>
      <p:sp>
        <p:nvSpPr>
          <p:cNvPr id="3676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7619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7620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830580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b="1"/>
              <a:t>Cyclic Codes – Implementation Exercise</a:t>
            </a:r>
          </a:p>
          <a:p>
            <a:pPr lvl="1"/>
            <a:endParaRPr lang="en-US"/>
          </a:p>
          <a:p>
            <a:pPr lvl="1"/>
            <a:r>
              <a:rPr lang="en-US"/>
              <a:t>The shift-register encoder for the (7,4) Hamming Code has (7-4=3) stages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	</a:t>
            </a:r>
          </a:p>
          <a:p>
            <a:pPr lvl="1"/>
            <a:endParaRPr lang="en-US" sz="2000" baseline="30000"/>
          </a:p>
          <a:p>
            <a:pPr lvl="1"/>
            <a:endParaRPr lang="en-US" sz="2000"/>
          </a:p>
        </p:txBody>
      </p:sp>
      <p:pic>
        <p:nvPicPr>
          <p:cNvPr id="36762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47863" y="1219200"/>
            <a:ext cx="5248275" cy="2371725"/>
          </a:xfrm>
          <a:prstGeom prst="rect">
            <a:avLst/>
          </a:prstGeom>
          <a:noFill/>
        </p:spPr>
      </p:pic>
      <p:pic>
        <p:nvPicPr>
          <p:cNvPr id="36762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14538" y="3962400"/>
            <a:ext cx="5114925" cy="2209800"/>
          </a:xfrm>
          <a:prstGeom prst="rect">
            <a:avLst/>
          </a:prstGeom>
          <a:noFill/>
        </p:spPr>
      </p:pic>
      <p:sp>
        <p:nvSpPr>
          <p:cNvPr id="367623" name="Text Box 7"/>
          <p:cNvSpPr txBox="1">
            <a:spLocks noChangeArrowheads="1"/>
          </p:cNvSpPr>
          <p:nvPr/>
        </p:nvSpPr>
        <p:spPr bwMode="auto">
          <a:xfrm>
            <a:off x="76200" y="3541713"/>
            <a:ext cx="8909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/>
              <a:t>When the input message is 1001, after 4 shift cycles the redundancy bits are delivered</a:t>
            </a:r>
          </a:p>
        </p:txBody>
      </p:sp>
      <p:sp>
        <p:nvSpPr>
          <p:cNvPr id="367624" name="Text Box 8"/>
          <p:cNvSpPr txBox="1">
            <a:spLocks noChangeArrowheads="1"/>
          </p:cNvSpPr>
          <p:nvPr/>
        </p:nvSpPr>
        <p:spPr bwMode="auto">
          <a:xfrm>
            <a:off x="2679700" y="5013325"/>
            <a:ext cx="268288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25" name="Text Box 9"/>
          <p:cNvSpPr txBox="1">
            <a:spLocks noChangeArrowheads="1"/>
          </p:cNvSpPr>
          <p:nvPr/>
        </p:nvSpPr>
        <p:spPr bwMode="auto">
          <a:xfrm>
            <a:off x="2684463" y="5287963"/>
            <a:ext cx="268287" cy="274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0</a:t>
            </a:r>
          </a:p>
        </p:txBody>
      </p:sp>
      <p:sp>
        <p:nvSpPr>
          <p:cNvPr id="367626" name="Text Box 10"/>
          <p:cNvSpPr txBox="1">
            <a:spLocks noChangeArrowheads="1"/>
          </p:cNvSpPr>
          <p:nvPr/>
        </p:nvSpPr>
        <p:spPr bwMode="auto">
          <a:xfrm>
            <a:off x="2682875" y="5557838"/>
            <a:ext cx="268288" cy="274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0</a:t>
            </a:r>
          </a:p>
        </p:txBody>
      </p:sp>
      <p:sp>
        <p:nvSpPr>
          <p:cNvPr id="367627" name="Text Box 11"/>
          <p:cNvSpPr txBox="1">
            <a:spLocks noChangeArrowheads="1"/>
          </p:cNvSpPr>
          <p:nvPr/>
        </p:nvSpPr>
        <p:spPr bwMode="auto">
          <a:xfrm>
            <a:off x="2692400" y="5816600"/>
            <a:ext cx="268288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28" name="Text Box 12"/>
          <p:cNvSpPr txBox="1">
            <a:spLocks noChangeArrowheads="1"/>
          </p:cNvSpPr>
          <p:nvPr/>
        </p:nvSpPr>
        <p:spPr bwMode="auto">
          <a:xfrm>
            <a:off x="3224213" y="5029200"/>
            <a:ext cx="268287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0</a:t>
            </a:r>
          </a:p>
        </p:txBody>
      </p:sp>
      <p:sp>
        <p:nvSpPr>
          <p:cNvPr id="367629" name="Text Box 13"/>
          <p:cNvSpPr txBox="1">
            <a:spLocks noChangeArrowheads="1"/>
          </p:cNvSpPr>
          <p:nvPr/>
        </p:nvSpPr>
        <p:spPr bwMode="auto">
          <a:xfrm>
            <a:off x="3228975" y="5303838"/>
            <a:ext cx="268288" cy="274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0</a:t>
            </a:r>
          </a:p>
        </p:txBody>
      </p:sp>
      <p:sp>
        <p:nvSpPr>
          <p:cNvPr id="367630" name="Text Box 14"/>
          <p:cNvSpPr txBox="1">
            <a:spLocks noChangeArrowheads="1"/>
          </p:cNvSpPr>
          <p:nvPr/>
        </p:nvSpPr>
        <p:spPr bwMode="auto">
          <a:xfrm>
            <a:off x="3227388" y="5573713"/>
            <a:ext cx="268287" cy="274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31" name="Text Box 15"/>
          <p:cNvSpPr txBox="1">
            <a:spLocks noChangeArrowheads="1"/>
          </p:cNvSpPr>
          <p:nvPr/>
        </p:nvSpPr>
        <p:spPr bwMode="auto">
          <a:xfrm>
            <a:off x="3236913" y="5832475"/>
            <a:ext cx="268287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32" name="Text Box 16"/>
          <p:cNvSpPr txBox="1">
            <a:spLocks noChangeArrowheads="1"/>
          </p:cNvSpPr>
          <p:nvPr/>
        </p:nvSpPr>
        <p:spPr bwMode="auto">
          <a:xfrm>
            <a:off x="3757613" y="5029200"/>
            <a:ext cx="268287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0</a:t>
            </a:r>
          </a:p>
        </p:txBody>
      </p:sp>
      <p:sp>
        <p:nvSpPr>
          <p:cNvPr id="367633" name="Text Box 17"/>
          <p:cNvSpPr txBox="1">
            <a:spLocks noChangeArrowheads="1"/>
          </p:cNvSpPr>
          <p:nvPr/>
        </p:nvSpPr>
        <p:spPr bwMode="auto">
          <a:xfrm>
            <a:off x="3762375" y="5303838"/>
            <a:ext cx="268288" cy="274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34" name="Text Box 18"/>
          <p:cNvSpPr txBox="1">
            <a:spLocks noChangeArrowheads="1"/>
          </p:cNvSpPr>
          <p:nvPr/>
        </p:nvSpPr>
        <p:spPr bwMode="auto">
          <a:xfrm>
            <a:off x="3760788" y="5573713"/>
            <a:ext cx="268287" cy="274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35" name="Text Box 19"/>
          <p:cNvSpPr txBox="1">
            <a:spLocks noChangeArrowheads="1"/>
          </p:cNvSpPr>
          <p:nvPr/>
        </p:nvSpPr>
        <p:spPr bwMode="auto">
          <a:xfrm>
            <a:off x="3770313" y="5832475"/>
            <a:ext cx="268287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36" name="Text Box 20"/>
          <p:cNvSpPr txBox="1">
            <a:spLocks noChangeArrowheads="1"/>
          </p:cNvSpPr>
          <p:nvPr/>
        </p:nvSpPr>
        <p:spPr bwMode="auto">
          <a:xfrm>
            <a:off x="4291013" y="5029200"/>
            <a:ext cx="268287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0</a:t>
            </a:r>
          </a:p>
        </p:txBody>
      </p:sp>
      <p:sp>
        <p:nvSpPr>
          <p:cNvPr id="367637" name="Text Box 21"/>
          <p:cNvSpPr txBox="1">
            <a:spLocks noChangeArrowheads="1"/>
          </p:cNvSpPr>
          <p:nvPr/>
        </p:nvSpPr>
        <p:spPr bwMode="auto">
          <a:xfrm>
            <a:off x="4295775" y="5303838"/>
            <a:ext cx="268288" cy="274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38" name="Text Box 22"/>
          <p:cNvSpPr txBox="1">
            <a:spLocks noChangeArrowheads="1"/>
          </p:cNvSpPr>
          <p:nvPr/>
        </p:nvSpPr>
        <p:spPr bwMode="auto">
          <a:xfrm>
            <a:off x="4294188" y="5573713"/>
            <a:ext cx="268287" cy="274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0</a:t>
            </a:r>
          </a:p>
        </p:txBody>
      </p:sp>
      <p:sp>
        <p:nvSpPr>
          <p:cNvPr id="367639" name="Text Box 23"/>
          <p:cNvSpPr txBox="1">
            <a:spLocks noChangeArrowheads="1"/>
          </p:cNvSpPr>
          <p:nvPr/>
        </p:nvSpPr>
        <p:spPr bwMode="auto">
          <a:xfrm>
            <a:off x="4303713" y="5832475"/>
            <a:ext cx="268287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40" name="Text Box 24"/>
          <p:cNvSpPr txBox="1">
            <a:spLocks noChangeArrowheads="1"/>
          </p:cNvSpPr>
          <p:nvPr/>
        </p:nvSpPr>
        <p:spPr bwMode="auto">
          <a:xfrm>
            <a:off x="4976813" y="5029200"/>
            <a:ext cx="268287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0</a:t>
            </a:r>
          </a:p>
        </p:txBody>
      </p:sp>
      <p:sp>
        <p:nvSpPr>
          <p:cNvPr id="367641" name="Text Box 25"/>
          <p:cNvSpPr txBox="1">
            <a:spLocks noChangeArrowheads="1"/>
          </p:cNvSpPr>
          <p:nvPr/>
        </p:nvSpPr>
        <p:spPr bwMode="auto">
          <a:xfrm>
            <a:off x="4981575" y="5303838"/>
            <a:ext cx="268288" cy="274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42" name="Text Box 26"/>
          <p:cNvSpPr txBox="1">
            <a:spLocks noChangeArrowheads="1"/>
          </p:cNvSpPr>
          <p:nvPr/>
        </p:nvSpPr>
        <p:spPr bwMode="auto">
          <a:xfrm>
            <a:off x="4979988" y="5573713"/>
            <a:ext cx="268287" cy="274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43" name="Text Box 27"/>
          <p:cNvSpPr txBox="1">
            <a:spLocks noChangeArrowheads="1"/>
          </p:cNvSpPr>
          <p:nvPr/>
        </p:nvSpPr>
        <p:spPr bwMode="auto">
          <a:xfrm>
            <a:off x="4989513" y="5832475"/>
            <a:ext cx="268287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>
                <a:solidFill>
                  <a:srgbClr val="FF00FF"/>
                </a:solidFill>
              </a:rPr>
              <a:t>1</a:t>
            </a:r>
          </a:p>
        </p:txBody>
      </p:sp>
      <p:sp>
        <p:nvSpPr>
          <p:cNvPr id="367644" name="Text Box 28"/>
          <p:cNvSpPr txBox="1">
            <a:spLocks noChangeArrowheads="1"/>
          </p:cNvSpPr>
          <p:nvPr/>
        </p:nvSpPr>
        <p:spPr bwMode="auto">
          <a:xfrm>
            <a:off x="5815013" y="5029200"/>
            <a:ext cx="268287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45" name="Text Box 29"/>
          <p:cNvSpPr txBox="1">
            <a:spLocks noChangeArrowheads="1"/>
          </p:cNvSpPr>
          <p:nvPr/>
        </p:nvSpPr>
        <p:spPr bwMode="auto">
          <a:xfrm>
            <a:off x="5819775" y="5303838"/>
            <a:ext cx="268288" cy="274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46" name="Text Box 30"/>
          <p:cNvSpPr txBox="1">
            <a:spLocks noChangeArrowheads="1"/>
          </p:cNvSpPr>
          <p:nvPr/>
        </p:nvSpPr>
        <p:spPr bwMode="auto">
          <a:xfrm>
            <a:off x="5818188" y="5573713"/>
            <a:ext cx="268287" cy="274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47" name="Text Box 31"/>
          <p:cNvSpPr txBox="1">
            <a:spLocks noChangeArrowheads="1"/>
          </p:cNvSpPr>
          <p:nvPr/>
        </p:nvSpPr>
        <p:spPr bwMode="auto">
          <a:xfrm>
            <a:off x="5827713" y="5832475"/>
            <a:ext cx="268287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>
                <a:solidFill>
                  <a:srgbClr val="FF00FF"/>
                </a:solidFill>
              </a:rPr>
              <a:t>1</a:t>
            </a:r>
          </a:p>
        </p:txBody>
      </p:sp>
      <p:sp>
        <p:nvSpPr>
          <p:cNvPr id="367648" name="Text Box 32"/>
          <p:cNvSpPr txBox="1">
            <a:spLocks noChangeArrowheads="1"/>
          </p:cNvSpPr>
          <p:nvPr/>
        </p:nvSpPr>
        <p:spPr bwMode="auto">
          <a:xfrm>
            <a:off x="6500813" y="5029200"/>
            <a:ext cx="268287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49" name="Text Box 33"/>
          <p:cNvSpPr txBox="1">
            <a:spLocks noChangeArrowheads="1"/>
          </p:cNvSpPr>
          <p:nvPr/>
        </p:nvSpPr>
        <p:spPr bwMode="auto">
          <a:xfrm>
            <a:off x="6505575" y="5303838"/>
            <a:ext cx="268288" cy="274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0</a:t>
            </a:r>
          </a:p>
        </p:txBody>
      </p:sp>
      <p:sp>
        <p:nvSpPr>
          <p:cNvPr id="367650" name="Text Box 34"/>
          <p:cNvSpPr txBox="1">
            <a:spLocks noChangeArrowheads="1"/>
          </p:cNvSpPr>
          <p:nvPr/>
        </p:nvSpPr>
        <p:spPr bwMode="auto">
          <a:xfrm>
            <a:off x="6503988" y="5573713"/>
            <a:ext cx="268287" cy="274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/>
              <a:t>1</a:t>
            </a:r>
          </a:p>
        </p:txBody>
      </p:sp>
      <p:sp>
        <p:nvSpPr>
          <p:cNvPr id="367651" name="Text Box 35"/>
          <p:cNvSpPr txBox="1">
            <a:spLocks noChangeArrowheads="1"/>
          </p:cNvSpPr>
          <p:nvPr/>
        </p:nvSpPr>
        <p:spPr bwMode="auto">
          <a:xfrm>
            <a:off x="6513513" y="5832475"/>
            <a:ext cx="268287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>
                <a:solidFill>
                  <a:srgbClr val="FF00FF"/>
                </a:solidFill>
              </a:rPr>
              <a:t>0</a:t>
            </a:r>
          </a:p>
        </p:txBody>
      </p:sp>
      <p:sp>
        <p:nvSpPr>
          <p:cNvPr id="367652" name="Text Box 36"/>
          <p:cNvSpPr txBox="1">
            <a:spLocks noChangeArrowheads="1"/>
          </p:cNvSpPr>
          <p:nvPr/>
        </p:nvSpPr>
        <p:spPr bwMode="auto">
          <a:xfrm>
            <a:off x="7181850" y="4876800"/>
            <a:ext cx="1657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/>
              <a:t>The check bits</a:t>
            </a:r>
          </a:p>
          <a:p>
            <a:pPr algn="ctr"/>
            <a:r>
              <a:rPr lang="en-US"/>
              <a:t>is 011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671E-2705-48D3-9094-71A0F0A1C73D}" type="slidenum">
              <a:rPr lang="en-US"/>
              <a:pPr/>
              <a:t>31</a:t>
            </a:fld>
            <a:endParaRPr lang="en-US"/>
          </a:p>
        </p:txBody>
      </p:sp>
      <p:sp>
        <p:nvSpPr>
          <p:cNvPr id="3686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8643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8644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830580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/>
            <a:r>
              <a:rPr lang="en-US" b="1"/>
              <a:t>Cyclic Codes – Implementation Exercise</a:t>
            </a:r>
          </a:p>
          <a:p>
            <a:pPr lvl="1"/>
            <a:endParaRPr lang="en-US"/>
          </a:p>
          <a:p>
            <a:pPr lvl="1"/>
            <a:r>
              <a:rPr lang="en-US"/>
              <a:t>The shift-register encoder for the (7,4) Hamming Code has (7-4=3) stages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	</a:t>
            </a:r>
          </a:p>
          <a:p>
            <a:pPr lvl="1"/>
            <a:endParaRPr lang="en-US" sz="2000" baseline="30000"/>
          </a:p>
          <a:p>
            <a:pPr lvl="1"/>
            <a:endParaRPr lang="en-US" sz="2000"/>
          </a:p>
        </p:txBody>
      </p:sp>
      <p:pic>
        <p:nvPicPr>
          <p:cNvPr id="36864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47863" y="1219200"/>
            <a:ext cx="5248275" cy="2371725"/>
          </a:xfrm>
          <a:prstGeom prst="rect">
            <a:avLst/>
          </a:prstGeom>
          <a:noFill/>
        </p:spPr>
      </p:pic>
      <p:sp>
        <p:nvSpPr>
          <p:cNvPr id="368646" name="Text Box 6"/>
          <p:cNvSpPr txBox="1">
            <a:spLocks noChangeArrowheads="1"/>
          </p:cNvSpPr>
          <p:nvPr/>
        </p:nvSpPr>
        <p:spPr bwMode="auto">
          <a:xfrm>
            <a:off x="2667000" y="4648200"/>
            <a:ext cx="3638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/>
              <a:t>When the input message is 1100?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C96A-BE19-48A3-8A6E-6044EDAD3A67}" type="slidenum">
              <a:rPr lang="en-US"/>
              <a:pPr/>
              <a:t>32</a:t>
            </a:fld>
            <a:endParaRPr lang="en-US"/>
          </a:p>
        </p:txBody>
      </p:sp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parameters</a:t>
            </a:r>
          </a:p>
        </p:txBody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800"/>
              <a:t>The Hamming distance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The Hamming distance between a pair of code vectors, c1 and c2  that have the same number of elements is defined as the number of locations in which their respective elements differ</a:t>
            </a:r>
          </a:p>
          <a:p>
            <a:pPr>
              <a:lnSpc>
                <a:spcPct val="80000"/>
              </a:lnSpc>
            </a:pPr>
            <a:r>
              <a:rPr lang="en-US" sz="1800"/>
              <a:t>The Hamming weight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The Hamming weight of a code vector c is defined as the number of nonzero elements in that code vector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Equivalent to the distance between a code vector and an all-zero code vector</a:t>
            </a:r>
          </a:p>
          <a:p>
            <a:pPr>
              <a:lnSpc>
                <a:spcPct val="80000"/>
              </a:lnSpc>
            </a:pPr>
            <a:r>
              <a:rPr lang="en-US" sz="1800"/>
              <a:t> The minimum distance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The minimum distance of a linear block code is defined as the smallest Hamming distance between any pair of code vectors in the code.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Equivalent to the smallest Hamming weight of the difference between any pair of code vectors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Equivalent to the smallest Hamming weight of the nonzero code vectors in the code</a:t>
            </a:r>
          </a:p>
          <a:p>
            <a:pPr>
              <a:lnSpc>
                <a:spcPct val="80000"/>
              </a:lnSpc>
            </a:pPr>
            <a:r>
              <a:rPr lang="en-US" sz="1800"/>
              <a:t>Code rate 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The ratio between the number of original message bits and the number of bits of the codeword 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For (n,k) code , code rate = k/n.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29A9E-C1FD-4D5D-AD47-E8727C13337E}" type="slidenum">
              <a:rPr lang="en-US"/>
              <a:pPr/>
              <a:t>33</a:t>
            </a:fld>
            <a:endParaRPr lang="en-US"/>
          </a:p>
        </p:txBody>
      </p:sp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3600"/>
              <a:t>Codewords for (7,4) Hamming Code</a:t>
            </a:r>
          </a:p>
        </p:txBody>
      </p:sp>
      <p:graphicFrame>
        <p:nvGraphicFramePr>
          <p:cNvPr id="372850" name="Group 114"/>
          <p:cNvGraphicFramePr>
            <a:graphicFrameLocks noGrp="1"/>
          </p:cNvGraphicFramePr>
          <p:nvPr>
            <p:ph idx="1"/>
          </p:nvPr>
        </p:nvGraphicFramePr>
        <p:xfrm>
          <a:off x="381000" y="1009650"/>
          <a:ext cx="7162800" cy="5187950"/>
        </p:xfrm>
        <a:graphic>
          <a:graphicData uri="http://schemas.openxmlformats.org/drawingml/2006/table">
            <a:tbl>
              <a:tblPr/>
              <a:tblGrid>
                <a:gridCol w="1981200"/>
                <a:gridCol w="1066800"/>
                <a:gridCol w="2057400"/>
                <a:gridCol w="2057400"/>
              </a:tblGrid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Message Word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Parity bits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Code words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Hamming weight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0001101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72851" name="Text Box 115"/>
          <p:cNvSpPr txBox="1">
            <a:spLocks noChangeArrowheads="1"/>
          </p:cNvSpPr>
          <p:nvPr/>
        </p:nvSpPr>
        <p:spPr bwMode="auto">
          <a:xfrm>
            <a:off x="7620000" y="2057400"/>
            <a:ext cx="12319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Min dist=?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E625-4C2A-41A5-BCC4-7EFFC95B80E2}" type="slidenum">
              <a:rPr lang="en-US"/>
              <a:pPr/>
              <a:t>34</a:t>
            </a:fld>
            <a:endParaRPr lang="en-US"/>
          </a:p>
        </p:txBody>
      </p:sp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parameters</a:t>
            </a:r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The minimum distance of a code determines the error detecting and correcting capability of the code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Error detection is always possible when the number of transmission errors in a codeword is less than the minimum distance so that the erroneous word may not be seen as another valid code vector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Various degrees of error control capability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Detect up to </a:t>
            </a:r>
            <a:r>
              <a:rPr lang="en-US" sz="2000">
                <a:latin typeface="Script MT Bold" pitchFamily="66" charset="0"/>
              </a:rPr>
              <a:t>l </a:t>
            </a:r>
            <a:r>
              <a:rPr lang="en-US" sz="2000"/>
              <a:t>errors per word ,  dmin &gt;= </a:t>
            </a:r>
            <a:r>
              <a:rPr lang="en-US" sz="2000">
                <a:latin typeface="Script MT Bold" pitchFamily="66" charset="0"/>
              </a:rPr>
              <a:t>l </a:t>
            </a:r>
            <a:r>
              <a:rPr lang="en-US" sz="2000"/>
              <a:t>+ 1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Correct up to </a:t>
            </a:r>
            <a:r>
              <a:rPr lang="en-US" sz="2000">
                <a:latin typeface="Script MT Bold" pitchFamily="66" charset="0"/>
              </a:rPr>
              <a:t>t</a:t>
            </a:r>
            <a:r>
              <a:rPr lang="en-US" sz="2000"/>
              <a:t> errors per word, dmin &gt;= 2</a:t>
            </a:r>
            <a:r>
              <a:rPr lang="en-US" sz="2000">
                <a:latin typeface="Script MT Bold" pitchFamily="66" charset="0"/>
              </a:rPr>
              <a:t>t</a:t>
            </a:r>
            <a:r>
              <a:rPr lang="en-US" sz="2000"/>
              <a:t> + 1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Correct up to t errors and detect </a:t>
            </a:r>
            <a:r>
              <a:rPr lang="en-US" sz="2000">
                <a:latin typeface="Script MT Bold" pitchFamily="66" charset="0"/>
              </a:rPr>
              <a:t>l</a:t>
            </a:r>
            <a:r>
              <a:rPr lang="en-US" sz="2000"/>
              <a:t> &gt;</a:t>
            </a:r>
            <a:r>
              <a:rPr lang="en-US" sz="2000">
                <a:latin typeface="Script MT Bold" pitchFamily="66" charset="0"/>
              </a:rPr>
              <a:t> t</a:t>
            </a:r>
            <a:r>
              <a:rPr lang="en-US" sz="2000"/>
              <a:t> errors per word,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/>
              <a:t>dmin &gt;= </a:t>
            </a:r>
            <a:r>
              <a:rPr lang="en-US" sz="2000">
                <a:latin typeface="Script MT Bold" pitchFamily="66" charset="0"/>
              </a:rPr>
              <a:t>t</a:t>
            </a:r>
            <a:r>
              <a:rPr lang="en-US" sz="2000"/>
              <a:t> + </a:t>
            </a:r>
            <a:r>
              <a:rPr lang="en-US" sz="2000">
                <a:latin typeface="Script MT Bold" pitchFamily="66" charset="0"/>
              </a:rPr>
              <a:t>l</a:t>
            </a:r>
            <a:r>
              <a:rPr lang="en-US" sz="2000"/>
              <a:t> + 1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Code rate is a measure of the code efficiency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2451</Words>
  <Application>Microsoft Office PowerPoint</Application>
  <PresentationFormat>On-screen Show (4:3)</PresentationFormat>
  <Paragraphs>567</Paragraphs>
  <Slides>34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Office Theme</vt:lpstr>
      <vt:lpstr>Microsoft Equation 3.0</vt:lpstr>
      <vt:lpstr>CHANNEL CODING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Codewords for (7,4) Hamming Code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Code parameters</vt:lpstr>
      <vt:lpstr>Codewords for (7,4) Hamming Code</vt:lpstr>
      <vt:lpstr>Code parameters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CHANNEL CODING</dc:title>
  <dc:creator>user</dc:creator>
  <cp:lastModifiedBy>Windows User</cp:lastModifiedBy>
  <cp:revision>2</cp:revision>
  <dcterms:created xsi:type="dcterms:W3CDTF">2006-08-16T00:00:00Z</dcterms:created>
  <dcterms:modified xsi:type="dcterms:W3CDTF">2024-01-31T15:25:45Z</dcterms:modified>
</cp:coreProperties>
</file>