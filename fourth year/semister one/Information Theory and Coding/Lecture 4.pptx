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91" r:id="rId32"/>
    <p:sldId id="290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OPTIMAL CODE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 smtClean="0"/>
              <a:t>we proved that any codeword set that satisfies the prefix condition has to satisfy the Kraft inequality and that the Kraft inequality is a sufficient condition for the existence of a codeword set with the specified set of codeword lengths. </a:t>
            </a:r>
          </a:p>
          <a:p>
            <a:pPr algn="just"/>
            <a:r>
              <a:rPr lang="en-GB" dirty="0" smtClean="0"/>
              <a:t>We now consider the problem of finding the prefix code with the minimum expected length</a:t>
            </a:r>
          </a:p>
          <a:p>
            <a:pPr algn="just"/>
            <a:r>
              <a:rPr lang="en-GB" dirty="0" smtClean="0"/>
              <a:t>Encode source </a:t>
            </a:r>
            <a:r>
              <a:rPr lang="en-GB" i="1" dirty="0" smtClean="0"/>
              <a:t>X with </a:t>
            </a:r>
            <a:r>
              <a:rPr lang="en-GB" i="1" dirty="0" err="1" smtClean="0"/>
              <a:t>pdf</a:t>
            </a:r>
            <a:r>
              <a:rPr lang="en-GB" i="1" dirty="0" smtClean="0"/>
              <a:t> pi</a:t>
            </a:r>
          </a:p>
          <a:p>
            <a:pPr algn="just"/>
            <a:r>
              <a:rPr lang="en-GB" i="1" dirty="0" smtClean="0"/>
              <a:t> Find code length </a:t>
            </a:r>
            <a:r>
              <a:rPr lang="en-GB" i="1" dirty="0" err="1" smtClean="0"/>
              <a:t>li</a:t>
            </a:r>
            <a:r>
              <a:rPr lang="en-GB" i="1" dirty="0" smtClean="0"/>
              <a:t> to minimize expected code length L</a:t>
            </a:r>
          </a:p>
          <a:p>
            <a:pPr algn="just"/>
            <a:r>
              <a:rPr lang="en-GB" i="1" dirty="0" smtClean="0"/>
              <a:t> Uniquely </a:t>
            </a:r>
            <a:r>
              <a:rPr lang="en-GB" i="1" dirty="0" err="1" smtClean="0"/>
              <a:t>decodable</a:t>
            </a:r>
            <a:r>
              <a:rPr lang="en-GB" i="1" dirty="0" smtClean="0"/>
              <a:t> code should satisfy Kraft-McMillan inequality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133600"/>
            <a:ext cx="4267200" cy="274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 smtClean="0"/>
              <a:t>T</a:t>
            </a:r>
            <a:r>
              <a:rPr lang="en-GB" dirty="0" smtClean="0"/>
              <a:t>his </a:t>
            </a:r>
            <a:r>
              <a:rPr lang="en-GB" dirty="0" smtClean="0"/>
              <a:t>is equivalent to finding the set of lengths </a:t>
            </a:r>
            <a:r>
              <a:rPr lang="en-GB" i="1" dirty="0" smtClean="0"/>
              <a:t>l1, l2, . . . , lm </a:t>
            </a:r>
            <a:r>
              <a:rPr lang="en-GB" dirty="0" smtClean="0"/>
              <a:t>satisfying the Kraft inequality.</a:t>
            </a:r>
          </a:p>
          <a:p>
            <a:pPr>
              <a:lnSpc>
                <a:spcPct val="150000"/>
              </a:lnSpc>
            </a:pPr>
            <a:r>
              <a:rPr lang="en-GB" i="1" dirty="0" smtClean="0"/>
              <a:t>The expected length L of any instantaneous D-</a:t>
            </a:r>
            <a:r>
              <a:rPr lang="en-GB" i="1" dirty="0" err="1" smtClean="0"/>
              <a:t>ary</a:t>
            </a:r>
            <a:r>
              <a:rPr lang="en-GB" i="1" dirty="0" smtClean="0"/>
              <a:t> code for a random variable X is greater than or equal to the entropy HD(X); that is,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5867400"/>
            <a:ext cx="12477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HUFFMAN CODES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GB" dirty="0" smtClean="0"/>
              <a:t>An optimal (shortest expected length) prefix code for a given distribution can be constructed by a simple algorithm discovered by Huffman</a:t>
            </a:r>
          </a:p>
          <a:p>
            <a:pPr algn="just">
              <a:lnSpc>
                <a:spcPct val="160000"/>
              </a:lnSpc>
            </a:pPr>
            <a:r>
              <a:rPr lang="en-GB" dirty="0" smtClean="0"/>
              <a:t>Consider a random variable </a:t>
            </a:r>
            <a:r>
              <a:rPr lang="en-GB" i="1" dirty="0" smtClean="0"/>
              <a:t>X taking values in the set</a:t>
            </a:r>
          </a:p>
          <a:p>
            <a:pPr algn="just">
              <a:lnSpc>
                <a:spcPct val="160000"/>
              </a:lnSpc>
            </a:pPr>
            <a:r>
              <a:rPr lang="en-GB" i="1" dirty="0" smtClean="0"/>
              <a:t>X = {1, 2, 3, 4, 5} with probabilities 0.25, 0.25, 0.2, 0.15, 0.15, respectively.</a:t>
            </a:r>
          </a:p>
          <a:p>
            <a:pPr algn="just">
              <a:lnSpc>
                <a:spcPct val="160000"/>
              </a:lnSpc>
            </a:pPr>
            <a:r>
              <a:rPr lang="en-GB" dirty="0" smtClean="0"/>
              <a:t>We expect the optimal binary code for </a:t>
            </a:r>
            <a:r>
              <a:rPr lang="en-GB" i="1" dirty="0" smtClean="0"/>
              <a:t>X to have the longest </a:t>
            </a:r>
            <a:r>
              <a:rPr lang="en-GB" dirty="0" err="1" smtClean="0"/>
              <a:t>codewords</a:t>
            </a:r>
            <a:r>
              <a:rPr lang="en-GB" dirty="0" smtClean="0"/>
              <a:t> assigned to the symbols 4 and 5. </a:t>
            </a:r>
          </a:p>
          <a:p>
            <a:pPr algn="just">
              <a:lnSpc>
                <a:spcPct val="160000"/>
              </a:lnSpc>
            </a:pPr>
            <a:r>
              <a:rPr lang="en-GB" dirty="0" smtClean="0"/>
              <a:t>These two lengths must be equal, since otherwise we can delete a bit from the longer codeword and still have a prefix code, but with a shorter expected length.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dirty="0" smtClean="0"/>
              <a:t>In general, we can construct a code in which the two longest </a:t>
            </a:r>
            <a:r>
              <a:rPr lang="en-GB" dirty="0" err="1" smtClean="0"/>
              <a:t>codewords</a:t>
            </a:r>
            <a:r>
              <a:rPr lang="en-GB" dirty="0" smtClean="0"/>
              <a:t> differ only in the last bit. 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For this code, we can combine the symbols 4 and 5 into a single source symbol, with a probability assignment 0.30. 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Proceeding this way, combining the two least likely symbols into one symbol until we are finally left with only one symbol, and then assigning </a:t>
            </a:r>
            <a:r>
              <a:rPr lang="en-GB" dirty="0" err="1" smtClean="0"/>
              <a:t>codewords</a:t>
            </a:r>
            <a:r>
              <a:rPr lang="en-GB" dirty="0" smtClean="0"/>
              <a:t> to the symbols,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Encoding messages </a:t>
            </a:r>
          </a:p>
        </p:txBody>
      </p:sp>
      <p:sp>
        <p:nvSpPr>
          <p:cNvPr id="2611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Encode a message composed of a string of characters</a:t>
            </a:r>
          </a:p>
          <a:p>
            <a:r>
              <a:rPr lang="en-US" dirty="0"/>
              <a:t>Codes used by computer systems</a:t>
            </a:r>
          </a:p>
          <a:p>
            <a:pPr lvl="1"/>
            <a:r>
              <a:rPr lang="en-US" dirty="0"/>
              <a:t>ASCII</a:t>
            </a:r>
          </a:p>
          <a:p>
            <a:pPr lvl="2"/>
            <a:r>
              <a:rPr lang="en-US" dirty="0"/>
              <a:t>uses 8 bits per character</a:t>
            </a:r>
          </a:p>
          <a:p>
            <a:pPr lvl="2"/>
            <a:r>
              <a:rPr lang="en-US" dirty="0"/>
              <a:t>can encode 256 characters</a:t>
            </a:r>
          </a:p>
          <a:p>
            <a:pPr lvl="1"/>
            <a:r>
              <a:rPr lang="en-US" dirty="0"/>
              <a:t>Unicode</a:t>
            </a:r>
          </a:p>
          <a:p>
            <a:pPr lvl="2"/>
            <a:r>
              <a:rPr lang="en-US" dirty="0"/>
              <a:t>16 bits per character</a:t>
            </a:r>
          </a:p>
          <a:p>
            <a:pPr lvl="2"/>
            <a:r>
              <a:rPr lang="en-US" dirty="0"/>
              <a:t>can encode 65536 characters</a:t>
            </a:r>
          </a:p>
          <a:p>
            <a:pPr lvl="2"/>
            <a:r>
              <a:rPr lang="en-US" dirty="0"/>
              <a:t>includes all characters encoded by ASCII</a:t>
            </a:r>
          </a:p>
          <a:p>
            <a:r>
              <a:rPr lang="en-US" dirty="0"/>
              <a:t>ASCII and Unicode are </a:t>
            </a:r>
            <a:r>
              <a:rPr lang="en-US" i="1" dirty="0"/>
              <a:t>fixed-length codes</a:t>
            </a:r>
          </a:p>
          <a:p>
            <a:pPr lvl="1"/>
            <a:r>
              <a:rPr lang="en-US" dirty="0"/>
              <a:t>all characters represented by same number of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1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1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1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1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1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1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1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1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1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1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1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1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1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1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1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1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1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1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1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6200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that we want to encode a message constructed from the symbols </a:t>
            </a:r>
            <a:r>
              <a:rPr lang="en-US" b="1" dirty="0"/>
              <a:t>A</a:t>
            </a:r>
            <a:r>
              <a:rPr lang="en-US" dirty="0"/>
              <a:t>, </a:t>
            </a:r>
            <a:r>
              <a:rPr lang="en-US" b="1" dirty="0"/>
              <a:t>B</a:t>
            </a:r>
            <a:r>
              <a:rPr lang="en-US" dirty="0"/>
              <a:t>, </a:t>
            </a:r>
            <a:r>
              <a:rPr lang="en-US" b="1" dirty="0"/>
              <a:t>C</a:t>
            </a:r>
            <a:r>
              <a:rPr lang="en-US" dirty="0"/>
              <a:t>, </a:t>
            </a:r>
            <a:r>
              <a:rPr lang="en-US" b="1" dirty="0"/>
              <a:t>D</a:t>
            </a:r>
            <a:r>
              <a:rPr lang="en-US" dirty="0"/>
              <a:t>, and </a:t>
            </a:r>
            <a:r>
              <a:rPr lang="en-US" b="1" dirty="0"/>
              <a:t>E</a:t>
            </a:r>
            <a:r>
              <a:rPr lang="en-US" dirty="0"/>
              <a:t> using a fixed-length code</a:t>
            </a:r>
          </a:p>
          <a:p>
            <a:pPr lvl="1"/>
            <a:r>
              <a:rPr lang="en-US" dirty="0"/>
              <a:t>How many bits are required to encode each symbol? </a:t>
            </a:r>
          </a:p>
          <a:p>
            <a:pPr lvl="2">
              <a:buSzPct val="70000"/>
              <a:buFont typeface="Wingdings 2" pitchFamily="18" charset="2"/>
              <a:buChar char="®"/>
            </a:pPr>
            <a:r>
              <a:rPr lang="en-US" dirty="0"/>
              <a:t>at least </a:t>
            </a:r>
            <a:r>
              <a:rPr lang="en-US" dirty="0">
                <a:solidFill>
                  <a:srgbClr val="0000FF"/>
                </a:solidFill>
              </a:rPr>
              <a:t>3 bits</a:t>
            </a:r>
            <a:r>
              <a:rPr lang="en-US" dirty="0"/>
              <a:t> are required</a:t>
            </a:r>
          </a:p>
          <a:p>
            <a:pPr lvl="2">
              <a:buSzPct val="70000"/>
              <a:buFont typeface="Wingdings 2" pitchFamily="18" charset="2"/>
              <a:buChar char="®"/>
            </a:pPr>
            <a:r>
              <a:rPr lang="en-US" dirty="0"/>
              <a:t>2 bits are not enough (can only encode four symbols)</a:t>
            </a:r>
          </a:p>
          <a:p>
            <a:pPr lvl="1">
              <a:buSzPct val="70000"/>
              <a:buFont typeface="Wingdings 2" pitchFamily="18" charset="2"/>
              <a:buChar char="®"/>
            </a:pPr>
            <a:r>
              <a:rPr lang="en-US" dirty="0"/>
              <a:t>How many bits are required to encode the message </a:t>
            </a:r>
            <a:r>
              <a:rPr lang="en-US" b="1" dirty="0" err="1"/>
              <a:t>DEAACAAAAABA</a:t>
            </a:r>
            <a:r>
              <a:rPr lang="en-US" dirty="0"/>
              <a:t>? </a:t>
            </a:r>
          </a:p>
          <a:p>
            <a:pPr lvl="2">
              <a:buSzPct val="70000"/>
              <a:buFont typeface="Wingdings 2" pitchFamily="18" charset="2"/>
              <a:buChar char="®"/>
            </a:pPr>
            <a:r>
              <a:rPr lang="en-US" dirty="0"/>
              <a:t>there are twelve symbols, each requires 3 bits</a:t>
            </a:r>
          </a:p>
          <a:p>
            <a:pPr lvl="2">
              <a:buSzPct val="70000"/>
              <a:buFont typeface="Wingdings 2" pitchFamily="18" charset="2"/>
              <a:buChar char="®"/>
            </a:pPr>
            <a:r>
              <a:rPr lang="en-US" dirty="0"/>
              <a:t>12*3 = </a:t>
            </a:r>
            <a:r>
              <a:rPr lang="en-US" dirty="0">
                <a:solidFill>
                  <a:srgbClr val="0000FF"/>
                </a:solidFill>
              </a:rPr>
              <a:t>36 bits</a:t>
            </a:r>
            <a:r>
              <a:rPr lang="en-US" dirty="0"/>
              <a:t> are required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5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5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5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Drawbacks of fixed-length codes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Wasted space</a:t>
            </a:r>
          </a:p>
          <a:p>
            <a:pPr lvl="1"/>
            <a:r>
              <a:rPr lang="en-US" dirty="0"/>
              <a:t>Unicode uses twice as much space as ASCII</a:t>
            </a:r>
          </a:p>
          <a:p>
            <a:pPr lvl="2"/>
            <a:r>
              <a:rPr lang="en-US" dirty="0"/>
              <a:t>inefficient for plain-text messages containing only ASCII characters</a:t>
            </a:r>
          </a:p>
          <a:p>
            <a:r>
              <a:rPr lang="en-US" dirty="0"/>
              <a:t>Same number of bits used to represent all characters</a:t>
            </a:r>
          </a:p>
          <a:p>
            <a:pPr lvl="1"/>
            <a:r>
              <a:rPr lang="en-US" dirty="0"/>
              <a:t>‘a’ and ‘e’ occur more frequently than ‘q’ and ‘z’</a:t>
            </a:r>
          </a:p>
          <a:p>
            <a:endParaRPr lang="en-US" dirty="0"/>
          </a:p>
          <a:p>
            <a:r>
              <a:rPr lang="en-US" b="1" dirty="0"/>
              <a:t>Potential solution</a:t>
            </a:r>
            <a:r>
              <a:rPr lang="en-US" dirty="0"/>
              <a:t>: use variable-length codes</a:t>
            </a:r>
          </a:p>
          <a:p>
            <a:pPr lvl="1"/>
            <a:r>
              <a:rPr lang="en-US" dirty="0"/>
              <a:t>variable number of bits to represent characters when frequency of occurrence is known</a:t>
            </a:r>
          </a:p>
          <a:p>
            <a:pPr lvl="1"/>
            <a:r>
              <a:rPr lang="en-US" dirty="0"/>
              <a:t>short codes for characters that occur frequently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2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2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2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2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2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Advantages of variable-length codes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advantage of variable-length codes over fixed-length is short codes can be given to characters that occur frequently</a:t>
            </a:r>
          </a:p>
          <a:p>
            <a:pPr lvl="1"/>
            <a:r>
              <a:rPr lang="en-US" dirty="0"/>
              <a:t>on average, the length of the encoded message is less than fixed-length encoding</a:t>
            </a:r>
          </a:p>
          <a:p>
            <a:r>
              <a:rPr lang="en-US" b="1" dirty="0"/>
              <a:t>Potential problem:</a:t>
            </a:r>
            <a:r>
              <a:rPr lang="en-US" dirty="0"/>
              <a:t> how do we know where one character ends and another begins? </a:t>
            </a:r>
          </a:p>
          <a:p>
            <a:pPr lvl="2"/>
            <a:r>
              <a:rPr lang="en-US" dirty="0"/>
              <a:t>not a problem if number of bits is fixed!</a:t>
            </a:r>
          </a:p>
        </p:txBody>
      </p:sp>
      <p:sp>
        <p:nvSpPr>
          <p:cNvPr id="281604" name="Text Box 4"/>
          <p:cNvSpPr txBox="1">
            <a:spLocks noChangeArrowheads="1"/>
          </p:cNvSpPr>
          <p:nvPr/>
        </p:nvSpPr>
        <p:spPr bwMode="auto">
          <a:xfrm>
            <a:off x="228600" y="5029200"/>
            <a:ext cx="1119188" cy="1581150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= 00</a:t>
            </a:r>
          </a:p>
          <a:p>
            <a:r>
              <a:rPr lang="en-US"/>
              <a:t>B = 01</a:t>
            </a:r>
          </a:p>
          <a:p>
            <a:r>
              <a:rPr lang="en-US"/>
              <a:t>C = 10</a:t>
            </a:r>
          </a:p>
          <a:p>
            <a:r>
              <a:rPr lang="en-US"/>
              <a:t>D = 11</a:t>
            </a:r>
          </a:p>
        </p:txBody>
      </p:sp>
      <p:sp>
        <p:nvSpPr>
          <p:cNvPr id="281605" name="Text Box 5"/>
          <p:cNvSpPr txBox="1">
            <a:spLocks noChangeArrowheads="1"/>
          </p:cNvSpPr>
          <p:nvPr/>
        </p:nvSpPr>
        <p:spPr bwMode="auto">
          <a:xfrm>
            <a:off x="1524000" y="5867400"/>
            <a:ext cx="3949700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0010110111001111111111</a:t>
            </a:r>
          </a:p>
        </p:txBody>
      </p:sp>
      <p:sp>
        <p:nvSpPr>
          <p:cNvPr id="281606" name="Text Box 6"/>
          <p:cNvSpPr txBox="1">
            <a:spLocks noChangeArrowheads="1"/>
          </p:cNvSpPr>
          <p:nvPr/>
        </p:nvSpPr>
        <p:spPr bwMode="auto">
          <a:xfrm>
            <a:off x="5715000" y="5867400"/>
            <a:ext cx="3208338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A C D B A D D D D 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 build="p"/>
      <p:bldP spid="281604" grpId="0" animBg="1"/>
      <p:bldP spid="281605" grpId="0" animBg="1"/>
      <p:bldP spid="28160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Prefix property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code has the </a:t>
            </a:r>
            <a:r>
              <a:rPr lang="en-US" b="1" dirty="0"/>
              <a:t>prefix property</a:t>
            </a:r>
            <a:r>
              <a:rPr lang="en-US" dirty="0"/>
              <a:t> if no character code is the prefix (start of the code) for another character</a:t>
            </a:r>
          </a:p>
          <a:p>
            <a:r>
              <a:rPr lang="en-US" dirty="0"/>
              <a:t>Example: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			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000 is not a prefix of 11, 01, 001, or 10</a:t>
            </a:r>
          </a:p>
          <a:p>
            <a:r>
              <a:rPr lang="en-US" dirty="0"/>
              <a:t>11 is not a prefix of 000, 01, 001, or 10  …</a:t>
            </a:r>
          </a:p>
        </p:txBody>
      </p:sp>
      <p:graphicFrame>
        <p:nvGraphicFramePr>
          <p:cNvPr id="263172" name="Group 4"/>
          <p:cNvGraphicFramePr>
            <a:graphicFrameLocks noGrp="1"/>
          </p:cNvGraphicFramePr>
          <p:nvPr/>
        </p:nvGraphicFramePr>
        <p:xfrm>
          <a:off x="1371600" y="2590800"/>
          <a:ext cx="3352800" cy="27432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</a:tblGrid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3195" name="Text Box 27"/>
          <p:cNvSpPr txBox="1">
            <a:spLocks noChangeArrowheads="1"/>
          </p:cNvSpPr>
          <p:nvPr/>
        </p:nvSpPr>
        <p:spPr bwMode="auto">
          <a:xfrm>
            <a:off x="5181600" y="3200400"/>
            <a:ext cx="2590800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01001101100010</a:t>
            </a:r>
          </a:p>
        </p:txBody>
      </p:sp>
      <p:sp>
        <p:nvSpPr>
          <p:cNvPr id="263196" name="Text Box 28"/>
          <p:cNvSpPr txBox="1">
            <a:spLocks noChangeArrowheads="1"/>
          </p:cNvSpPr>
          <p:nvPr/>
        </p:nvSpPr>
        <p:spPr bwMode="auto">
          <a:xfrm>
            <a:off x="6477000" y="3886200"/>
            <a:ext cx="1868488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 S T Q P 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6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6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3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3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3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3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uiExpand="1" build="p"/>
      <p:bldP spid="263195" grpId="0" animBg="1"/>
      <p:bldP spid="26319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without prefix property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following code does </a:t>
            </a:r>
            <a:r>
              <a:rPr lang="en-US" b="1" dirty="0"/>
              <a:t>not</a:t>
            </a:r>
            <a:r>
              <a:rPr lang="en-US" dirty="0"/>
              <a:t> have prefix property</a:t>
            </a:r>
          </a:p>
          <a:p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dirty="0"/>
              <a:t>			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>
              <a:solidFill>
                <a:srgbClr val="0000FF"/>
              </a:solidFill>
            </a:endParaRPr>
          </a:p>
          <a:p>
            <a:r>
              <a:rPr lang="en-US" dirty="0"/>
              <a:t>The pattern </a:t>
            </a:r>
            <a:r>
              <a:rPr lang="en-US" b="1" dirty="0"/>
              <a:t>1110</a:t>
            </a:r>
            <a:r>
              <a:rPr lang="en-US" dirty="0"/>
              <a:t> can be decoded as </a:t>
            </a:r>
            <a:r>
              <a:rPr lang="en-US" b="1" dirty="0" err="1"/>
              <a:t>QQQP</a:t>
            </a:r>
            <a:r>
              <a:rPr lang="en-US" dirty="0"/>
              <a:t>, </a:t>
            </a:r>
            <a:r>
              <a:rPr lang="en-US" b="1" dirty="0" err="1"/>
              <a:t>QTP</a:t>
            </a:r>
            <a:r>
              <a:rPr lang="en-US" dirty="0"/>
              <a:t>,  </a:t>
            </a:r>
            <a:r>
              <a:rPr lang="en-US" b="1" dirty="0" err="1"/>
              <a:t>QQS</a:t>
            </a:r>
            <a:r>
              <a:rPr lang="en-US" dirty="0"/>
              <a:t>, or </a:t>
            </a:r>
            <a:r>
              <a:rPr lang="en-US" b="1" dirty="0"/>
              <a:t>TS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graphicFrame>
        <p:nvGraphicFramePr>
          <p:cNvPr id="264196" name="Group 4"/>
          <p:cNvGraphicFramePr>
            <a:graphicFrameLocks noGrp="1"/>
          </p:cNvGraphicFramePr>
          <p:nvPr/>
        </p:nvGraphicFramePr>
        <p:xfrm>
          <a:off x="2895600" y="2058988"/>
          <a:ext cx="3352800" cy="27432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</a:tblGrid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4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4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2846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Design a variable-length prefix-free code such that the message </a:t>
            </a:r>
            <a:r>
              <a:rPr lang="en-US" b="1" dirty="0" err="1"/>
              <a:t>DEAACAAAAABA</a:t>
            </a:r>
            <a:r>
              <a:rPr lang="en-US" dirty="0"/>
              <a:t> can be encoded using 22 bits</a:t>
            </a:r>
          </a:p>
          <a:p>
            <a:pPr>
              <a:lnSpc>
                <a:spcPct val="90000"/>
              </a:lnSpc>
            </a:pPr>
            <a:r>
              <a:rPr lang="en-US" dirty="0"/>
              <a:t>Possible solution: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A</a:t>
            </a:r>
            <a:r>
              <a:rPr lang="en-US" dirty="0"/>
              <a:t> occurs eight times while </a:t>
            </a:r>
            <a:r>
              <a:rPr lang="en-US" b="1" dirty="0"/>
              <a:t>B</a:t>
            </a:r>
            <a:r>
              <a:rPr lang="en-US" dirty="0"/>
              <a:t>, </a:t>
            </a:r>
            <a:r>
              <a:rPr lang="en-US" b="1" dirty="0"/>
              <a:t>C</a:t>
            </a:r>
            <a:r>
              <a:rPr lang="en-US" dirty="0"/>
              <a:t>, </a:t>
            </a:r>
            <a:r>
              <a:rPr lang="en-US" b="1" dirty="0"/>
              <a:t>D</a:t>
            </a:r>
            <a:r>
              <a:rPr lang="en-US" dirty="0"/>
              <a:t>, and </a:t>
            </a:r>
            <a:r>
              <a:rPr lang="en-US" b="1" dirty="0"/>
              <a:t>E</a:t>
            </a:r>
            <a:r>
              <a:rPr lang="en-US" dirty="0"/>
              <a:t> each occur once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represent </a:t>
            </a:r>
            <a:r>
              <a:rPr lang="en-US" b="1" dirty="0"/>
              <a:t>A</a:t>
            </a:r>
            <a:r>
              <a:rPr lang="en-US" dirty="0"/>
              <a:t> with a one bit code, say 0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remaining codes cannot start with 0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represent </a:t>
            </a:r>
            <a:r>
              <a:rPr lang="en-US" b="1" dirty="0"/>
              <a:t>B</a:t>
            </a:r>
            <a:r>
              <a:rPr lang="en-US" dirty="0"/>
              <a:t> with the two bit code 10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remaining codes cannot start with 0 or 10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represent </a:t>
            </a:r>
            <a:r>
              <a:rPr lang="en-US" b="1" dirty="0"/>
              <a:t>C</a:t>
            </a:r>
            <a:r>
              <a:rPr lang="en-US" dirty="0"/>
              <a:t> with 110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represent </a:t>
            </a:r>
            <a:r>
              <a:rPr lang="en-US" b="1" dirty="0"/>
              <a:t>D</a:t>
            </a:r>
            <a:r>
              <a:rPr lang="en-US" dirty="0"/>
              <a:t> with 1110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represent </a:t>
            </a:r>
            <a:r>
              <a:rPr lang="en-US" b="1" dirty="0"/>
              <a:t>E</a:t>
            </a:r>
            <a:r>
              <a:rPr lang="en-US" dirty="0"/>
              <a:t> with 11110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4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4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Encoded message</a:t>
            </a:r>
          </a:p>
        </p:txBody>
      </p:sp>
      <p:graphicFrame>
        <p:nvGraphicFramePr>
          <p:cNvPr id="289795" name="Group 3"/>
          <p:cNvGraphicFramePr>
            <a:graphicFrameLocks noGrp="1"/>
          </p:cNvGraphicFramePr>
          <p:nvPr/>
        </p:nvGraphicFramePr>
        <p:xfrm>
          <a:off x="2819400" y="2362200"/>
          <a:ext cx="3352800" cy="27432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</a:tblGrid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9818" name="Text Box 26"/>
          <p:cNvSpPr txBox="1">
            <a:spLocks noChangeArrowheads="1"/>
          </p:cNvSpPr>
          <p:nvPr/>
        </p:nvSpPr>
        <p:spPr bwMode="auto">
          <a:xfrm>
            <a:off x="3048000" y="1676400"/>
            <a:ext cx="2843213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DEAACAAAAABA</a:t>
            </a:r>
          </a:p>
        </p:txBody>
      </p:sp>
      <p:sp>
        <p:nvSpPr>
          <p:cNvPr id="289819" name="Text Box 27"/>
          <p:cNvSpPr txBox="1">
            <a:spLocks noChangeArrowheads="1"/>
          </p:cNvSpPr>
          <p:nvPr/>
        </p:nvSpPr>
        <p:spPr bwMode="auto">
          <a:xfrm>
            <a:off x="2514600" y="5334000"/>
            <a:ext cx="3949700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1110111100011000000100</a:t>
            </a:r>
          </a:p>
        </p:txBody>
      </p:sp>
      <p:sp>
        <p:nvSpPr>
          <p:cNvPr id="289820" name="Text Box 28"/>
          <p:cNvSpPr txBox="1">
            <a:spLocks noChangeArrowheads="1"/>
          </p:cNvSpPr>
          <p:nvPr/>
        </p:nvSpPr>
        <p:spPr bwMode="auto">
          <a:xfrm>
            <a:off x="6553200" y="5334000"/>
            <a:ext cx="1082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22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possible code</a:t>
            </a:r>
          </a:p>
        </p:txBody>
      </p:sp>
      <p:graphicFrame>
        <p:nvGraphicFramePr>
          <p:cNvPr id="287747" name="Group 3"/>
          <p:cNvGraphicFramePr>
            <a:graphicFrameLocks noGrp="1"/>
          </p:cNvGraphicFramePr>
          <p:nvPr/>
        </p:nvGraphicFramePr>
        <p:xfrm>
          <a:off x="2819400" y="2362200"/>
          <a:ext cx="3352800" cy="27432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</a:tblGrid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7770" name="Text Box 26"/>
          <p:cNvSpPr txBox="1">
            <a:spLocks noChangeArrowheads="1"/>
          </p:cNvSpPr>
          <p:nvPr/>
        </p:nvSpPr>
        <p:spPr bwMode="auto">
          <a:xfrm>
            <a:off x="3048000" y="1676400"/>
            <a:ext cx="2843213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DEAACAAAAABA</a:t>
            </a:r>
          </a:p>
        </p:txBody>
      </p:sp>
      <p:sp>
        <p:nvSpPr>
          <p:cNvPr id="287771" name="Text Box 27"/>
          <p:cNvSpPr txBox="1">
            <a:spLocks noChangeArrowheads="1"/>
          </p:cNvSpPr>
          <p:nvPr/>
        </p:nvSpPr>
        <p:spPr bwMode="auto">
          <a:xfrm>
            <a:off x="2514600" y="5334000"/>
            <a:ext cx="3949700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1101111100101000001000</a:t>
            </a:r>
          </a:p>
        </p:txBody>
      </p:sp>
      <p:sp>
        <p:nvSpPr>
          <p:cNvPr id="287772" name="Text Box 28"/>
          <p:cNvSpPr txBox="1">
            <a:spLocks noChangeArrowheads="1"/>
          </p:cNvSpPr>
          <p:nvPr/>
        </p:nvSpPr>
        <p:spPr bwMode="auto">
          <a:xfrm>
            <a:off x="6553200" y="5334000"/>
            <a:ext cx="1082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22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Better code</a:t>
            </a:r>
          </a:p>
        </p:txBody>
      </p:sp>
      <p:graphicFrame>
        <p:nvGraphicFramePr>
          <p:cNvPr id="288771" name="Group 3"/>
          <p:cNvGraphicFramePr>
            <a:graphicFrameLocks noGrp="1"/>
          </p:cNvGraphicFramePr>
          <p:nvPr/>
        </p:nvGraphicFramePr>
        <p:xfrm>
          <a:off x="2819400" y="2362200"/>
          <a:ext cx="3352800" cy="27432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</a:tblGrid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Symbol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8794" name="Text Box 26"/>
          <p:cNvSpPr txBox="1">
            <a:spLocks noChangeArrowheads="1"/>
          </p:cNvSpPr>
          <p:nvPr/>
        </p:nvSpPr>
        <p:spPr bwMode="auto">
          <a:xfrm>
            <a:off x="3048000" y="1676400"/>
            <a:ext cx="2843213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DEAACAAAAABA</a:t>
            </a:r>
          </a:p>
        </p:txBody>
      </p:sp>
      <p:sp>
        <p:nvSpPr>
          <p:cNvPr id="288795" name="Text Box 27"/>
          <p:cNvSpPr txBox="1">
            <a:spLocks noChangeArrowheads="1"/>
          </p:cNvSpPr>
          <p:nvPr/>
        </p:nvSpPr>
        <p:spPr bwMode="auto">
          <a:xfrm>
            <a:off x="2667000" y="5334000"/>
            <a:ext cx="3609975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11011100101000001000</a:t>
            </a:r>
          </a:p>
        </p:txBody>
      </p:sp>
      <p:sp>
        <p:nvSpPr>
          <p:cNvPr id="288796" name="Text Box 28"/>
          <p:cNvSpPr txBox="1">
            <a:spLocks noChangeArrowheads="1"/>
          </p:cNvSpPr>
          <p:nvPr/>
        </p:nvSpPr>
        <p:spPr bwMode="auto">
          <a:xfrm>
            <a:off x="6477000" y="5334000"/>
            <a:ext cx="1082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20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code to use?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Is there a variable-length code that makes the most efficient use of space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GB" dirty="0" smtClean="0"/>
          </a:p>
          <a:p>
            <a:r>
              <a:rPr lang="en-GB" dirty="0" smtClean="0"/>
              <a:t>Variable-length coding (</a:t>
            </a:r>
            <a:r>
              <a:rPr lang="en-GB" dirty="0" err="1" smtClean="0"/>
              <a:t>VLC</a:t>
            </a:r>
            <a:r>
              <a:rPr lang="en-GB" dirty="0" smtClean="0"/>
              <a:t>) is one of the best-known entropy coding methods.</a:t>
            </a:r>
          </a:p>
          <a:p>
            <a:endParaRPr lang="en-GB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65220" name="Text Box 4"/>
          <p:cNvSpPr txBox="1">
            <a:spLocks noChangeArrowheads="1"/>
          </p:cNvSpPr>
          <p:nvPr/>
        </p:nvSpPr>
        <p:spPr bwMode="auto">
          <a:xfrm>
            <a:off x="3657600" y="3429000"/>
            <a:ext cx="2144713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 b="1" dirty="0"/>
              <a:t>Answer: Yes!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uiExpand="1" build="p"/>
      <p:bldP spid="2652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Huffman coding tree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Binary tree</a:t>
            </a:r>
          </a:p>
          <a:p>
            <a:pPr lvl="1"/>
            <a:r>
              <a:rPr lang="en-US" dirty="0"/>
              <a:t>each leaf contains symbol (character)</a:t>
            </a:r>
          </a:p>
          <a:p>
            <a:pPr lvl="1"/>
            <a:r>
              <a:rPr lang="en-US" dirty="0"/>
              <a:t>label edge from node to left child with 0</a:t>
            </a:r>
          </a:p>
          <a:p>
            <a:pPr lvl="1"/>
            <a:r>
              <a:rPr lang="en-US" dirty="0"/>
              <a:t>label edge from node to right child with 1</a:t>
            </a:r>
          </a:p>
          <a:p>
            <a:r>
              <a:rPr lang="en-US" dirty="0"/>
              <a:t>Code for any symbol obtained by following path from root to the leaf containing symbol</a:t>
            </a:r>
          </a:p>
          <a:p>
            <a:r>
              <a:rPr lang="en-US" dirty="0"/>
              <a:t>Code has prefix property</a:t>
            </a:r>
          </a:p>
          <a:p>
            <a:pPr lvl="1"/>
            <a:r>
              <a:rPr lang="en-US" dirty="0"/>
              <a:t>leaf node cannot appear on path to another leaf</a:t>
            </a:r>
          </a:p>
          <a:p>
            <a:pPr lvl="1"/>
            <a:r>
              <a:rPr lang="en-US" i="1" dirty="0"/>
              <a:t>note</a:t>
            </a:r>
            <a:r>
              <a:rPr lang="en-US" dirty="0"/>
              <a:t>: fixed-length codes are represented by a complete Huffman tree and clearly have the prefix property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6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6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6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6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a Huffman tree</a:t>
            </a:r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Find frequencies of each symbol occurring in message</a:t>
            </a:r>
          </a:p>
          <a:p>
            <a:r>
              <a:rPr lang="en-US" dirty="0"/>
              <a:t>Begin with a forest of single node trees</a:t>
            </a:r>
          </a:p>
          <a:p>
            <a:pPr lvl="1"/>
            <a:r>
              <a:rPr lang="en-US" dirty="0"/>
              <a:t>each contain symbol and its frequency</a:t>
            </a:r>
          </a:p>
          <a:p>
            <a:r>
              <a:rPr lang="en-US" dirty="0"/>
              <a:t>Do recursively </a:t>
            </a:r>
          </a:p>
          <a:p>
            <a:pPr lvl="1"/>
            <a:r>
              <a:rPr lang="en-US" dirty="0"/>
              <a:t>select two trees with smallest frequency at the root </a:t>
            </a:r>
          </a:p>
          <a:p>
            <a:pPr lvl="1"/>
            <a:r>
              <a:rPr lang="en-US" dirty="0"/>
              <a:t>produce a new binary tree with the selected trees as children and store the sum of their frequencies in the root</a:t>
            </a:r>
          </a:p>
          <a:p>
            <a:r>
              <a:rPr lang="en-US" dirty="0"/>
              <a:t>Recursion ends when there is one tree</a:t>
            </a:r>
          </a:p>
          <a:p>
            <a:pPr lvl="1"/>
            <a:r>
              <a:rPr lang="en-US" dirty="0"/>
              <a:t>this is the Huffman coding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7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7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7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7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7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7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7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7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7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7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Build the Huffman coding tree for the message</a:t>
            </a:r>
          </a:p>
          <a:p>
            <a:pPr algn="ctr">
              <a:buFont typeface="Wingdings 2" pitchFamily="18" charset="2"/>
              <a:buNone/>
            </a:pPr>
            <a:r>
              <a:rPr lang="en-US" i="1" dirty="0"/>
              <a:t>This is his </a:t>
            </a:r>
            <a:r>
              <a:rPr lang="en-US" i="1" dirty="0" smtClean="0"/>
              <a:t>message</a:t>
            </a:r>
          </a:p>
          <a:p>
            <a:pPr algn="ctr">
              <a:buFont typeface="Wingdings 2" pitchFamily="18" charset="2"/>
              <a:buNone/>
            </a:pPr>
            <a:endParaRPr lang="en-US" i="1" dirty="0" smtClean="0"/>
          </a:p>
          <a:p>
            <a:pPr algn="ctr">
              <a:buFont typeface="Wingdings 2" pitchFamily="18" charset="2"/>
              <a:buNone/>
            </a:pPr>
            <a:endParaRPr lang="en-US" i="1" dirty="0" smtClean="0"/>
          </a:p>
          <a:p>
            <a:pPr algn="ctr">
              <a:buFont typeface="Wingdings 2" pitchFamily="18" charset="2"/>
              <a:buNone/>
            </a:pPr>
            <a:endParaRPr lang="en-US" i="1" dirty="0" smtClean="0"/>
          </a:p>
          <a:p>
            <a:pPr algn="ctr">
              <a:buFont typeface="Wingdings 2" pitchFamily="18" charset="2"/>
              <a:buNone/>
            </a:pPr>
            <a:endParaRPr lang="en-US" i="1" dirty="0" smtClean="0"/>
          </a:p>
          <a:p>
            <a:pPr algn="ctr">
              <a:buFont typeface="Wingdings 2" pitchFamily="18" charset="2"/>
              <a:buNone/>
            </a:pPr>
            <a:endParaRPr lang="en-US" i="1" dirty="0"/>
          </a:p>
          <a:p>
            <a:r>
              <a:rPr lang="en-US" dirty="0"/>
              <a:t>Character </a:t>
            </a:r>
            <a:r>
              <a:rPr lang="en-US" dirty="0" smtClean="0"/>
              <a:t>frequencies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Begin with forest of single trees</a:t>
            </a:r>
          </a:p>
        </p:txBody>
      </p:sp>
      <p:graphicFrame>
        <p:nvGraphicFramePr>
          <p:cNvPr id="268391" name="Group 103"/>
          <p:cNvGraphicFramePr>
            <a:graphicFrameLocks noGrp="1"/>
          </p:cNvGraphicFramePr>
          <p:nvPr/>
        </p:nvGraphicFramePr>
        <p:xfrm>
          <a:off x="1600200" y="2438400"/>
          <a:ext cx="6096000" cy="1371600"/>
        </p:xfrm>
        <a:graphic>
          <a:graphicData uri="http://schemas.openxmlformats.org/drawingml/2006/table">
            <a:tbl>
              <a:tblPr/>
              <a:tblGrid>
                <a:gridCol w="677863"/>
                <a:gridCol w="676275"/>
                <a:gridCol w="677862"/>
                <a:gridCol w="677863"/>
                <a:gridCol w="676275"/>
                <a:gridCol w="677862"/>
                <a:gridCol w="677863"/>
                <a:gridCol w="676275"/>
                <a:gridCol w="677862"/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_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99"/>
                        </a:buClr>
                        <a:buSzPct val="80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8324" name="AutoShape 36"/>
          <p:cNvSpPr>
            <a:spLocks noChangeArrowheads="1"/>
          </p:cNvSpPr>
          <p:nvPr/>
        </p:nvSpPr>
        <p:spPr bwMode="auto">
          <a:xfrm>
            <a:off x="3352800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68325" name="AutoShape 37"/>
          <p:cNvSpPr>
            <a:spLocks noChangeArrowheads="1"/>
          </p:cNvSpPr>
          <p:nvPr/>
        </p:nvSpPr>
        <p:spPr bwMode="auto">
          <a:xfrm>
            <a:off x="668338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68326" name="AutoShape 38"/>
          <p:cNvSpPr>
            <a:spLocks noChangeArrowheads="1"/>
          </p:cNvSpPr>
          <p:nvPr/>
        </p:nvSpPr>
        <p:spPr bwMode="auto">
          <a:xfrm>
            <a:off x="6065838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68327" name="AutoShape 39"/>
          <p:cNvSpPr>
            <a:spLocks noChangeArrowheads="1"/>
          </p:cNvSpPr>
          <p:nvPr/>
        </p:nvSpPr>
        <p:spPr bwMode="auto">
          <a:xfrm>
            <a:off x="2478088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 dirty="0"/>
              <a:t>1</a:t>
            </a:r>
          </a:p>
        </p:txBody>
      </p:sp>
      <p:sp>
        <p:nvSpPr>
          <p:cNvPr id="268328" name="AutoShape 40"/>
          <p:cNvSpPr>
            <a:spLocks noChangeArrowheads="1"/>
          </p:cNvSpPr>
          <p:nvPr/>
        </p:nvSpPr>
        <p:spPr bwMode="auto">
          <a:xfrm>
            <a:off x="4267200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68329" name="AutoShape 41"/>
          <p:cNvSpPr>
            <a:spLocks noChangeArrowheads="1"/>
          </p:cNvSpPr>
          <p:nvPr/>
        </p:nvSpPr>
        <p:spPr bwMode="auto">
          <a:xfrm>
            <a:off x="1573213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68330" name="AutoShape 42"/>
          <p:cNvSpPr>
            <a:spLocks noChangeArrowheads="1"/>
          </p:cNvSpPr>
          <p:nvPr/>
        </p:nvSpPr>
        <p:spPr bwMode="auto">
          <a:xfrm>
            <a:off x="5164138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68331" name="AutoShape 43"/>
          <p:cNvSpPr>
            <a:spLocks noChangeArrowheads="1"/>
          </p:cNvSpPr>
          <p:nvPr/>
        </p:nvSpPr>
        <p:spPr bwMode="auto">
          <a:xfrm>
            <a:off x="6970713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68332" name="AutoShape 44"/>
          <p:cNvSpPr>
            <a:spLocks noChangeArrowheads="1"/>
          </p:cNvSpPr>
          <p:nvPr/>
        </p:nvSpPr>
        <p:spPr bwMode="auto">
          <a:xfrm>
            <a:off x="7875588" y="5105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68333" name="Text Box 45"/>
          <p:cNvSpPr txBox="1">
            <a:spLocks noChangeArrowheads="1"/>
          </p:cNvSpPr>
          <p:nvPr/>
        </p:nvSpPr>
        <p:spPr bwMode="auto">
          <a:xfrm>
            <a:off x="720725" y="5602288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68334" name="Text Box 46"/>
          <p:cNvSpPr txBox="1">
            <a:spLocks noChangeArrowheads="1"/>
          </p:cNvSpPr>
          <p:nvPr/>
        </p:nvSpPr>
        <p:spPr bwMode="auto">
          <a:xfrm>
            <a:off x="1609725" y="5602288"/>
            <a:ext cx="420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268335" name="Text Box 47"/>
          <p:cNvSpPr txBox="1">
            <a:spLocks noChangeArrowheads="1"/>
          </p:cNvSpPr>
          <p:nvPr/>
        </p:nvSpPr>
        <p:spPr bwMode="auto">
          <a:xfrm>
            <a:off x="7064375" y="5602288"/>
            <a:ext cx="268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68336" name="Text Box 48"/>
          <p:cNvSpPr txBox="1">
            <a:spLocks noChangeArrowheads="1"/>
          </p:cNvSpPr>
          <p:nvPr/>
        </p:nvSpPr>
        <p:spPr bwMode="auto">
          <a:xfrm>
            <a:off x="7910513" y="56022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68337" name="Text Box 49"/>
          <p:cNvSpPr txBox="1">
            <a:spLocks noChangeArrowheads="1"/>
          </p:cNvSpPr>
          <p:nvPr/>
        </p:nvSpPr>
        <p:spPr bwMode="auto">
          <a:xfrm>
            <a:off x="2497138" y="5602288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268338" name="Text Box 50"/>
          <p:cNvSpPr txBox="1">
            <a:spLocks noChangeArrowheads="1"/>
          </p:cNvSpPr>
          <p:nvPr/>
        </p:nvSpPr>
        <p:spPr bwMode="auto">
          <a:xfrm>
            <a:off x="3440113" y="5602288"/>
            <a:ext cx="369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T</a:t>
            </a:r>
          </a:p>
        </p:txBody>
      </p:sp>
      <p:sp>
        <p:nvSpPr>
          <p:cNvPr id="268339" name="Text Box 51"/>
          <p:cNvSpPr txBox="1">
            <a:spLocks noChangeArrowheads="1"/>
          </p:cNvSpPr>
          <p:nvPr/>
        </p:nvSpPr>
        <p:spPr bwMode="auto">
          <a:xfrm>
            <a:off x="4337050" y="56022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268340" name="Text Box 52"/>
          <p:cNvSpPr txBox="1">
            <a:spLocks noChangeArrowheads="1"/>
          </p:cNvSpPr>
          <p:nvPr/>
        </p:nvSpPr>
        <p:spPr bwMode="auto">
          <a:xfrm>
            <a:off x="5216525" y="5602288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H</a:t>
            </a:r>
          </a:p>
        </p:txBody>
      </p:sp>
      <p:sp>
        <p:nvSpPr>
          <p:cNvPr id="268341" name="Text Box 53"/>
          <p:cNvSpPr txBox="1">
            <a:spLocks noChangeArrowheads="1"/>
          </p:cNvSpPr>
          <p:nvPr/>
        </p:nvSpPr>
        <p:spPr bwMode="auto">
          <a:xfrm>
            <a:off x="6169025" y="56022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1</a:t>
            </a:r>
          </a:p>
        </p:txBody>
      </p:sp>
      <p:cxnSp>
        <p:nvCxnSpPr>
          <p:cNvPr id="269315" name="AutoShape 3"/>
          <p:cNvCxnSpPr>
            <a:cxnSpLocks noChangeShapeType="1"/>
          </p:cNvCxnSpPr>
          <p:nvPr/>
        </p:nvCxnSpPr>
        <p:spPr bwMode="auto">
          <a:xfrm flipV="1">
            <a:off x="91440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69316" name="AutoShape 4"/>
          <p:cNvCxnSpPr>
            <a:cxnSpLocks noChangeShapeType="1"/>
          </p:cNvCxnSpPr>
          <p:nvPr/>
        </p:nvCxnSpPr>
        <p:spPr bwMode="auto">
          <a:xfrm flipH="1" flipV="1">
            <a:off x="137160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69317" name="AutoShape 5"/>
          <p:cNvSpPr>
            <a:spLocks noChangeArrowheads="1"/>
          </p:cNvSpPr>
          <p:nvPr/>
        </p:nvSpPr>
        <p:spPr bwMode="auto">
          <a:xfrm>
            <a:off x="3370263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69318" name="AutoShape 6"/>
          <p:cNvSpPr>
            <a:spLocks noChangeArrowheads="1"/>
          </p:cNvSpPr>
          <p:nvPr/>
        </p:nvSpPr>
        <p:spPr bwMode="auto">
          <a:xfrm>
            <a:off x="6858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69319" name="AutoShape 7"/>
          <p:cNvSpPr>
            <a:spLocks noChangeArrowheads="1"/>
          </p:cNvSpPr>
          <p:nvPr/>
        </p:nvSpPr>
        <p:spPr bwMode="auto">
          <a:xfrm>
            <a:off x="60833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69320" name="AutoShape 8"/>
          <p:cNvSpPr>
            <a:spLocks noChangeArrowheads="1"/>
          </p:cNvSpPr>
          <p:nvPr/>
        </p:nvSpPr>
        <p:spPr bwMode="auto">
          <a:xfrm>
            <a:off x="24955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69321" name="AutoShape 9"/>
          <p:cNvSpPr>
            <a:spLocks noChangeArrowheads="1"/>
          </p:cNvSpPr>
          <p:nvPr/>
        </p:nvSpPr>
        <p:spPr bwMode="auto">
          <a:xfrm>
            <a:off x="4284663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69322" name="AutoShape 10"/>
          <p:cNvSpPr>
            <a:spLocks noChangeArrowheads="1"/>
          </p:cNvSpPr>
          <p:nvPr/>
        </p:nvSpPr>
        <p:spPr bwMode="auto">
          <a:xfrm>
            <a:off x="15906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69323" name="AutoShape 11"/>
          <p:cNvSpPr>
            <a:spLocks noChangeArrowheads="1"/>
          </p:cNvSpPr>
          <p:nvPr/>
        </p:nvSpPr>
        <p:spPr bwMode="auto">
          <a:xfrm>
            <a:off x="51816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69324" name="AutoShape 12"/>
          <p:cNvSpPr>
            <a:spLocks noChangeArrowheads="1"/>
          </p:cNvSpPr>
          <p:nvPr/>
        </p:nvSpPr>
        <p:spPr bwMode="auto">
          <a:xfrm>
            <a:off x="69881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69325" name="AutoShape 13"/>
          <p:cNvSpPr>
            <a:spLocks noChangeArrowheads="1"/>
          </p:cNvSpPr>
          <p:nvPr/>
        </p:nvSpPr>
        <p:spPr bwMode="auto">
          <a:xfrm>
            <a:off x="78930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69326" name="Text Box 14"/>
          <p:cNvSpPr txBox="1">
            <a:spLocks noChangeArrowheads="1"/>
          </p:cNvSpPr>
          <p:nvPr/>
        </p:nvSpPr>
        <p:spPr bwMode="auto">
          <a:xfrm>
            <a:off x="738188" y="605948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69327" name="Text Box 15"/>
          <p:cNvSpPr txBox="1">
            <a:spLocks noChangeArrowheads="1"/>
          </p:cNvSpPr>
          <p:nvPr/>
        </p:nvSpPr>
        <p:spPr bwMode="auto">
          <a:xfrm>
            <a:off x="1627188" y="6059488"/>
            <a:ext cx="420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269328" name="Text Box 16"/>
          <p:cNvSpPr txBox="1">
            <a:spLocks noChangeArrowheads="1"/>
          </p:cNvSpPr>
          <p:nvPr/>
        </p:nvSpPr>
        <p:spPr bwMode="auto">
          <a:xfrm>
            <a:off x="7081838" y="6059488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69329" name="Text Box 17"/>
          <p:cNvSpPr txBox="1">
            <a:spLocks noChangeArrowheads="1"/>
          </p:cNvSpPr>
          <p:nvPr/>
        </p:nvSpPr>
        <p:spPr bwMode="auto">
          <a:xfrm>
            <a:off x="7927975" y="60594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69330" name="Text Box 18"/>
          <p:cNvSpPr txBox="1">
            <a:spLocks noChangeArrowheads="1"/>
          </p:cNvSpPr>
          <p:nvPr/>
        </p:nvSpPr>
        <p:spPr bwMode="auto">
          <a:xfrm>
            <a:off x="2514600" y="6059488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269331" name="Text Box 19"/>
          <p:cNvSpPr txBox="1">
            <a:spLocks noChangeArrowheads="1"/>
          </p:cNvSpPr>
          <p:nvPr/>
        </p:nvSpPr>
        <p:spPr bwMode="auto">
          <a:xfrm>
            <a:off x="3457575" y="605948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T</a:t>
            </a:r>
          </a:p>
        </p:txBody>
      </p:sp>
      <p:sp>
        <p:nvSpPr>
          <p:cNvPr id="269332" name="Text Box 20"/>
          <p:cNvSpPr txBox="1">
            <a:spLocks noChangeArrowheads="1"/>
          </p:cNvSpPr>
          <p:nvPr/>
        </p:nvSpPr>
        <p:spPr bwMode="auto">
          <a:xfrm>
            <a:off x="4354513" y="60594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269333" name="Text Box 21"/>
          <p:cNvSpPr txBox="1">
            <a:spLocks noChangeArrowheads="1"/>
          </p:cNvSpPr>
          <p:nvPr/>
        </p:nvSpPr>
        <p:spPr bwMode="auto">
          <a:xfrm>
            <a:off x="5233988" y="605948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H</a:t>
            </a:r>
          </a:p>
        </p:txBody>
      </p:sp>
      <p:sp>
        <p:nvSpPr>
          <p:cNvPr id="269334" name="Text Box 22"/>
          <p:cNvSpPr txBox="1">
            <a:spLocks noChangeArrowheads="1"/>
          </p:cNvSpPr>
          <p:nvPr/>
        </p:nvSpPr>
        <p:spPr bwMode="auto">
          <a:xfrm>
            <a:off x="6186488" y="6059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69335" name="AutoShape 23"/>
          <p:cNvSpPr>
            <a:spLocks noChangeArrowheads="1"/>
          </p:cNvSpPr>
          <p:nvPr/>
        </p:nvSpPr>
        <p:spPr bwMode="auto">
          <a:xfrm>
            <a:off x="11334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2</a:t>
            </a:r>
          </a:p>
        </p:txBody>
      </p:sp>
      <p:cxnSp>
        <p:nvCxnSpPr>
          <p:cNvPr id="270339" name="AutoShape 3"/>
          <p:cNvCxnSpPr>
            <a:cxnSpLocks noChangeShapeType="1"/>
          </p:cNvCxnSpPr>
          <p:nvPr/>
        </p:nvCxnSpPr>
        <p:spPr bwMode="auto">
          <a:xfrm flipV="1">
            <a:off x="91440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0340" name="AutoShape 4"/>
          <p:cNvCxnSpPr>
            <a:cxnSpLocks noChangeShapeType="1"/>
          </p:cNvCxnSpPr>
          <p:nvPr/>
        </p:nvCxnSpPr>
        <p:spPr bwMode="auto">
          <a:xfrm flipH="1" flipV="1">
            <a:off x="137160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0341" name="AutoShape 5"/>
          <p:cNvSpPr>
            <a:spLocks noChangeArrowheads="1"/>
          </p:cNvSpPr>
          <p:nvPr/>
        </p:nvSpPr>
        <p:spPr bwMode="auto">
          <a:xfrm>
            <a:off x="3370263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70342" name="AutoShape 6"/>
          <p:cNvSpPr>
            <a:spLocks noChangeArrowheads="1"/>
          </p:cNvSpPr>
          <p:nvPr/>
        </p:nvSpPr>
        <p:spPr bwMode="auto">
          <a:xfrm>
            <a:off x="6858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70343" name="AutoShape 7"/>
          <p:cNvSpPr>
            <a:spLocks noChangeArrowheads="1"/>
          </p:cNvSpPr>
          <p:nvPr/>
        </p:nvSpPr>
        <p:spPr bwMode="auto">
          <a:xfrm>
            <a:off x="60833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70344" name="AutoShape 8"/>
          <p:cNvSpPr>
            <a:spLocks noChangeArrowheads="1"/>
          </p:cNvSpPr>
          <p:nvPr/>
        </p:nvSpPr>
        <p:spPr bwMode="auto">
          <a:xfrm>
            <a:off x="24955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70345" name="AutoShape 9"/>
          <p:cNvSpPr>
            <a:spLocks noChangeArrowheads="1"/>
          </p:cNvSpPr>
          <p:nvPr/>
        </p:nvSpPr>
        <p:spPr bwMode="auto">
          <a:xfrm>
            <a:off x="4284663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0346" name="AutoShape 10"/>
          <p:cNvSpPr>
            <a:spLocks noChangeArrowheads="1"/>
          </p:cNvSpPr>
          <p:nvPr/>
        </p:nvSpPr>
        <p:spPr bwMode="auto">
          <a:xfrm>
            <a:off x="15906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70347" name="AutoShape 11"/>
          <p:cNvSpPr>
            <a:spLocks noChangeArrowheads="1"/>
          </p:cNvSpPr>
          <p:nvPr/>
        </p:nvSpPr>
        <p:spPr bwMode="auto">
          <a:xfrm>
            <a:off x="51816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0348" name="AutoShape 12"/>
          <p:cNvSpPr>
            <a:spLocks noChangeArrowheads="1"/>
          </p:cNvSpPr>
          <p:nvPr/>
        </p:nvSpPr>
        <p:spPr bwMode="auto">
          <a:xfrm>
            <a:off x="69881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70349" name="AutoShape 13"/>
          <p:cNvSpPr>
            <a:spLocks noChangeArrowheads="1"/>
          </p:cNvSpPr>
          <p:nvPr/>
        </p:nvSpPr>
        <p:spPr bwMode="auto">
          <a:xfrm>
            <a:off x="78930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70350" name="Text Box 14"/>
          <p:cNvSpPr txBox="1">
            <a:spLocks noChangeArrowheads="1"/>
          </p:cNvSpPr>
          <p:nvPr/>
        </p:nvSpPr>
        <p:spPr bwMode="auto">
          <a:xfrm>
            <a:off x="738188" y="605948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70351" name="Text Box 15"/>
          <p:cNvSpPr txBox="1">
            <a:spLocks noChangeArrowheads="1"/>
          </p:cNvSpPr>
          <p:nvPr/>
        </p:nvSpPr>
        <p:spPr bwMode="auto">
          <a:xfrm>
            <a:off x="1627188" y="6059488"/>
            <a:ext cx="420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270352" name="Text Box 16"/>
          <p:cNvSpPr txBox="1">
            <a:spLocks noChangeArrowheads="1"/>
          </p:cNvSpPr>
          <p:nvPr/>
        </p:nvSpPr>
        <p:spPr bwMode="auto">
          <a:xfrm>
            <a:off x="7081838" y="6059488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70353" name="Text Box 17"/>
          <p:cNvSpPr txBox="1">
            <a:spLocks noChangeArrowheads="1"/>
          </p:cNvSpPr>
          <p:nvPr/>
        </p:nvSpPr>
        <p:spPr bwMode="auto">
          <a:xfrm>
            <a:off x="7927975" y="60594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70354" name="Text Box 18"/>
          <p:cNvSpPr txBox="1">
            <a:spLocks noChangeArrowheads="1"/>
          </p:cNvSpPr>
          <p:nvPr/>
        </p:nvSpPr>
        <p:spPr bwMode="auto">
          <a:xfrm>
            <a:off x="2514600" y="6059488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270355" name="Text Box 19"/>
          <p:cNvSpPr txBox="1">
            <a:spLocks noChangeArrowheads="1"/>
          </p:cNvSpPr>
          <p:nvPr/>
        </p:nvSpPr>
        <p:spPr bwMode="auto">
          <a:xfrm>
            <a:off x="3457575" y="605948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T</a:t>
            </a:r>
          </a:p>
        </p:txBody>
      </p:sp>
      <p:sp>
        <p:nvSpPr>
          <p:cNvPr id="270356" name="Text Box 20"/>
          <p:cNvSpPr txBox="1">
            <a:spLocks noChangeArrowheads="1"/>
          </p:cNvSpPr>
          <p:nvPr/>
        </p:nvSpPr>
        <p:spPr bwMode="auto">
          <a:xfrm>
            <a:off x="4354513" y="60594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270357" name="Text Box 21"/>
          <p:cNvSpPr txBox="1">
            <a:spLocks noChangeArrowheads="1"/>
          </p:cNvSpPr>
          <p:nvPr/>
        </p:nvSpPr>
        <p:spPr bwMode="auto">
          <a:xfrm>
            <a:off x="5233988" y="605948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H</a:t>
            </a:r>
          </a:p>
        </p:txBody>
      </p:sp>
      <p:sp>
        <p:nvSpPr>
          <p:cNvPr id="270358" name="Text Box 22"/>
          <p:cNvSpPr txBox="1">
            <a:spLocks noChangeArrowheads="1"/>
          </p:cNvSpPr>
          <p:nvPr/>
        </p:nvSpPr>
        <p:spPr bwMode="auto">
          <a:xfrm>
            <a:off x="6186488" y="6059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70359" name="AutoShape 23"/>
          <p:cNvSpPr>
            <a:spLocks noChangeArrowheads="1"/>
          </p:cNvSpPr>
          <p:nvPr/>
        </p:nvSpPr>
        <p:spPr bwMode="auto">
          <a:xfrm>
            <a:off x="11334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cxnSp>
        <p:nvCxnSpPr>
          <p:cNvPr id="270360" name="AutoShape 24"/>
          <p:cNvCxnSpPr>
            <a:cxnSpLocks noChangeShapeType="1"/>
          </p:cNvCxnSpPr>
          <p:nvPr/>
        </p:nvCxnSpPr>
        <p:spPr bwMode="auto">
          <a:xfrm flipV="1">
            <a:off x="272415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0361" name="AutoShape 25"/>
          <p:cNvCxnSpPr>
            <a:cxnSpLocks noChangeShapeType="1"/>
          </p:cNvCxnSpPr>
          <p:nvPr/>
        </p:nvCxnSpPr>
        <p:spPr bwMode="auto">
          <a:xfrm flipH="1" flipV="1">
            <a:off x="318135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0362" name="AutoShape 26"/>
          <p:cNvSpPr>
            <a:spLocks noChangeArrowheads="1"/>
          </p:cNvSpPr>
          <p:nvPr/>
        </p:nvSpPr>
        <p:spPr bwMode="auto">
          <a:xfrm>
            <a:off x="295275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3</a:t>
            </a:r>
          </a:p>
        </p:txBody>
      </p:sp>
      <p:cxnSp>
        <p:nvCxnSpPr>
          <p:cNvPr id="271363" name="AutoShape 3"/>
          <p:cNvCxnSpPr>
            <a:cxnSpLocks noChangeShapeType="1"/>
          </p:cNvCxnSpPr>
          <p:nvPr/>
        </p:nvCxnSpPr>
        <p:spPr bwMode="auto">
          <a:xfrm flipV="1">
            <a:off x="91440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1364" name="AutoShape 4"/>
          <p:cNvCxnSpPr>
            <a:cxnSpLocks noChangeShapeType="1"/>
          </p:cNvCxnSpPr>
          <p:nvPr/>
        </p:nvCxnSpPr>
        <p:spPr bwMode="auto">
          <a:xfrm flipH="1" flipV="1">
            <a:off x="137160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1365" name="AutoShape 5"/>
          <p:cNvSpPr>
            <a:spLocks noChangeArrowheads="1"/>
          </p:cNvSpPr>
          <p:nvPr/>
        </p:nvSpPr>
        <p:spPr bwMode="auto">
          <a:xfrm>
            <a:off x="3370263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71366" name="AutoShape 6"/>
          <p:cNvSpPr>
            <a:spLocks noChangeArrowheads="1"/>
          </p:cNvSpPr>
          <p:nvPr/>
        </p:nvSpPr>
        <p:spPr bwMode="auto">
          <a:xfrm>
            <a:off x="6858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71367" name="AutoShape 7"/>
          <p:cNvSpPr>
            <a:spLocks noChangeArrowheads="1"/>
          </p:cNvSpPr>
          <p:nvPr/>
        </p:nvSpPr>
        <p:spPr bwMode="auto">
          <a:xfrm>
            <a:off x="60833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71368" name="AutoShape 8"/>
          <p:cNvSpPr>
            <a:spLocks noChangeArrowheads="1"/>
          </p:cNvSpPr>
          <p:nvPr/>
        </p:nvSpPr>
        <p:spPr bwMode="auto">
          <a:xfrm>
            <a:off x="24955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71369" name="AutoShape 9"/>
          <p:cNvSpPr>
            <a:spLocks noChangeArrowheads="1"/>
          </p:cNvSpPr>
          <p:nvPr/>
        </p:nvSpPr>
        <p:spPr bwMode="auto">
          <a:xfrm>
            <a:off x="15906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71370" name="AutoShape 10"/>
          <p:cNvSpPr>
            <a:spLocks noChangeArrowheads="1"/>
          </p:cNvSpPr>
          <p:nvPr/>
        </p:nvSpPr>
        <p:spPr bwMode="auto">
          <a:xfrm>
            <a:off x="69881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71371" name="AutoShape 11"/>
          <p:cNvSpPr>
            <a:spLocks noChangeArrowheads="1"/>
          </p:cNvSpPr>
          <p:nvPr/>
        </p:nvSpPr>
        <p:spPr bwMode="auto">
          <a:xfrm>
            <a:off x="78930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71372" name="Text Box 12"/>
          <p:cNvSpPr txBox="1">
            <a:spLocks noChangeArrowheads="1"/>
          </p:cNvSpPr>
          <p:nvPr/>
        </p:nvSpPr>
        <p:spPr bwMode="auto">
          <a:xfrm>
            <a:off x="738188" y="605948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71373" name="Text Box 13"/>
          <p:cNvSpPr txBox="1">
            <a:spLocks noChangeArrowheads="1"/>
          </p:cNvSpPr>
          <p:nvPr/>
        </p:nvSpPr>
        <p:spPr bwMode="auto">
          <a:xfrm>
            <a:off x="1627188" y="6059488"/>
            <a:ext cx="420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271374" name="Text Box 14"/>
          <p:cNvSpPr txBox="1">
            <a:spLocks noChangeArrowheads="1"/>
          </p:cNvSpPr>
          <p:nvPr/>
        </p:nvSpPr>
        <p:spPr bwMode="auto">
          <a:xfrm>
            <a:off x="7081838" y="6059488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71375" name="Text Box 15"/>
          <p:cNvSpPr txBox="1">
            <a:spLocks noChangeArrowheads="1"/>
          </p:cNvSpPr>
          <p:nvPr/>
        </p:nvSpPr>
        <p:spPr bwMode="auto">
          <a:xfrm>
            <a:off x="7927975" y="60594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71376" name="Text Box 16"/>
          <p:cNvSpPr txBox="1">
            <a:spLocks noChangeArrowheads="1"/>
          </p:cNvSpPr>
          <p:nvPr/>
        </p:nvSpPr>
        <p:spPr bwMode="auto">
          <a:xfrm>
            <a:off x="2514600" y="6059488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271377" name="Text Box 17"/>
          <p:cNvSpPr txBox="1">
            <a:spLocks noChangeArrowheads="1"/>
          </p:cNvSpPr>
          <p:nvPr/>
        </p:nvSpPr>
        <p:spPr bwMode="auto">
          <a:xfrm>
            <a:off x="3457575" y="605948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T</a:t>
            </a:r>
          </a:p>
        </p:txBody>
      </p:sp>
      <p:sp>
        <p:nvSpPr>
          <p:cNvPr id="271378" name="Text Box 18"/>
          <p:cNvSpPr txBox="1">
            <a:spLocks noChangeArrowheads="1"/>
          </p:cNvSpPr>
          <p:nvPr/>
        </p:nvSpPr>
        <p:spPr bwMode="auto">
          <a:xfrm>
            <a:off x="6186488" y="6059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71379" name="AutoShape 19"/>
          <p:cNvSpPr>
            <a:spLocks noChangeArrowheads="1"/>
          </p:cNvSpPr>
          <p:nvPr/>
        </p:nvSpPr>
        <p:spPr bwMode="auto">
          <a:xfrm>
            <a:off x="11334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cxnSp>
        <p:nvCxnSpPr>
          <p:cNvPr id="271380" name="AutoShape 20"/>
          <p:cNvCxnSpPr>
            <a:cxnSpLocks noChangeShapeType="1"/>
          </p:cNvCxnSpPr>
          <p:nvPr/>
        </p:nvCxnSpPr>
        <p:spPr bwMode="auto">
          <a:xfrm flipV="1">
            <a:off x="272415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1381" name="AutoShape 21"/>
          <p:cNvCxnSpPr>
            <a:cxnSpLocks noChangeShapeType="1"/>
          </p:cNvCxnSpPr>
          <p:nvPr/>
        </p:nvCxnSpPr>
        <p:spPr bwMode="auto">
          <a:xfrm flipH="1" flipV="1">
            <a:off x="318135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1382" name="AutoShape 22"/>
          <p:cNvSpPr>
            <a:spLocks noChangeArrowheads="1"/>
          </p:cNvSpPr>
          <p:nvPr/>
        </p:nvSpPr>
        <p:spPr bwMode="auto">
          <a:xfrm>
            <a:off x="295275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284663" y="4371975"/>
            <a:ext cx="1354137" cy="2144713"/>
            <a:chOff x="2699" y="2754"/>
            <a:chExt cx="853" cy="1351"/>
          </a:xfrm>
        </p:grpSpPr>
        <p:sp>
          <p:nvSpPr>
            <p:cNvPr id="271384" name="AutoShape 24"/>
            <p:cNvSpPr>
              <a:spLocks noChangeArrowheads="1"/>
            </p:cNvSpPr>
            <p:nvPr/>
          </p:nvSpPr>
          <p:spPr bwMode="auto">
            <a:xfrm>
              <a:off x="2699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sp>
          <p:nvSpPr>
            <p:cNvPr id="271385" name="AutoShape 25"/>
            <p:cNvSpPr>
              <a:spLocks noChangeArrowheads="1"/>
            </p:cNvSpPr>
            <p:nvPr/>
          </p:nvSpPr>
          <p:spPr bwMode="auto">
            <a:xfrm>
              <a:off x="3264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sp>
          <p:nvSpPr>
            <p:cNvPr id="271386" name="Text Box 26"/>
            <p:cNvSpPr txBox="1">
              <a:spLocks noChangeArrowheads="1"/>
            </p:cNvSpPr>
            <p:nvPr/>
          </p:nvSpPr>
          <p:spPr bwMode="auto">
            <a:xfrm>
              <a:off x="2743" y="3817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E</a:t>
              </a:r>
            </a:p>
          </p:txBody>
        </p:sp>
        <p:sp>
          <p:nvSpPr>
            <p:cNvPr id="271387" name="Text Box 27"/>
            <p:cNvSpPr txBox="1">
              <a:spLocks noChangeArrowheads="1"/>
            </p:cNvSpPr>
            <p:nvPr/>
          </p:nvSpPr>
          <p:spPr bwMode="auto">
            <a:xfrm>
              <a:off x="3297" y="381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H</a:t>
              </a:r>
            </a:p>
          </p:txBody>
        </p:sp>
        <p:cxnSp>
          <p:nvCxnSpPr>
            <p:cNvPr id="271388" name="AutoShape 28"/>
            <p:cNvCxnSpPr>
              <a:cxnSpLocks noChangeShapeType="1"/>
            </p:cNvCxnSpPr>
            <p:nvPr/>
          </p:nvCxnSpPr>
          <p:spPr bwMode="auto">
            <a:xfrm flipV="1">
              <a:off x="2843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1389" name="AutoShape 29"/>
            <p:cNvCxnSpPr>
              <a:cxnSpLocks noChangeShapeType="1"/>
            </p:cNvCxnSpPr>
            <p:nvPr/>
          </p:nvCxnSpPr>
          <p:spPr bwMode="auto">
            <a:xfrm flipH="1" flipV="1">
              <a:off x="3131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1390" name="AutoShape 30"/>
            <p:cNvSpPr>
              <a:spLocks noChangeArrowheads="1"/>
            </p:cNvSpPr>
            <p:nvPr/>
          </p:nvSpPr>
          <p:spPr bwMode="auto">
            <a:xfrm>
              <a:off x="2976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4</a:t>
            </a:r>
          </a:p>
        </p:txBody>
      </p:sp>
      <p:cxnSp>
        <p:nvCxnSpPr>
          <p:cNvPr id="272387" name="AutoShape 3"/>
          <p:cNvCxnSpPr>
            <a:cxnSpLocks noChangeShapeType="1"/>
          </p:cNvCxnSpPr>
          <p:nvPr/>
        </p:nvCxnSpPr>
        <p:spPr bwMode="auto">
          <a:xfrm flipV="1">
            <a:off x="91440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2388" name="AutoShape 4"/>
          <p:cNvCxnSpPr>
            <a:cxnSpLocks noChangeShapeType="1"/>
          </p:cNvCxnSpPr>
          <p:nvPr/>
        </p:nvCxnSpPr>
        <p:spPr bwMode="auto">
          <a:xfrm flipH="1" flipV="1">
            <a:off x="137160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2389" name="AutoShape 5"/>
          <p:cNvSpPr>
            <a:spLocks noChangeArrowheads="1"/>
          </p:cNvSpPr>
          <p:nvPr/>
        </p:nvSpPr>
        <p:spPr bwMode="auto">
          <a:xfrm>
            <a:off x="3370263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72390" name="AutoShape 6"/>
          <p:cNvSpPr>
            <a:spLocks noChangeArrowheads="1"/>
          </p:cNvSpPr>
          <p:nvPr/>
        </p:nvSpPr>
        <p:spPr bwMode="auto">
          <a:xfrm>
            <a:off x="6858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72391" name="AutoShape 7"/>
          <p:cNvSpPr>
            <a:spLocks noChangeArrowheads="1"/>
          </p:cNvSpPr>
          <p:nvPr/>
        </p:nvSpPr>
        <p:spPr bwMode="auto">
          <a:xfrm>
            <a:off x="60833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72392" name="AutoShape 8"/>
          <p:cNvSpPr>
            <a:spLocks noChangeArrowheads="1"/>
          </p:cNvSpPr>
          <p:nvPr/>
        </p:nvSpPr>
        <p:spPr bwMode="auto">
          <a:xfrm>
            <a:off x="24955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72393" name="AutoShape 9"/>
          <p:cNvSpPr>
            <a:spLocks noChangeArrowheads="1"/>
          </p:cNvSpPr>
          <p:nvPr/>
        </p:nvSpPr>
        <p:spPr bwMode="auto">
          <a:xfrm>
            <a:off x="15906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72394" name="AutoShape 10"/>
          <p:cNvSpPr>
            <a:spLocks noChangeArrowheads="1"/>
          </p:cNvSpPr>
          <p:nvPr/>
        </p:nvSpPr>
        <p:spPr bwMode="auto">
          <a:xfrm>
            <a:off x="69881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72395" name="AutoShape 11"/>
          <p:cNvSpPr>
            <a:spLocks noChangeArrowheads="1"/>
          </p:cNvSpPr>
          <p:nvPr/>
        </p:nvSpPr>
        <p:spPr bwMode="auto">
          <a:xfrm>
            <a:off x="78930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72396" name="Text Box 12"/>
          <p:cNvSpPr txBox="1">
            <a:spLocks noChangeArrowheads="1"/>
          </p:cNvSpPr>
          <p:nvPr/>
        </p:nvSpPr>
        <p:spPr bwMode="auto">
          <a:xfrm>
            <a:off x="738188" y="605948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72397" name="Text Box 13"/>
          <p:cNvSpPr txBox="1">
            <a:spLocks noChangeArrowheads="1"/>
          </p:cNvSpPr>
          <p:nvPr/>
        </p:nvSpPr>
        <p:spPr bwMode="auto">
          <a:xfrm>
            <a:off x="1627188" y="6059488"/>
            <a:ext cx="420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272398" name="Text Box 14"/>
          <p:cNvSpPr txBox="1">
            <a:spLocks noChangeArrowheads="1"/>
          </p:cNvSpPr>
          <p:nvPr/>
        </p:nvSpPr>
        <p:spPr bwMode="auto">
          <a:xfrm>
            <a:off x="7081838" y="6059488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72399" name="Text Box 15"/>
          <p:cNvSpPr txBox="1">
            <a:spLocks noChangeArrowheads="1"/>
          </p:cNvSpPr>
          <p:nvPr/>
        </p:nvSpPr>
        <p:spPr bwMode="auto">
          <a:xfrm>
            <a:off x="7927975" y="60594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72400" name="Text Box 16"/>
          <p:cNvSpPr txBox="1">
            <a:spLocks noChangeArrowheads="1"/>
          </p:cNvSpPr>
          <p:nvPr/>
        </p:nvSpPr>
        <p:spPr bwMode="auto">
          <a:xfrm>
            <a:off x="2514600" y="6059488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272401" name="Text Box 17"/>
          <p:cNvSpPr txBox="1">
            <a:spLocks noChangeArrowheads="1"/>
          </p:cNvSpPr>
          <p:nvPr/>
        </p:nvSpPr>
        <p:spPr bwMode="auto">
          <a:xfrm>
            <a:off x="3457575" y="605948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T</a:t>
            </a:r>
          </a:p>
        </p:txBody>
      </p:sp>
      <p:sp>
        <p:nvSpPr>
          <p:cNvPr id="272402" name="Text Box 18"/>
          <p:cNvSpPr txBox="1">
            <a:spLocks noChangeArrowheads="1"/>
          </p:cNvSpPr>
          <p:nvPr/>
        </p:nvSpPr>
        <p:spPr bwMode="auto">
          <a:xfrm>
            <a:off x="6186488" y="6059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72403" name="AutoShape 19"/>
          <p:cNvSpPr>
            <a:spLocks noChangeArrowheads="1"/>
          </p:cNvSpPr>
          <p:nvPr/>
        </p:nvSpPr>
        <p:spPr bwMode="auto">
          <a:xfrm>
            <a:off x="11334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cxnSp>
        <p:nvCxnSpPr>
          <p:cNvPr id="272404" name="AutoShape 20"/>
          <p:cNvCxnSpPr>
            <a:cxnSpLocks noChangeShapeType="1"/>
          </p:cNvCxnSpPr>
          <p:nvPr/>
        </p:nvCxnSpPr>
        <p:spPr bwMode="auto">
          <a:xfrm flipV="1">
            <a:off x="272415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2405" name="AutoShape 21"/>
          <p:cNvCxnSpPr>
            <a:cxnSpLocks noChangeShapeType="1"/>
          </p:cNvCxnSpPr>
          <p:nvPr/>
        </p:nvCxnSpPr>
        <p:spPr bwMode="auto">
          <a:xfrm flipH="1" flipV="1">
            <a:off x="318135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2406" name="AutoShape 22"/>
          <p:cNvSpPr>
            <a:spLocks noChangeArrowheads="1"/>
          </p:cNvSpPr>
          <p:nvPr/>
        </p:nvSpPr>
        <p:spPr bwMode="auto">
          <a:xfrm>
            <a:off x="295275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284663" y="4371975"/>
            <a:ext cx="1354137" cy="2144713"/>
            <a:chOff x="2699" y="2754"/>
            <a:chExt cx="853" cy="1351"/>
          </a:xfrm>
        </p:grpSpPr>
        <p:sp>
          <p:nvSpPr>
            <p:cNvPr id="272408" name="AutoShape 24"/>
            <p:cNvSpPr>
              <a:spLocks noChangeArrowheads="1"/>
            </p:cNvSpPr>
            <p:nvPr/>
          </p:nvSpPr>
          <p:spPr bwMode="auto">
            <a:xfrm>
              <a:off x="2699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sp>
          <p:nvSpPr>
            <p:cNvPr id="272409" name="AutoShape 25"/>
            <p:cNvSpPr>
              <a:spLocks noChangeArrowheads="1"/>
            </p:cNvSpPr>
            <p:nvPr/>
          </p:nvSpPr>
          <p:spPr bwMode="auto">
            <a:xfrm>
              <a:off x="3264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sp>
          <p:nvSpPr>
            <p:cNvPr id="272410" name="Text Box 26"/>
            <p:cNvSpPr txBox="1">
              <a:spLocks noChangeArrowheads="1"/>
            </p:cNvSpPr>
            <p:nvPr/>
          </p:nvSpPr>
          <p:spPr bwMode="auto">
            <a:xfrm>
              <a:off x="2743" y="3817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E</a:t>
              </a:r>
            </a:p>
          </p:txBody>
        </p:sp>
        <p:sp>
          <p:nvSpPr>
            <p:cNvPr id="272411" name="Text Box 27"/>
            <p:cNvSpPr txBox="1">
              <a:spLocks noChangeArrowheads="1"/>
            </p:cNvSpPr>
            <p:nvPr/>
          </p:nvSpPr>
          <p:spPr bwMode="auto">
            <a:xfrm>
              <a:off x="3297" y="381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H</a:t>
              </a:r>
            </a:p>
          </p:txBody>
        </p:sp>
        <p:cxnSp>
          <p:nvCxnSpPr>
            <p:cNvPr id="272412" name="AutoShape 28"/>
            <p:cNvCxnSpPr>
              <a:cxnSpLocks noChangeShapeType="1"/>
            </p:cNvCxnSpPr>
            <p:nvPr/>
          </p:nvCxnSpPr>
          <p:spPr bwMode="auto">
            <a:xfrm flipV="1">
              <a:off x="2843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2413" name="AutoShape 29"/>
            <p:cNvCxnSpPr>
              <a:cxnSpLocks noChangeShapeType="1"/>
            </p:cNvCxnSpPr>
            <p:nvPr/>
          </p:nvCxnSpPr>
          <p:spPr bwMode="auto">
            <a:xfrm flipH="1" flipV="1">
              <a:off x="3131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2414" name="AutoShape 30"/>
            <p:cNvSpPr>
              <a:spLocks noChangeArrowheads="1"/>
            </p:cNvSpPr>
            <p:nvPr/>
          </p:nvSpPr>
          <p:spPr bwMode="auto">
            <a:xfrm>
              <a:off x="2976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4</a:t>
              </a:r>
            </a:p>
          </p:txBody>
        </p:sp>
      </p:grpSp>
      <p:cxnSp>
        <p:nvCxnSpPr>
          <p:cNvPr id="272415" name="AutoShape 31"/>
          <p:cNvCxnSpPr>
            <a:cxnSpLocks noChangeShapeType="1"/>
          </p:cNvCxnSpPr>
          <p:nvPr/>
        </p:nvCxnSpPr>
        <p:spPr bwMode="auto">
          <a:xfrm flipV="1">
            <a:off x="1357313" y="3657600"/>
            <a:ext cx="923925" cy="714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2416" name="AutoShape 32"/>
          <p:cNvCxnSpPr>
            <a:cxnSpLocks noChangeShapeType="1"/>
          </p:cNvCxnSpPr>
          <p:nvPr/>
        </p:nvCxnSpPr>
        <p:spPr bwMode="auto">
          <a:xfrm flipH="1" flipV="1">
            <a:off x="2281238" y="3657600"/>
            <a:ext cx="900112" cy="714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2417" name="AutoShape 33"/>
          <p:cNvSpPr>
            <a:spLocks noChangeArrowheads="1"/>
          </p:cNvSpPr>
          <p:nvPr/>
        </p:nvSpPr>
        <p:spPr bwMode="auto">
          <a:xfrm>
            <a:off x="2038350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</a:t>
            </a:r>
          </a:p>
        </p:txBody>
      </p:sp>
      <p:cxnSp>
        <p:nvCxnSpPr>
          <p:cNvPr id="273411" name="AutoShape 3"/>
          <p:cNvCxnSpPr>
            <a:cxnSpLocks noChangeShapeType="1"/>
          </p:cNvCxnSpPr>
          <p:nvPr/>
        </p:nvCxnSpPr>
        <p:spPr bwMode="auto">
          <a:xfrm flipV="1">
            <a:off x="91440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3412" name="AutoShape 4"/>
          <p:cNvCxnSpPr>
            <a:cxnSpLocks noChangeShapeType="1"/>
          </p:cNvCxnSpPr>
          <p:nvPr/>
        </p:nvCxnSpPr>
        <p:spPr bwMode="auto">
          <a:xfrm flipH="1" flipV="1">
            <a:off x="137160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3413" name="AutoShape 5"/>
          <p:cNvSpPr>
            <a:spLocks noChangeArrowheads="1"/>
          </p:cNvSpPr>
          <p:nvPr/>
        </p:nvSpPr>
        <p:spPr bwMode="auto">
          <a:xfrm>
            <a:off x="3370263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73414" name="AutoShape 6"/>
          <p:cNvSpPr>
            <a:spLocks noChangeArrowheads="1"/>
          </p:cNvSpPr>
          <p:nvPr/>
        </p:nvSpPr>
        <p:spPr bwMode="auto">
          <a:xfrm>
            <a:off x="6858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73415" name="AutoShape 7"/>
          <p:cNvSpPr>
            <a:spLocks noChangeArrowheads="1"/>
          </p:cNvSpPr>
          <p:nvPr/>
        </p:nvSpPr>
        <p:spPr bwMode="auto">
          <a:xfrm>
            <a:off x="60833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73416" name="AutoShape 8"/>
          <p:cNvSpPr>
            <a:spLocks noChangeArrowheads="1"/>
          </p:cNvSpPr>
          <p:nvPr/>
        </p:nvSpPr>
        <p:spPr bwMode="auto">
          <a:xfrm>
            <a:off x="24955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1</a:t>
            </a:r>
          </a:p>
        </p:txBody>
      </p:sp>
      <p:sp>
        <p:nvSpPr>
          <p:cNvPr id="273417" name="AutoShape 9"/>
          <p:cNvSpPr>
            <a:spLocks noChangeArrowheads="1"/>
          </p:cNvSpPr>
          <p:nvPr/>
        </p:nvSpPr>
        <p:spPr bwMode="auto">
          <a:xfrm>
            <a:off x="15906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273418" name="AutoShape 10"/>
          <p:cNvSpPr>
            <a:spLocks noChangeArrowheads="1"/>
          </p:cNvSpPr>
          <p:nvPr/>
        </p:nvSpPr>
        <p:spPr bwMode="auto">
          <a:xfrm>
            <a:off x="69881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73419" name="AutoShape 11"/>
          <p:cNvSpPr>
            <a:spLocks noChangeArrowheads="1"/>
          </p:cNvSpPr>
          <p:nvPr/>
        </p:nvSpPr>
        <p:spPr bwMode="auto">
          <a:xfrm>
            <a:off x="78930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73420" name="Text Box 12"/>
          <p:cNvSpPr txBox="1">
            <a:spLocks noChangeArrowheads="1"/>
          </p:cNvSpPr>
          <p:nvPr/>
        </p:nvSpPr>
        <p:spPr bwMode="auto">
          <a:xfrm>
            <a:off x="738188" y="605948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273421" name="Text Box 13"/>
          <p:cNvSpPr txBox="1">
            <a:spLocks noChangeArrowheads="1"/>
          </p:cNvSpPr>
          <p:nvPr/>
        </p:nvSpPr>
        <p:spPr bwMode="auto">
          <a:xfrm>
            <a:off x="1627188" y="6059488"/>
            <a:ext cx="420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G</a:t>
            </a:r>
          </a:p>
        </p:txBody>
      </p:sp>
      <p:sp>
        <p:nvSpPr>
          <p:cNvPr id="273422" name="Text Box 14"/>
          <p:cNvSpPr txBox="1">
            <a:spLocks noChangeArrowheads="1"/>
          </p:cNvSpPr>
          <p:nvPr/>
        </p:nvSpPr>
        <p:spPr bwMode="auto">
          <a:xfrm>
            <a:off x="7081838" y="6059488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73423" name="Text Box 15"/>
          <p:cNvSpPr txBox="1">
            <a:spLocks noChangeArrowheads="1"/>
          </p:cNvSpPr>
          <p:nvPr/>
        </p:nvSpPr>
        <p:spPr bwMode="auto">
          <a:xfrm>
            <a:off x="7927975" y="60594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73424" name="Text Box 16"/>
          <p:cNvSpPr txBox="1">
            <a:spLocks noChangeArrowheads="1"/>
          </p:cNvSpPr>
          <p:nvPr/>
        </p:nvSpPr>
        <p:spPr bwMode="auto">
          <a:xfrm>
            <a:off x="2514600" y="6059488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273425" name="Text Box 17"/>
          <p:cNvSpPr txBox="1">
            <a:spLocks noChangeArrowheads="1"/>
          </p:cNvSpPr>
          <p:nvPr/>
        </p:nvSpPr>
        <p:spPr bwMode="auto">
          <a:xfrm>
            <a:off x="3457575" y="605948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T</a:t>
            </a:r>
          </a:p>
        </p:txBody>
      </p:sp>
      <p:sp>
        <p:nvSpPr>
          <p:cNvPr id="273426" name="Text Box 18"/>
          <p:cNvSpPr txBox="1">
            <a:spLocks noChangeArrowheads="1"/>
          </p:cNvSpPr>
          <p:nvPr/>
        </p:nvSpPr>
        <p:spPr bwMode="auto">
          <a:xfrm>
            <a:off x="6186488" y="6059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73427" name="AutoShape 19"/>
          <p:cNvSpPr>
            <a:spLocks noChangeArrowheads="1"/>
          </p:cNvSpPr>
          <p:nvPr/>
        </p:nvSpPr>
        <p:spPr bwMode="auto">
          <a:xfrm>
            <a:off x="11334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cxnSp>
        <p:nvCxnSpPr>
          <p:cNvPr id="273428" name="AutoShape 20"/>
          <p:cNvCxnSpPr>
            <a:cxnSpLocks noChangeShapeType="1"/>
          </p:cNvCxnSpPr>
          <p:nvPr/>
        </p:nvCxnSpPr>
        <p:spPr bwMode="auto">
          <a:xfrm flipV="1">
            <a:off x="272415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3429" name="AutoShape 21"/>
          <p:cNvCxnSpPr>
            <a:cxnSpLocks noChangeShapeType="1"/>
          </p:cNvCxnSpPr>
          <p:nvPr/>
        </p:nvCxnSpPr>
        <p:spPr bwMode="auto">
          <a:xfrm flipH="1" flipV="1">
            <a:off x="318135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3430" name="AutoShape 22"/>
          <p:cNvSpPr>
            <a:spLocks noChangeArrowheads="1"/>
          </p:cNvSpPr>
          <p:nvPr/>
        </p:nvSpPr>
        <p:spPr bwMode="auto">
          <a:xfrm>
            <a:off x="295275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284663" y="4371975"/>
            <a:ext cx="1354137" cy="2144713"/>
            <a:chOff x="2699" y="2754"/>
            <a:chExt cx="853" cy="1351"/>
          </a:xfrm>
        </p:grpSpPr>
        <p:sp>
          <p:nvSpPr>
            <p:cNvPr id="273432" name="AutoShape 24"/>
            <p:cNvSpPr>
              <a:spLocks noChangeArrowheads="1"/>
            </p:cNvSpPr>
            <p:nvPr/>
          </p:nvSpPr>
          <p:spPr bwMode="auto">
            <a:xfrm>
              <a:off x="2699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sp>
          <p:nvSpPr>
            <p:cNvPr id="273433" name="AutoShape 25"/>
            <p:cNvSpPr>
              <a:spLocks noChangeArrowheads="1"/>
            </p:cNvSpPr>
            <p:nvPr/>
          </p:nvSpPr>
          <p:spPr bwMode="auto">
            <a:xfrm>
              <a:off x="3264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sp>
          <p:nvSpPr>
            <p:cNvPr id="273434" name="Text Box 26"/>
            <p:cNvSpPr txBox="1">
              <a:spLocks noChangeArrowheads="1"/>
            </p:cNvSpPr>
            <p:nvPr/>
          </p:nvSpPr>
          <p:spPr bwMode="auto">
            <a:xfrm>
              <a:off x="2743" y="3817"/>
              <a:ext cx="2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E</a:t>
              </a:r>
            </a:p>
          </p:txBody>
        </p:sp>
        <p:sp>
          <p:nvSpPr>
            <p:cNvPr id="273435" name="Text Box 27"/>
            <p:cNvSpPr txBox="1">
              <a:spLocks noChangeArrowheads="1"/>
            </p:cNvSpPr>
            <p:nvPr/>
          </p:nvSpPr>
          <p:spPr bwMode="auto">
            <a:xfrm>
              <a:off x="3297" y="381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H</a:t>
              </a:r>
            </a:p>
          </p:txBody>
        </p:sp>
        <p:cxnSp>
          <p:nvCxnSpPr>
            <p:cNvPr id="273436" name="AutoShape 28"/>
            <p:cNvCxnSpPr>
              <a:cxnSpLocks noChangeShapeType="1"/>
            </p:cNvCxnSpPr>
            <p:nvPr/>
          </p:nvCxnSpPr>
          <p:spPr bwMode="auto">
            <a:xfrm flipV="1">
              <a:off x="2843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3437" name="AutoShape 29"/>
            <p:cNvCxnSpPr>
              <a:cxnSpLocks noChangeShapeType="1"/>
            </p:cNvCxnSpPr>
            <p:nvPr/>
          </p:nvCxnSpPr>
          <p:spPr bwMode="auto">
            <a:xfrm flipH="1" flipV="1">
              <a:off x="3131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3438" name="AutoShape 30"/>
            <p:cNvSpPr>
              <a:spLocks noChangeArrowheads="1"/>
            </p:cNvSpPr>
            <p:nvPr/>
          </p:nvSpPr>
          <p:spPr bwMode="auto">
            <a:xfrm>
              <a:off x="2976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4</a:t>
              </a:r>
            </a:p>
          </p:txBody>
        </p:sp>
      </p:grpSp>
      <p:cxnSp>
        <p:nvCxnSpPr>
          <p:cNvPr id="273439" name="AutoShape 31"/>
          <p:cNvCxnSpPr>
            <a:cxnSpLocks noChangeShapeType="1"/>
          </p:cNvCxnSpPr>
          <p:nvPr/>
        </p:nvCxnSpPr>
        <p:spPr bwMode="auto">
          <a:xfrm flipV="1">
            <a:off x="1357313" y="3657600"/>
            <a:ext cx="923925" cy="714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3440" name="AutoShape 32"/>
          <p:cNvCxnSpPr>
            <a:cxnSpLocks noChangeShapeType="1"/>
          </p:cNvCxnSpPr>
          <p:nvPr/>
        </p:nvCxnSpPr>
        <p:spPr bwMode="auto">
          <a:xfrm flipH="1" flipV="1">
            <a:off x="2281238" y="3657600"/>
            <a:ext cx="900112" cy="714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3441" name="AutoShape 33"/>
          <p:cNvSpPr>
            <a:spLocks noChangeArrowheads="1"/>
          </p:cNvSpPr>
          <p:nvPr/>
        </p:nvSpPr>
        <p:spPr bwMode="auto">
          <a:xfrm>
            <a:off x="2038350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cxnSp>
        <p:nvCxnSpPr>
          <p:cNvPr id="273442" name="AutoShape 34"/>
          <p:cNvCxnSpPr>
            <a:cxnSpLocks noChangeShapeType="1"/>
          </p:cNvCxnSpPr>
          <p:nvPr/>
        </p:nvCxnSpPr>
        <p:spPr bwMode="auto">
          <a:xfrm flipV="1">
            <a:off x="631190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3443" name="AutoShape 35"/>
          <p:cNvCxnSpPr>
            <a:cxnSpLocks noChangeShapeType="1"/>
          </p:cNvCxnSpPr>
          <p:nvPr/>
        </p:nvCxnSpPr>
        <p:spPr bwMode="auto">
          <a:xfrm flipH="1" flipV="1">
            <a:off x="676910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3444" name="AutoShape 36"/>
          <p:cNvSpPr>
            <a:spLocks noChangeArrowheads="1"/>
          </p:cNvSpPr>
          <p:nvPr/>
        </p:nvSpPr>
        <p:spPr bwMode="auto">
          <a:xfrm>
            <a:off x="65309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6</a:t>
            </a:r>
          </a:p>
        </p:txBody>
      </p:sp>
      <p:sp>
        <p:nvSpPr>
          <p:cNvPr id="274435" name="AutoShape 3"/>
          <p:cNvSpPr>
            <a:spLocks noChangeArrowheads="1"/>
          </p:cNvSpPr>
          <p:nvPr/>
        </p:nvSpPr>
        <p:spPr bwMode="auto">
          <a:xfrm>
            <a:off x="608330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74436" name="AutoShape 4"/>
          <p:cNvSpPr>
            <a:spLocks noChangeArrowheads="1"/>
          </p:cNvSpPr>
          <p:nvPr/>
        </p:nvSpPr>
        <p:spPr bwMode="auto">
          <a:xfrm>
            <a:off x="6988175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74437" name="AutoShape 5"/>
          <p:cNvSpPr>
            <a:spLocks noChangeArrowheads="1"/>
          </p:cNvSpPr>
          <p:nvPr/>
        </p:nvSpPr>
        <p:spPr bwMode="auto">
          <a:xfrm>
            <a:off x="7893050" y="55626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74438" name="Text Box 6"/>
          <p:cNvSpPr txBox="1">
            <a:spLocks noChangeArrowheads="1"/>
          </p:cNvSpPr>
          <p:nvPr/>
        </p:nvSpPr>
        <p:spPr bwMode="auto">
          <a:xfrm>
            <a:off x="7081838" y="6059488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74439" name="Text Box 7"/>
          <p:cNvSpPr txBox="1">
            <a:spLocks noChangeArrowheads="1"/>
          </p:cNvSpPr>
          <p:nvPr/>
        </p:nvSpPr>
        <p:spPr bwMode="auto">
          <a:xfrm>
            <a:off x="7927975" y="60594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74440" name="Text Box 8"/>
          <p:cNvSpPr txBox="1">
            <a:spLocks noChangeArrowheads="1"/>
          </p:cNvSpPr>
          <p:nvPr/>
        </p:nvSpPr>
        <p:spPr bwMode="auto">
          <a:xfrm>
            <a:off x="6186488" y="6059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74441" name="AutoShape 9"/>
          <p:cNvSpPr>
            <a:spLocks noChangeArrowheads="1"/>
          </p:cNvSpPr>
          <p:nvPr/>
        </p:nvSpPr>
        <p:spPr bwMode="auto">
          <a:xfrm>
            <a:off x="4284663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4442" name="AutoShape 10"/>
          <p:cNvSpPr>
            <a:spLocks noChangeArrowheads="1"/>
          </p:cNvSpPr>
          <p:nvPr/>
        </p:nvSpPr>
        <p:spPr bwMode="auto">
          <a:xfrm>
            <a:off x="518160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4443" name="Text Box 11"/>
          <p:cNvSpPr txBox="1">
            <a:spLocks noChangeArrowheads="1"/>
          </p:cNvSpPr>
          <p:nvPr/>
        </p:nvSpPr>
        <p:spPr bwMode="auto">
          <a:xfrm>
            <a:off x="4354513" y="4887913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274444" name="Text Box 12"/>
          <p:cNvSpPr txBox="1">
            <a:spLocks noChangeArrowheads="1"/>
          </p:cNvSpPr>
          <p:nvPr/>
        </p:nvSpPr>
        <p:spPr bwMode="auto">
          <a:xfrm>
            <a:off x="5233988" y="4887913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H</a:t>
            </a:r>
          </a:p>
        </p:txBody>
      </p:sp>
      <p:cxnSp>
        <p:nvCxnSpPr>
          <p:cNvPr id="274445" name="AutoShape 13"/>
          <p:cNvCxnSpPr>
            <a:cxnSpLocks noChangeShapeType="1"/>
          </p:cNvCxnSpPr>
          <p:nvPr/>
        </p:nvCxnSpPr>
        <p:spPr bwMode="auto">
          <a:xfrm flipV="1">
            <a:off x="4513263" y="3657600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4446" name="AutoShape 14"/>
          <p:cNvCxnSpPr>
            <a:cxnSpLocks noChangeShapeType="1"/>
          </p:cNvCxnSpPr>
          <p:nvPr/>
        </p:nvCxnSpPr>
        <p:spPr bwMode="auto">
          <a:xfrm flipH="1" flipV="1">
            <a:off x="4970463" y="3657600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4447" name="AutoShape 15"/>
          <p:cNvSpPr>
            <a:spLocks noChangeArrowheads="1"/>
          </p:cNvSpPr>
          <p:nvPr/>
        </p:nvSpPr>
        <p:spPr bwMode="auto">
          <a:xfrm>
            <a:off x="4724400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85800" y="3200400"/>
            <a:ext cx="3141663" cy="3316288"/>
            <a:chOff x="432" y="2016"/>
            <a:chExt cx="1979" cy="2089"/>
          </a:xfrm>
        </p:grpSpPr>
        <p:cxnSp>
          <p:nvCxnSpPr>
            <p:cNvPr id="274449" name="AutoShape 17"/>
            <p:cNvCxnSpPr>
              <a:cxnSpLocks noChangeShapeType="1"/>
            </p:cNvCxnSpPr>
            <p:nvPr/>
          </p:nvCxnSpPr>
          <p:spPr bwMode="auto">
            <a:xfrm flipV="1">
              <a:off x="576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4450" name="AutoShape 18"/>
            <p:cNvCxnSpPr>
              <a:cxnSpLocks noChangeShapeType="1"/>
            </p:cNvCxnSpPr>
            <p:nvPr/>
          </p:nvCxnSpPr>
          <p:spPr bwMode="auto">
            <a:xfrm flipH="1" flipV="1">
              <a:off x="864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4451" name="AutoShape 19"/>
            <p:cNvSpPr>
              <a:spLocks noChangeArrowheads="1"/>
            </p:cNvSpPr>
            <p:nvPr/>
          </p:nvSpPr>
          <p:spPr bwMode="auto">
            <a:xfrm>
              <a:off x="2123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1</a:t>
              </a:r>
            </a:p>
          </p:txBody>
        </p:sp>
        <p:sp>
          <p:nvSpPr>
            <p:cNvPr id="274452" name="AutoShape 20"/>
            <p:cNvSpPr>
              <a:spLocks noChangeArrowheads="1"/>
            </p:cNvSpPr>
            <p:nvPr/>
          </p:nvSpPr>
          <p:spPr bwMode="auto">
            <a:xfrm>
              <a:off x="43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1</a:t>
              </a:r>
            </a:p>
          </p:txBody>
        </p:sp>
        <p:sp>
          <p:nvSpPr>
            <p:cNvPr id="274453" name="AutoShape 21"/>
            <p:cNvSpPr>
              <a:spLocks noChangeArrowheads="1"/>
            </p:cNvSpPr>
            <p:nvPr/>
          </p:nvSpPr>
          <p:spPr bwMode="auto">
            <a:xfrm>
              <a:off x="157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1</a:t>
              </a:r>
            </a:p>
          </p:txBody>
        </p:sp>
        <p:sp>
          <p:nvSpPr>
            <p:cNvPr id="274454" name="AutoShape 22"/>
            <p:cNvSpPr>
              <a:spLocks noChangeArrowheads="1"/>
            </p:cNvSpPr>
            <p:nvPr/>
          </p:nvSpPr>
          <p:spPr bwMode="auto">
            <a:xfrm>
              <a:off x="100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1</a:t>
              </a:r>
            </a:p>
          </p:txBody>
        </p:sp>
        <p:sp>
          <p:nvSpPr>
            <p:cNvPr id="274455" name="Text Box 23"/>
            <p:cNvSpPr txBox="1">
              <a:spLocks noChangeArrowheads="1"/>
            </p:cNvSpPr>
            <p:nvPr/>
          </p:nvSpPr>
          <p:spPr bwMode="auto">
            <a:xfrm>
              <a:off x="465" y="381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274456" name="Text Box 24"/>
            <p:cNvSpPr txBox="1">
              <a:spLocks noChangeArrowheads="1"/>
            </p:cNvSpPr>
            <p:nvPr/>
          </p:nvSpPr>
          <p:spPr bwMode="auto">
            <a:xfrm>
              <a:off x="1025" y="381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G</a:t>
              </a:r>
            </a:p>
          </p:txBody>
        </p:sp>
        <p:sp>
          <p:nvSpPr>
            <p:cNvPr id="274457" name="Text Box 25"/>
            <p:cNvSpPr txBox="1">
              <a:spLocks noChangeArrowheads="1"/>
            </p:cNvSpPr>
            <p:nvPr/>
          </p:nvSpPr>
          <p:spPr bwMode="auto">
            <a:xfrm>
              <a:off x="1584" y="3817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M</a:t>
              </a:r>
            </a:p>
          </p:txBody>
        </p:sp>
        <p:sp>
          <p:nvSpPr>
            <p:cNvPr id="274458" name="Text Box 26"/>
            <p:cNvSpPr txBox="1">
              <a:spLocks noChangeArrowheads="1"/>
            </p:cNvSpPr>
            <p:nvPr/>
          </p:nvSpPr>
          <p:spPr bwMode="auto">
            <a:xfrm>
              <a:off x="2178" y="381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T</a:t>
              </a:r>
            </a:p>
          </p:txBody>
        </p:sp>
        <p:sp>
          <p:nvSpPr>
            <p:cNvPr id="274459" name="AutoShape 27"/>
            <p:cNvSpPr>
              <a:spLocks noChangeArrowheads="1"/>
            </p:cNvSpPr>
            <p:nvPr/>
          </p:nvSpPr>
          <p:spPr bwMode="auto">
            <a:xfrm>
              <a:off x="714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cxnSp>
          <p:nvCxnSpPr>
            <p:cNvPr id="274460" name="AutoShape 28"/>
            <p:cNvCxnSpPr>
              <a:cxnSpLocks noChangeShapeType="1"/>
            </p:cNvCxnSpPr>
            <p:nvPr/>
          </p:nvCxnSpPr>
          <p:spPr bwMode="auto">
            <a:xfrm flipV="1">
              <a:off x="1716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4461" name="AutoShape 29"/>
            <p:cNvCxnSpPr>
              <a:cxnSpLocks noChangeShapeType="1"/>
            </p:cNvCxnSpPr>
            <p:nvPr/>
          </p:nvCxnSpPr>
          <p:spPr bwMode="auto">
            <a:xfrm flipH="1" flipV="1">
              <a:off x="2004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4462" name="AutoShape 30"/>
            <p:cNvSpPr>
              <a:spLocks noChangeArrowheads="1"/>
            </p:cNvSpPr>
            <p:nvPr/>
          </p:nvSpPr>
          <p:spPr bwMode="auto">
            <a:xfrm>
              <a:off x="1860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cxnSp>
          <p:nvCxnSpPr>
            <p:cNvPr id="274463" name="AutoShape 31"/>
            <p:cNvCxnSpPr>
              <a:cxnSpLocks noChangeShapeType="1"/>
            </p:cNvCxnSpPr>
            <p:nvPr/>
          </p:nvCxnSpPr>
          <p:spPr bwMode="auto">
            <a:xfrm flipV="1">
              <a:off x="855" y="2304"/>
              <a:ext cx="582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4464" name="AutoShape 32"/>
            <p:cNvCxnSpPr>
              <a:cxnSpLocks noChangeShapeType="1"/>
            </p:cNvCxnSpPr>
            <p:nvPr/>
          </p:nvCxnSpPr>
          <p:spPr bwMode="auto">
            <a:xfrm flipH="1" flipV="1">
              <a:off x="1437" y="2304"/>
              <a:ext cx="567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4465" name="AutoShape 33"/>
            <p:cNvSpPr>
              <a:spLocks noChangeArrowheads="1"/>
            </p:cNvSpPr>
            <p:nvPr/>
          </p:nvSpPr>
          <p:spPr bwMode="auto">
            <a:xfrm>
              <a:off x="1284" y="2016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4</a:t>
              </a:r>
            </a:p>
          </p:txBody>
        </p:sp>
      </p:grpSp>
      <p:cxnSp>
        <p:nvCxnSpPr>
          <p:cNvPr id="274466" name="AutoShape 34"/>
          <p:cNvCxnSpPr>
            <a:cxnSpLocks noChangeShapeType="1"/>
            <a:endCxn id="274471" idx="4"/>
          </p:cNvCxnSpPr>
          <p:nvPr/>
        </p:nvCxnSpPr>
        <p:spPr bwMode="auto">
          <a:xfrm flipV="1">
            <a:off x="2286000" y="2481263"/>
            <a:ext cx="1400175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4467" name="AutoShape 35"/>
          <p:cNvCxnSpPr>
            <a:cxnSpLocks noChangeShapeType="1"/>
            <a:endCxn id="274471" idx="4"/>
          </p:cNvCxnSpPr>
          <p:nvPr/>
        </p:nvCxnSpPr>
        <p:spPr bwMode="auto">
          <a:xfrm flipH="1" flipV="1">
            <a:off x="3686175" y="2481263"/>
            <a:ext cx="1262063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4468" name="AutoShape 36"/>
          <p:cNvCxnSpPr>
            <a:cxnSpLocks noChangeShapeType="1"/>
          </p:cNvCxnSpPr>
          <p:nvPr/>
        </p:nvCxnSpPr>
        <p:spPr bwMode="auto">
          <a:xfrm flipV="1">
            <a:off x="6311900" y="4829175"/>
            <a:ext cx="457200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4469" name="AutoShape 37"/>
          <p:cNvCxnSpPr>
            <a:cxnSpLocks noChangeShapeType="1"/>
          </p:cNvCxnSpPr>
          <p:nvPr/>
        </p:nvCxnSpPr>
        <p:spPr bwMode="auto">
          <a:xfrm flipH="1" flipV="1">
            <a:off x="6769100" y="4829175"/>
            <a:ext cx="447675" cy="733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4470" name="AutoShape 38"/>
          <p:cNvSpPr>
            <a:spLocks noChangeArrowheads="1"/>
          </p:cNvSpPr>
          <p:nvPr/>
        </p:nvSpPr>
        <p:spPr bwMode="auto">
          <a:xfrm>
            <a:off x="65309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6</a:t>
            </a:r>
          </a:p>
        </p:txBody>
      </p:sp>
      <p:sp>
        <p:nvSpPr>
          <p:cNvPr id="274471" name="AutoShape 39"/>
          <p:cNvSpPr>
            <a:spLocks noChangeArrowheads="1"/>
          </p:cNvSpPr>
          <p:nvPr/>
        </p:nvSpPr>
        <p:spPr bwMode="auto">
          <a:xfrm>
            <a:off x="3457575" y="20097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7</a:t>
            </a:r>
          </a:p>
        </p:txBody>
      </p:sp>
      <p:sp>
        <p:nvSpPr>
          <p:cNvPr id="275459" name="AutoShape 3"/>
          <p:cNvSpPr>
            <a:spLocks noChangeArrowheads="1"/>
          </p:cNvSpPr>
          <p:nvPr/>
        </p:nvSpPr>
        <p:spPr bwMode="auto">
          <a:xfrm>
            <a:off x="608330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75460" name="AutoShape 4"/>
          <p:cNvSpPr>
            <a:spLocks noChangeArrowheads="1"/>
          </p:cNvSpPr>
          <p:nvPr/>
        </p:nvSpPr>
        <p:spPr bwMode="auto">
          <a:xfrm>
            <a:off x="69881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75461" name="AutoShape 5"/>
          <p:cNvSpPr>
            <a:spLocks noChangeArrowheads="1"/>
          </p:cNvSpPr>
          <p:nvPr/>
        </p:nvSpPr>
        <p:spPr bwMode="auto">
          <a:xfrm>
            <a:off x="7470775" y="3186113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75462" name="Text Box 6"/>
          <p:cNvSpPr txBox="1">
            <a:spLocks noChangeArrowheads="1"/>
          </p:cNvSpPr>
          <p:nvPr/>
        </p:nvSpPr>
        <p:spPr bwMode="auto">
          <a:xfrm>
            <a:off x="7081838" y="4887913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75463" name="Text Box 7"/>
          <p:cNvSpPr txBox="1">
            <a:spLocks noChangeArrowheads="1"/>
          </p:cNvSpPr>
          <p:nvPr/>
        </p:nvSpPr>
        <p:spPr bwMode="auto">
          <a:xfrm>
            <a:off x="7540625" y="36718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75464" name="Text Box 8"/>
          <p:cNvSpPr txBox="1">
            <a:spLocks noChangeArrowheads="1"/>
          </p:cNvSpPr>
          <p:nvPr/>
        </p:nvSpPr>
        <p:spPr bwMode="auto">
          <a:xfrm>
            <a:off x="6083300" y="488791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75465" name="AutoShape 9"/>
          <p:cNvSpPr>
            <a:spLocks noChangeArrowheads="1"/>
          </p:cNvSpPr>
          <p:nvPr/>
        </p:nvSpPr>
        <p:spPr bwMode="auto">
          <a:xfrm>
            <a:off x="4284663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5466" name="AutoShape 10"/>
          <p:cNvSpPr>
            <a:spLocks noChangeArrowheads="1"/>
          </p:cNvSpPr>
          <p:nvPr/>
        </p:nvSpPr>
        <p:spPr bwMode="auto">
          <a:xfrm>
            <a:off x="518160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5467" name="Text Box 11"/>
          <p:cNvSpPr txBox="1">
            <a:spLocks noChangeArrowheads="1"/>
          </p:cNvSpPr>
          <p:nvPr/>
        </p:nvSpPr>
        <p:spPr bwMode="auto">
          <a:xfrm>
            <a:off x="4354513" y="4887913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275468" name="Text Box 12"/>
          <p:cNvSpPr txBox="1">
            <a:spLocks noChangeArrowheads="1"/>
          </p:cNvSpPr>
          <p:nvPr/>
        </p:nvSpPr>
        <p:spPr bwMode="auto">
          <a:xfrm>
            <a:off x="5233988" y="4887913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H</a:t>
            </a:r>
          </a:p>
        </p:txBody>
      </p:sp>
      <p:cxnSp>
        <p:nvCxnSpPr>
          <p:cNvPr id="275469" name="AutoShape 13"/>
          <p:cNvCxnSpPr>
            <a:cxnSpLocks noChangeShapeType="1"/>
            <a:stCxn id="275465" idx="0"/>
            <a:endCxn id="275471" idx="4"/>
          </p:cNvCxnSpPr>
          <p:nvPr/>
        </p:nvCxnSpPr>
        <p:spPr bwMode="auto">
          <a:xfrm flipV="1">
            <a:off x="4513263" y="3671888"/>
            <a:ext cx="439737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5470" name="AutoShape 14"/>
          <p:cNvCxnSpPr>
            <a:cxnSpLocks noChangeShapeType="1"/>
            <a:stCxn id="275466" idx="0"/>
            <a:endCxn id="275471" idx="4"/>
          </p:cNvCxnSpPr>
          <p:nvPr/>
        </p:nvCxnSpPr>
        <p:spPr bwMode="auto">
          <a:xfrm flipH="1" flipV="1">
            <a:off x="4953000" y="3671888"/>
            <a:ext cx="4572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5471" name="AutoShape 15"/>
          <p:cNvSpPr>
            <a:spLocks noChangeArrowheads="1"/>
          </p:cNvSpPr>
          <p:nvPr/>
        </p:nvSpPr>
        <p:spPr bwMode="auto">
          <a:xfrm>
            <a:off x="4724400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85800" y="3200400"/>
            <a:ext cx="3141663" cy="3316288"/>
            <a:chOff x="432" y="2016"/>
            <a:chExt cx="1979" cy="2089"/>
          </a:xfrm>
        </p:grpSpPr>
        <p:cxnSp>
          <p:nvCxnSpPr>
            <p:cNvPr id="275473" name="AutoShape 17"/>
            <p:cNvCxnSpPr>
              <a:cxnSpLocks noChangeShapeType="1"/>
            </p:cNvCxnSpPr>
            <p:nvPr/>
          </p:nvCxnSpPr>
          <p:spPr bwMode="auto">
            <a:xfrm flipV="1">
              <a:off x="576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5474" name="AutoShape 18"/>
            <p:cNvCxnSpPr>
              <a:cxnSpLocks noChangeShapeType="1"/>
            </p:cNvCxnSpPr>
            <p:nvPr/>
          </p:nvCxnSpPr>
          <p:spPr bwMode="auto">
            <a:xfrm flipH="1" flipV="1">
              <a:off x="864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5475" name="AutoShape 19"/>
            <p:cNvSpPr>
              <a:spLocks noChangeArrowheads="1"/>
            </p:cNvSpPr>
            <p:nvPr/>
          </p:nvSpPr>
          <p:spPr bwMode="auto">
            <a:xfrm>
              <a:off x="2123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1</a:t>
              </a:r>
            </a:p>
          </p:txBody>
        </p:sp>
        <p:sp>
          <p:nvSpPr>
            <p:cNvPr id="275476" name="AutoShape 20"/>
            <p:cNvSpPr>
              <a:spLocks noChangeArrowheads="1"/>
            </p:cNvSpPr>
            <p:nvPr/>
          </p:nvSpPr>
          <p:spPr bwMode="auto">
            <a:xfrm>
              <a:off x="43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1</a:t>
              </a:r>
            </a:p>
          </p:txBody>
        </p:sp>
        <p:sp>
          <p:nvSpPr>
            <p:cNvPr id="275477" name="AutoShape 21"/>
            <p:cNvSpPr>
              <a:spLocks noChangeArrowheads="1"/>
            </p:cNvSpPr>
            <p:nvPr/>
          </p:nvSpPr>
          <p:spPr bwMode="auto">
            <a:xfrm>
              <a:off x="157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1</a:t>
              </a:r>
            </a:p>
          </p:txBody>
        </p:sp>
        <p:sp>
          <p:nvSpPr>
            <p:cNvPr id="275478" name="AutoShape 22"/>
            <p:cNvSpPr>
              <a:spLocks noChangeArrowheads="1"/>
            </p:cNvSpPr>
            <p:nvPr/>
          </p:nvSpPr>
          <p:spPr bwMode="auto">
            <a:xfrm>
              <a:off x="100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1</a:t>
              </a:r>
            </a:p>
          </p:txBody>
        </p:sp>
        <p:sp>
          <p:nvSpPr>
            <p:cNvPr id="275479" name="Text Box 23"/>
            <p:cNvSpPr txBox="1">
              <a:spLocks noChangeArrowheads="1"/>
            </p:cNvSpPr>
            <p:nvPr/>
          </p:nvSpPr>
          <p:spPr bwMode="auto">
            <a:xfrm>
              <a:off x="465" y="381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275480" name="Text Box 24"/>
            <p:cNvSpPr txBox="1">
              <a:spLocks noChangeArrowheads="1"/>
            </p:cNvSpPr>
            <p:nvPr/>
          </p:nvSpPr>
          <p:spPr bwMode="auto">
            <a:xfrm>
              <a:off x="1025" y="381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G</a:t>
              </a:r>
            </a:p>
          </p:txBody>
        </p:sp>
        <p:sp>
          <p:nvSpPr>
            <p:cNvPr id="275481" name="Text Box 25"/>
            <p:cNvSpPr txBox="1">
              <a:spLocks noChangeArrowheads="1"/>
            </p:cNvSpPr>
            <p:nvPr/>
          </p:nvSpPr>
          <p:spPr bwMode="auto">
            <a:xfrm>
              <a:off x="1584" y="3817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M</a:t>
              </a:r>
            </a:p>
          </p:txBody>
        </p:sp>
        <p:sp>
          <p:nvSpPr>
            <p:cNvPr id="275482" name="Text Box 26"/>
            <p:cNvSpPr txBox="1">
              <a:spLocks noChangeArrowheads="1"/>
            </p:cNvSpPr>
            <p:nvPr/>
          </p:nvSpPr>
          <p:spPr bwMode="auto">
            <a:xfrm>
              <a:off x="2178" y="381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T</a:t>
              </a:r>
            </a:p>
          </p:txBody>
        </p:sp>
        <p:sp>
          <p:nvSpPr>
            <p:cNvPr id="275483" name="AutoShape 27"/>
            <p:cNvSpPr>
              <a:spLocks noChangeArrowheads="1"/>
            </p:cNvSpPr>
            <p:nvPr/>
          </p:nvSpPr>
          <p:spPr bwMode="auto">
            <a:xfrm>
              <a:off x="714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cxnSp>
          <p:nvCxnSpPr>
            <p:cNvPr id="275484" name="AutoShape 28"/>
            <p:cNvCxnSpPr>
              <a:cxnSpLocks noChangeShapeType="1"/>
            </p:cNvCxnSpPr>
            <p:nvPr/>
          </p:nvCxnSpPr>
          <p:spPr bwMode="auto">
            <a:xfrm flipV="1">
              <a:off x="1716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5485" name="AutoShape 29"/>
            <p:cNvCxnSpPr>
              <a:cxnSpLocks noChangeShapeType="1"/>
            </p:cNvCxnSpPr>
            <p:nvPr/>
          </p:nvCxnSpPr>
          <p:spPr bwMode="auto">
            <a:xfrm flipH="1" flipV="1">
              <a:off x="2004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5486" name="AutoShape 30"/>
            <p:cNvSpPr>
              <a:spLocks noChangeArrowheads="1"/>
            </p:cNvSpPr>
            <p:nvPr/>
          </p:nvSpPr>
          <p:spPr bwMode="auto">
            <a:xfrm>
              <a:off x="1860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cxnSp>
          <p:nvCxnSpPr>
            <p:cNvPr id="275487" name="AutoShape 31"/>
            <p:cNvCxnSpPr>
              <a:cxnSpLocks noChangeShapeType="1"/>
            </p:cNvCxnSpPr>
            <p:nvPr/>
          </p:nvCxnSpPr>
          <p:spPr bwMode="auto">
            <a:xfrm flipV="1">
              <a:off x="855" y="2304"/>
              <a:ext cx="582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5488" name="AutoShape 32"/>
            <p:cNvCxnSpPr>
              <a:cxnSpLocks noChangeShapeType="1"/>
            </p:cNvCxnSpPr>
            <p:nvPr/>
          </p:nvCxnSpPr>
          <p:spPr bwMode="auto">
            <a:xfrm flipH="1" flipV="1">
              <a:off x="1437" y="2304"/>
              <a:ext cx="567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5489" name="AutoShape 33"/>
            <p:cNvSpPr>
              <a:spLocks noChangeArrowheads="1"/>
            </p:cNvSpPr>
            <p:nvPr/>
          </p:nvSpPr>
          <p:spPr bwMode="auto">
            <a:xfrm>
              <a:off x="1284" y="2016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4</a:t>
              </a:r>
            </a:p>
          </p:txBody>
        </p:sp>
      </p:grpSp>
      <p:cxnSp>
        <p:nvCxnSpPr>
          <p:cNvPr id="275490" name="AutoShape 34"/>
          <p:cNvCxnSpPr>
            <a:cxnSpLocks noChangeShapeType="1"/>
            <a:stCxn id="275489" idx="0"/>
            <a:endCxn id="275495" idx="4"/>
          </p:cNvCxnSpPr>
          <p:nvPr/>
        </p:nvCxnSpPr>
        <p:spPr bwMode="auto">
          <a:xfrm flipV="1">
            <a:off x="2266950" y="2481263"/>
            <a:ext cx="1419225" cy="704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5491" name="AutoShape 35"/>
          <p:cNvCxnSpPr>
            <a:cxnSpLocks noChangeShapeType="1"/>
            <a:stCxn id="275471" idx="0"/>
            <a:endCxn id="275495" idx="4"/>
          </p:cNvCxnSpPr>
          <p:nvPr/>
        </p:nvCxnSpPr>
        <p:spPr bwMode="auto">
          <a:xfrm flipH="1" flipV="1">
            <a:off x="3686175" y="2481263"/>
            <a:ext cx="1266825" cy="704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5492" name="AutoShape 36"/>
          <p:cNvCxnSpPr>
            <a:cxnSpLocks noChangeShapeType="1"/>
            <a:stCxn id="275459" idx="0"/>
            <a:endCxn id="275494" idx="4"/>
          </p:cNvCxnSpPr>
          <p:nvPr/>
        </p:nvCxnSpPr>
        <p:spPr bwMode="auto">
          <a:xfrm flipV="1">
            <a:off x="6311900" y="3671888"/>
            <a:ext cx="447675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5493" name="AutoShape 37"/>
          <p:cNvCxnSpPr>
            <a:cxnSpLocks noChangeShapeType="1"/>
            <a:stCxn id="275460" idx="0"/>
            <a:endCxn id="275494" idx="4"/>
          </p:cNvCxnSpPr>
          <p:nvPr/>
        </p:nvCxnSpPr>
        <p:spPr bwMode="auto">
          <a:xfrm flipH="1" flipV="1">
            <a:off x="6759575" y="3671888"/>
            <a:ext cx="4572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5494" name="AutoShape 38"/>
          <p:cNvSpPr>
            <a:spLocks noChangeArrowheads="1"/>
          </p:cNvSpPr>
          <p:nvPr/>
        </p:nvSpPr>
        <p:spPr bwMode="auto">
          <a:xfrm>
            <a:off x="6530975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6</a:t>
            </a:r>
          </a:p>
        </p:txBody>
      </p:sp>
      <p:sp>
        <p:nvSpPr>
          <p:cNvPr id="275495" name="AutoShape 39"/>
          <p:cNvSpPr>
            <a:spLocks noChangeArrowheads="1"/>
          </p:cNvSpPr>
          <p:nvPr/>
        </p:nvSpPr>
        <p:spPr bwMode="auto">
          <a:xfrm>
            <a:off x="3457575" y="20097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8</a:t>
            </a:r>
          </a:p>
        </p:txBody>
      </p:sp>
      <p:cxnSp>
        <p:nvCxnSpPr>
          <p:cNvPr id="275496" name="AutoShape 40"/>
          <p:cNvCxnSpPr>
            <a:cxnSpLocks noChangeShapeType="1"/>
            <a:stCxn id="275494" idx="0"/>
            <a:endCxn id="275498" idx="4"/>
          </p:cNvCxnSpPr>
          <p:nvPr/>
        </p:nvCxnSpPr>
        <p:spPr bwMode="auto">
          <a:xfrm flipV="1">
            <a:off x="6759575" y="2514600"/>
            <a:ext cx="447675" cy="671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5497" name="AutoShape 41"/>
          <p:cNvCxnSpPr>
            <a:cxnSpLocks noChangeShapeType="1"/>
            <a:stCxn id="275461" idx="0"/>
            <a:endCxn id="275498" idx="4"/>
          </p:cNvCxnSpPr>
          <p:nvPr/>
        </p:nvCxnSpPr>
        <p:spPr bwMode="auto">
          <a:xfrm flipH="1" flipV="1">
            <a:off x="7207250" y="2514600"/>
            <a:ext cx="492125" cy="657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5498" name="AutoShape 42"/>
          <p:cNvSpPr>
            <a:spLocks noChangeArrowheads="1"/>
          </p:cNvSpPr>
          <p:nvPr/>
        </p:nvSpPr>
        <p:spPr bwMode="auto">
          <a:xfrm>
            <a:off x="6978650" y="2043113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8</a:t>
            </a:r>
          </a:p>
        </p:txBody>
      </p:sp>
      <p:sp>
        <p:nvSpPr>
          <p:cNvPr id="276483" name="AutoShape 3"/>
          <p:cNvSpPr>
            <a:spLocks noChangeArrowheads="1"/>
          </p:cNvSpPr>
          <p:nvPr/>
        </p:nvSpPr>
        <p:spPr bwMode="auto">
          <a:xfrm>
            <a:off x="608330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76484" name="AutoShape 4"/>
          <p:cNvSpPr>
            <a:spLocks noChangeArrowheads="1"/>
          </p:cNvSpPr>
          <p:nvPr/>
        </p:nvSpPr>
        <p:spPr bwMode="auto">
          <a:xfrm>
            <a:off x="69881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76485" name="AutoShape 5"/>
          <p:cNvSpPr>
            <a:spLocks noChangeArrowheads="1"/>
          </p:cNvSpPr>
          <p:nvPr/>
        </p:nvSpPr>
        <p:spPr bwMode="auto">
          <a:xfrm>
            <a:off x="7470775" y="3186113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76486" name="Text Box 6"/>
          <p:cNvSpPr txBox="1">
            <a:spLocks noChangeArrowheads="1"/>
          </p:cNvSpPr>
          <p:nvPr/>
        </p:nvSpPr>
        <p:spPr bwMode="auto">
          <a:xfrm>
            <a:off x="7081838" y="4887913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76487" name="Text Box 7"/>
          <p:cNvSpPr txBox="1">
            <a:spLocks noChangeArrowheads="1"/>
          </p:cNvSpPr>
          <p:nvPr/>
        </p:nvSpPr>
        <p:spPr bwMode="auto">
          <a:xfrm>
            <a:off x="7540625" y="36718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76488" name="Text Box 8"/>
          <p:cNvSpPr txBox="1">
            <a:spLocks noChangeArrowheads="1"/>
          </p:cNvSpPr>
          <p:nvPr/>
        </p:nvSpPr>
        <p:spPr bwMode="auto">
          <a:xfrm>
            <a:off x="6083300" y="488791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76489" name="AutoShape 9"/>
          <p:cNvSpPr>
            <a:spLocks noChangeArrowheads="1"/>
          </p:cNvSpPr>
          <p:nvPr/>
        </p:nvSpPr>
        <p:spPr bwMode="auto">
          <a:xfrm>
            <a:off x="4284663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6490" name="AutoShape 10"/>
          <p:cNvSpPr>
            <a:spLocks noChangeArrowheads="1"/>
          </p:cNvSpPr>
          <p:nvPr/>
        </p:nvSpPr>
        <p:spPr bwMode="auto">
          <a:xfrm>
            <a:off x="518160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6491" name="Text Box 11"/>
          <p:cNvSpPr txBox="1">
            <a:spLocks noChangeArrowheads="1"/>
          </p:cNvSpPr>
          <p:nvPr/>
        </p:nvSpPr>
        <p:spPr bwMode="auto">
          <a:xfrm>
            <a:off x="4354513" y="4887913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276492" name="Text Box 12"/>
          <p:cNvSpPr txBox="1">
            <a:spLocks noChangeArrowheads="1"/>
          </p:cNvSpPr>
          <p:nvPr/>
        </p:nvSpPr>
        <p:spPr bwMode="auto">
          <a:xfrm>
            <a:off x="5233988" y="4887913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H</a:t>
            </a:r>
          </a:p>
        </p:txBody>
      </p:sp>
      <p:cxnSp>
        <p:nvCxnSpPr>
          <p:cNvPr id="276493" name="AutoShape 13"/>
          <p:cNvCxnSpPr>
            <a:cxnSpLocks noChangeShapeType="1"/>
            <a:stCxn id="276489" idx="0"/>
            <a:endCxn id="276495" idx="4"/>
          </p:cNvCxnSpPr>
          <p:nvPr/>
        </p:nvCxnSpPr>
        <p:spPr bwMode="auto">
          <a:xfrm flipV="1">
            <a:off x="4513263" y="3671888"/>
            <a:ext cx="439737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6494" name="AutoShape 14"/>
          <p:cNvCxnSpPr>
            <a:cxnSpLocks noChangeShapeType="1"/>
            <a:stCxn id="276490" idx="0"/>
            <a:endCxn id="276495" idx="4"/>
          </p:cNvCxnSpPr>
          <p:nvPr/>
        </p:nvCxnSpPr>
        <p:spPr bwMode="auto">
          <a:xfrm flipH="1" flipV="1">
            <a:off x="4953000" y="3671888"/>
            <a:ext cx="4572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6495" name="AutoShape 15"/>
          <p:cNvSpPr>
            <a:spLocks noChangeArrowheads="1"/>
          </p:cNvSpPr>
          <p:nvPr/>
        </p:nvSpPr>
        <p:spPr bwMode="auto">
          <a:xfrm>
            <a:off x="4724400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85800" y="3200400"/>
            <a:ext cx="3141663" cy="3316288"/>
            <a:chOff x="432" y="2016"/>
            <a:chExt cx="1979" cy="2089"/>
          </a:xfrm>
        </p:grpSpPr>
        <p:cxnSp>
          <p:nvCxnSpPr>
            <p:cNvPr id="276497" name="AutoShape 17"/>
            <p:cNvCxnSpPr>
              <a:cxnSpLocks noChangeShapeType="1"/>
            </p:cNvCxnSpPr>
            <p:nvPr/>
          </p:nvCxnSpPr>
          <p:spPr bwMode="auto">
            <a:xfrm flipV="1">
              <a:off x="576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6498" name="AutoShape 18"/>
            <p:cNvCxnSpPr>
              <a:cxnSpLocks noChangeShapeType="1"/>
            </p:cNvCxnSpPr>
            <p:nvPr/>
          </p:nvCxnSpPr>
          <p:spPr bwMode="auto">
            <a:xfrm flipH="1" flipV="1">
              <a:off x="864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6499" name="AutoShape 19"/>
            <p:cNvSpPr>
              <a:spLocks noChangeArrowheads="1"/>
            </p:cNvSpPr>
            <p:nvPr/>
          </p:nvSpPr>
          <p:spPr bwMode="auto">
            <a:xfrm>
              <a:off x="2123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1</a:t>
              </a:r>
            </a:p>
          </p:txBody>
        </p:sp>
        <p:sp>
          <p:nvSpPr>
            <p:cNvPr id="276500" name="AutoShape 20"/>
            <p:cNvSpPr>
              <a:spLocks noChangeArrowheads="1"/>
            </p:cNvSpPr>
            <p:nvPr/>
          </p:nvSpPr>
          <p:spPr bwMode="auto">
            <a:xfrm>
              <a:off x="43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1</a:t>
              </a:r>
            </a:p>
          </p:txBody>
        </p:sp>
        <p:sp>
          <p:nvSpPr>
            <p:cNvPr id="276501" name="AutoShape 21"/>
            <p:cNvSpPr>
              <a:spLocks noChangeArrowheads="1"/>
            </p:cNvSpPr>
            <p:nvPr/>
          </p:nvSpPr>
          <p:spPr bwMode="auto">
            <a:xfrm>
              <a:off x="157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1</a:t>
              </a:r>
            </a:p>
          </p:txBody>
        </p:sp>
        <p:sp>
          <p:nvSpPr>
            <p:cNvPr id="276502" name="AutoShape 22"/>
            <p:cNvSpPr>
              <a:spLocks noChangeArrowheads="1"/>
            </p:cNvSpPr>
            <p:nvPr/>
          </p:nvSpPr>
          <p:spPr bwMode="auto">
            <a:xfrm>
              <a:off x="100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1</a:t>
              </a:r>
            </a:p>
          </p:txBody>
        </p:sp>
        <p:sp>
          <p:nvSpPr>
            <p:cNvPr id="276503" name="Text Box 23"/>
            <p:cNvSpPr txBox="1">
              <a:spLocks noChangeArrowheads="1"/>
            </p:cNvSpPr>
            <p:nvPr/>
          </p:nvSpPr>
          <p:spPr bwMode="auto">
            <a:xfrm>
              <a:off x="465" y="381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276504" name="Text Box 24"/>
            <p:cNvSpPr txBox="1">
              <a:spLocks noChangeArrowheads="1"/>
            </p:cNvSpPr>
            <p:nvPr/>
          </p:nvSpPr>
          <p:spPr bwMode="auto">
            <a:xfrm>
              <a:off x="1025" y="381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G</a:t>
              </a:r>
            </a:p>
          </p:txBody>
        </p:sp>
        <p:sp>
          <p:nvSpPr>
            <p:cNvPr id="276505" name="Text Box 25"/>
            <p:cNvSpPr txBox="1">
              <a:spLocks noChangeArrowheads="1"/>
            </p:cNvSpPr>
            <p:nvPr/>
          </p:nvSpPr>
          <p:spPr bwMode="auto">
            <a:xfrm>
              <a:off x="1584" y="3817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M</a:t>
              </a:r>
            </a:p>
          </p:txBody>
        </p:sp>
        <p:sp>
          <p:nvSpPr>
            <p:cNvPr id="276506" name="Text Box 26"/>
            <p:cNvSpPr txBox="1">
              <a:spLocks noChangeArrowheads="1"/>
            </p:cNvSpPr>
            <p:nvPr/>
          </p:nvSpPr>
          <p:spPr bwMode="auto">
            <a:xfrm>
              <a:off x="2178" y="381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T</a:t>
              </a:r>
            </a:p>
          </p:txBody>
        </p:sp>
        <p:sp>
          <p:nvSpPr>
            <p:cNvPr id="276507" name="AutoShape 27"/>
            <p:cNvSpPr>
              <a:spLocks noChangeArrowheads="1"/>
            </p:cNvSpPr>
            <p:nvPr/>
          </p:nvSpPr>
          <p:spPr bwMode="auto">
            <a:xfrm>
              <a:off x="714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cxnSp>
          <p:nvCxnSpPr>
            <p:cNvPr id="276508" name="AutoShape 28"/>
            <p:cNvCxnSpPr>
              <a:cxnSpLocks noChangeShapeType="1"/>
            </p:cNvCxnSpPr>
            <p:nvPr/>
          </p:nvCxnSpPr>
          <p:spPr bwMode="auto">
            <a:xfrm flipV="1">
              <a:off x="1716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6509" name="AutoShape 29"/>
            <p:cNvCxnSpPr>
              <a:cxnSpLocks noChangeShapeType="1"/>
            </p:cNvCxnSpPr>
            <p:nvPr/>
          </p:nvCxnSpPr>
          <p:spPr bwMode="auto">
            <a:xfrm flipH="1" flipV="1">
              <a:off x="2004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6510" name="AutoShape 30"/>
            <p:cNvSpPr>
              <a:spLocks noChangeArrowheads="1"/>
            </p:cNvSpPr>
            <p:nvPr/>
          </p:nvSpPr>
          <p:spPr bwMode="auto">
            <a:xfrm>
              <a:off x="1860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cxnSp>
          <p:nvCxnSpPr>
            <p:cNvPr id="276511" name="AutoShape 31"/>
            <p:cNvCxnSpPr>
              <a:cxnSpLocks noChangeShapeType="1"/>
            </p:cNvCxnSpPr>
            <p:nvPr/>
          </p:nvCxnSpPr>
          <p:spPr bwMode="auto">
            <a:xfrm flipV="1">
              <a:off x="855" y="2304"/>
              <a:ext cx="582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6512" name="AutoShape 32"/>
            <p:cNvCxnSpPr>
              <a:cxnSpLocks noChangeShapeType="1"/>
            </p:cNvCxnSpPr>
            <p:nvPr/>
          </p:nvCxnSpPr>
          <p:spPr bwMode="auto">
            <a:xfrm flipH="1" flipV="1">
              <a:off x="1437" y="2304"/>
              <a:ext cx="567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6513" name="AutoShape 33"/>
            <p:cNvSpPr>
              <a:spLocks noChangeArrowheads="1"/>
            </p:cNvSpPr>
            <p:nvPr/>
          </p:nvSpPr>
          <p:spPr bwMode="auto">
            <a:xfrm>
              <a:off x="1284" y="2016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4</a:t>
              </a:r>
            </a:p>
          </p:txBody>
        </p:sp>
      </p:grpSp>
      <p:cxnSp>
        <p:nvCxnSpPr>
          <p:cNvPr id="276514" name="AutoShape 34"/>
          <p:cNvCxnSpPr>
            <a:cxnSpLocks noChangeShapeType="1"/>
            <a:stCxn id="276513" idx="0"/>
            <a:endCxn id="276519" idx="4"/>
          </p:cNvCxnSpPr>
          <p:nvPr/>
        </p:nvCxnSpPr>
        <p:spPr bwMode="auto">
          <a:xfrm flipV="1">
            <a:off x="2266950" y="2481263"/>
            <a:ext cx="1419225" cy="704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6515" name="AutoShape 35"/>
          <p:cNvCxnSpPr>
            <a:cxnSpLocks noChangeShapeType="1"/>
            <a:stCxn id="276495" idx="0"/>
            <a:endCxn id="276519" idx="4"/>
          </p:cNvCxnSpPr>
          <p:nvPr/>
        </p:nvCxnSpPr>
        <p:spPr bwMode="auto">
          <a:xfrm flipH="1" flipV="1">
            <a:off x="3686175" y="2481263"/>
            <a:ext cx="1266825" cy="704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6516" name="AutoShape 36"/>
          <p:cNvCxnSpPr>
            <a:cxnSpLocks noChangeShapeType="1"/>
            <a:stCxn id="276483" idx="0"/>
            <a:endCxn id="276518" idx="4"/>
          </p:cNvCxnSpPr>
          <p:nvPr/>
        </p:nvCxnSpPr>
        <p:spPr bwMode="auto">
          <a:xfrm flipV="1">
            <a:off x="6311900" y="3671888"/>
            <a:ext cx="447675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6517" name="AutoShape 37"/>
          <p:cNvCxnSpPr>
            <a:cxnSpLocks noChangeShapeType="1"/>
            <a:stCxn id="276484" idx="0"/>
            <a:endCxn id="276518" idx="4"/>
          </p:cNvCxnSpPr>
          <p:nvPr/>
        </p:nvCxnSpPr>
        <p:spPr bwMode="auto">
          <a:xfrm flipH="1" flipV="1">
            <a:off x="6759575" y="3671888"/>
            <a:ext cx="4572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6518" name="AutoShape 38"/>
          <p:cNvSpPr>
            <a:spLocks noChangeArrowheads="1"/>
          </p:cNvSpPr>
          <p:nvPr/>
        </p:nvSpPr>
        <p:spPr bwMode="auto">
          <a:xfrm>
            <a:off x="6530975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6</a:t>
            </a:r>
          </a:p>
        </p:txBody>
      </p:sp>
      <p:sp>
        <p:nvSpPr>
          <p:cNvPr id="276519" name="AutoShape 39"/>
          <p:cNvSpPr>
            <a:spLocks noChangeArrowheads="1"/>
          </p:cNvSpPr>
          <p:nvPr/>
        </p:nvSpPr>
        <p:spPr bwMode="auto">
          <a:xfrm>
            <a:off x="3457575" y="20097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8</a:t>
            </a:r>
          </a:p>
        </p:txBody>
      </p:sp>
      <p:cxnSp>
        <p:nvCxnSpPr>
          <p:cNvPr id="276520" name="AutoShape 40"/>
          <p:cNvCxnSpPr>
            <a:cxnSpLocks noChangeShapeType="1"/>
            <a:stCxn id="276518" idx="0"/>
            <a:endCxn id="276522" idx="4"/>
          </p:cNvCxnSpPr>
          <p:nvPr/>
        </p:nvCxnSpPr>
        <p:spPr bwMode="auto">
          <a:xfrm flipV="1">
            <a:off x="6759575" y="2514600"/>
            <a:ext cx="447675" cy="671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6521" name="AutoShape 41"/>
          <p:cNvCxnSpPr>
            <a:cxnSpLocks noChangeShapeType="1"/>
            <a:stCxn id="276485" idx="0"/>
            <a:endCxn id="276522" idx="4"/>
          </p:cNvCxnSpPr>
          <p:nvPr/>
        </p:nvCxnSpPr>
        <p:spPr bwMode="auto">
          <a:xfrm flipH="1" flipV="1">
            <a:off x="7207250" y="2514600"/>
            <a:ext cx="492125" cy="657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6522" name="AutoShape 42"/>
          <p:cNvSpPr>
            <a:spLocks noChangeArrowheads="1"/>
          </p:cNvSpPr>
          <p:nvPr/>
        </p:nvSpPr>
        <p:spPr bwMode="auto">
          <a:xfrm>
            <a:off x="6978650" y="2043113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11</a:t>
            </a:r>
          </a:p>
        </p:txBody>
      </p:sp>
      <p:sp>
        <p:nvSpPr>
          <p:cNvPr id="276523" name="AutoShape 43"/>
          <p:cNvSpPr>
            <a:spLocks noChangeArrowheads="1"/>
          </p:cNvSpPr>
          <p:nvPr/>
        </p:nvSpPr>
        <p:spPr bwMode="auto">
          <a:xfrm>
            <a:off x="5233988" y="8382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19</a:t>
            </a:r>
          </a:p>
        </p:txBody>
      </p:sp>
      <p:cxnSp>
        <p:nvCxnSpPr>
          <p:cNvPr id="276524" name="AutoShape 44"/>
          <p:cNvCxnSpPr>
            <a:cxnSpLocks noChangeShapeType="1"/>
            <a:stCxn id="276519" idx="0"/>
            <a:endCxn id="276523" idx="4"/>
          </p:cNvCxnSpPr>
          <p:nvPr/>
        </p:nvCxnSpPr>
        <p:spPr bwMode="auto">
          <a:xfrm flipV="1">
            <a:off x="3686175" y="1309688"/>
            <a:ext cx="1776413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6525" name="AutoShape 45"/>
          <p:cNvCxnSpPr>
            <a:cxnSpLocks noChangeShapeType="1"/>
            <a:stCxn id="276522" idx="0"/>
            <a:endCxn id="276523" idx="4"/>
          </p:cNvCxnSpPr>
          <p:nvPr/>
        </p:nvCxnSpPr>
        <p:spPr bwMode="auto">
          <a:xfrm flipH="1" flipV="1">
            <a:off x="5462588" y="1309688"/>
            <a:ext cx="1744662" cy="7191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Label edges</a:t>
            </a:r>
          </a:p>
        </p:txBody>
      </p:sp>
      <p:sp>
        <p:nvSpPr>
          <p:cNvPr id="277507" name="AutoShape 3"/>
          <p:cNvSpPr>
            <a:spLocks noChangeArrowheads="1"/>
          </p:cNvSpPr>
          <p:nvPr/>
        </p:nvSpPr>
        <p:spPr bwMode="auto">
          <a:xfrm>
            <a:off x="608330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3</a:t>
            </a:r>
          </a:p>
        </p:txBody>
      </p:sp>
      <p:sp>
        <p:nvSpPr>
          <p:cNvPr id="277508" name="AutoShape 4"/>
          <p:cNvSpPr>
            <a:spLocks noChangeArrowheads="1"/>
          </p:cNvSpPr>
          <p:nvPr/>
        </p:nvSpPr>
        <p:spPr bwMode="auto">
          <a:xfrm>
            <a:off x="6988175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3</a:t>
            </a:r>
          </a:p>
        </p:txBody>
      </p:sp>
      <p:sp>
        <p:nvSpPr>
          <p:cNvPr id="277509" name="AutoShape 5"/>
          <p:cNvSpPr>
            <a:spLocks noChangeArrowheads="1"/>
          </p:cNvSpPr>
          <p:nvPr/>
        </p:nvSpPr>
        <p:spPr bwMode="auto">
          <a:xfrm>
            <a:off x="7470775" y="3186113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5</a:t>
            </a:r>
          </a:p>
        </p:txBody>
      </p:sp>
      <p:sp>
        <p:nvSpPr>
          <p:cNvPr id="277510" name="Text Box 6"/>
          <p:cNvSpPr txBox="1">
            <a:spLocks noChangeArrowheads="1"/>
          </p:cNvSpPr>
          <p:nvPr/>
        </p:nvSpPr>
        <p:spPr bwMode="auto">
          <a:xfrm>
            <a:off x="7081838" y="4887913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277511" name="Text Box 7"/>
          <p:cNvSpPr txBox="1">
            <a:spLocks noChangeArrowheads="1"/>
          </p:cNvSpPr>
          <p:nvPr/>
        </p:nvSpPr>
        <p:spPr bwMode="auto">
          <a:xfrm>
            <a:off x="7540625" y="367188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277512" name="Text Box 8"/>
          <p:cNvSpPr txBox="1">
            <a:spLocks noChangeArrowheads="1"/>
          </p:cNvSpPr>
          <p:nvPr/>
        </p:nvSpPr>
        <p:spPr bwMode="auto">
          <a:xfrm>
            <a:off x="6083300" y="488791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_</a:t>
            </a:r>
          </a:p>
        </p:txBody>
      </p:sp>
      <p:sp>
        <p:nvSpPr>
          <p:cNvPr id="277513" name="AutoShape 9"/>
          <p:cNvSpPr>
            <a:spLocks noChangeArrowheads="1"/>
          </p:cNvSpPr>
          <p:nvPr/>
        </p:nvSpPr>
        <p:spPr bwMode="auto">
          <a:xfrm>
            <a:off x="4284663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7514" name="AutoShape 10"/>
          <p:cNvSpPr>
            <a:spLocks noChangeArrowheads="1"/>
          </p:cNvSpPr>
          <p:nvPr/>
        </p:nvSpPr>
        <p:spPr bwMode="auto">
          <a:xfrm>
            <a:off x="5181600" y="4371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2</a:t>
            </a:r>
          </a:p>
        </p:txBody>
      </p:sp>
      <p:sp>
        <p:nvSpPr>
          <p:cNvPr id="277515" name="Text Box 11"/>
          <p:cNvSpPr txBox="1">
            <a:spLocks noChangeArrowheads="1"/>
          </p:cNvSpPr>
          <p:nvPr/>
        </p:nvSpPr>
        <p:spPr bwMode="auto">
          <a:xfrm>
            <a:off x="4354513" y="4887913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E</a:t>
            </a:r>
          </a:p>
        </p:txBody>
      </p:sp>
      <p:sp>
        <p:nvSpPr>
          <p:cNvPr id="277516" name="Text Box 12"/>
          <p:cNvSpPr txBox="1">
            <a:spLocks noChangeArrowheads="1"/>
          </p:cNvSpPr>
          <p:nvPr/>
        </p:nvSpPr>
        <p:spPr bwMode="auto">
          <a:xfrm>
            <a:off x="5233988" y="4887913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00FF"/>
                </a:solidFill>
              </a:rPr>
              <a:t>H</a:t>
            </a:r>
          </a:p>
        </p:txBody>
      </p:sp>
      <p:cxnSp>
        <p:nvCxnSpPr>
          <p:cNvPr id="277517" name="AutoShape 13"/>
          <p:cNvCxnSpPr>
            <a:cxnSpLocks noChangeShapeType="1"/>
            <a:stCxn id="277513" idx="0"/>
            <a:endCxn id="277519" idx="4"/>
          </p:cNvCxnSpPr>
          <p:nvPr/>
        </p:nvCxnSpPr>
        <p:spPr bwMode="auto">
          <a:xfrm flipV="1">
            <a:off x="4513263" y="3671888"/>
            <a:ext cx="439737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7518" name="AutoShape 14"/>
          <p:cNvCxnSpPr>
            <a:cxnSpLocks noChangeShapeType="1"/>
            <a:stCxn id="277514" idx="0"/>
            <a:endCxn id="277519" idx="4"/>
          </p:cNvCxnSpPr>
          <p:nvPr/>
        </p:nvCxnSpPr>
        <p:spPr bwMode="auto">
          <a:xfrm flipH="1" flipV="1">
            <a:off x="4953000" y="3671888"/>
            <a:ext cx="4572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7519" name="AutoShape 15"/>
          <p:cNvSpPr>
            <a:spLocks noChangeArrowheads="1"/>
          </p:cNvSpPr>
          <p:nvPr/>
        </p:nvSpPr>
        <p:spPr bwMode="auto">
          <a:xfrm>
            <a:off x="4724400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4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85800" y="3200400"/>
            <a:ext cx="3141663" cy="3316288"/>
            <a:chOff x="432" y="2016"/>
            <a:chExt cx="1979" cy="2089"/>
          </a:xfrm>
        </p:grpSpPr>
        <p:cxnSp>
          <p:nvCxnSpPr>
            <p:cNvPr id="277521" name="AutoShape 17"/>
            <p:cNvCxnSpPr>
              <a:cxnSpLocks noChangeShapeType="1"/>
            </p:cNvCxnSpPr>
            <p:nvPr/>
          </p:nvCxnSpPr>
          <p:spPr bwMode="auto">
            <a:xfrm flipV="1">
              <a:off x="576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7522" name="AutoShape 18"/>
            <p:cNvCxnSpPr>
              <a:cxnSpLocks noChangeShapeType="1"/>
            </p:cNvCxnSpPr>
            <p:nvPr/>
          </p:nvCxnSpPr>
          <p:spPr bwMode="auto">
            <a:xfrm flipH="1" flipV="1">
              <a:off x="864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7523" name="AutoShape 19"/>
            <p:cNvSpPr>
              <a:spLocks noChangeArrowheads="1"/>
            </p:cNvSpPr>
            <p:nvPr/>
          </p:nvSpPr>
          <p:spPr bwMode="auto">
            <a:xfrm>
              <a:off x="2123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1</a:t>
              </a:r>
            </a:p>
          </p:txBody>
        </p:sp>
        <p:sp>
          <p:nvSpPr>
            <p:cNvPr id="277524" name="AutoShape 20"/>
            <p:cNvSpPr>
              <a:spLocks noChangeArrowheads="1"/>
            </p:cNvSpPr>
            <p:nvPr/>
          </p:nvSpPr>
          <p:spPr bwMode="auto">
            <a:xfrm>
              <a:off x="43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1</a:t>
              </a:r>
            </a:p>
          </p:txBody>
        </p:sp>
        <p:sp>
          <p:nvSpPr>
            <p:cNvPr id="277525" name="AutoShape 21"/>
            <p:cNvSpPr>
              <a:spLocks noChangeArrowheads="1"/>
            </p:cNvSpPr>
            <p:nvPr/>
          </p:nvSpPr>
          <p:spPr bwMode="auto">
            <a:xfrm>
              <a:off x="157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1</a:t>
              </a:r>
            </a:p>
          </p:txBody>
        </p:sp>
        <p:sp>
          <p:nvSpPr>
            <p:cNvPr id="277526" name="AutoShape 22"/>
            <p:cNvSpPr>
              <a:spLocks noChangeArrowheads="1"/>
            </p:cNvSpPr>
            <p:nvPr/>
          </p:nvSpPr>
          <p:spPr bwMode="auto">
            <a:xfrm>
              <a:off x="1002" y="350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1</a:t>
              </a:r>
            </a:p>
          </p:txBody>
        </p:sp>
        <p:sp>
          <p:nvSpPr>
            <p:cNvPr id="277527" name="Text Box 23"/>
            <p:cNvSpPr txBox="1">
              <a:spLocks noChangeArrowheads="1"/>
            </p:cNvSpPr>
            <p:nvPr/>
          </p:nvSpPr>
          <p:spPr bwMode="auto">
            <a:xfrm>
              <a:off x="465" y="381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277528" name="Text Box 24"/>
            <p:cNvSpPr txBox="1">
              <a:spLocks noChangeArrowheads="1"/>
            </p:cNvSpPr>
            <p:nvPr/>
          </p:nvSpPr>
          <p:spPr bwMode="auto">
            <a:xfrm>
              <a:off x="1025" y="381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G</a:t>
              </a:r>
            </a:p>
          </p:txBody>
        </p:sp>
        <p:sp>
          <p:nvSpPr>
            <p:cNvPr id="277529" name="Text Box 25"/>
            <p:cNvSpPr txBox="1">
              <a:spLocks noChangeArrowheads="1"/>
            </p:cNvSpPr>
            <p:nvPr/>
          </p:nvSpPr>
          <p:spPr bwMode="auto">
            <a:xfrm>
              <a:off x="1584" y="3817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b="1">
                  <a:solidFill>
                    <a:srgbClr val="0000FF"/>
                  </a:solidFill>
                </a:rPr>
                <a:t>M</a:t>
              </a:r>
            </a:p>
          </p:txBody>
        </p:sp>
        <p:sp>
          <p:nvSpPr>
            <p:cNvPr id="277530" name="Text Box 26"/>
            <p:cNvSpPr txBox="1">
              <a:spLocks noChangeArrowheads="1"/>
            </p:cNvSpPr>
            <p:nvPr/>
          </p:nvSpPr>
          <p:spPr bwMode="auto">
            <a:xfrm>
              <a:off x="2178" y="381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FF"/>
                  </a:solidFill>
                </a:rPr>
                <a:t>T</a:t>
              </a:r>
            </a:p>
          </p:txBody>
        </p:sp>
        <p:sp>
          <p:nvSpPr>
            <p:cNvPr id="277531" name="AutoShape 27"/>
            <p:cNvSpPr>
              <a:spLocks noChangeArrowheads="1"/>
            </p:cNvSpPr>
            <p:nvPr/>
          </p:nvSpPr>
          <p:spPr bwMode="auto">
            <a:xfrm>
              <a:off x="714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cxnSp>
          <p:nvCxnSpPr>
            <p:cNvPr id="277532" name="AutoShape 28"/>
            <p:cNvCxnSpPr>
              <a:cxnSpLocks noChangeShapeType="1"/>
            </p:cNvCxnSpPr>
            <p:nvPr/>
          </p:nvCxnSpPr>
          <p:spPr bwMode="auto">
            <a:xfrm flipV="1">
              <a:off x="1716" y="3042"/>
              <a:ext cx="288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7533" name="AutoShape 29"/>
            <p:cNvCxnSpPr>
              <a:cxnSpLocks noChangeShapeType="1"/>
            </p:cNvCxnSpPr>
            <p:nvPr/>
          </p:nvCxnSpPr>
          <p:spPr bwMode="auto">
            <a:xfrm flipH="1" flipV="1">
              <a:off x="2004" y="3042"/>
              <a:ext cx="282" cy="4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7534" name="AutoShape 30"/>
            <p:cNvSpPr>
              <a:spLocks noChangeArrowheads="1"/>
            </p:cNvSpPr>
            <p:nvPr/>
          </p:nvSpPr>
          <p:spPr bwMode="auto">
            <a:xfrm>
              <a:off x="1860" y="2754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/>
                <a:t>2</a:t>
              </a:r>
            </a:p>
          </p:txBody>
        </p:sp>
        <p:cxnSp>
          <p:nvCxnSpPr>
            <p:cNvPr id="277535" name="AutoShape 31"/>
            <p:cNvCxnSpPr>
              <a:cxnSpLocks noChangeShapeType="1"/>
            </p:cNvCxnSpPr>
            <p:nvPr/>
          </p:nvCxnSpPr>
          <p:spPr bwMode="auto">
            <a:xfrm flipV="1">
              <a:off x="855" y="2304"/>
              <a:ext cx="582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277536" name="AutoShape 32"/>
            <p:cNvCxnSpPr>
              <a:cxnSpLocks noChangeShapeType="1"/>
            </p:cNvCxnSpPr>
            <p:nvPr/>
          </p:nvCxnSpPr>
          <p:spPr bwMode="auto">
            <a:xfrm flipH="1" flipV="1">
              <a:off x="1437" y="2304"/>
              <a:ext cx="567" cy="4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277537" name="AutoShape 33"/>
            <p:cNvSpPr>
              <a:spLocks noChangeArrowheads="1"/>
            </p:cNvSpPr>
            <p:nvPr/>
          </p:nvSpPr>
          <p:spPr bwMode="auto">
            <a:xfrm>
              <a:off x="1284" y="2016"/>
              <a:ext cx="288" cy="288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/>
                <a:t>4</a:t>
              </a:r>
            </a:p>
          </p:txBody>
        </p:sp>
      </p:grpSp>
      <p:cxnSp>
        <p:nvCxnSpPr>
          <p:cNvPr id="277538" name="AutoShape 34"/>
          <p:cNvCxnSpPr>
            <a:cxnSpLocks noChangeShapeType="1"/>
            <a:stCxn id="277537" idx="0"/>
            <a:endCxn id="277543" idx="4"/>
          </p:cNvCxnSpPr>
          <p:nvPr/>
        </p:nvCxnSpPr>
        <p:spPr bwMode="auto">
          <a:xfrm flipV="1">
            <a:off x="2266950" y="2481263"/>
            <a:ext cx="1419225" cy="704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7539" name="AutoShape 35"/>
          <p:cNvCxnSpPr>
            <a:cxnSpLocks noChangeShapeType="1"/>
            <a:stCxn id="277519" idx="0"/>
            <a:endCxn id="277543" idx="4"/>
          </p:cNvCxnSpPr>
          <p:nvPr/>
        </p:nvCxnSpPr>
        <p:spPr bwMode="auto">
          <a:xfrm flipH="1" flipV="1">
            <a:off x="3686175" y="2481263"/>
            <a:ext cx="1266825" cy="704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7540" name="AutoShape 36"/>
          <p:cNvCxnSpPr>
            <a:cxnSpLocks noChangeShapeType="1"/>
            <a:stCxn id="277507" idx="0"/>
            <a:endCxn id="277542" idx="4"/>
          </p:cNvCxnSpPr>
          <p:nvPr/>
        </p:nvCxnSpPr>
        <p:spPr bwMode="auto">
          <a:xfrm flipV="1">
            <a:off x="6311900" y="3671888"/>
            <a:ext cx="447675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7541" name="AutoShape 37"/>
          <p:cNvCxnSpPr>
            <a:cxnSpLocks noChangeShapeType="1"/>
            <a:stCxn id="277508" idx="0"/>
            <a:endCxn id="277542" idx="4"/>
          </p:cNvCxnSpPr>
          <p:nvPr/>
        </p:nvCxnSpPr>
        <p:spPr bwMode="auto">
          <a:xfrm flipH="1" flipV="1">
            <a:off x="6759575" y="3671888"/>
            <a:ext cx="4572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7542" name="AutoShape 38"/>
          <p:cNvSpPr>
            <a:spLocks noChangeArrowheads="1"/>
          </p:cNvSpPr>
          <p:nvPr/>
        </p:nvSpPr>
        <p:spPr bwMode="auto">
          <a:xfrm>
            <a:off x="6530975" y="3200400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6</a:t>
            </a:r>
          </a:p>
        </p:txBody>
      </p:sp>
      <p:sp>
        <p:nvSpPr>
          <p:cNvPr id="277543" name="AutoShape 39"/>
          <p:cNvSpPr>
            <a:spLocks noChangeArrowheads="1"/>
          </p:cNvSpPr>
          <p:nvPr/>
        </p:nvSpPr>
        <p:spPr bwMode="auto">
          <a:xfrm>
            <a:off x="3457575" y="20097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en-US" b="1"/>
              <a:t>8</a:t>
            </a:r>
          </a:p>
        </p:txBody>
      </p:sp>
      <p:cxnSp>
        <p:nvCxnSpPr>
          <p:cNvPr id="277544" name="AutoShape 40"/>
          <p:cNvCxnSpPr>
            <a:cxnSpLocks noChangeShapeType="1"/>
            <a:stCxn id="277542" idx="0"/>
            <a:endCxn id="277546" idx="4"/>
          </p:cNvCxnSpPr>
          <p:nvPr/>
        </p:nvCxnSpPr>
        <p:spPr bwMode="auto">
          <a:xfrm flipV="1">
            <a:off x="6759575" y="2514600"/>
            <a:ext cx="447675" cy="671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7545" name="AutoShape 41"/>
          <p:cNvCxnSpPr>
            <a:cxnSpLocks noChangeShapeType="1"/>
            <a:stCxn id="277509" idx="0"/>
            <a:endCxn id="277546" idx="4"/>
          </p:cNvCxnSpPr>
          <p:nvPr/>
        </p:nvCxnSpPr>
        <p:spPr bwMode="auto">
          <a:xfrm flipH="1" flipV="1">
            <a:off x="7207250" y="2514600"/>
            <a:ext cx="492125" cy="657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7546" name="AutoShape 42"/>
          <p:cNvSpPr>
            <a:spLocks noChangeArrowheads="1"/>
          </p:cNvSpPr>
          <p:nvPr/>
        </p:nvSpPr>
        <p:spPr bwMode="auto">
          <a:xfrm>
            <a:off x="6978650" y="2043113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11</a:t>
            </a:r>
          </a:p>
        </p:txBody>
      </p:sp>
      <p:sp>
        <p:nvSpPr>
          <p:cNvPr id="277547" name="AutoShape 43"/>
          <p:cNvSpPr>
            <a:spLocks noChangeArrowheads="1"/>
          </p:cNvSpPr>
          <p:nvPr/>
        </p:nvSpPr>
        <p:spPr bwMode="auto">
          <a:xfrm>
            <a:off x="5233988" y="942975"/>
            <a:ext cx="457200" cy="457200"/>
          </a:xfrm>
          <a:prstGeom prst="flowChartConnector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/>
              <a:t>19</a:t>
            </a:r>
          </a:p>
        </p:txBody>
      </p:sp>
      <p:cxnSp>
        <p:nvCxnSpPr>
          <p:cNvPr id="277548" name="AutoShape 44"/>
          <p:cNvCxnSpPr>
            <a:cxnSpLocks noChangeShapeType="1"/>
            <a:stCxn id="277543" idx="0"/>
            <a:endCxn id="277547" idx="4"/>
          </p:cNvCxnSpPr>
          <p:nvPr/>
        </p:nvCxnSpPr>
        <p:spPr bwMode="auto">
          <a:xfrm flipV="1">
            <a:off x="3686175" y="1414463"/>
            <a:ext cx="1776413" cy="581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7549" name="AutoShape 45"/>
          <p:cNvCxnSpPr>
            <a:cxnSpLocks noChangeShapeType="1"/>
            <a:stCxn id="277546" idx="0"/>
            <a:endCxn id="277547" idx="4"/>
          </p:cNvCxnSpPr>
          <p:nvPr/>
        </p:nvCxnSpPr>
        <p:spPr bwMode="auto">
          <a:xfrm flipH="1" flipV="1">
            <a:off x="5462588" y="1414463"/>
            <a:ext cx="1744662" cy="6143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77550" name="Text Box 46"/>
          <p:cNvSpPr txBox="1">
            <a:spLocks noChangeArrowheads="1"/>
          </p:cNvSpPr>
          <p:nvPr/>
        </p:nvSpPr>
        <p:spPr bwMode="auto">
          <a:xfrm>
            <a:off x="6540500" y="25288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77551" name="Text Box 47"/>
          <p:cNvSpPr txBox="1">
            <a:spLocks noChangeArrowheads="1"/>
          </p:cNvSpPr>
          <p:nvPr/>
        </p:nvSpPr>
        <p:spPr bwMode="auto">
          <a:xfrm>
            <a:off x="6083300" y="367188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77552" name="Text Box 48"/>
          <p:cNvSpPr txBox="1">
            <a:spLocks noChangeArrowheads="1"/>
          </p:cNvSpPr>
          <p:nvPr/>
        </p:nvSpPr>
        <p:spPr bwMode="auto">
          <a:xfrm>
            <a:off x="4284663" y="36718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77553" name="Text Box 49"/>
          <p:cNvSpPr txBox="1">
            <a:spLocks noChangeArrowheads="1"/>
          </p:cNvSpPr>
          <p:nvPr/>
        </p:nvSpPr>
        <p:spPr bwMode="auto">
          <a:xfrm>
            <a:off x="2495550" y="4829175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77554" name="Text Box 50"/>
          <p:cNvSpPr txBox="1">
            <a:spLocks noChangeArrowheads="1"/>
          </p:cNvSpPr>
          <p:nvPr/>
        </p:nvSpPr>
        <p:spPr bwMode="auto">
          <a:xfrm>
            <a:off x="711200" y="4829175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77555" name="Text Box 51"/>
          <p:cNvSpPr txBox="1">
            <a:spLocks noChangeArrowheads="1"/>
          </p:cNvSpPr>
          <p:nvPr/>
        </p:nvSpPr>
        <p:spPr bwMode="auto">
          <a:xfrm>
            <a:off x="1395413" y="3643313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77556" name="Text Box 52"/>
          <p:cNvSpPr txBox="1">
            <a:spLocks noChangeArrowheads="1"/>
          </p:cNvSpPr>
          <p:nvPr/>
        </p:nvSpPr>
        <p:spPr bwMode="auto">
          <a:xfrm>
            <a:off x="4284663" y="1185863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77557" name="Text Box 53"/>
          <p:cNvSpPr txBox="1">
            <a:spLocks noChangeArrowheads="1"/>
          </p:cNvSpPr>
          <p:nvPr/>
        </p:nvSpPr>
        <p:spPr bwMode="auto">
          <a:xfrm>
            <a:off x="2598738" y="2376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77558" name="Text Box 54"/>
          <p:cNvSpPr txBox="1">
            <a:spLocks noChangeArrowheads="1"/>
          </p:cNvSpPr>
          <p:nvPr/>
        </p:nvSpPr>
        <p:spPr bwMode="auto">
          <a:xfrm>
            <a:off x="5232400" y="36576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1</a:t>
            </a:r>
          </a:p>
        </p:txBody>
      </p:sp>
      <p:sp>
        <p:nvSpPr>
          <p:cNvPr id="277559" name="Text Box 55"/>
          <p:cNvSpPr txBox="1">
            <a:spLocks noChangeArrowheads="1"/>
          </p:cNvSpPr>
          <p:nvPr/>
        </p:nvSpPr>
        <p:spPr bwMode="auto">
          <a:xfrm>
            <a:off x="3451225" y="4829175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1</a:t>
            </a:r>
          </a:p>
        </p:txBody>
      </p:sp>
      <p:sp>
        <p:nvSpPr>
          <p:cNvPr id="277560" name="Text Box 56"/>
          <p:cNvSpPr txBox="1">
            <a:spLocks noChangeArrowheads="1"/>
          </p:cNvSpPr>
          <p:nvPr/>
        </p:nvSpPr>
        <p:spPr bwMode="auto">
          <a:xfrm>
            <a:off x="1641475" y="4829175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1</a:t>
            </a:r>
          </a:p>
        </p:txBody>
      </p:sp>
      <p:sp>
        <p:nvSpPr>
          <p:cNvPr id="277561" name="Text Box 57"/>
          <p:cNvSpPr txBox="1">
            <a:spLocks noChangeArrowheads="1"/>
          </p:cNvSpPr>
          <p:nvPr/>
        </p:nvSpPr>
        <p:spPr bwMode="auto">
          <a:xfrm>
            <a:off x="2849563" y="36718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1</a:t>
            </a:r>
          </a:p>
        </p:txBody>
      </p:sp>
      <p:sp>
        <p:nvSpPr>
          <p:cNvPr id="277562" name="Text Box 58"/>
          <p:cNvSpPr txBox="1">
            <a:spLocks noChangeArrowheads="1"/>
          </p:cNvSpPr>
          <p:nvPr/>
        </p:nvSpPr>
        <p:spPr bwMode="auto">
          <a:xfrm>
            <a:off x="7081838" y="36718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1</a:t>
            </a:r>
          </a:p>
        </p:txBody>
      </p:sp>
      <p:sp>
        <p:nvSpPr>
          <p:cNvPr id="277563" name="Text Box 59"/>
          <p:cNvSpPr txBox="1">
            <a:spLocks noChangeArrowheads="1"/>
          </p:cNvSpPr>
          <p:nvPr/>
        </p:nvSpPr>
        <p:spPr bwMode="auto">
          <a:xfrm>
            <a:off x="7573963" y="25288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1</a:t>
            </a:r>
          </a:p>
        </p:txBody>
      </p:sp>
      <p:sp>
        <p:nvSpPr>
          <p:cNvPr id="277564" name="Text Box 60"/>
          <p:cNvSpPr txBox="1">
            <a:spLocks noChangeArrowheads="1"/>
          </p:cNvSpPr>
          <p:nvPr/>
        </p:nvSpPr>
        <p:spPr bwMode="auto">
          <a:xfrm>
            <a:off x="4284663" y="2376488"/>
            <a:ext cx="3540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1</a:t>
            </a:r>
          </a:p>
        </p:txBody>
      </p:sp>
      <p:sp>
        <p:nvSpPr>
          <p:cNvPr id="277565" name="Text Box 61"/>
          <p:cNvSpPr txBox="1">
            <a:spLocks noChangeArrowheads="1"/>
          </p:cNvSpPr>
          <p:nvPr/>
        </p:nvSpPr>
        <p:spPr bwMode="auto">
          <a:xfrm>
            <a:off x="6134100" y="1185863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0099"/>
                </a:solidFill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Huffman code &amp; encoded message</a:t>
            </a:r>
          </a:p>
        </p:txBody>
      </p:sp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3200400" y="1752600"/>
            <a:ext cx="2759075" cy="3990975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S		    11</a:t>
            </a:r>
          </a:p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E	  	  010</a:t>
            </a:r>
          </a:p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H		  011</a:t>
            </a:r>
          </a:p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_		  100</a:t>
            </a:r>
          </a:p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I		  101</a:t>
            </a:r>
          </a:p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A		0000</a:t>
            </a:r>
          </a:p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G		0001</a:t>
            </a:r>
          </a:p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M		0010</a:t>
            </a:r>
          </a:p>
          <a:p>
            <a:pPr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/>
              <a:t>T		0011</a:t>
            </a:r>
          </a:p>
        </p:txBody>
      </p:sp>
      <p:sp>
        <p:nvSpPr>
          <p:cNvPr id="278533" name="Text Box 5"/>
          <p:cNvSpPr txBox="1">
            <a:spLocks noChangeArrowheads="1"/>
          </p:cNvSpPr>
          <p:nvPr/>
        </p:nvSpPr>
        <p:spPr bwMode="auto">
          <a:xfrm>
            <a:off x="3048000" y="1066800"/>
            <a:ext cx="2974975" cy="485775"/>
          </a:xfrm>
          <a:prstGeom prst="rect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rgbClr val="CC0099"/>
              </a:buClr>
              <a:buSzPct val="80000"/>
              <a:buFont typeface="Wingdings 2" pitchFamily="18" charset="2"/>
              <a:buNone/>
            </a:pPr>
            <a:r>
              <a:rPr lang="en-US" i="1"/>
              <a:t>This is his message </a:t>
            </a:r>
            <a:endParaRPr lang="en-US"/>
          </a:p>
        </p:txBody>
      </p:sp>
      <p:sp>
        <p:nvSpPr>
          <p:cNvPr id="278536" name="Text Box 8"/>
          <p:cNvSpPr txBox="1">
            <a:spLocks noChangeArrowheads="1"/>
          </p:cNvSpPr>
          <p:nvPr/>
        </p:nvSpPr>
        <p:spPr bwMode="auto">
          <a:xfrm>
            <a:off x="90488" y="5943600"/>
            <a:ext cx="8934450" cy="465138"/>
          </a:xfrm>
          <a:prstGeom prst="rect">
            <a:avLst/>
          </a:prstGeom>
          <a:noFill/>
          <a:ln w="38100">
            <a:solidFill>
              <a:srgbClr val="CC0099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200" b="1"/>
              <a:t>00110111011110010111100011101111000010010111100000001010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err="1" smtClean="0"/>
              <a:t>SHANNO</a:t>
            </a:r>
            <a:r>
              <a:rPr lang="en-GB" dirty="0" smtClean="0"/>
              <a:t> </a:t>
            </a:r>
            <a:r>
              <a:rPr lang="en-GB" dirty="0" err="1" smtClean="0"/>
              <a:t>FANO</a:t>
            </a:r>
            <a:r>
              <a:rPr lang="en-GB" dirty="0" smtClean="0"/>
              <a:t> CODE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altLang="en-US" dirty="0" smtClean="0"/>
              <a:t>First the messages are ranked in a table in descending order of probability. </a:t>
            </a:r>
          </a:p>
          <a:p>
            <a:pPr algn="just"/>
            <a:r>
              <a:rPr lang="en-US" altLang="en-US" dirty="0" smtClean="0"/>
              <a:t>The table is then progressively divided into subsections of probability near equal as possible. </a:t>
            </a:r>
          </a:p>
          <a:p>
            <a:pPr algn="just"/>
            <a:r>
              <a:rPr lang="en-US" altLang="en-US" dirty="0" smtClean="0"/>
              <a:t>Binary 0 is attributed to the upper subsection and binary 1 to the lower subsection. </a:t>
            </a:r>
          </a:p>
          <a:p>
            <a:pPr algn="just"/>
            <a:r>
              <a:rPr lang="en-US" altLang="en-US" dirty="0" smtClean="0"/>
              <a:t>This process continues until it is impossible to divide any further, the following steps show the algorithmic procedure of Shannon – </a:t>
            </a:r>
            <a:r>
              <a:rPr lang="en-US" altLang="en-US" dirty="0" err="1" smtClean="0"/>
              <a:t>Fano</a:t>
            </a:r>
            <a:r>
              <a:rPr lang="en-US" altLang="en-US" dirty="0" smtClean="0"/>
              <a:t> encoding:</a:t>
            </a:r>
          </a:p>
          <a:p>
            <a:pPr algn="just"/>
            <a:endParaRPr lang="en-US" altLang="en-US" dirty="0" smtClean="0"/>
          </a:p>
          <a:p>
            <a:pPr algn="just"/>
            <a:r>
              <a:rPr lang="en-US" altLang="en-US" dirty="0" smtClean="0"/>
              <a:t>1-List the symbols in descending order of the probabilities.</a:t>
            </a:r>
          </a:p>
          <a:p>
            <a:pPr algn="just"/>
            <a:r>
              <a:rPr lang="en-US" altLang="en-US" dirty="0" smtClean="0"/>
              <a:t>2-Divide the table into as near as possible two equal values of probability.</a:t>
            </a:r>
          </a:p>
          <a:p>
            <a:pPr algn="just"/>
            <a:r>
              <a:rPr lang="en-US" altLang="en-US" dirty="0" smtClean="0"/>
              <a:t>3-Allocate binary 0 to the upper section and binary 1 to the lower section.</a:t>
            </a:r>
          </a:p>
          <a:p>
            <a:pPr algn="just"/>
            <a:r>
              <a:rPr lang="en-US" altLang="en-US" dirty="0" smtClean="0"/>
              <a:t>4-Divide both the upper section and the lower section into two.</a:t>
            </a:r>
          </a:p>
          <a:p>
            <a:pPr algn="just"/>
            <a:r>
              <a:rPr lang="en-US" altLang="en-US" dirty="0" smtClean="0"/>
              <a:t>5-Allocate binary 0 to the top half of each section and binary 1 to the lower half.</a:t>
            </a:r>
          </a:p>
          <a:p>
            <a:pPr algn="just"/>
            <a:r>
              <a:rPr lang="en-US" altLang="en-US" dirty="0" smtClean="0"/>
              <a:t>6-Repeat steps (4) and (5) until it is not possible to go any further.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241663" y="271144"/>
            <a:ext cx="86606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i="1" baseline="-18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endParaRPr lang="en-US" altLang="en-US" i="0" u="sng" baseline="0" dirty="0">
              <a:solidFill>
                <a:srgbClr val="FF0000"/>
              </a:solidFill>
            </a:endParaRPr>
          </a:p>
          <a:p>
            <a:pPr algn="just"/>
            <a:endParaRPr lang="en-US" altLang="en-US" sz="2600" b="0" i="0" baseline="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8202505" cy="449348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4367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UNICODE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UNICODE is a 16-bit code for representing alphanumeric data. </a:t>
            </a:r>
          </a:p>
          <a:p>
            <a:r>
              <a:rPr lang="en-GB" dirty="0" smtClean="0"/>
              <a:t>Developed by a consortia(An association or a combination, as of businesses, financial institutions, or investors, for the purpose of engaging in a joint venture.) </a:t>
            </a:r>
          </a:p>
          <a:p>
            <a:r>
              <a:rPr lang="en-GB" dirty="0" smtClean="0"/>
              <a:t>With 16 bits, can represent 216 or 65536 different symbols. </a:t>
            </a:r>
          </a:p>
          <a:p>
            <a:r>
              <a:rPr lang="en-GB" dirty="0" smtClean="0"/>
              <a:t>16 bits = 2 Bytes per character. </a:t>
            </a:r>
          </a:p>
          <a:p>
            <a:r>
              <a:rPr lang="en-GB" dirty="0" smtClean="0"/>
              <a:t>UNICODE used by Web browsers and Java these days. 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ASCII CODE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The standard binary code for representation of alphanumeric characters is ASCII </a:t>
            </a:r>
          </a:p>
          <a:p>
            <a:r>
              <a:rPr lang="en-GB" dirty="0" smtClean="0"/>
              <a:t>•ASCII (American Standard for Information Interchange) </a:t>
            </a:r>
          </a:p>
          <a:p>
            <a:r>
              <a:rPr lang="en-GB" dirty="0" smtClean="0"/>
              <a:t>•It hands not only numbers but letters and special characters </a:t>
            </a:r>
          </a:p>
          <a:p>
            <a:r>
              <a:rPr lang="en-GB" dirty="0" smtClean="0"/>
              <a:t>•Uses 7 bits to code 128 characters </a:t>
            </a:r>
          </a:p>
          <a:p>
            <a:r>
              <a:rPr lang="en-GB" dirty="0" smtClean="0"/>
              <a:t>•In ASCII, every letter, number, and punctuation symbol has a corresponding </a:t>
            </a:r>
          </a:p>
          <a:p>
            <a:r>
              <a:rPr lang="en-GB" dirty="0" smtClean="0"/>
              <a:t>number, or ASCII code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This code is a popular code used to represent information sent as character- based data. </a:t>
            </a:r>
          </a:p>
          <a:p>
            <a:r>
              <a:rPr lang="en-GB" dirty="0" smtClean="0"/>
              <a:t>It uses 7-bits to represent: › 94 Graphic printing characters. › 34 Non-printing characters </a:t>
            </a:r>
          </a:p>
          <a:p>
            <a:r>
              <a:rPr lang="en-GB" dirty="0" smtClean="0"/>
              <a:t>Some non-printing characters are used for text format (e.g. BS = Backspace, CR = carriage return) </a:t>
            </a:r>
          </a:p>
          <a:p>
            <a:r>
              <a:rPr lang="en-GB" dirty="0" smtClean="0"/>
              <a:t>Other non-printing characters are used for record marking and flow control (e.g. </a:t>
            </a:r>
            <a:r>
              <a:rPr lang="en-GB" dirty="0" err="1" smtClean="0"/>
              <a:t>STX</a:t>
            </a:r>
            <a:r>
              <a:rPr lang="en-GB" dirty="0" smtClean="0"/>
              <a:t> and </a:t>
            </a:r>
            <a:r>
              <a:rPr lang="en-GB" dirty="0" err="1" smtClean="0"/>
              <a:t>ETX</a:t>
            </a:r>
            <a:r>
              <a:rPr lang="en-GB" dirty="0" smtClean="0"/>
              <a:t> start and end text areas). 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799" y="685800"/>
            <a:ext cx="799924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4800"/>
            <a:ext cx="8508524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685800"/>
            <a:ext cx="8194128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533400"/>
            <a:ext cx="8429759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09600"/>
            <a:ext cx="8255577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0"/>
            <a:ext cx="8229600" cy="1143000"/>
          </a:xfrm>
        </p:spPr>
        <p:txBody>
          <a:bodyPr/>
          <a:lstStyle/>
          <a:p>
            <a:r>
              <a:rPr lang="en-GB" dirty="0" smtClean="0"/>
              <a:t>END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1687</Words>
  <Application>Microsoft Office PowerPoint</Application>
  <PresentationFormat>On-screen Show (4:3)</PresentationFormat>
  <Paragraphs>515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OPTIMAL CODE</vt:lpstr>
      <vt:lpstr>Slide 2</vt:lpstr>
      <vt:lpstr>Slide 3</vt:lpstr>
      <vt:lpstr>Slide 4</vt:lpstr>
      <vt:lpstr>HUFFMAN CODES</vt:lpstr>
      <vt:lpstr>Slide 6</vt:lpstr>
      <vt:lpstr>Encoding messages </vt:lpstr>
      <vt:lpstr>Problems</vt:lpstr>
      <vt:lpstr>Drawbacks of fixed-length codes</vt:lpstr>
      <vt:lpstr>Advantages of variable-length codes</vt:lpstr>
      <vt:lpstr>Prefix property</vt:lpstr>
      <vt:lpstr>Code without prefix property</vt:lpstr>
      <vt:lpstr>Problem</vt:lpstr>
      <vt:lpstr>Encoded message</vt:lpstr>
      <vt:lpstr>Another possible code</vt:lpstr>
      <vt:lpstr>Better code</vt:lpstr>
      <vt:lpstr>What code to use?</vt:lpstr>
      <vt:lpstr>Huffman coding tree</vt:lpstr>
      <vt:lpstr>Building a Huffman tree</vt:lpstr>
      <vt:lpstr>Example</vt:lpstr>
      <vt:lpstr>Step 1</vt:lpstr>
      <vt:lpstr>Step 2</vt:lpstr>
      <vt:lpstr>Step 3</vt:lpstr>
      <vt:lpstr>Step 4</vt:lpstr>
      <vt:lpstr>Step 5</vt:lpstr>
      <vt:lpstr>Step 6</vt:lpstr>
      <vt:lpstr>Step 7</vt:lpstr>
      <vt:lpstr>Step 8</vt:lpstr>
      <vt:lpstr>Label edges</vt:lpstr>
      <vt:lpstr>Huffman code &amp; encoded message</vt:lpstr>
      <vt:lpstr>SHANNO FANO CODE</vt:lpstr>
      <vt:lpstr>Slide 32</vt:lpstr>
      <vt:lpstr>UNICODE</vt:lpstr>
      <vt:lpstr>ASCII CODE</vt:lpstr>
      <vt:lpstr>Cont...</vt:lpstr>
      <vt:lpstr>Slide 36</vt:lpstr>
      <vt:lpstr>Slide 37</vt:lpstr>
      <vt:lpstr>Slide 38</vt:lpstr>
      <vt:lpstr>Slide 39</vt:lpstr>
      <vt:lpstr>Slide 40</vt:lpstr>
      <vt:lpstr>END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CODE</dc:title>
  <dc:creator>user</dc:creator>
  <cp:lastModifiedBy>Windows User</cp:lastModifiedBy>
  <cp:revision>6</cp:revision>
  <dcterms:created xsi:type="dcterms:W3CDTF">2006-08-16T00:00:00Z</dcterms:created>
  <dcterms:modified xsi:type="dcterms:W3CDTF">2023-12-18T14:06:11Z</dcterms:modified>
</cp:coreProperties>
</file>